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1874519"/>
            <a:ext cx="9509760" cy="457200"/>
          </a:xfrm>
          <a:prstGeom prst="rect">
            <a:avLst/>
          </a:prstGeom>
          <a:noFill/>
        </p:spPr>
        <p:txBody>
          <a:bodyPr wrap="square" anchor="t" lIns="0" rIns="0" tIns="0" bIns="0">
            <a:spAutoFit/>
          </a:bodyPr>
          <a:lstStyle/>
          <a:p>
            <a:pPr algn="l">
              <a:spcBef>
                <a:spcPts val="0"/>
              </a:spcBef>
              <a:spcAft>
                <a:spcPts val="0"/>
              </a:spcAft>
            </a:pPr>
            <a:r>
              <a:rPr sz="1300" b="1" i="0">
                <a:solidFill>
                  <a:srgbClr val="F2A93C"/>
                </a:solidFill>
                <a:latin typeface="Bahnschrift"/>
              </a:rPr>
              <a:t>QFRA 2.0</a:t>
            </a:r>
          </a:p>
        </p:txBody>
      </p:sp>
      <p:sp>
        <p:nvSpPr>
          <p:cNvPr id="5" name="TextBox 4"/>
          <p:cNvSpPr txBox="1"/>
          <p:nvPr/>
        </p:nvSpPr>
        <p:spPr>
          <a:xfrm>
            <a:off x="841248" y="2331720"/>
            <a:ext cx="10058400" cy="1371600"/>
          </a:xfrm>
          <a:prstGeom prst="rect">
            <a:avLst/>
          </a:prstGeom>
          <a:noFill/>
        </p:spPr>
        <p:txBody>
          <a:bodyPr wrap="square" anchor="t" lIns="0" rIns="0" tIns="0" bIns="0">
            <a:spAutoFit/>
          </a:bodyPr>
          <a:lstStyle/>
          <a:p>
            <a:pPr algn="l">
              <a:spcBef>
                <a:spcPts val="0"/>
              </a:spcBef>
              <a:spcAft>
                <a:spcPts val="0"/>
              </a:spcAft>
            </a:pPr>
            <a:r>
              <a:rPr sz="4000" b="1" i="0">
                <a:solidFill>
                  <a:srgbClr val="FFFFFF"/>
                </a:solidFill>
                <a:latin typeface="Georgia"/>
              </a:rPr>
              <a:t>Quantitative Fund Ranking Algorithm</a:t>
            </a:r>
          </a:p>
        </p:txBody>
      </p:sp>
      <p:sp>
        <p:nvSpPr>
          <p:cNvPr id="6" name="TextBox 5"/>
          <p:cNvSpPr txBox="1"/>
          <p:nvPr/>
        </p:nvSpPr>
        <p:spPr>
          <a:xfrm>
            <a:off x="841248" y="3794760"/>
            <a:ext cx="9692640" cy="365760"/>
          </a:xfrm>
          <a:prstGeom prst="rect">
            <a:avLst/>
          </a:prstGeom>
          <a:noFill/>
        </p:spPr>
        <p:txBody>
          <a:bodyPr wrap="square" anchor="t" lIns="0" rIns="0" tIns="0" bIns="0">
            <a:spAutoFit/>
          </a:bodyPr>
          <a:lstStyle/>
          <a:p>
            <a:pPr algn="l">
              <a:spcBef>
                <a:spcPts val="0"/>
              </a:spcBef>
              <a:spcAft>
                <a:spcPts val="0"/>
              </a:spcAft>
            </a:pPr>
            <a:r>
              <a:rPr sz="1500" b="0" i="0">
                <a:solidFill>
                  <a:srgbClr val="FFFFFF"/>
                </a:solidFill>
                <a:latin typeface="Bahnschrift"/>
              </a:rPr>
              <a:t>Product Approval Committee</a:t>
            </a:r>
          </a:p>
        </p:txBody>
      </p:sp>
      <p:sp>
        <p:nvSpPr>
          <p:cNvPr id="7" name="TextBox 6"/>
          <p:cNvSpPr txBox="1"/>
          <p:nvPr/>
        </p:nvSpPr>
        <p:spPr>
          <a:xfrm>
            <a:off x="841248" y="4224528"/>
            <a:ext cx="9692640" cy="365760"/>
          </a:xfrm>
          <a:prstGeom prst="rect">
            <a:avLst/>
          </a:prstGeom>
          <a:noFill/>
        </p:spPr>
        <p:txBody>
          <a:bodyPr wrap="square" anchor="t" lIns="0" rIns="0" tIns="0" bIns="0">
            <a:spAutoFit/>
          </a:bodyPr>
          <a:lstStyle/>
          <a:p>
            <a:pPr algn="l">
              <a:spcBef>
                <a:spcPts val="0"/>
              </a:spcBef>
              <a:spcAft>
                <a:spcPts val="0"/>
              </a:spcAft>
            </a:pPr>
            <a:r>
              <a:rPr sz="1150" b="0" i="0">
                <a:solidFill>
                  <a:srgbClr val="8C95DE"/>
                </a:solidFill>
                <a:latin typeface="Bahnschrift"/>
              </a:rPr>
              <a:t>Indian equity mutual funds  ·  HNI advisory  ·  Direct-plan basis  ·  Total-Return benchmarks</a:t>
            </a:r>
          </a:p>
        </p:txBody>
      </p:sp>
      <p:sp>
        <p:nvSpPr>
          <p:cNvPr id="8" name="Rectangle 7"/>
          <p:cNvSpPr/>
          <p:nvPr/>
        </p:nvSpPr>
        <p:spPr>
          <a:xfrm>
            <a:off x="841248" y="4892040"/>
            <a:ext cx="3840480" cy="20116"/>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5138928"/>
            <a:ext cx="9692640" cy="365760"/>
          </a:xfrm>
          <a:prstGeom prst="rect">
            <a:avLst/>
          </a:prstGeom>
          <a:noFill/>
        </p:spPr>
        <p:txBody>
          <a:bodyPr wrap="square" anchor="t" lIns="0" rIns="0" tIns="0" bIns="0">
            <a:spAutoFit/>
          </a:bodyPr>
          <a:lstStyle/>
          <a:p>
            <a:pPr algn="l">
              <a:spcBef>
                <a:spcPts val="0"/>
              </a:spcBef>
              <a:spcAft>
                <a:spcPts val="0"/>
              </a:spcAft>
            </a:pPr>
            <a:r>
              <a:rPr sz="1000" b="0" i="0">
                <a:solidFill>
                  <a:srgbClr val="8C95DE"/>
                </a:solidFill>
                <a:latin typeface="Bahnschrift"/>
              </a:rPr>
              <a:t>Recommendations as of 2026-05-27  ·  deck built 2026-08-05  ·  model frozen at v2.0</a:t>
            </a:r>
          </a:p>
        </p:txBody>
      </p:sp>
      <p:sp>
        <p:nvSpPr>
          <p:cNvPr id="10" name="TextBox 9"/>
          <p:cNvSpPr txBox="1"/>
          <p:nvPr/>
        </p:nvSpPr>
        <p:spPr>
          <a:xfrm>
            <a:off x="841248" y="5870448"/>
            <a:ext cx="9692640" cy="274320"/>
          </a:xfrm>
          <a:prstGeom prst="rect">
            <a:avLst/>
          </a:prstGeom>
          <a:noFill/>
        </p:spPr>
        <p:txBody>
          <a:bodyPr wrap="square" anchor="t" lIns="0" rIns="0" tIns="0" bIns="0">
            <a:spAutoFit/>
          </a:bodyPr>
          <a:lstStyle/>
          <a:p>
            <a:pPr algn="l">
              <a:spcBef>
                <a:spcPts val="0"/>
              </a:spcBef>
              <a:spcAft>
                <a:spcPts val="0"/>
              </a:spcAft>
            </a:pPr>
            <a:r>
              <a:rPr sz="900" b="0" i="0">
                <a:solidFill>
                  <a:srgbClr val="8C95DE"/>
                </a:solidFill>
                <a:latin typeface="Bahnschrift"/>
              </a:rPr>
              <a:t>Internal committee paper. Not for client distribution.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CONTENTS</a:t>
            </a:r>
          </a:p>
        </p:txBody>
      </p:sp>
      <p:sp>
        <p:nvSpPr>
          <p:cNvPr id="6" name="TextBox 5"/>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What this deck covers</a:t>
            </a:r>
          </a:p>
        </p:txBody>
      </p:sp>
      <p:sp>
        <p:nvSpPr>
          <p:cNvPr id="7" name="Rectangle 6"/>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01</a:t>
            </a:r>
          </a:p>
        </p:txBody>
      </p:sp>
      <p:sp>
        <p:nvSpPr>
          <p:cNvPr id="9" name="TextBox 8"/>
          <p:cNvSpPr txBox="1"/>
          <p:nvPr/>
        </p:nvSpPr>
        <p:spPr>
          <a:xfrm>
            <a:off x="841248" y="1783080"/>
            <a:ext cx="731520" cy="457200"/>
          </a:xfrm>
          <a:prstGeom prst="rect">
            <a:avLst/>
          </a:prstGeom>
          <a:noFill/>
        </p:spPr>
        <p:txBody>
          <a:bodyPr wrap="square" anchor="t" lIns="0" rIns="0" tIns="0" bIns="0">
            <a:spAutoFit/>
          </a:bodyPr>
          <a:lstStyle/>
          <a:p>
            <a:pPr algn="l">
              <a:spcBef>
                <a:spcPts val="0"/>
              </a:spcBef>
              <a:spcAft>
                <a:spcPts val="0"/>
              </a:spcAft>
            </a:pPr>
            <a:r>
              <a:rPr sz="2200" b="1" i="0">
                <a:solidFill>
                  <a:srgbClr val="F2A93C"/>
                </a:solidFill>
                <a:latin typeface="Georgia"/>
              </a:rPr>
              <a:t>01</a:t>
            </a:r>
          </a:p>
        </p:txBody>
      </p:sp>
      <p:sp>
        <p:nvSpPr>
          <p:cNvPr id="10" name="TextBox 9"/>
          <p:cNvSpPr txBox="1"/>
          <p:nvPr/>
        </p:nvSpPr>
        <p:spPr>
          <a:xfrm>
            <a:off x="1709928" y="1801368"/>
            <a:ext cx="9052560" cy="310896"/>
          </a:xfrm>
          <a:prstGeom prst="rect">
            <a:avLst/>
          </a:prstGeom>
          <a:noFill/>
        </p:spPr>
        <p:txBody>
          <a:bodyPr wrap="square" anchor="t" lIns="0" rIns="0" tIns="0" bIns="0">
            <a:spAutoFit/>
          </a:bodyPr>
          <a:lstStyle/>
          <a:p>
            <a:pPr algn="l">
              <a:spcBef>
                <a:spcPts val="0"/>
              </a:spcBef>
              <a:spcAft>
                <a:spcPts val="0"/>
              </a:spcAft>
            </a:pPr>
            <a:r>
              <a:rPr sz="1400" b="1" i="0">
                <a:solidFill>
                  <a:srgbClr val="16233B"/>
                </a:solidFill>
                <a:latin typeface="Bahnschrift"/>
              </a:rPr>
              <a:t>What it is, and what it is not</a:t>
            </a:r>
          </a:p>
        </p:txBody>
      </p:sp>
      <p:sp>
        <p:nvSpPr>
          <p:cNvPr id="11" name="TextBox 10"/>
          <p:cNvSpPr txBox="1"/>
          <p:nvPr/>
        </p:nvSpPr>
        <p:spPr>
          <a:xfrm>
            <a:off x="1709928" y="2148840"/>
            <a:ext cx="9052560" cy="310896"/>
          </a:xfrm>
          <a:prstGeom prst="rect">
            <a:avLst/>
          </a:prstGeom>
          <a:noFill/>
        </p:spPr>
        <p:txBody>
          <a:bodyPr wrap="square" anchor="t" lIns="0" rIns="0" tIns="0" bIns="0">
            <a:spAutoFit/>
          </a:bodyPr>
          <a:lstStyle/>
          <a:p>
            <a:pPr algn="l">
              <a:spcBef>
                <a:spcPts val="0"/>
              </a:spcBef>
              <a:spcAft>
                <a:spcPts val="0"/>
              </a:spcAft>
            </a:pPr>
            <a:r>
              <a:rPr sz="1000" b="0" i="0">
                <a:solidFill>
                  <a:srgbClr val="6B7280"/>
                </a:solidFill>
                <a:latin typeface="Bahnschrift"/>
              </a:rPr>
              <a:t>the mandate  ·  no machine learning, and why  ·  where the alpha comes from</a:t>
            </a:r>
          </a:p>
        </p:txBody>
      </p:sp>
      <p:sp>
        <p:nvSpPr>
          <p:cNvPr id="12" name="TextBox 11"/>
          <p:cNvSpPr txBox="1"/>
          <p:nvPr/>
        </p:nvSpPr>
        <p:spPr>
          <a:xfrm>
            <a:off x="841248" y="2514600"/>
            <a:ext cx="731520" cy="457200"/>
          </a:xfrm>
          <a:prstGeom prst="rect">
            <a:avLst/>
          </a:prstGeom>
          <a:noFill/>
        </p:spPr>
        <p:txBody>
          <a:bodyPr wrap="square" anchor="t" lIns="0" rIns="0" tIns="0" bIns="0">
            <a:spAutoFit/>
          </a:bodyPr>
          <a:lstStyle/>
          <a:p>
            <a:pPr algn="l">
              <a:spcBef>
                <a:spcPts val="0"/>
              </a:spcBef>
              <a:spcAft>
                <a:spcPts val="0"/>
              </a:spcAft>
            </a:pPr>
            <a:r>
              <a:rPr sz="2200" b="1" i="0">
                <a:solidFill>
                  <a:srgbClr val="F2A93C"/>
                </a:solidFill>
                <a:latin typeface="Georgia"/>
              </a:rPr>
              <a:t>02</a:t>
            </a:r>
          </a:p>
        </p:txBody>
      </p:sp>
      <p:sp>
        <p:nvSpPr>
          <p:cNvPr id="13" name="TextBox 12"/>
          <p:cNvSpPr txBox="1"/>
          <p:nvPr/>
        </p:nvSpPr>
        <p:spPr>
          <a:xfrm>
            <a:off x="1709928" y="2532888"/>
            <a:ext cx="9052560" cy="310896"/>
          </a:xfrm>
          <a:prstGeom prst="rect">
            <a:avLst/>
          </a:prstGeom>
          <a:noFill/>
        </p:spPr>
        <p:txBody>
          <a:bodyPr wrap="square" anchor="t" lIns="0" rIns="0" tIns="0" bIns="0">
            <a:spAutoFit/>
          </a:bodyPr>
          <a:lstStyle/>
          <a:p>
            <a:pPr algn="l">
              <a:spcBef>
                <a:spcPts val="0"/>
              </a:spcBef>
              <a:spcAft>
                <a:spcPts val="0"/>
              </a:spcAft>
            </a:pPr>
            <a:r>
              <a:rPr sz="1400" b="1" i="0">
                <a:solidFill>
                  <a:srgbClr val="16233B"/>
                </a:solidFill>
                <a:latin typeface="Bahnschrift"/>
              </a:rPr>
              <a:t>How a rank is produced</a:t>
            </a:r>
          </a:p>
        </p:txBody>
      </p:sp>
      <p:sp>
        <p:nvSpPr>
          <p:cNvPr id="14" name="TextBox 13"/>
          <p:cNvSpPr txBox="1"/>
          <p:nvPr/>
        </p:nvSpPr>
        <p:spPr>
          <a:xfrm>
            <a:off x="1709928" y="2880360"/>
            <a:ext cx="9052560" cy="310896"/>
          </a:xfrm>
          <a:prstGeom prst="rect">
            <a:avLst/>
          </a:prstGeom>
          <a:noFill/>
        </p:spPr>
        <p:txBody>
          <a:bodyPr wrap="square" anchor="t" lIns="0" rIns="0" tIns="0" bIns="0">
            <a:spAutoFit/>
          </a:bodyPr>
          <a:lstStyle/>
          <a:p>
            <a:pPr algn="l">
              <a:spcBef>
                <a:spcPts val="0"/>
              </a:spcBef>
              <a:spcAft>
                <a:spcPts val="0"/>
              </a:spcAft>
            </a:pPr>
            <a:r>
              <a:rPr sz="1000" b="0" i="0">
                <a:solidFill>
                  <a:srgbClr val="6B7280"/>
                </a:solidFill>
                <a:latin typeface="Bahnschrift"/>
              </a:rPr>
              <a:t>the pipeline  ·  CALIBRE  ·  SENTINEL  ·  the churn rule</a:t>
            </a:r>
          </a:p>
        </p:txBody>
      </p:sp>
      <p:sp>
        <p:nvSpPr>
          <p:cNvPr id="15" name="TextBox 14"/>
          <p:cNvSpPr txBox="1"/>
          <p:nvPr/>
        </p:nvSpPr>
        <p:spPr>
          <a:xfrm>
            <a:off x="841248" y="3246120"/>
            <a:ext cx="731520" cy="457200"/>
          </a:xfrm>
          <a:prstGeom prst="rect">
            <a:avLst/>
          </a:prstGeom>
          <a:noFill/>
        </p:spPr>
        <p:txBody>
          <a:bodyPr wrap="square" anchor="t" lIns="0" rIns="0" tIns="0" bIns="0">
            <a:spAutoFit/>
          </a:bodyPr>
          <a:lstStyle/>
          <a:p>
            <a:pPr algn="l">
              <a:spcBef>
                <a:spcPts val="0"/>
              </a:spcBef>
              <a:spcAft>
                <a:spcPts val="0"/>
              </a:spcAft>
            </a:pPr>
            <a:r>
              <a:rPr sz="2200" b="1" i="0">
                <a:solidFill>
                  <a:srgbClr val="F2A93C"/>
                </a:solidFill>
                <a:latin typeface="Georgia"/>
              </a:rPr>
              <a:t>03</a:t>
            </a:r>
          </a:p>
        </p:txBody>
      </p:sp>
      <p:sp>
        <p:nvSpPr>
          <p:cNvPr id="16" name="TextBox 15"/>
          <p:cNvSpPr txBox="1"/>
          <p:nvPr/>
        </p:nvSpPr>
        <p:spPr>
          <a:xfrm>
            <a:off x="1709928" y="3264408"/>
            <a:ext cx="9052560" cy="310896"/>
          </a:xfrm>
          <a:prstGeom prst="rect">
            <a:avLst/>
          </a:prstGeom>
          <a:noFill/>
        </p:spPr>
        <p:txBody>
          <a:bodyPr wrap="square" anchor="t" lIns="0" rIns="0" tIns="0" bIns="0">
            <a:spAutoFit/>
          </a:bodyPr>
          <a:lstStyle/>
          <a:p>
            <a:pPr algn="l">
              <a:spcBef>
                <a:spcPts val="0"/>
              </a:spcBef>
              <a:spcAft>
                <a:spcPts val="0"/>
              </a:spcAft>
            </a:pPr>
            <a:r>
              <a:rPr sz="1400" b="1" i="0">
                <a:solidFill>
                  <a:srgbClr val="16233B"/>
                </a:solidFill>
                <a:latin typeface="Bahnschrift"/>
              </a:rPr>
              <a:t>The evidence, honestly</a:t>
            </a:r>
          </a:p>
        </p:txBody>
      </p:sp>
      <p:sp>
        <p:nvSpPr>
          <p:cNvPr id="17" name="TextBox 16"/>
          <p:cNvSpPr txBox="1"/>
          <p:nvPr/>
        </p:nvSpPr>
        <p:spPr>
          <a:xfrm>
            <a:off x="1709928" y="3611879"/>
            <a:ext cx="9052560" cy="310896"/>
          </a:xfrm>
          <a:prstGeom prst="rect">
            <a:avLst/>
          </a:prstGeom>
          <a:noFill/>
        </p:spPr>
        <p:txBody>
          <a:bodyPr wrap="square" anchor="t" lIns="0" rIns="0" tIns="0" bIns="0">
            <a:spAutoFit/>
          </a:bodyPr>
          <a:lstStyle/>
          <a:p>
            <a:pPr algn="l">
              <a:spcBef>
                <a:spcPts val="0"/>
              </a:spcBef>
              <a:spcAft>
                <a:spcPts val="0"/>
              </a:spcAft>
            </a:pPr>
            <a:r>
              <a:rPr sz="1000" b="0" i="0">
                <a:solidFill>
                  <a:srgbClr val="6B7280"/>
                </a:solidFill>
                <a:latin typeface="Bahnschrift"/>
              </a:rPr>
              <a:t>raw versus deployed  ·  by category  ·  against a 3-year topper  ·  the cadence</a:t>
            </a:r>
          </a:p>
        </p:txBody>
      </p:sp>
      <p:sp>
        <p:nvSpPr>
          <p:cNvPr id="18" name="TextBox 17"/>
          <p:cNvSpPr txBox="1"/>
          <p:nvPr/>
        </p:nvSpPr>
        <p:spPr>
          <a:xfrm>
            <a:off x="841248" y="3977639"/>
            <a:ext cx="731520" cy="457200"/>
          </a:xfrm>
          <a:prstGeom prst="rect">
            <a:avLst/>
          </a:prstGeom>
          <a:noFill/>
        </p:spPr>
        <p:txBody>
          <a:bodyPr wrap="square" anchor="t" lIns="0" rIns="0" tIns="0" bIns="0">
            <a:spAutoFit/>
          </a:bodyPr>
          <a:lstStyle/>
          <a:p>
            <a:pPr algn="l">
              <a:spcBef>
                <a:spcPts val="0"/>
              </a:spcBef>
              <a:spcAft>
                <a:spcPts val="0"/>
              </a:spcAft>
            </a:pPr>
            <a:r>
              <a:rPr sz="2200" b="1" i="0">
                <a:solidFill>
                  <a:srgbClr val="F2A93C"/>
                </a:solidFill>
                <a:latin typeface="Georgia"/>
              </a:rPr>
              <a:t>04</a:t>
            </a:r>
          </a:p>
        </p:txBody>
      </p:sp>
      <p:sp>
        <p:nvSpPr>
          <p:cNvPr id="19" name="TextBox 18"/>
          <p:cNvSpPr txBox="1"/>
          <p:nvPr/>
        </p:nvSpPr>
        <p:spPr>
          <a:xfrm>
            <a:off x="1709928" y="3995927"/>
            <a:ext cx="9052560" cy="310896"/>
          </a:xfrm>
          <a:prstGeom prst="rect">
            <a:avLst/>
          </a:prstGeom>
          <a:noFill/>
        </p:spPr>
        <p:txBody>
          <a:bodyPr wrap="square" anchor="t" lIns="0" rIns="0" tIns="0" bIns="0">
            <a:spAutoFit/>
          </a:bodyPr>
          <a:lstStyle/>
          <a:p>
            <a:pPr algn="l">
              <a:spcBef>
                <a:spcPts val="0"/>
              </a:spcBef>
              <a:spcAft>
                <a:spcPts val="0"/>
              </a:spcAft>
            </a:pPr>
            <a:r>
              <a:rPr sz="1400" b="1" i="0">
                <a:solidFill>
                  <a:srgbClr val="16233B"/>
                </a:solidFill>
                <a:latin typeface="Bahnschrift"/>
              </a:rPr>
              <a:t>The two frameworks</a:t>
            </a:r>
          </a:p>
        </p:txBody>
      </p:sp>
      <p:sp>
        <p:nvSpPr>
          <p:cNvPr id="20" name="TextBox 19"/>
          <p:cNvSpPr txBox="1"/>
          <p:nvPr/>
        </p:nvSpPr>
        <p:spPr>
          <a:xfrm>
            <a:off x="1709928" y="4343400"/>
            <a:ext cx="9052560" cy="310896"/>
          </a:xfrm>
          <a:prstGeom prst="rect">
            <a:avLst/>
          </a:prstGeom>
          <a:noFill/>
        </p:spPr>
        <p:txBody>
          <a:bodyPr wrap="square" anchor="t" lIns="0" rIns="0" tIns="0" bIns="0">
            <a:spAutoFit/>
          </a:bodyPr>
          <a:lstStyle/>
          <a:p>
            <a:pPr algn="l">
              <a:spcBef>
                <a:spcPts val="0"/>
              </a:spcBef>
              <a:spcAft>
                <a:spcPts val="0"/>
              </a:spcAft>
            </a:pPr>
            <a:r>
              <a:rPr sz="1000" b="0" i="0">
                <a:solidFill>
                  <a:srgbClr val="6B7280"/>
                </a:solidFill>
                <a:latin typeface="Bahnschrift"/>
              </a:rPr>
              <a:t>why QFRA-1 is complementary  ·  where each one drives the call</a:t>
            </a:r>
          </a:p>
        </p:txBody>
      </p:sp>
      <p:sp>
        <p:nvSpPr>
          <p:cNvPr id="21" name="TextBox 20"/>
          <p:cNvSpPr txBox="1"/>
          <p:nvPr/>
        </p:nvSpPr>
        <p:spPr>
          <a:xfrm>
            <a:off x="841248" y="4709159"/>
            <a:ext cx="731520" cy="457200"/>
          </a:xfrm>
          <a:prstGeom prst="rect">
            <a:avLst/>
          </a:prstGeom>
          <a:noFill/>
        </p:spPr>
        <p:txBody>
          <a:bodyPr wrap="square" anchor="t" lIns="0" rIns="0" tIns="0" bIns="0">
            <a:spAutoFit/>
          </a:bodyPr>
          <a:lstStyle/>
          <a:p>
            <a:pPr algn="l">
              <a:spcBef>
                <a:spcPts val="0"/>
              </a:spcBef>
              <a:spcAft>
                <a:spcPts val="0"/>
              </a:spcAft>
            </a:pPr>
            <a:r>
              <a:rPr sz="2200" b="1" i="0">
                <a:solidFill>
                  <a:srgbClr val="F2A93C"/>
                </a:solidFill>
                <a:latin typeface="Georgia"/>
              </a:rPr>
              <a:t>05</a:t>
            </a:r>
          </a:p>
        </p:txBody>
      </p:sp>
      <p:sp>
        <p:nvSpPr>
          <p:cNvPr id="22" name="TextBox 21"/>
          <p:cNvSpPr txBox="1"/>
          <p:nvPr/>
        </p:nvSpPr>
        <p:spPr>
          <a:xfrm>
            <a:off x="1709928" y="4727447"/>
            <a:ext cx="9052560" cy="310896"/>
          </a:xfrm>
          <a:prstGeom prst="rect">
            <a:avLst/>
          </a:prstGeom>
          <a:noFill/>
        </p:spPr>
        <p:txBody>
          <a:bodyPr wrap="square" anchor="t" lIns="0" rIns="0" tIns="0" bIns="0">
            <a:spAutoFit/>
          </a:bodyPr>
          <a:lstStyle/>
          <a:p>
            <a:pPr algn="l">
              <a:spcBef>
                <a:spcPts val="0"/>
              </a:spcBef>
              <a:spcAft>
                <a:spcPts val="0"/>
              </a:spcAft>
            </a:pPr>
            <a:r>
              <a:rPr sz="1400" b="1" i="0">
                <a:solidFill>
                  <a:srgbClr val="16233B"/>
                </a:solidFill>
                <a:latin typeface="Bahnschrift"/>
              </a:rPr>
              <a:t>Track record and the ask</a:t>
            </a:r>
          </a:p>
        </p:txBody>
      </p:sp>
      <p:sp>
        <p:nvSpPr>
          <p:cNvPr id="23" name="TextBox 22"/>
          <p:cNvSpPr txBox="1"/>
          <p:nvPr/>
        </p:nvSpPr>
        <p:spPr>
          <a:xfrm>
            <a:off x="1709928" y="5074920"/>
            <a:ext cx="9052560" cy="310896"/>
          </a:xfrm>
          <a:prstGeom prst="rect">
            <a:avLst/>
          </a:prstGeom>
          <a:noFill/>
        </p:spPr>
        <p:txBody>
          <a:bodyPr wrap="square" anchor="t" lIns="0" rIns="0" tIns="0" bIns="0">
            <a:spAutoFit/>
          </a:bodyPr>
          <a:lstStyle/>
          <a:p>
            <a:pPr algn="l">
              <a:spcBef>
                <a:spcPts val="0"/>
              </a:spcBef>
              <a:spcAft>
                <a:spcPts val="0"/>
              </a:spcAft>
            </a:pPr>
            <a:r>
              <a:rPr sz="1000" b="0" i="0">
                <a:solidFill>
                  <a:srgbClr val="6B7280"/>
                </a:solidFill>
                <a:latin typeface="Bahnschrift"/>
              </a:rPr>
              <a:t>every review period since 2018  ·  limits  ·  the decision sought</a:t>
            </a:r>
          </a:p>
        </p:txBody>
      </p:sp>
      <p:sp>
        <p:nvSpPr>
          <p:cNvPr id="24" name="TextBox 23"/>
          <p:cNvSpPr txBox="1"/>
          <p:nvPr/>
        </p:nvSpPr>
        <p:spPr>
          <a:xfrm>
            <a:off x="841248" y="5532119"/>
            <a:ext cx="10509199" cy="274320"/>
          </a:xfrm>
          <a:prstGeom prst="rect">
            <a:avLst/>
          </a:prstGeom>
          <a:noFill/>
        </p:spPr>
        <p:txBody>
          <a:bodyPr wrap="square" anchor="t" lIns="0" rIns="0" tIns="0" bIns="0">
            <a:spAutoFit/>
          </a:bodyPr>
          <a:lstStyle/>
          <a:p>
            <a:pPr algn="l">
              <a:spcBef>
                <a:spcPts val="0"/>
              </a:spcBef>
              <a:spcAft>
                <a:spcPts val="0"/>
              </a:spcAft>
            </a:pPr>
            <a:r>
              <a:rPr sz="1050" b="0" i="0">
                <a:solidFill>
                  <a:srgbClr val="6B7280"/>
                </a:solidFill>
                <a:latin typeface="Bahnschrift"/>
              </a:rPr>
              <a:t>Five of the nine headline figures in the previous committee pack did not survive an audit against the engine's own outputs. They are corrected here, not repeated.</a:t>
            </a:r>
          </a:p>
        </p:txBody>
      </p:sp>
      <p:sp>
        <p:nvSpPr>
          <p:cNvPr id="25" name="TextBox 24"/>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Audit trail: 03_RESEARCH_DESK/qfra2_pac_prep/NUMBER_AUDIT.md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1.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01</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01</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What it is, and what it is not</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The mandate, the absence of machine learning, and where the alpha actually comes from</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4</a:t>
            </a:r>
          </a:p>
        </p:txBody>
      </p:sp>
      <p:sp>
        <p:nvSpPr>
          <p:cNvPr id="11" name="TextBox 10"/>
          <p:cNvSpPr txBox="1"/>
          <p:nvPr/>
        </p:nvSpPr>
        <p:spPr>
          <a:xfrm>
            <a:off x="841248" y="525780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a:t>
            </a:r>
          </a:p>
        </p:txBody>
      </p:sp>
      <p:sp>
        <p:nvSpPr>
          <p:cNvPr id="12" name="TextBox 11"/>
          <p:cNvSpPr txBox="1"/>
          <p:nvPr/>
        </p:nvSpPr>
        <p:spPr>
          <a:xfrm>
            <a:off x="841248" y="553212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WHAT IT IS</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mandate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One job, stated narrowly</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03</a:t>
            </a:r>
          </a:p>
        </p:txBody>
      </p:sp>
      <p:sp>
        <p:nvSpPr>
          <p:cNvPr id="15" name="TextBox 14"/>
          <p:cNvSpPr txBox="1"/>
          <p:nvPr/>
        </p:nvSpPr>
        <p:spPr>
          <a:xfrm>
            <a:off x="841248"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8</a:t>
            </a:r>
          </a:p>
        </p:txBody>
      </p:sp>
      <p:sp>
        <p:nvSpPr>
          <p:cNvPr id="16" name="TextBox 15"/>
          <p:cNvSpPr txBox="1"/>
          <p:nvPr/>
        </p:nvSpPr>
        <p:spPr>
          <a:xfrm>
            <a:off x="841248"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CATEGORIES RANKED</a:t>
            </a:r>
          </a:p>
        </p:txBody>
      </p:sp>
      <p:sp>
        <p:nvSpPr>
          <p:cNvPr id="17" name="TextBox 16"/>
          <p:cNvSpPr txBox="1"/>
          <p:nvPr/>
        </p:nvSpPr>
        <p:spPr>
          <a:xfrm>
            <a:off x="34685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99</a:t>
            </a:r>
          </a:p>
        </p:txBody>
      </p:sp>
      <p:sp>
        <p:nvSpPr>
          <p:cNvPr id="18" name="TextBox 17"/>
          <p:cNvSpPr txBox="1"/>
          <p:nvPr/>
        </p:nvSpPr>
        <p:spPr>
          <a:xfrm>
            <a:off x="34685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DIRECT-PLAN FUNDS IN THE UNIVERSE</a:t>
            </a:r>
          </a:p>
        </p:txBody>
      </p:sp>
      <p:sp>
        <p:nvSpPr>
          <p:cNvPr id="19" name="Rectangle 18"/>
          <p:cNvSpPr/>
          <p:nvPr/>
        </p:nvSpPr>
        <p:spPr>
          <a:xfrm>
            <a:off x="34136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958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2</a:t>
            </a:r>
          </a:p>
        </p:txBody>
      </p:sp>
      <p:sp>
        <p:nvSpPr>
          <p:cNvPr id="21" name="TextBox 20"/>
          <p:cNvSpPr txBox="1"/>
          <p:nvPr/>
        </p:nvSpPr>
        <p:spPr>
          <a:xfrm>
            <a:off x="60958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FUNDS RECOMMENDED PER CATEGORY</a:t>
            </a:r>
          </a:p>
        </p:txBody>
      </p:sp>
      <p:sp>
        <p:nvSpPr>
          <p:cNvPr id="22" name="Rectangle 21"/>
          <p:cNvSpPr/>
          <p:nvPr/>
        </p:nvSpPr>
        <p:spPr>
          <a:xfrm>
            <a:off x="60409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231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6</a:t>
            </a:r>
          </a:p>
        </p:txBody>
      </p:sp>
      <p:sp>
        <p:nvSpPr>
          <p:cNvPr id="24" name="TextBox 23"/>
          <p:cNvSpPr txBox="1"/>
          <p:nvPr/>
        </p:nvSpPr>
        <p:spPr>
          <a:xfrm>
            <a:off x="87231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CATEGORIES DEPLOYED</a:t>
            </a:r>
          </a:p>
        </p:txBody>
      </p:sp>
      <p:sp>
        <p:nvSpPr>
          <p:cNvPr id="25" name="Rectangle 24"/>
          <p:cNvSpPr/>
          <p:nvPr/>
        </p:nvSpPr>
        <p:spPr>
          <a:xfrm>
            <a:off x="86682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2761488"/>
            <a:ext cx="2286000" cy="365760"/>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What it does</a:t>
            </a:r>
          </a:p>
        </p:txBody>
      </p:sp>
      <p:sp>
        <p:nvSpPr>
          <p:cNvPr id="27" name="TextBox 26"/>
          <p:cNvSpPr txBox="1"/>
          <p:nvPr/>
        </p:nvSpPr>
        <p:spPr>
          <a:xfrm>
            <a:off x="3264408" y="2761488"/>
            <a:ext cx="8086039" cy="713232"/>
          </a:xfrm>
          <a:prstGeom prst="rect">
            <a:avLst/>
          </a:prstGeom>
          <a:noFill/>
        </p:spPr>
        <p:txBody>
          <a:bodyPr wrap="square" anchor="t" lIns="0" rIns="0" tIns="0" bIns="0">
            <a:spAutoFit/>
          </a:bodyPr>
          <a:lstStyle/>
          <a:p>
            <a:pPr algn="l">
              <a:spcBef>
                <a:spcPts val="0"/>
              </a:spcBef>
              <a:spcAft>
                <a:spcPts val="0"/>
              </a:spcAft>
            </a:pPr>
            <a:r>
              <a:rPr sz="1050" b="0" i="0">
                <a:solidFill>
                  <a:srgbClr val="16233B"/>
                </a:solidFill>
                <a:latin typeface="Bahnschrift"/>
              </a:rPr>
              <a:t>Ranks the eligible funds in a category and publishes the top 2, from a top-5 shortlist, expected to beat the category Total-Return index over 3 to 5 years.</a:t>
            </a:r>
          </a:p>
        </p:txBody>
      </p:sp>
      <p:sp>
        <p:nvSpPr>
          <p:cNvPr id="28" name="TextBox 27"/>
          <p:cNvSpPr txBox="1"/>
          <p:nvPr/>
        </p:nvSpPr>
        <p:spPr>
          <a:xfrm>
            <a:off x="841248" y="3547872"/>
            <a:ext cx="2286000" cy="365760"/>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What it is not</a:t>
            </a:r>
          </a:p>
        </p:txBody>
      </p:sp>
      <p:sp>
        <p:nvSpPr>
          <p:cNvPr id="29" name="TextBox 28"/>
          <p:cNvSpPr txBox="1"/>
          <p:nvPr/>
        </p:nvSpPr>
        <p:spPr>
          <a:xfrm>
            <a:off x="3264408" y="3547872"/>
            <a:ext cx="8086039" cy="713232"/>
          </a:xfrm>
          <a:prstGeom prst="rect">
            <a:avLst/>
          </a:prstGeom>
          <a:noFill/>
        </p:spPr>
        <p:txBody>
          <a:bodyPr wrap="square" anchor="t" lIns="0" rIns="0" tIns="0" bIns="0">
            <a:spAutoFit/>
          </a:bodyPr>
          <a:lstStyle/>
          <a:p>
            <a:pPr algn="l">
              <a:spcBef>
                <a:spcPts val="0"/>
              </a:spcBef>
              <a:spcAft>
                <a:spcPts val="0"/>
              </a:spcAft>
            </a:pPr>
            <a:r>
              <a:rPr sz="1050" b="0" i="0">
                <a:solidFill>
                  <a:srgbClr val="16233B"/>
                </a:solidFill>
                <a:latin typeface="Bahnschrift"/>
              </a:rPr>
              <a:t>Not a market call, not a timing model, and not a sell engine. It has no Sell verdict at all: its verdicts are Active and Index core.</a:t>
            </a:r>
          </a:p>
        </p:txBody>
      </p:sp>
      <p:sp>
        <p:nvSpPr>
          <p:cNvPr id="30" name="TextBox 29"/>
          <p:cNvSpPr txBox="1"/>
          <p:nvPr/>
        </p:nvSpPr>
        <p:spPr>
          <a:xfrm>
            <a:off x="841248" y="4334256"/>
            <a:ext cx="2286000" cy="365760"/>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Who it is for</a:t>
            </a:r>
          </a:p>
        </p:txBody>
      </p:sp>
      <p:sp>
        <p:nvSpPr>
          <p:cNvPr id="31" name="TextBox 30"/>
          <p:cNvSpPr txBox="1"/>
          <p:nvPr/>
        </p:nvSpPr>
        <p:spPr>
          <a:xfrm>
            <a:off x="3264408" y="4334256"/>
            <a:ext cx="8086039" cy="713232"/>
          </a:xfrm>
          <a:prstGeom prst="rect">
            <a:avLst/>
          </a:prstGeom>
          <a:noFill/>
        </p:spPr>
        <p:txBody>
          <a:bodyPr wrap="square" anchor="t" lIns="0" rIns="0" tIns="0" bIns="0">
            <a:spAutoFit/>
          </a:bodyPr>
          <a:lstStyle/>
          <a:p>
            <a:pPr algn="l">
              <a:spcBef>
                <a:spcPts val="0"/>
              </a:spcBef>
              <a:spcAft>
                <a:spcPts val="0"/>
              </a:spcAft>
            </a:pPr>
            <a:r>
              <a:rPr sz="1050" b="0" i="0">
                <a:solidFill>
                  <a:srgbClr val="16233B"/>
                </a:solidFill>
                <a:latin typeface="Bahnschrift"/>
              </a:rPr>
              <a:t>HNI advisory on a Direct-plan basis, measured against Total-Return benchmarks, reviewed twice a year.</a:t>
            </a:r>
          </a:p>
        </p:txBody>
      </p:sp>
      <p:sp>
        <p:nvSpPr>
          <p:cNvPr id="32" name="TextBox 31"/>
          <p:cNvSpPr txBox="1"/>
          <p:nvPr/>
        </p:nvSpPr>
        <p:spPr>
          <a:xfrm>
            <a:off x="841248" y="5120640"/>
            <a:ext cx="2286000" cy="365760"/>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Deployment scope</a:t>
            </a:r>
          </a:p>
        </p:txBody>
      </p:sp>
      <p:sp>
        <p:nvSpPr>
          <p:cNvPr id="33" name="TextBox 32"/>
          <p:cNvSpPr txBox="1"/>
          <p:nvPr/>
        </p:nvSpPr>
        <p:spPr>
          <a:xfrm>
            <a:off x="3264408" y="5120640"/>
            <a:ext cx="8086039" cy="713232"/>
          </a:xfrm>
          <a:prstGeom prst="rect">
            <a:avLst/>
          </a:prstGeom>
          <a:noFill/>
        </p:spPr>
        <p:txBody>
          <a:bodyPr wrap="square" anchor="t" lIns="0" rIns="0" tIns="0" bIns="0">
            <a:spAutoFit/>
          </a:bodyPr>
          <a:lstStyle/>
          <a:p>
            <a:pPr algn="l">
              <a:spcBef>
                <a:spcPts val="0"/>
              </a:spcBef>
              <a:spcAft>
                <a:spcPts val="0"/>
              </a:spcAft>
            </a:pPr>
            <a:r>
              <a:rPr sz="1050" b="0" i="0">
                <a:solidFill>
                  <a:srgbClr val="16233B"/>
                </a:solidFill>
                <a:latin typeface="Bahnschrift"/>
              </a:rPr>
              <a:t>Large as an index core, Large and Mid, Mid as a momentum sleeve, Flexi, Multi, Small. Focused and Value are ranked but not deployed.</a:t>
            </a:r>
          </a:p>
        </p:txBody>
      </p:sp>
      <p:sp>
        <p:nvSpPr>
          <p:cNvPr id="34" name="TextBox 33"/>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Universe replicated from Mf_qfra2/data/verified_navs_*.csv, 2026-08-04. Verdicts from QFRA2_current.csv.</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WHAT IT IS</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1700" b="1" i="0">
                <a:solidFill>
                  <a:srgbClr val="1B27A3"/>
                </a:solidFill>
                <a:latin typeface="Bahnschrift"/>
              </a:rPr>
              <a:t>No machine learning, and why that is the right answer</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400" b="1" i="0">
                <a:solidFill>
                  <a:srgbClr val="F2A93C"/>
                </a:solidFill>
                <a:latin typeface="Bahnschrift"/>
              </a:rPr>
              <a:t>The previous pack claimed an AI/ML ranking. There is none, and adding one would recreate a failure we already tested</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04</a:t>
            </a:r>
          </a:p>
        </p:txBody>
      </p:sp>
      <p:sp>
        <p:nvSpPr>
          <p:cNvPr id="15" name="Rounded Rectangle 14"/>
          <p:cNvSpPr/>
          <p:nvPr/>
        </p:nvSpPr>
        <p:spPr>
          <a:xfrm>
            <a:off x="841248" y="1810512"/>
            <a:ext cx="10509199" cy="1243584"/>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 y="1810512"/>
            <a:ext cx="54864" cy="1243584"/>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2416" y="1938528"/>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WHAT THE EARLIER DECK CLAIMED, AND WHAT IS ACTUALLY THERE</a:t>
            </a:r>
          </a:p>
        </p:txBody>
      </p:sp>
      <p:sp>
        <p:nvSpPr>
          <p:cNvPr id="18" name="TextBox 17"/>
          <p:cNvSpPr txBox="1"/>
          <p:nvPr/>
        </p:nvSpPr>
        <p:spPr>
          <a:xfrm>
            <a:off x="1042416" y="2212848"/>
            <a:ext cx="10143439" cy="78638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It called the method an "AI/ML-assisted ranking" and the selection an "ML rank". Neither is true: across all 137 engine files there is no scikit-learn, LightGBM, XGBoost, TensorFlow, PyTorch or Keras. The same build script also printed "ML on the cross-section: too small, it memorises one era", so the pack contradicted itself.</a:t>
            </a:r>
          </a:p>
        </p:txBody>
      </p:sp>
      <p:sp>
        <p:nvSpPr>
          <p:cNvPr id="19" name="TextBox 18"/>
          <p:cNvSpPr txBox="1"/>
          <p:nvPr/>
        </p:nvSpPr>
        <p:spPr>
          <a:xfrm>
            <a:off x="914400" y="3182112"/>
            <a:ext cx="2596896"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LAYER</a:t>
            </a:r>
          </a:p>
        </p:txBody>
      </p:sp>
      <p:sp>
        <p:nvSpPr>
          <p:cNvPr id="20" name="TextBox 19"/>
          <p:cNvSpPr txBox="1"/>
          <p:nvPr/>
        </p:nvSpPr>
        <p:spPr>
          <a:xfrm>
            <a:off x="3657600" y="3182112"/>
            <a:ext cx="761969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WHAT IT ACTUALLY IS</a:t>
            </a:r>
          </a:p>
        </p:txBody>
      </p:sp>
      <p:sp>
        <p:nvSpPr>
          <p:cNvPr id="21" name="Rectangle 20"/>
          <p:cNvSpPr/>
          <p:nvPr/>
        </p:nvSpPr>
        <p:spPr>
          <a:xfrm>
            <a:off x="841248" y="3438144"/>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3483864"/>
            <a:ext cx="2596896"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Signals</a:t>
            </a:r>
          </a:p>
        </p:txBody>
      </p:sp>
      <p:sp>
        <p:nvSpPr>
          <p:cNvPr id="23" name="TextBox 22"/>
          <p:cNvSpPr txBox="1"/>
          <p:nvPr/>
        </p:nvSpPr>
        <p:spPr>
          <a:xfrm>
            <a:off x="3657600" y="3483864"/>
            <a:ext cx="7619695"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Six to eight per-fund measures over a 756-day window: information ratio, down-capture, Calmar, momentum, alpha stability, capture ratio.</a:t>
            </a:r>
          </a:p>
        </p:txBody>
      </p:sp>
      <p:sp>
        <p:nvSpPr>
          <p:cNvPr id="24" name="Rectangle 23"/>
          <p:cNvSpPr/>
          <p:nvPr/>
        </p:nvSpPr>
        <p:spPr>
          <a:xfrm>
            <a:off x="841248" y="3886200"/>
            <a:ext cx="10509199" cy="42062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3904488"/>
            <a:ext cx="2596896"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Factor step</a:t>
            </a:r>
          </a:p>
        </p:txBody>
      </p:sp>
      <p:sp>
        <p:nvSpPr>
          <p:cNvPr id="26" name="TextBox 25"/>
          <p:cNvSpPr txBox="1"/>
          <p:nvPr/>
        </p:nvSpPr>
        <p:spPr>
          <a:xfrm>
            <a:off x="3657600" y="3904488"/>
            <a:ext cx="7619695"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One ordinary least-squares regression. The only estimated coefficients anywhere in the engine, and they feed just 2 of the ranked inputs.</a:t>
            </a:r>
          </a:p>
        </p:txBody>
      </p:sp>
      <p:sp>
        <p:nvSpPr>
          <p:cNvPr id="27" name="TextBox 26"/>
          <p:cNvSpPr txBox="1"/>
          <p:nvPr/>
        </p:nvSpPr>
        <p:spPr>
          <a:xfrm>
            <a:off x="914400" y="4325112"/>
            <a:ext cx="2596896"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Combination</a:t>
            </a:r>
          </a:p>
        </p:txBody>
      </p:sp>
      <p:sp>
        <p:nvSpPr>
          <p:cNvPr id="28" name="TextBox 27"/>
          <p:cNvSpPr txBox="1"/>
          <p:nvPr/>
        </p:nvSpPr>
        <p:spPr>
          <a:xfrm>
            <a:off x="3657600" y="4325112"/>
            <a:ext cx="7619695"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Cross-sectional percentile ranks blended with hand-set constants: an equal-weight average, then 0.9 and 0.1, then 0.7 and 0.3.</a:t>
            </a:r>
          </a:p>
        </p:txBody>
      </p:sp>
      <p:sp>
        <p:nvSpPr>
          <p:cNvPr id="29" name="Rectangle 28"/>
          <p:cNvSpPr/>
          <p:nvPr/>
        </p:nvSpPr>
        <p:spPr>
          <a:xfrm>
            <a:off x="841248" y="4727448"/>
            <a:ext cx="10509199" cy="42062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4745736"/>
            <a:ext cx="2596896"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Screens</a:t>
            </a:r>
          </a:p>
        </p:txBody>
      </p:sp>
      <p:sp>
        <p:nvSpPr>
          <p:cNvPr id="31" name="TextBox 30"/>
          <p:cNvSpPr txBox="1"/>
          <p:nvPr/>
        </p:nvSpPr>
        <p:spPr>
          <a:xfrm>
            <a:off x="3657600" y="4745736"/>
            <a:ext cx="7619695"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Fixed percentile and asset thresholds. Nothing is fitted.</a:t>
            </a:r>
          </a:p>
        </p:txBody>
      </p:sp>
      <p:sp>
        <p:nvSpPr>
          <p:cNvPr id="32" name="TextBox 31"/>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Audit: qfra2_pac_prep/AI_ML_AUDIT.md. Engine: final_model.py, factors_live.py:223, features.py:38.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WHAT IT IS</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000" b="1" i="0">
                <a:solidFill>
                  <a:srgbClr val="1B27A3"/>
                </a:solidFill>
                <a:latin typeface="Bahnschrift"/>
              </a:rPr>
              <a:t>Where we do use AI, and whether to add it here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400" b="1" i="0">
                <a:solidFill>
                  <a:srgbClr val="F2A93C"/>
                </a:solidFill>
                <a:latin typeface="Bahnschrift"/>
              </a:rPr>
              <a:t>The boundary matters: an analyst agent doing research is not the same claim as a model that learns its weights</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05</a:t>
            </a:r>
          </a:p>
        </p:txBody>
      </p:sp>
      <p:sp>
        <p:nvSpPr>
          <p:cNvPr id="15" name="Rounded Rectangle 14"/>
          <p:cNvSpPr/>
          <p:nvPr/>
        </p:nvSpPr>
        <p:spPr>
          <a:xfrm>
            <a:off x="841248" y="1810512"/>
            <a:ext cx="10509199" cy="1243584"/>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 y="1810512"/>
            <a:ext cx="54864" cy="1243584"/>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2416" y="1938528"/>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WHERE AI IS ACTUALLY USED, AND WHERE IT IS NOT</a:t>
            </a:r>
          </a:p>
        </p:txBody>
      </p:sp>
      <p:sp>
        <p:nvSpPr>
          <p:cNvPr id="18" name="TextBox 17"/>
          <p:cNvSpPr txBox="1"/>
          <p:nvPr/>
        </p:nvSpPr>
        <p:spPr>
          <a:xfrm>
            <a:off x="1042416" y="2212848"/>
            <a:ext cx="10143439" cy="78638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stock scorecard runs one language-model research agent per stock, and that is real. It is judgment and research, not a fitted ranker. It is also entirely stock-side: checked in both directions, there is no path by which that research reaches this fund model, and no path by which this model reaches the stock agents. The fund engine consumes no AI output at all.</a:t>
            </a:r>
          </a:p>
        </p:txBody>
      </p:sp>
      <p:sp>
        <p:nvSpPr>
          <p:cNvPr id="19" name="Rounded Rectangle 18"/>
          <p:cNvSpPr/>
          <p:nvPr/>
        </p:nvSpPr>
        <p:spPr>
          <a:xfrm>
            <a:off x="841248" y="3182112"/>
            <a:ext cx="10509199" cy="1243584"/>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41248" y="3182112"/>
            <a:ext cx="54864" cy="1243584"/>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42416" y="3310128"/>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TWO THINGS IN THE REPOSITORY THAT LOOK LIKE AI AND ARE NOT</a:t>
            </a:r>
          </a:p>
        </p:txBody>
      </p:sp>
      <p:sp>
        <p:nvSpPr>
          <p:cNvPr id="22" name="TextBox 21"/>
          <p:cNvSpPr txBox="1"/>
          <p:nvPr/>
        </p:nvSpPr>
        <p:spPr>
          <a:xfrm>
            <a:off x="1042416" y="3584448"/>
            <a:ext cx="10143439" cy="78638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legacy script does contain a real random-forest model. It sits outside the frozen engine, nothing imports it, and it hard-codes another machine's file paths. A second file named for an AI overlay detects manager changes from a hard-coded list, and its own comment says it is mocked to demonstrate the architecture. Neither is in the pipeline.</a:t>
            </a:r>
          </a:p>
        </p:txBody>
      </p:sp>
      <p:sp>
        <p:nvSpPr>
          <p:cNvPr id="23" name="Rounded Rectangle 22"/>
          <p:cNvSpPr/>
          <p:nvPr/>
        </p:nvSpPr>
        <p:spPr>
          <a:xfrm>
            <a:off x="841248" y="4553712"/>
            <a:ext cx="10509199" cy="1412748"/>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41248" y="4553712"/>
            <a:ext cx="54864" cy="1412748"/>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2416" y="4681727"/>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RECOMMENDATION: KEEP THE ENGINE, DROP THE CLAIM</a:t>
            </a:r>
          </a:p>
        </p:txBody>
      </p:sp>
      <p:sp>
        <p:nvSpPr>
          <p:cNvPr id="26" name="TextBox 25"/>
          <p:cNvSpPr txBox="1"/>
          <p:nvPr/>
        </p:nvSpPr>
        <p:spPr>
          <a:xfrm>
            <a:off x="1042416" y="4956048"/>
            <a:ext cx="1014343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Fitting weights on 5 to 9 funds per category is how a model memorises one era, which is what the research already found and rejected. Parsimony is the defensible position: few orthogonal signals, no fitted weights, nothing to overfit. If the committee wants real machine learning later, the credible route is a pooled panel learner across fund-months to replace the hand-set blend constants. That is new validated work, not a relabelling of what already exists.</a:t>
            </a:r>
          </a:p>
        </p:txBody>
      </p:sp>
      <p:sp>
        <p:nvSpPr>
          <p:cNvPr id="27" name="TextBox 26"/>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qfra2_pac_prep/AI_ML_AUDIT.md. Stock-side agent research: STOCK_SCORECARD_750/FROZEN_METHODOLOGY.md.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WHAT IT IS</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Where the alpha comes from</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Four sources, each measured, and one of them is knowing when to stop</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06</a:t>
            </a:r>
          </a:p>
        </p:txBody>
      </p:sp>
      <p:sp>
        <p:nvSpPr>
          <p:cNvPr id="15" name="TextBox 14"/>
          <p:cNvSpPr txBox="1"/>
          <p:nvPr/>
        </p:nvSpPr>
        <p:spPr>
          <a:xfrm>
            <a:off x="841248" y="1792224"/>
            <a:ext cx="502920" cy="384048"/>
          </a:xfrm>
          <a:prstGeom prst="rect">
            <a:avLst/>
          </a:prstGeom>
          <a:noFill/>
        </p:spPr>
        <p:txBody>
          <a:bodyPr wrap="square" anchor="t" lIns="0" rIns="0" tIns="0" bIns="0">
            <a:spAutoFit/>
          </a:bodyPr>
          <a:lstStyle/>
          <a:p>
            <a:pPr algn="l">
              <a:spcBef>
                <a:spcPts val="0"/>
              </a:spcBef>
              <a:spcAft>
                <a:spcPts val="0"/>
              </a:spcAft>
            </a:pPr>
            <a:r>
              <a:rPr sz="1900" b="1" i="0">
                <a:solidFill>
                  <a:srgbClr val="F2A93C"/>
                </a:solidFill>
                <a:latin typeface="Georgia"/>
              </a:rPr>
              <a:t>1</a:t>
            </a:r>
          </a:p>
        </p:txBody>
      </p:sp>
      <p:sp>
        <p:nvSpPr>
          <p:cNvPr id="16" name="TextBox 15"/>
          <p:cNvSpPr txBox="1"/>
          <p:nvPr/>
        </p:nvSpPr>
        <p:spPr>
          <a:xfrm>
            <a:off x="1408176" y="1810512"/>
            <a:ext cx="9942271" cy="274320"/>
          </a:xfrm>
          <a:prstGeom prst="rect">
            <a:avLst/>
          </a:prstGeom>
          <a:noFill/>
        </p:spPr>
        <p:txBody>
          <a:bodyPr wrap="square" anchor="t" lIns="0" rIns="0" tIns="0" bIns="0">
            <a:spAutoFit/>
          </a:bodyPr>
          <a:lstStyle/>
          <a:p>
            <a:pPr algn="l">
              <a:spcBef>
                <a:spcPts val="0"/>
              </a:spcBef>
              <a:spcAft>
                <a:spcPts val="0"/>
              </a:spcAft>
            </a:pPr>
            <a:r>
              <a:rPr sz="1150" b="1" i="0">
                <a:solidFill>
                  <a:srgbClr val="1B27A3"/>
                </a:solidFill>
                <a:latin typeface="Bahnschrift"/>
              </a:rPr>
              <a:t>SELECTION, measured not described</a:t>
            </a:r>
          </a:p>
        </p:txBody>
      </p:sp>
      <p:sp>
        <p:nvSpPr>
          <p:cNvPr id="17" name="TextBox 16"/>
          <p:cNvSpPr txBox="1"/>
          <p:nvPr/>
        </p:nvSpPr>
        <p:spPr>
          <a:xfrm>
            <a:off x="1408176" y="2103120"/>
            <a:ext cx="9942271" cy="457200"/>
          </a:xfrm>
          <a:prstGeom prst="rect">
            <a:avLst/>
          </a:prstGeom>
          <a:noFill/>
        </p:spPr>
        <p:txBody>
          <a:bodyPr wrap="square" anchor="t" lIns="0" rIns="0" tIns="0" bIns="0">
            <a:spAutoFit/>
          </a:bodyPr>
          <a:lstStyle/>
          <a:p>
            <a:pPr algn="l">
              <a:spcBef>
                <a:spcPts val="0"/>
              </a:spcBef>
              <a:spcAft>
                <a:spcPts val="0"/>
              </a:spcAft>
            </a:pPr>
            <a:r>
              <a:rPr sz="1000" b="0" i="0">
                <a:solidFill>
                  <a:srgbClr val="16233B"/>
                </a:solidFill>
                <a:latin typeface="Bahnschrift"/>
              </a:rPr>
              <a:t>Factor-adjusted alpha and appraisal ratio, significance-gated. On the unconstrained ranking this is worth +0.48%/yr, with a 95% bootstrap interval of +0.06% to +1.05%.</a:t>
            </a:r>
          </a:p>
        </p:txBody>
      </p:sp>
      <p:sp>
        <p:nvSpPr>
          <p:cNvPr id="18" name="TextBox 17"/>
          <p:cNvSpPr txBox="1"/>
          <p:nvPr/>
        </p:nvSpPr>
        <p:spPr>
          <a:xfrm>
            <a:off x="841248" y="2560320"/>
            <a:ext cx="502920" cy="384048"/>
          </a:xfrm>
          <a:prstGeom prst="rect">
            <a:avLst/>
          </a:prstGeom>
          <a:noFill/>
        </p:spPr>
        <p:txBody>
          <a:bodyPr wrap="square" anchor="t" lIns="0" rIns="0" tIns="0" bIns="0">
            <a:spAutoFit/>
          </a:bodyPr>
          <a:lstStyle/>
          <a:p>
            <a:pPr algn="l">
              <a:spcBef>
                <a:spcPts val="0"/>
              </a:spcBef>
              <a:spcAft>
                <a:spcPts val="0"/>
              </a:spcAft>
            </a:pPr>
            <a:r>
              <a:rPr sz="1900" b="1" i="0">
                <a:solidFill>
                  <a:srgbClr val="F2A93C"/>
                </a:solidFill>
                <a:latin typeface="Georgia"/>
              </a:rPr>
              <a:t>2</a:t>
            </a:r>
          </a:p>
        </p:txBody>
      </p:sp>
      <p:sp>
        <p:nvSpPr>
          <p:cNvPr id="19" name="TextBox 18"/>
          <p:cNvSpPr txBox="1"/>
          <p:nvPr/>
        </p:nvSpPr>
        <p:spPr>
          <a:xfrm>
            <a:off x="1408176" y="2578608"/>
            <a:ext cx="9942271" cy="274320"/>
          </a:xfrm>
          <a:prstGeom prst="rect">
            <a:avLst/>
          </a:prstGeom>
          <a:noFill/>
        </p:spPr>
        <p:txBody>
          <a:bodyPr wrap="square" anchor="t" lIns="0" rIns="0" tIns="0" bIns="0">
            <a:spAutoFit/>
          </a:bodyPr>
          <a:lstStyle/>
          <a:p>
            <a:pPr algn="l">
              <a:spcBef>
                <a:spcPts val="0"/>
              </a:spcBef>
              <a:spcAft>
                <a:spcPts val="0"/>
              </a:spcAft>
            </a:pPr>
            <a:r>
              <a:rPr sz="1150" b="1" i="0">
                <a:solidFill>
                  <a:srgbClr val="1B27A3"/>
                </a:solidFill>
                <a:latin typeface="Bahnschrift"/>
              </a:rPr>
              <a:t>SCREENING OUT LOSERS</a:t>
            </a:r>
          </a:p>
        </p:txBody>
      </p:sp>
      <p:sp>
        <p:nvSpPr>
          <p:cNvPr id="20" name="TextBox 19"/>
          <p:cNvSpPr txBox="1"/>
          <p:nvPr/>
        </p:nvSpPr>
        <p:spPr>
          <a:xfrm>
            <a:off x="1408176" y="2871215"/>
            <a:ext cx="9942271" cy="457200"/>
          </a:xfrm>
          <a:prstGeom prst="rect">
            <a:avLst/>
          </a:prstGeom>
          <a:noFill/>
        </p:spPr>
        <p:txBody>
          <a:bodyPr wrap="square" anchor="t" lIns="0" rIns="0" tIns="0" bIns="0">
            <a:spAutoFit/>
          </a:bodyPr>
          <a:lstStyle/>
          <a:p>
            <a:pPr algn="l">
              <a:spcBef>
                <a:spcPts val="0"/>
              </a:spcBef>
              <a:spcAft>
                <a:spcPts val="0"/>
              </a:spcAft>
            </a:pPr>
            <a:r>
              <a:rPr sz="1000" b="0" i="0">
                <a:solidFill>
                  <a:srgbClr val="16233B"/>
                </a:solidFill>
                <a:latin typeface="Bahnschrift"/>
              </a:rPr>
              <a:t>SENTINEL flags closet indexing, a low-quality book and no measured skill. It lifts our own top-decile beat-the-index rate from 48.5% to 56.6%, the single largest validated lever in the model.</a:t>
            </a:r>
          </a:p>
        </p:txBody>
      </p:sp>
      <p:sp>
        <p:nvSpPr>
          <p:cNvPr id="21" name="TextBox 20"/>
          <p:cNvSpPr txBox="1"/>
          <p:nvPr/>
        </p:nvSpPr>
        <p:spPr>
          <a:xfrm>
            <a:off x="841248" y="3328415"/>
            <a:ext cx="502920" cy="384048"/>
          </a:xfrm>
          <a:prstGeom prst="rect">
            <a:avLst/>
          </a:prstGeom>
          <a:noFill/>
        </p:spPr>
        <p:txBody>
          <a:bodyPr wrap="square" anchor="t" lIns="0" rIns="0" tIns="0" bIns="0">
            <a:spAutoFit/>
          </a:bodyPr>
          <a:lstStyle/>
          <a:p>
            <a:pPr algn="l">
              <a:spcBef>
                <a:spcPts val="0"/>
              </a:spcBef>
              <a:spcAft>
                <a:spcPts val="0"/>
              </a:spcAft>
            </a:pPr>
            <a:r>
              <a:rPr sz="1900" b="1" i="0">
                <a:solidFill>
                  <a:srgbClr val="F2A93C"/>
                </a:solidFill>
                <a:latin typeface="Georgia"/>
              </a:rPr>
              <a:t>3</a:t>
            </a:r>
          </a:p>
        </p:txBody>
      </p:sp>
      <p:sp>
        <p:nvSpPr>
          <p:cNvPr id="22" name="TextBox 21"/>
          <p:cNvSpPr txBox="1"/>
          <p:nvPr/>
        </p:nvSpPr>
        <p:spPr>
          <a:xfrm>
            <a:off x="1408176" y="3346703"/>
            <a:ext cx="9942271" cy="274320"/>
          </a:xfrm>
          <a:prstGeom prst="rect">
            <a:avLst/>
          </a:prstGeom>
          <a:noFill/>
        </p:spPr>
        <p:txBody>
          <a:bodyPr wrap="square" anchor="t" lIns="0" rIns="0" tIns="0" bIns="0">
            <a:spAutoFit/>
          </a:bodyPr>
          <a:lstStyle/>
          <a:p>
            <a:pPr algn="l">
              <a:spcBef>
                <a:spcPts val="0"/>
              </a:spcBef>
              <a:spcAft>
                <a:spcPts val="0"/>
              </a:spcAft>
            </a:pPr>
            <a:r>
              <a:rPr sz="1150" b="1" i="0">
                <a:solidFill>
                  <a:srgbClr val="1B27A3"/>
                </a:solidFill>
                <a:latin typeface="Bahnschrift"/>
              </a:rPr>
              <a:t>ABSTAINING WHERE WE HAVE NO EDGE</a:t>
            </a:r>
          </a:p>
        </p:txBody>
      </p:sp>
      <p:sp>
        <p:nvSpPr>
          <p:cNvPr id="23" name="TextBox 22"/>
          <p:cNvSpPr txBox="1"/>
          <p:nvPr/>
        </p:nvSpPr>
        <p:spPr>
          <a:xfrm>
            <a:off x="1408176" y="3639311"/>
            <a:ext cx="9942271" cy="457200"/>
          </a:xfrm>
          <a:prstGeom prst="rect">
            <a:avLst/>
          </a:prstGeom>
          <a:noFill/>
        </p:spPr>
        <p:txBody>
          <a:bodyPr wrap="square" anchor="t" lIns="0" rIns="0" tIns="0" bIns="0">
            <a:spAutoFit/>
          </a:bodyPr>
          <a:lstStyle/>
          <a:p>
            <a:pPr algn="l">
              <a:spcBef>
                <a:spcPts val="0"/>
              </a:spcBef>
              <a:spcAft>
                <a:spcPts val="0"/>
              </a:spcAft>
            </a:pPr>
            <a:r>
              <a:rPr sz="1000" b="0" i="0">
                <a:solidFill>
                  <a:srgbClr val="16233B"/>
                </a:solidFill>
                <a:latin typeface="Bahnschrift"/>
              </a:rPr>
              <a:t>Large and Mid Cap are routed to an index core because active selection there is not distinguishable from a blind pick. Mid runs a momentum index instead, worth about +9%/yr over the plain mid-cap index.</a:t>
            </a:r>
          </a:p>
        </p:txBody>
      </p:sp>
      <p:sp>
        <p:nvSpPr>
          <p:cNvPr id="24" name="TextBox 23"/>
          <p:cNvSpPr txBox="1"/>
          <p:nvPr/>
        </p:nvSpPr>
        <p:spPr>
          <a:xfrm>
            <a:off x="841248" y="4096511"/>
            <a:ext cx="502920" cy="384048"/>
          </a:xfrm>
          <a:prstGeom prst="rect">
            <a:avLst/>
          </a:prstGeom>
          <a:noFill/>
        </p:spPr>
        <p:txBody>
          <a:bodyPr wrap="square" anchor="t" lIns="0" rIns="0" tIns="0" bIns="0">
            <a:spAutoFit/>
          </a:bodyPr>
          <a:lstStyle/>
          <a:p>
            <a:pPr algn="l">
              <a:spcBef>
                <a:spcPts val="0"/>
              </a:spcBef>
              <a:spcAft>
                <a:spcPts val="0"/>
              </a:spcAft>
            </a:pPr>
            <a:r>
              <a:rPr sz="1900" b="1" i="0">
                <a:solidFill>
                  <a:srgbClr val="F2A93C"/>
                </a:solidFill>
                <a:latin typeface="Georgia"/>
              </a:rPr>
              <a:t>4</a:t>
            </a:r>
          </a:p>
        </p:txBody>
      </p:sp>
      <p:sp>
        <p:nvSpPr>
          <p:cNvPr id="25" name="TextBox 24"/>
          <p:cNvSpPr txBox="1"/>
          <p:nvPr/>
        </p:nvSpPr>
        <p:spPr>
          <a:xfrm>
            <a:off x="1408176" y="4114799"/>
            <a:ext cx="9942271" cy="274320"/>
          </a:xfrm>
          <a:prstGeom prst="rect">
            <a:avLst/>
          </a:prstGeom>
          <a:noFill/>
        </p:spPr>
        <p:txBody>
          <a:bodyPr wrap="square" anchor="t" lIns="0" rIns="0" tIns="0" bIns="0">
            <a:spAutoFit/>
          </a:bodyPr>
          <a:lstStyle/>
          <a:p>
            <a:pPr algn="l">
              <a:spcBef>
                <a:spcPts val="0"/>
              </a:spcBef>
              <a:spcAft>
                <a:spcPts val="0"/>
              </a:spcAft>
            </a:pPr>
            <a:r>
              <a:rPr sz="1150" b="1" i="0">
                <a:solidFill>
                  <a:srgbClr val="1B27A3"/>
                </a:solidFill>
                <a:latin typeface="Bahnschrift"/>
              </a:rPr>
              <a:t>NOT TRADING IT AWAY</a:t>
            </a:r>
          </a:p>
        </p:txBody>
      </p:sp>
      <p:sp>
        <p:nvSpPr>
          <p:cNvPr id="26" name="TextBox 25"/>
          <p:cNvSpPr txBox="1"/>
          <p:nvPr/>
        </p:nvSpPr>
        <p:spPr>
          <a:xfrm>
            <a:off x="1408176" y="4407407"/>
            <a:ext cx="9942271" cy="457200"/>
          </a:xfrm>
          <a:prstGeom prst="rect">
            <a:avLst/>
          </a:prstGeom>
          <a:noFill/>
        </p:spPr>
        <p:txBody>
          <a:bodyPr wrap="square" anchor="t" lIns="0" rIns="0" tIns="0" bIns="0">
            <a:spAutoFit/>
          </a:bodyPr>
          <a:lstStyle/>
          <a:p>
            <a:pPr algn="l">
              <a:spcBef>
                <a:spcPts val="0"/>
              </a:spcBef>
              <a:spcAft>
                <a:spcPts val="0"/>
              </a:spcAft>
            </a:pPr>
            <a:r>
              <a:rPr sz="1000" b="0" i="0">
                <a:solidFill>
                  <a:srgbClr val="16233B"/>
                </a:solidFill>
                <a:latin typeface="Bahnschrift"/>
              </a:rPr>
              <a:t>The churn rule holds a fund unless a challenger clears a material margin, delivering 3.9 book changes a year and an average holding near three years. This protects long-term capital gains treatment.</a:t>
            </a:r>
          </a:p>
        </p:txBody>
      </p:sp>
      <p:sp>
        <p:nvSpPr>
          <p:cNvPr id="27" name="Rounded Rectangle 26"/>
          <p:cNvSpPr/>
          <p:nvPr/>
        </p:nvSpPr>
        <p:spPr>
          <a:xfrm>
            <a:off x="841248" y="4882895"/>
            <a:ext cx="10509199" cy="905256"/>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41248" y="4882895"/>
            <a:ext cx="54864" cy="905256"/>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2416" y="5010911"/>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AND THE HONEST SUBTRACTION</a:t>
            </a:r>
          </a:p>
        </p:txBody>
      </p:sp>
      <p:sp>
        <p:nvSpPr>
          <p:cNvPr id="30" name="TextBox 29"/>
          <p:cNvSpPr txBox="1"/>
          <p:nvPr/>
        </p:nvSpPr>
        <p:spPr>
          <a:xfrm>
            <a:off x="1042416" y="5285231"/>
            <a:ext cx="10143439" cy="44805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Source 4 pays for itself in tax and operations, but it also absorbs most of source 1. The deployed book's realized edge is far smaller than the ranking's, and that arithmetic is the next section.</a:t>
            </a:r>
          </a:p>
        </p:txBody>
      </p:sp>
      <p:sp>
        <p:nvSpPr>
          <p:cNvPr id="31" name="TextBox 30"/>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Bootstrap and SENTINEL from QFRA2_evidence.csv. Churn from the 8-year realised history. Momentum sleeve from qfra2_smartbeta.py.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2.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02</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02</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How a rank is produced</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The pipeline end to end, the quality scorecard, the negative screen, and the churn rule</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8</a:t>
            </a:r>
          </a:p>
        </p:txBody>
      </p:sp>
      <p:sp>
        <p:nvSpPr>
          <p:cNvPr id="11" name="TextBox 10"/>
          <p:cNvSpPr txBox="1"/>
          <p:nvPr/>
        </p:nvSpPr>
        <p:spPr>
          <a:xfrm>
            <a:off x="841248" y="525780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a:t>
            </a:r>
          </a:p>
        </p:txBody>
      </p:sp>
      <p:sp>
        <p:nvSpPr>
          <p:cNvPr id="12" name="TextBox 11"/>
          <p:cNvSpPr txBox="1"/>
          <p:nvPr/>
        </p:nvSpPr>
        <p:spPr>
          <a:xfrm>
            <a:off x="841248" y="553212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1</a:t>
            </a:r>
          </a:p>
        </p:txBody>
      </p:sp>
      <p:sp>
        <p:nvSpPr>
          <p:cNvPr id="13" name="TextBox 12"/>
          <p:cNvSpPr txBox="1"/>
          <p:nvPr/>
        </p:nvSpPr>
        <p:spPr>
          <a:xfrm>
            <a:off x="841248" y="580644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02 · HOW IT WORKS</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pipeline, step by step</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Point-in-time throughout. Every weight below is a fixed constant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08</a:t>
            </a:r>
          </a:p>
        </p:txBody>
      </p:sp>
      <p:sp>
        <p:nvSpPr>
          <p:cNvPr id="15" name="TextBox 14"/>
          <p:cNvSpPr txBox="1"/>
          <p:nvPr/>
        </p:nvSpPr>
        <p:spPr>
          <a:xfrm>
            <a:off x="914400" y="1755648"/>
            <a:ext cx="310896" cy="219456"/>
          </a:xfrm>
          <a:prstGeom prst="rect">
            <a:avLst/>
          </a:prstGeom>
          <a:noFill/>
        </p:spPr>
        <p:txBody>
          <a:bodyPr wrap="square" anchor="ctr" lIns="0" rIns="0" tIns="0" bIns="0">
            <a:spAutoFit/>
          </a:bodyPr>
          <a:lstStyle/>
          <a:p>
            <a:pPr algn="ctr">
              <a:spcBef>
                <a:spcPts val="0"/>
              </a:spcBef>
              <a:spcAft>
                <a:spcPts val="0"/>
              </a:spcAft>
            </a:pPr>
            <a:r>
              <a:rPr sz="800" b="1" i="0" spc="200">
                <a:solidFill>
                  <a:srgbClr val="6B7280"/>
                </a:solidFill>
                <a:latin typeface="Bahnschrift"/>
              </a:rPr>
              <a:t/>
            </a:r>
          </a:p>
        </p:txBody>
      </p:sp>
      <p:sp>
        <p:nvSpPr>
          <p:cNvPr id="16" name="TextBox 15"/>
          <p:cNvSpPr txBox="1"/>
          <p:nvPr/>
        </p:nvSpPr>
        <p:spPr>
          <a:xfrm>
            <a:off x="1371600" y="1755648"/>
            <a:ext cx="2139696"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STEP</a:t>
            </a:r>
          </a:p>
        </p:txBody>
      </p:sp>
      <p:sp>
        <p:nvSpPr>
          <p:cNvPr id="17" name="TextBox 16"/>
          <p:cNvSpPr txBox="1"/>
          <p:nvPr/>
        </p:nvSpPr>
        <p:spPr>
          <a:xfrm>
            <a:off x="3657600" y="1755648"/>
            <a:ext cx="761969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WHAT HAPPENS</a:t>
            </a:r>
          </a:p>
        </p:txBody>
      </p:sp>
      <p:sp>
        <p:nvSpPr>
          <p:cNvPr id="18" name="Rectangle 17"/>
          <p:cNvSpPr/>
          <p:nvPr/>
        </p:nvSpPr>
        <p:spPr>
          <a:xfrm>
            <a:off x="841248" y="2011680"/>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2057400"/>
            <a:ext cx="310896" cy="34290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0</a:t>
            </a:r>
          </a:p>
        </p:txBody>
      </p:sp>
      <p:sp>
        <p:nvSpPr>
          <p:cNvPr id="20" name="TextBox 19"/>
          <p:cNvSpPr txBox="1"/>
          <p:nvPr/>
        </p:nvSpPr>
        <p:spPr>
          <a:xfrm>
            <a:off x="1371600" y="2057400"/>
            <a:ext cx="2139696"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Data</a:t>
            </a:r>
          </a:p>
        </p:txBody>
      </p:sp>
      <p:sp>
        <p:nvSpPr>
          <p:cNvPr id="21" name="TextBox 20"/>
          <p:cNvSpPr txBox="1"/>
          <p:nvPr/>
        </p:nvSpPr>
        <p:spPr>
          <a:xfrm>
            <a:off x="3657600" y="2057400"/>
            <a:ext cx="7619695"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Direct-Growth NAVs and a price-to-total-return benchmark, strictly point-in-time.</a:t>
            </a:r>
          </a:p>
        </p:txBody>
      </p:sp>
      <p:sp>
        <p:nvSpPr>
          <p:cNvPr id="22" name="Rectangle 21"/>
          <p:cNvSpPr/>
          <p:nvPr/>
        </p:nvSpPr>
        <p:spPr>
          <a:xfrm>
            <a:off x="841248" y="2382012"/>
            <a:ext cx="10509199" cy="34290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2400300"/>
            <a:ext cx="310896" cy="34290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1</a:t>
            </a:r>
          </a:p>
        </p:txBody>
      </p:sp>
      <p:sp>
        <p:nvSpPr>
          <p:cNvPr id="24" name="TextBox 23"/>
          <p:cNvSpPr txBox="1"/>
          <p:nvPr/>
        </p:nvSpPr>
        <p:spPr>
          <a:xfrm>
            <a:off x="1371600" y="2400300"/>
            <a:ext cx="2139696"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Eligibility</a:t>
            </a:r>
          </a:p>
        </p:txBody>
      </p:sp>
      <p:sp>
        <p:nvSpPr>
          <p:cNvPr id="25" name="TextBox 24"/>
          <p:cNvSpPr txBox="1"/>
          <p:nvPr/>
        </p:nvSpPr>
        <p:spPr>
          <a:xfrm>
            <a:off x="3657600" y="2400300"/>
            <a:ext cx="7619695"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At least 3 years of returns as a hard gate, plus an asset floor, cost and true-to-label checks. Leaves 5 to 9 funds in a deployed category.</a:t>
            </a:r>
          </a:p>
        </p:txBody>
      </p:sp>
      <p:sp>
        <p:nvSpPr>
          <p:cNvPr id="26" name="TextBox 25"/>
          <p:cNvSpPr txBox="1"/>
          <p:nvPr/>
        </p:nvSpPr>
        <p:spPr>
          <a:xfrm>
            <a:off x="914400" y="2743200"/>
            <a:ext cx="310896" cy="34290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2</a:t>
            </a:r>
          </a:p>
        </p:txBody>
      </p:sp>
      <p:sp>
        <p:nvSpPr>
          <p:cNvPr id="27" name="TextBox 26"/>
          <p:cNvSpPr txBox="1"/>
          <p:nvPr/>
        </p:nvSpPr>
        <p:spPr>
          <a:xfrm>
            <a:off x="1371600" y="2743200"/>
            <a:ext cx="2139696"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Factor model</a:t>
            </a:r>
          </a:p>
        </p:txBody>
      </p:sp>
      <p:sp>
        <p:nvSpPr>
          <p:cNvPr id="28" name="TextBox 27"/>
          <p:cNvSpPr txBox="1"/>
          <p:nvPr/>
        </p:nvSpPr>
        <p:spPr>
          <a:xfrm>
            <a:off x="3657600" y="2743200"/>
            <a:ext cx="7619695"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Regress on six factors for alpha, its t-statistic, R-squared, quality beta and appraisal.</a:t>
            </a:r>
          </a:p>
        </p:txBody>
      </p:sp>
      <p:sp>
        <p:nvSpPr>
          <p:cNvPr id="29" name="Rectangle 28"/>
          <p:cNvSpPr/>
          <p:nvPr/>
        </p:nvSpPr>
        <p:spPr>
          <a:xfrm>
            <a:off x="841248" y="3067812"/>
            <a:ext cx="10509199" cy="34290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3086100"/>
            <a:ext cx="310896" cy="34290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3</a:t>
            </a:r>
          </a:p>
        </p:txBody>
      </p:sp>
      <p:sp>
        <p:nvSpPr>
          <p:cNvPr id="31" name="TextBox 30"/>
          <p:cNvSpPr txBox="1"/>
          <p:nvPr/>
        </p:nvSpPr>
        <p:spPr>
          <a:xfrm>
            <a:off x="1371600" y="3086100"/>
            <a:ext cx="2139696"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Signals</a:t>
            </a:r>
          </a:p>
        </p:txBody>
      </p:sp>
      <p:sp>
        <p:nvSpPr>
          <p:cNvPr id="32" name="TextBox 31"/>
          <p:cNvSpPr txBox="1"/>
          <p:nvPr/>
        </p:nvSpPr>
        <p:spPr>
          <a:xfrm>
            <a:off x="3657600" y="3086100"/>
            <a:ext cx="7619695"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Information ratio, down-capture, Calmar, momentum, appraisal, quality beta, alpha stability, 6-month capture.</a:t>
            </a:r>
          </a:p>
        </p:txBody>
      </p:sp>
      <p:sp>
        <p:nvSpPr>
          <p:cNvPr id="33" name="TextBox 32"/>
          <p:cNvSpPr txBox="1"/>
          <p:nvPr/>
        </p:nvSpPr>
        <p:spPr>
          <a:xfrm>
            <a:off x="914400" y="3429000"/>
            <a:ext cx="310896" cy="34290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4</a:t>
            </a:r>
          </a:p>
        </p:txBody>
      </p:sp>
      <p:sp>
        <p:nvSpPr>
          <p:cNvPr id="34" name="TextBox 33"/>
          <p:cNvSpPr txBox="1"/>
          <p:nvPr/>
        </p:nvSpPr>
        <p:spPr>
          <a:xfrm>
            <a:off x="1371600" y="3429000"/>
            <a:ext cx="2139696"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Rank</a:t>
            </a:r>
          </a:p>
        </p:txBody>
      </p:sp>
      <p:sp>
        <p:nvSpPr>
          <p:cNvPr id="35" name="TextBox 34"/>
          <p:cNvSpPr txBox="1"/>
          <p:nvPr/>
        </p:nvSpPr>
        <p:spPr>
          <a:xfrm>
            <a:off x="3657600" y="3429000"/>
            <a:ext cx="7619695"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Percentile-rank each signal within the category and date.</a:t>
            </a:r>
          </a:p>
        </p:txBody>
      </p:sp>
      <p:sp>
        <p:nvSpPr>
          <p:cNvPr id="36" name="Rectangle 35"/>
          <p:cNvSpPr/>
          <p:nvPr/>
        </p:nvSpPr>
        <p:spPr>
          <a:xfrm>
            <a:off x="841248" y="3753612"/>
            <a:ext cx="10509199" cy="34290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3771900"/>
            <a:ext cx="310896" cy="34290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5</a:t>
            </a:r>
          </a:p>
        </p:txBody>
      </p:sp>
      <p:sp>
        <p:nvSpPr>
          <p:cNvPr id="38" name="TextBox 37"/>
          <p:cNvSpPr txBox="1"/>
          <p:nvPr/>
        </p:nvSpPr>
        <p:spPr>
          <a:xfrm>
            <a:off x="1371600" y="3771900"/>
            <a:ext cx="2139696"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Score</a:t>
            </a:r>
          </a:p>
        </p:txBody>
      </p:sp>
      <p:sp>
        <p:nvSpPr>
          <p:cNvPr id="39" name="TextBox 38"/>
          <p:cNvSpPr txBox="1"/>
          <p:nvPr/>
        </p:nvSpPr>
        <p:spPr>
          <a:xfrm>
            <a:off x="3657600" y="3771900"/>
            <a:ext cx="7619695"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Average the ranks, then 0.9 of that plus 0.1 of alpha stability.</a:t>
            </a:r>
          </a:p>
        </p:txBody>
      </p:sp>
      <p:sp>
        <p:nvSpPr>
          <p:cNvPr id="40" name="TextBox 39"/>
          <p:cNvSpPr txBox="1"/>
          <p:nvPr/>
        </p:nvSpPr>
        <p:spPr>
          <a:xfrm>
            <a:off x="914400" y="4114800"/>
            <a:ext cx="310896" cy="34290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6</a:t>
            </a:r>
          </a:p>
        </p:txBody>
      </p:sp>
      <p:sp>
        <p:nvSpPr>
          <p:cNvPr id="41" name="TextBox 40"/>
          <p:cNvSpPr txBox="1"/>
          <p:nvPr/>
        </p:nvSpPr>
        <p:spPr>
          <a:xfrm>
            <a:off x="1371600" y="4114800"/>
            <a:ext cx="2139696"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Capture blend</a:t>
            </a:r>
          </a:p>
        </p:txBody>
      </p:sp>
      <p:sp>
        <p:nvSpPr>
          <p:cNvPr id="42" name="TextBox 41"/>
          <p:cNvSpPr txBox="1"/>
          <p:nvPr/>
        </p:nvSpPr>
        <p:spPr>
          <a:xfrm>
            <a:off x="3657600" y="4114800"/>
            <a:ext cx="7619695"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0.7 of the score plus 0.3 of the 6-month capture ratio.</a:t>
            </a:r>
          </a:p>
        </p:txBody>
      </p:sp>
      <p:sp>
        <p:nvSpPr>
          <p:cNvPr id="43" name="Rectangle 42"/>
          <p:cNvSpPr/>
          <p:nvPr/>
        </p:nvSpPr>
        <p:spPr>
          <a:xfrm>
            <a:off x="841248" y="4439412"/>
            <a:ext cx="10509199" cy="34290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4457700"/>
            <a:ext cx="310896" cy="34290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7</a:t>
            </a:r>
          </a:p>
        </p:txBody>
      </p:sp>
      <p:sp>
        <p:nvSpPr>
          <p:cNvPr id="45" name="TextBox 44"/>
          <p:cNvSpPr txBox="1"/>
          <p:nvPr/>
        </p:nvSpPr>
        <p:spPr>
          <a:xfrm>
            <a:off x="1371600" y="4457700"/>
            <a:ext cx="2139696"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Routing</a:t>
            </a:r>
          </a:p>
        </p:txBody>
      </p:sp>
      <p:sp>
        <p:nvSpPr>
          <p:cNvPr id="46" name="TextBox 45"/>
          <p:cNvSpPr txBox="1"/>
          <p:nvPr/>
        </p:nvSpPr>
        <p:spPr>
          <a:xfrm>
            <a:off x="3657600" y="4457700"/>
            <a:ext cx="7619695"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Active, or an index core for Large and Mid, or the Mid momentum sleeve.</a:t>
            </a:r>
          </a:p>
        </p:txBody>
      </p:sp>
      <p:sp>
        <p:nvSpPr>
          <p:cNvPr id="47" name="TextBox 46"/>
          <p:cNvSpPr txBox="1"/>
          <p:nvPr/>
        </p:nvSpPr>
        <p:spPr>
          <a:xfrm>
            <a:off x="914400" y="4800600"/>
            <a:ext cx="310896" cy="34290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8</a:t>
            </a:r>
          </a:p>
        </p:txBody>
      </p:sp>
      <p:sp>
        <p:nvSpPr>
          <p:cNvPr id="48" name="TextBox 47"/>
          <p:cNvSpPr txBox="1"/>
          <p:nvPr/>
        </p:nvSpPr>
        <p:spPr>
          <a:xfrm>
            <a:off x="1371600" y="4800600"/>
            <a:ext cx="2139696"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SENTINEL</a:t>
            </a:r>
          </a:p>
        </p:txBody>
      </p:sp>
      <p:sp>
        <p:nvSpPr>
          <p:cNvPr id="49" name="TextBox 48"/>
          <p:cNvSpPr txBox="1"/>
          <p:nvPr/>
        </p:nvSpPr>
        <p:spPr>
          <a:xfrm>
            <a:off x="3657600" y="4800600"/>
            <a:ext cx="7619695"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Subtract one point per loser trait, then take the top 5.</a:t>
            </a:r>
          </a:p>
        </p:txBody>
      </p:sp>
      <p:sp>
        <p:nvSpPr>
          <p:cNvPr id="50" name="Rectangle 49"/>
          <p:cNvSpPr/>
          <p:nvPr/>
        </p:nvSpPr>
        <p:spPr>
          <a:xfrm>
            <a:off x="841248" y="5125212"/>
            <a:ext cx="10509199" cy="34290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14400" y="5143500"/>
            <a:ext cx="310896" cy="34290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9</a:t>
            </a:r>
          </a:p>
        </p:txBody>
      </p:sp>
      <p:sp>
        <p:nvSpPr>
          <p:cNvPr id="52" name="TextBox 51"/>
          <p:cNvSpPr txBox="1"/>
          <p:nvPr/>
        </p:nvSpPr>
        <p:spPr>
          <a:xfrm>
            <a:off x="1371600" y="5143500"/>
            <a:ext cx="2139696"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CALIBRE</a:t>
            </a:r>
          </a:p>
        </p:txBody>
      </p:sp>
      <p:sp>
        <p:nvSpPr>
          <p:cNvPr id="53" name="TextBox 52"/>
          <p:cNvSpPr txBox="1"/>
          <p:nvPr/>
        </p:nvSpPr>
        <p:spPr>
          <a:xfrm>
            <a:off x="3657600" y="5143500"/>
            <a:ext cx="7619695"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Quality scorecard and a discretionary gate that may only veto or trim, never flatter.</a:t>
            </a:r>
          </a:p>
        </p:txBody>
      </p:sp>
      <p:sp>
        <p:nvSpPr>
          <p:cNvPr id="54" name="TextBox 53"/>
          <p:cNvSpPr txBox="1"/>
          <p:nvPr/>
        </p:nvSpPr>
        <p:spPr>
          <a:xfrm>
            <a:off x="914400" y="5486400"/>
            <a:ext cx="310896" cy="34290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10</a:t>
            </a:r>
          </a:p>
        </p:txBody>
      </p:sp>
      <p:sp>
        <p:nvSpPr>
          <p:cNvPr id="55" name="TextBox 54"/>
          <p:cNvSpPr txBox="1"/>
          <p:nvPr/>
        </p:nvSpPr>
        <p:spPr>
          <a:xfrm>
            <a:off x="1371600" y="5486400"/>
            <a:ext cx="2139696"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Final two</a:t>
            </a:r>
          </a:p>
        </p:txBody>
      </p:sp>
      <p:sp>
        <p:nvSpPr>
          <p:cNvPr id="56" name="TextBox 55"/>
          <p:cNvSpPr txBox="1"/>
          <p:nvPr/>
        </p:nvSpPr>
        <p:spPr>
          <a:xfrm>
            <a:off x="3657600" y="5486400"/>
            <a:ext cx="7619695"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Rank, take two, then apply the churn rule against the book already held.</a:t>
            </a:r>
          </a:p>
        </p:txBody>
      </p:sp>
      <p:sp>
        <p:nvSpPr>
          <p:cNvPr id="57" name="TextBox 56"/>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Mf_qfra2/mr_x_framework/src/final_model.py. Model frozen at v2.0; no weight on this page is fitted.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02 · HOW IT WORKS</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CALIBRE, the seven pillars of a rank</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600" b="1" i="0">
                <a:solidFill>
                  <a:srgbClr val="F2A93C"/>
                </a:solidFill>
                <a:latin typeface="Bahnschrift"/>
              </a:rPr>
              <a:t>Rewritten this review so that every pillar says something we can actually evidence</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09</a:t>
            </a:r>
          </a:p>
        </p:txBody>
      </p:sp>
      <p:sp>
        <p:nvSpPr>
          <p:cNvPr id="15" name="TextBox 14"/>
          <p:cNvSpPr txBox="1"/>
          <p:nvPr/>
        </p:nvSpPr>
        <p:spPr>
          <a:xfrm>
            <a:off x="914400" y="1755648"/>
            <a:ext cx="237744" cy="219456"/>
          </a:xfrm>
          <a:prstGeom prst="rect">
            <a:avLst/>
          </a:prstGeom>
          <a:noFill/>
        </p:spPr>
        <p:txBody>
          <a:bodyPr wrap="square" anchor="ctr" lIns="0" rIns="0" tIns="0" bIns="0">
            <a:spAutoFit/>
          </a:bodyPr>
          <a:lstStyle/>
          <a:p>
            <a:pPr algn="ctr">
              <a:spcBef>
                <a:spcPts val="0"/>
              </a:spcBef>
              <a:spcAft>
                <a:spcPts val="0"/>
              </a:spcAft>
            </a:pPr>
            <a:r>
              <a:rPr sz="800" b="1" i="0" spc="200">
                <a:solidFill>
                  <a:srgbClr val="6B7280"/>
                </a:solidFill>
                <a:latin typeface="Bahnschrift"/>
              </a:rPr>
              <a:t/>
            </a:r>
          </a:p>
        </p:txBody>
      </p:sp>
      <p:sp>
        <p:nvSpPr>
          <p:cNvPr id="16" name="TextBox 15"/>
          <p:cNvSpPr txBox="1"/>
          <p:nvPr/>
        </p:nvSpPr>
        <p:spPr>
          <a:xfrm>
            <a:off x="1298448" y="1755648"/>
            <a:ext cx="1728216"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PILLAR</a:t>
            </a:r>
          </a:p>
        </p:txBody>
      </p:sp>
      <p:sp>
        <p:nvSpPr>
          <p:cNvPr id="17" name="TextBox 16"/>
          <p:cNvSpPr txBox="1"/>
          <p:nvPr/>
        </p:nvSpPr>
        <p:spPr>
          <a:xfrm>
            <a:off x="3172968" y="1755648"/>
            <a:ext cx="569945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WHAT IT MEANS</a:t>
            </a:r>
          </a:p>
        </p:txBody>
      </p:sp>
      <p:sp>
        <p:nvSpPr>
          <p:cNvPr id="18" name="TextBox 17"/>
          <p:cNvSpPr txBox="1"/>
          <p:nvPr/>
        </p:nvSpPr>
        <p:spPr>
          <a:xfrm>
            <a:off x="9018727" y="1755648"/>
            <a:ext cx="2258568" cy="219456"/>
          </a:xfrm>
          <a:prstGeom prst="rect">
            <a:avLst/>
          </a:prstGeom>
          <a:noFill/>
        </p:spPr>
        <p:txBody>
          <a:bodyPr wrap="square" anchor="ctr" lIns="0" rIns="0" tIns="0" bIns="0">
            <a:spAutoFit/>
          </a:bodyPr>
          <a:lstStyle/>
          <a:p>
            <a:pPr algn="ctr">
              <a:spcBef>
                <a:spcPts val="0"/>
              </a:spcBef>
              <a:spcAft>
                <a:spcPts val="0"/>
              </a:spcAft>
            </a:pPr>
            <a:r>
              <a:rPr sz="800" b="1" i="0" spc="200">
                <a:solidFill>
                  <a:srgbClr val="6B7280"/>
                </a:solidFill>
                <a:latin typeface="Bahnschrift"/>
              </a:rPr>
              <a:t>EVIDENCE</a:t>
            </a:r>
          </a:p>
        </p:txBody>
      </p:sp>
      <p:sp>
        <p:nvSpPr>
          <p:cNvPr id="19" name="Rectangle 18"/>
          <p:cNvSpPr/>
          <p:nvPr/>
        </p:nvSpPr>
        <p:spPr>
          <a:xfrm>
            <a:off x="841248" y="2011680"/>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057400"/>
            <a:ext cx="237744"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C</a:t>
            </a:r>
          </a:p>
        </p:txBody>
      </p:sp>
      <p:sp>
        <p:nvSpPr>
          <p:cNvPr id="21" name="TextBox 20"/>
          <p:cNvSpPr txBox="1"/>
          <p:nvPr/>
        </p:nvSpPr>
        <p:spPr>
          <a:xfrm>
            <a:off x="1298448" y="2057400"/>
            <a:ext cx="1728216"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Conviction</a:t>
            </a:r>
          </a:p>
        </p:txBody>
      </p:sp>
      <p:sp>
        <p:nvSpPr>
          <p:cNvPr id="22" name="TextBox 21"/>
          <p:cNvSpPr txBox="1"/>
          <p:nvPr/>
        </p:nvSpPr>
        <p:spPr>
          <a:xfrm>
            <a:off x="3172968" y="2057400"/>
            <a:ext cx="5699455"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Top-of-category funds earn our biggest calls, while new ones start smaller.</a:t>
            </a:r>
          </a:p>
        </p:txBody>
      </p:sp>
      <p:sp>
        <p:nvSpPr>
          <p:cNvPr id="23" name="TextBox 22"/>
          <p:cNvSpPr txBox="1"/>
          <p:nvPr/>
        </p:nvSpPr>
        <p:spPr>
          <a:xfrm>
            <a:off x="9018727" y="2057400"/>
            <a:ext cx="2258568"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Computed</a:t>
            </a:r>
          </a:p>
        </p:txBody>
      </p:sp>
      <p:sp>
        <p:nvSpPr>
          <p:cNvPr id="24" name="Rectangle 23"/>
          <p:cNvSpPr/>
          <p:nvPr/>
        </p:nvSpPr>
        <p:spPr>
          <a:xfrm>
            <a:off x="841248" y="2377440"/>
            <a:ext cx="10509199" cy="33832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395728"/>
            <a:ext cx="237744"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A</a:t>
            </a:r>
          </a:p>
        </p:txBody>
      </p:sp>
      <p:sp>
        <p:nvSpPr>
          <p:cNvPr id="26" name="TextBox 25"/>
          <p:cNvSpPr txBox="1"/>
          <p:nvPr/>
        </p:nvSpPr>
        <p:spPr>
          <a:xfrm>
            <a:off x="1298448" y="2395728"/>
            <a:ext cx="1728216"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Alpha</a:t>
            </a:r>
          </a:p>
        </p:txBody>
      </p:sp>
      <p:sp>
        <p:nvSpPr>
          <p:cNvPr id="27" name="TextBox 26"/>
          <p:cNvSpPr txBox="1"/>
          <p:nvPr/>
        </p:nvSpPr>
        <p:spPr>
          <a:xfrm>
            <a:off x="3172968" y="2395728"/>
            <a:ext cx="5699455"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Factor alpha and appraisal ratio, gated on clear activeness.</a:t>
            </a:r>
          </a:p>
        </p:txBody>
      </p:sp>
      <p:sp>
        <p:nvSpPr>
          <p:cNvPr id="28" name="TextBox 27"/>
          <p:cNvSpPr txBox="1"/>
          <p:nvPr/>
        </p:nvSpPr>
        <p:spPr>
          <a:xfrm>
            <a:off x="9018727" y="2395728"/>
            <a:ext cx="2258568"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Computed</a:t>
            </a:r>
          </a:p>
        </p:txBody>
      </p:sp>
      <p:sp>
        <p:nvSpPr>
          <p:cNvPr id="29" name="TextBox 28"/>
          <p:cNvSpPr txBox="1"/>
          <p:nvPr/>
        </p:nvSpPr>
        <p:spPr>
          <a:xfrm>
            <a:off x="914400" y="2734056"/>
            <a:ext cx="237744"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L</a:t>
            </a:r>
          </a:p>
        </p:txBody>
      </p:sp>
      <p:sp>
        <p:nvSpPr>
          <p:cNvPr id="30" name="TextBox 29"/>
          <p:cNvSpPr txBox="1"/>
          <p:nvPr/>
        </p:nvSpPr>
        <p:spPr>
          <a:xfrm>
            <a:off x="1298448" y="2734056"/>
            <a:ext cx="1728216"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Leadership</a:t>
            </a:r>
          </a:p>
        </p:txBody>
      </p:sp>
      <p:sp>
        <p:nvSpPr>
          <p:cNvPr id="31" name="TextBox 30"/>
          <p:cNvSpPr txBox="1"/>
          <p:nvPr/>
        </p:nvSpPr>
        <p:spPr>
          <a:xfrm>
            <a:off x="3172968" y="2734056"/>
            <a:ext cx="5699455"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Manager tenure, key-person exit risk, AMC governance, true to mandate.</a:t>
            </a:r>
          </a:p>
        </p:txBody>
      </p:sp>
      <p:sp>
        <p:nvSpPr>
          <p:cNvPr id="32" name="TextBox 31"/>
          <p:cNvSpPr txBox="1"/>
          <p:nvPr/>
        </p:nvSpPr>
        <p:spPr>
          <a:xfrm>
            <a:off x="9018727" y="2734056"/>
            <a:ext cx="2258568"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Analyst</a:t>
            </a:r>
          </a:p>
        </p:txBody>
      </p:sp>
      <p:sp>
        <p:nvSpPr>
          <p:cNvPr id="33" name="Rectangle 32"/>
          <p:cNvSpPr/>
          <p:nvPr/>
        </p:nvSpPr>
        <p:spPr>
          <a:xfrm>
            <a:off x="841248" y="3054096"/>
            <a:ext cx="10509199" cy="33832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 y="3072384"/>
            <a:ext cx="237744"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I</a:t>
            </a:r>
          </a:p>
        </p:txBody>
      </p:sp>
      <p:sp>
        <p:nvSpPr>
          <p:cNvPr id="35" name="TextBox 34"/>
          <p:cNvSpPr txBox="1"/>
          <p:nvPr/>
        </p:nvSpPr>
        <p:spPr>
          <a:xfrm>
            <a:off x="1298448" y="3072384"/>
            <a:ext cx="1728216"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Integrity</a:t>
            </a:r>
          </a:p>
        </p:txBody>
      </p:sp>
      <p:sp>
        <p:nvSpPr>
          <p:cNvPr id="36" name="TextBox 35"/>
          <p:cNvSpPr txBox="1"/>
          <p:nvPr/>
        </p:nvSpPr>
        <p:spPr>
          <a:xfrm>
            <a:off x="3172968" y="3072384"/>
            <a:ext cx="5699455"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Fair fees versus category, with nothing hidden from the investor.</a:t>
            </a:r>
          </a:p>
        </p:txBody>
      </p:sp>
      <p:sp>
        <p:nvSpPr>
          <p:cNvPr id="37" name="TextBox 36"/>
          <p:cNvSpPr txBox="1"/>
          <p:nvPr/>
        </p:nvSpPr>
        <p:spPr>
          <a:xfrm>
            <a:off x="9018727" y="3072384"/>
            <a:ext cx="2258568"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Computed</a:t>
            </a:r>
          </a:p>
        </p:txBody>
      </p:sp>
      <p:sp>
        <p:nvSpPr>
          <p:cNvPr id="38" name="TextBox 37"/>
          <p:cNvSpPr txBox="1"/>
          <p:nvPr/>
        </p:nvSpPr>
        <p:spPr>
          <a:xfrm>
            <a:off x="914400" y="3410712"/>
            <a:ext cx="237744"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B</a:t>
            </a:r>
          </a:p>
        </p:txBody>
      </p:sp>
      <p:sp>
        <p:nvSpPr>
          <p:cNvPr id="39" name="TextBox 38"/>
          <p:cNvSpPr txBox="1"/>
          <p:nvPr/>
        </p:nvSpPr>
        <p:spPr>
          <a:xfrm>
            <a:off x="1298448" y="3410712"/>
            <a:ext cx="1728216"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Benchmark</a:t>
            </a:r>
          </a:p>
        </p:txBody>
      </p:sp>
      <p:sp>
        <p:nvSpPr>
          <p:cNvPr id="40" name="TextBox 39"/>
          <p:cNvSpPr txBox="1"/>
          <p:nvPr/>
        </p:nvSpPr>
        <p:spPr>
          <a:xfrm>
            <a:off x="3172968" y="3410712"/>
            <a:ext cx="5699455"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Win rate and up and down capture versus the total-return index.</a:t>
            </a:r>
          </a:p>
        </p:txBody>
      </p:sp>
      <p:sp>
        <p:nvSpPr>
          <p:cNvPr id="41" name="TextBox 40"/>
          <p:cNvSpPr txBox="1"/>
          <p:nvPr/>
        </p:nvSpPr>
        <p:spPr>
          <a:xfrm>
            <a:off x="9018727" y="3410712"/>
            <a:ext cx="2258568"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Computed</a:t>
            </a:r>
          </a:p>
        </p:txBody>
      </p:sp>
      <p:sp>
        <p:nvSpPr>
          <p:cNvPr id="42" name="Rectangle 41"/>
          <p:cNvSpPr/>
          <p:nvPr/>
        </p:nvSpPr>
        <p:spPr>
          <a:xfrm>
            <a:off x="841248" y="3730752"/>
            <a:ext cx="10509199" cy="33832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3749040"/>
            <a:ext cx="237744"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R</a:t>
            </a:r>
          </a:p>
        </p:txBody>
      </p:sp>
      <p:sp>
        <p:nvSpPr>
          <p:cNvPr id="44" name="TextBox 43"/>
          <p:cNvSpPr txBox="1"/>
          <p:nvPr/>
        </p:nvSpPr>
        <p:spPr>
          <a:xfrm>
            <a:off x="1298448" y="3749040"/>
            <a:ext cx="1728216"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Resilience</a:t>
            </a:r>
          </a:p>
        </p:txBody>
      </p:sp>
      <p:sp>
        <p:nvSpPr>
          <p:cNvPr id="45" name="TextBox 44"/>
          <p:cNvSpPr txBox="1"/>
          <p:nvPr/>
        </p:nvSpPr>
        <p:spPr>
          <a:xfrm>
            <a:off x="3172968" y="3749040"/>
            <a:ext cx="5699455"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Down-capture, drawdown, alpha stability, concentration, holdings quality.</a:t>
            </a:r>
          </a:p>
        </p:txBody>
      </p:sp>
      <p:sp>
        <p:nvSpPr>
          <p:cNvPr id="46" name="TextBox 45"/>
          <p:cNvSpPr txBox="1"/>
          <p:nvPr/>
        </p:nvSpPr>
        <p:spPr>
          <a:xfrm>
            <a:off x="9018727" y="3749040"/>
            <a:ext cx="2258568"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Mixed</a:t>
            </a:r>
          </a:p>
        </p:txBody>
      </p:sp>
      <p:sp>
        <p:nvSpPr>
          <p:cNvPr id="47" name="TextBox 46"/>
          <p:cNvSpPr txBox="1"/>
          <p:nvPr/>
        </p:nvSpPr>
        <p:spPr>
          <a:xfrm>
            <a:off x="914400" y="4087368"/>
            <a:ext cx="237744"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E</a:t>
            </a:r>
          </a:p>
        </p:txBody>
      </p:sp>
      <p:sp>
        <p:nvSpPr>
          <p:cNvPr id="48" name="TextBox 47"/>
          <p:cNvSpPr txBox="1"/>
          <p:nvPr/>
        </p:nvSpPr>
        <p:spPr>
          <a:xfrm>
            <a:off x="1298448" y="4087368"/>
            <a:ext cx="1728216"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Edge</a:t>
            </a:r>
          </a:p>
        </p:txBody>
      </p:sp>
      <p:sp>
        <p:nvSpPr>
          <p:cNvPr id="49" name="TextBox 48"/>
          <p:cNvSpPr txBox="1"/>
          <p:nvPr/>
        </p:nvSpPr>
        <p:spPr>
          <a:xfrm>
            <a:off x="3172968" y="4087368"/>
            <a:ext cx="5699455"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A validated edge, cost-efficient and clean of red flags.</a:t>
            </a:r>
          </a:p>
        </p:txBody>
      </p:sp>
      <p:sp>
        <p:nvSpPr>
          <p:cNvPr id="50" name="TextBox 49"/>
          <p:cNvSpPr txBox="1"/>
          <p:nvPr/>
        </p:nvSpPr>
        <p:spPr>
          <a:xfrm>
            <a:off x="9018727" y="4087368"/>
            <a:ext cx="2258568"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Computed</a:t>
            </a:r>
          </a:p>
        </p:txBody>
      </p:sp>
      <p:sp>
        <p:nvSpPr>
          <p:cNvPr id="51" name="Rounded Rectangle 50"/>
          <p:cNvSpPr/>
          <p:nvPr/>
        </p:nvSpPr>
        <p:spPr>
          <a:xfrm>
            <a:off x="841248" y="4498848"/>
            <a:ext cx="10509199" cy="1412748"/>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41248" y="4498848"/>
            <a:ext cx="54864" cy="1412748"/>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42416" y="4626864"/>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TWO PILLARS WERE WRONG AND ARE NOW FIXED</a:t>
            </a:r>
          </a:p>
        </p:txBody>
      </p:sp>
      <p:sp>
        <p:nvSpPr>
          <p:cNvPr id="54" name="TextBox 53"/>
          <p:cNvSpPr txBox="1"/>
          <p:nvPr/>
        </p:nvSpPr>
        <p:spPr>
          <a:xfrm>
            <a:off x="1042416" y="4901184"/>
            <a:ext cx="1014343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Integrity used to read as Active Share, concentration, price-earnings discipline and return-on-capital quality. That is portfolio construction, not integrity, and two of the four were never computed: there is no return-on-capital formula in the engine, and the price-earnings item is a NAV-trend proxy that disclaims itself. Conviction used to read "within-category rank, clamped to track-record tier", which is accurate and unreadable.</a:t>
            </a:r>
          </a:p>
        </p:txBody>
      </p:sp>
      <p:sp>
        <p:nvSpPr>
          <p:cNvPr id="55" name="TextBox 54"/>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qfra2_pac_prep/CALIBRE_PILLARS.md. Analyst-judgment pillars are labelled as such and applied one-directionally.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02 · HOW IT WORKS</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SENTINEL and the churn rule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The negative screen, and the discipline that decides when not to act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10</a:t>
            </a:r>
          </a:p>
        </p:txBody>
      </p:sp>
      <p:sp>
        <p:nvSpPr>
          <p:cNvPr id="15" name="Rounded Rectangle 14"/>
          <p:cNvSpPr/>
          <p:nvPr/>
        </p:nvSpPr>
        <p:spPr>
          <a:xfrm>
            <a:off x="841248" y="1792224"/>
            <a:ext cx="10509199" cy="1412748"/>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 y="1792224"/>
            <a:ext cx="54864" cy="1412748"/>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2416" y="1920240"/>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SENTINEL: SCREEN OUT LOSERS RATHER THAN ONLY RANK WINNERS</a:t>
            </a:r>
          </a:p>
        </p:txBody>
      </p:sp>
      <p:sp>
        <p:nvSpPr>
          <p:cNvPr id="18" name="TextBox 17"/>
          <p:cNvSpPr txBox="1"/>
          <p:nvPr/>
        </p:nvSpPr>
        <p:spPr>
          <a:xfrm>
            <a:off x="1042416" y="2194560"/>
            <a:ext cx="1014343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Per fund, relative to its own category, raise one flag for each proven decay trait and subtract them from the blended score. R-squared in the top quartile means closet indexing. Quality beta in the bottom quartile means a junk book. Appraisal in the bottom quartile means no skill per unit of risk. It lifts our own top-decile beat-the-index rate from 48.5% to 56.6%. Only 3 of 12 candidate traits survived out of sample. It is deliberately switched off for Mid and Value, which mean-revert.</a:t>
            </a:r>
          </a:p>
        </p:txBody>
      </p:sp>
      <p:sp>
        <p:nvSpPr>
          <p:cNvPr id="19" name="Rounded Rectangle 18"/>
          <p:cNvSpPr/>
          <p:nvPr/>
        </p:nvSpPr>
        <p:spPr>
          <a:xfrm>
            <a:off x="841248" y="3351276"/>
            <a:ext cx="10509199" cy="1412748"/>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41248" y="3351276"/>
            <a:ext cx="54864" cy="1412748"/>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42416" y="3479292"/>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THE CHURN RULE, AND WHAT IT COSTS</a:t>
            </a:r>
          </a:p>
        </p:txBody>
      </p:sp>
      <p:sp>
        <p:nvSpPr>
          <p:cNvPr id="22" name="TextBox 21"/>
          <p:cNvSpPr txBox="1"/>
          <p:nvPr/>
        </p:nvSpPr>
        <p:spPr>
          <a:xfrm>
            <a:off x="1042416" y="3753612"/>
            <a:ext cx="1014343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An incumbent is replaced only if a challenger beats it by a material margin in rank and the incumbent has fallen out of the category's top quartile, with at most one swap per category per review. Realised over eight years: 3.9 book changes a year, average holding near three years. The earlier pack said 2.6 a year; that figure is not supported by any output, including the chart data in the script that printed it.</a:t>
            </a:r>
          </a:p>
        </p:txBody>
      </p:sp>
      <p:sp>
        <p:nvSpPr>
          <p:cNvPr id="23" name="Rounded Rectangle 22"/>
          <p:cNvSpPr/>
          <p:nvPr/>
        </p:nvSpPr>
        <p:spPr>
          <a:xfrm>
            <a:off x="841248" y="4873752"/>
            <a:ext cx="10509199" cy="1074419"/>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41248" y="4873752"/>
            <a:ext cx="54864" cy="1074419"/>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2416" y="5001768"/>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ONE CONSEQUENCE THE COMMITTEE SHOULD HOLD ON TO</a:t>
            </a:r>
          </a:p>
        </p:txBody>
      </p:sp>
      <p:sp>
        <p:nvSpPr>
          <p:cNvPr id="26" name="TextBox 25"/>
          <p:cNvSpPr txBox="1"/>
          <p:nvPr/>
        </p:nvSpPr>
        <p:spPr>
          <a:xfrm>
            <a:off x="1042416" y="5276088"/>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SENTINEL is a shortlist screen: it decides which candidates reach the top five. It is not a verdict on a fund a client owns, and our pipeline was briefly wired as though it were. Fixed, and covered in section 4.</a:t>
            </a:r>
          </a:p>
        </p:txBody>
      </p:sp>
      <p:sp>
        <p:nvSpPr>
          <p:cNvPr id="27" name="TextBox 26"/>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SENTINEL lift from QFRA2_evidence.csv. Churn from qfra2_charts_ceo.py chart data and the realised history.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3.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03</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03</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The evidence, honestly</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What the ranking earns, what the deployed book earns, and how both compare with the obvious alternative</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1</a:t>
            </a:r>
          </a:p>
        </p:txBody>
      </p:sp>
      <p:sp>
        <p:nvSpPr>
          <p:cNvPr id="11" name="TextBox 10"/>
          <p:cNvSpPr txBox="1"/>
          <p:nvPr/>
        </p:nvSpPr>
        <p:spPr>
          <a:xfrm>
            <a:off x="841248" y="525780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3</a:t>
            </a:r>
          </a:p>
        </p:txBody>
      </p:sp>
      <p:sp>
        <p:nvSpPr>
          <p:cNvPr id="12" name="TextBox 11"/>
          <p:cNvSpPr txBox="1"/>
          <p:nvPr/>
        </p:nvSpPr>
        <p:spPr>
          <a:xfrm>
            <a:off x="841248" y="553212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a:t>
            </a:r>
          </a:p>
        </p:txBody>
      </p:sp>
      <p:sp>
        <p:nvSpPr>
          <p:cNvPr id="13" name="TextBox 12"/>
          <p:cNvSpPr txBox="1"/>
          <p:nvPr/>
        </p:nvSpPr>
        <p:spPr>
          <a:xfrm>
            <a:off x="841248" y="580644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1</a:t>
            </a:r>
          </a:p>
        </p:txBody>
      </p:sp>
      <p:sp>
        <p:nvSpPr>
          <p:cNvPr id="14" name="TextBox 13"/>
          <p:cNvSpPr txBox="1"/>
          <p:nvPr/>
        </p:nvSpPr>
        <p:spPr>
          <a:xfrm>
            <a:off x="841248" y="6080759"/>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03 · THE EVIDENCE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1900" b="1" i="0">
                <a:solidFill>
                  <a:srgbClr val="1B27A3"/>
                </a:solidFill>
                <a:latin typeface="Bahnschrift"/>
              </a:rPr>
              <a:t>The number we have been quoting is the wrong book</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400" b="1" i="0">
                <a:solidFill>
                  <a:srgbClr val="F2A93C"/>
                </a:solidFill>
                <a:latin typeface="Bahnschrift"/>
              </a:rPr>
              <a:t>Selection skill is measured on the unconstrained ranking. Clients hold the churn-constrained one</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12</a:t>
            </a:r>
          </a:p>
        </p:txBody>
      </p:sp>
      <p:sp>
        <p:nvSpPr>
          <p:cNvPr id="15" name="TextBox 14"/>
          <p:cNvSpPr txBox="1"/>
          <p:nvPr/>
        </p:nvSpPr>
        <p:spPr>
          <a:xfrm>
            <a:off x="914400" y="1773936"/>
            <a:ext cx="2931704"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BOOK</a:t>
            </a:r>
          </a:p>
        </p:txBody>
      </p:sp>
      <p:sp>
        <p:nvSpPr>
          <p:cNvPr id="16" name="TextBox 15"/>
          <p:cNvSpPr txBox="1"/>
          <p:nvPr/>
        </p:nvSpPr>
        <p:spPr>
          <a:xfrm>
            <a:off x="3992408" y="1773936"/>
            <a:ext cx="1480643"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1Y MEDIAN ALPHA</a:t>
            </a:r>
          </a:p>
        </p:txBody>
      </p:sp>
      <p:sp>
        <p:nvSpPr>
          <p:cNvPr id="17" name="TextBox 16"/>
          <p:cNvSpPr txBox="1"/>
          <p:nvPr/>
        </p:nvSpPr>
        <p:spPr>
          <a:xfrm>
            <a:off x="5619355" y="1773936"/>
            <a:ext cx="1480643"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3Y MEDIAN ALPHA</a:t>
            </a:r>
          </a:p>
        </p:txBody>
      </p:sp>
      <p:sp>
        <p:nvSpPr>
          <p:cNvPr id="18" name="TextBox 17"/>
          <p:cNvSpPr txBox="1"/>
          <p:nvPr/>
        </p:nvSpPr>
        <p:spPr>
          <a:xfrm>
            <a:off x="7246302" y="1773936"/>
            <a:ext cx="1260785"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3Y WIN RATE</a:t>
            </a:r>
          </a:p>
        </p:txBody>
      </p:sp>
      <p:sp>
        <p:nvSpPr>
          <p:cNvPr id="19" name="TextBox 18"/>
          <p:cNvSpPr txBox="1"/>
          <p:nvPr/>
        </p:nvSpPr>
        <p:spPr>
          <a:xfrm>
            <a:off x="8653391" y="1773936"/>
            <a:ext cx="1480643"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5Y MEDIAN ALPHA</a:t>
            </a:r>
          </a:p>
        </p:txBody>
      </p:sp>
      <p:sp>
        <p:nvSpPr>
          <p:cNvPr id="20" name="TextBox 19"/>
          <p:cNvSpPr txBox="1"/>
          <p:nvPr/>
        </p:nvSpPr>
        <p:spPr>
          <a:xfrm>
            <a:off x="10280339" y="1773936"/>
            <a:ext cx="996956"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CHANGES / YR</a:t>
            </a:r>
          </a:p>
        </p:txBody>
      </p:sp>
      <p:sp>
        <p:nvSpPr>
          <p:cNvPr id="21" name="Rectangle 20"/>
          <p:cNvSpPr/>
          <p:nvPr/>
        </p:nvSpPr>
        <p:spPr>
          <a:xfrm>
            <a:off x="841248" y="2029967"/>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2075688"/>
            <a:ext cx="2931704"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HELD: deployed, churn-constrained</a:t>
            </a:r>
          </a:p>
        </p:txBody>
      </p:sp>
      <p:sp>
        <p:nvSpPr>
          <p:cNvPr id="23" name="TextBox 22"/>
          <p:cNvSpPr txBox="1"/>
          <p:nvPr/>
        </p:nvSpPr>
        <p:spPr>
          <a:xfrm>
            <a:off x="3992408" y="2075688"/>
            <a:ext cx="1480643"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-0.09%</a:t>
            </a:r>
          </a:p>
        </p:txBody>
      </p:sp>
      <p:sp>
        <p:nvSpPr>
          <p:cNvPr id="24" name="TextBox 23"/>
          <p:cNvSpPr txBox="1"/>
          <p:nvPr/>
        </p:nvSpPr>
        <p:spPr>
          <a:xfrm>
            <a:off x="5619355" y="2075688"/>
            <a:ext cx="1480643"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+0.09%</a:t>
            </a:r>
          </a:p>
        </p:txBody>
      </p:sp>
      <p:sp>
        <p:nvSpPr>
          <p:cNvPr id="25" name="TextBox 24"/>
          <p:cNvSpPr txBox="1"/>
          <p:nvPr/>
        </p:nvSpPr>
        <p:spPr>
          <a:xfrm>
            <a:off x="7246302" y="2075688"/>
            <a:ext cx="1260785"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51.0%</a:t>
            </a:r>
          </a:p>
        </p:txBody>
      </p:sp>
      <p:sp>
        <p:nvSpPr>
          <p:cNvPr id="26" name="TextBox 25"/>
          <p:cNvSpPr txBox="1"/>
          <p:nvPr/>
        </p:nvSpPr>
        <p:spPr>
          <a:xfrm>
            <a:off x="8653391" y="2075688"/>
            <a:ext cx="1480643"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+0.20%</a:t>
            </a:r>
          </a:p>
        </p:txBody>
      </p:sp>
      <p:sp>
        <p:nvSpPr>
          <p:cNvPr id="27" name="TextBox 26"/>
          <p:cNvSpPr txBox="1"/>
          <p:nvPr/>
        </p:nvSpPr>
        <p:spPr>
          <a:xfrm>
            <a:off x="10280339" y="2075688"/>
            <a:ext cx="996956"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3.9</a:t>
            </a:r>
          </a:p>
        </p:txBody>
      </p:sp>
      <p:sp>
        <p:nvSpPr>
          <p:cNvPr id="28" name="Rectangle 27"/>
          <p:cNvSpPr/>
          <p:nvPr/>
        </p:nvSpPr>
        <p:spPr>
          <a:xfrm>
            <a:off x="841248" y="2478024"/>
            <a:ext cx="10509199" cy="42062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2496312"/>
            <a:ext cx="2931704"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RAW: top 2, no churn rule</a:t>
            </a:r>
          </a:p>
        </p:txBody>
      </p:sp>
      <p:sp>
        <p:nvSpPr>
          <p:cNvPr id="30" name="TextBox 29"/>
          <p:cNvSpPr txBox="1"/>
          <p:nvPr/>
        </p:nvSpPr>
        <p:spPr>
          <a:xfrm>
            <a:off x="3992408" y="2496312"/>
            <a:ext cx="1480643"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+1.62%</a:t>
            </a:r>
          </a:p>
        </p:txBody>
      </p:sp>
      <p:sp>
        <p:nvSpPr>
          <p:cNvPr id="31" name="TextBox 30"/>
          <p:cNvSpPr txBox="1"/>
          <p:nvPr/>
        </p:nvSpPr>
        <p:spPr>
          <a:xfrm>
            <a:off x="5619355" y="2496312"/>
            <a:ext cx="1480643"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+0.56%</a:t>
            </a:r>
          </a:p>
        </p:txBody>
      </p:sp>
      <p:sp>
        <p:nvSpPr>
          <p:cNvPr id="32" name="TextBox 31"/>
          <p:cNvSpPr txBox="1"/>
          <p:nvPr/>
        </p:nvSpPr>
        <p:spPr>
          <a:xfrm>
            <a:off x="7246302" y="2496312"/>
            <a:ext cx="1260785"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56.7%</a:t>
            </a:r>
          </a:p>
        </p:txBody>
      </p:sp>
      <p:sp>
        <p:nvSpPr>
          <p:cNvPr id="33" name="TextBox 32"/>
          <p:cNvSpPr txBox="1"/>
          <p:nvPr/>
        </p:nvSpPr>
        <p:spPr>
          <a:xfrm>
            <a:off x="8653391" y="2496312"/>
            <a:ext cx="1480643"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+0.85%</a:t>
            </a:r>
          </a:p>
        </p:txBody>
      </p:sp>
      <p:sp>
        <p:nvSpPr>
          <p:cNvPr id="34" name="TextBox 33"/>
          <p:cNvSpPr txBox="1"/>
          <p:nvPr/>
        </p:nvSpPr>
        <p:spPr>
          <a:xfrm>
            <a:off x="10280339" y="2496312"/>
            <a:ext cx="996956"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9.8</a:t>
            </a:r>
          </a:p>
        </p:txBody>
      </p:sp>
      <p:sp>
        <p:nvSpPr>
          <p:cNvPr id="35" name="TextBox 34"/>
          <p:cNvSpPr txBox="1"/>
          <p:nvPr/>
        </p:nvSpPr>
        <p:spPr>
          <a:xfrm>
            <a:off x="914400" y="2916936"/>
            <a:ext cx="2931704"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Benchmark, total return</a:t>
            </a:r>
          </a:p>
        </p:txBody>
      </p:sp>
      <p:sp>
        <p:nvSpPr>
          <p:cNvPr id="36" name="TextBox 35"/>
          <p:cNvSpPr txBox="1"/>
          <p:nvPr/>
        </p:nvSpPr>
        <p:spPr>
          <a:xfrm>
            <a:off x="3992408" y="2916936"/>
            <a:ext cx="1480643"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0.00%</a:t>
            </a:r>
          </a:p>
        </p:txBody>
      </p:sp>
      <p:sp>
        <p:nvSpPr>
          <p:cNvPr id="37" name="TextBox 36"/>
          <p:cNvSpPr txBox="1"/>
          <p:nvPr/>
        </p:nvSpPr>
        <p:spPr>
          <a:xfrm>
            <a:off x="5619355" y="2916936"/>
            <a:ext cx="1480643"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0.00%</a:t>
            </a:r>
          </a:p>
        </p:txBody>
      </p:sp>
      <p:sp>
        <p:nvSpPr>
          <p:cNvPr id="38" name="TextBox 37"/>
          <p:cNvSpPr txBox="1"/>
          <p:nvPr/>
        </p:nvSpPr>
        <p:spPr>
          <a:xfrm>
            <a:off x="7246302" y="2916936"/>
            <a:ext cx="1260785"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n/a</a:t>
            </a:r>
          </a:p>
        </p:txBody>
      </p:sp>
      <p:sp>
        <p:nvSpPr>
          <p:cNvPr id="39" name="TextBox 38"/>
          <p:cNvSpPr txBox="1"/>
          <p:nvPr/>
        </p:nvSpPr>
        <p:spPr>
          <a:xfrm>
            <a:off x="8653391" y="2916936"/>
            <a:ext cx="1480643"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0.00%</a:t>
            </a:r>
          </a:p>
        </p:txBody>
      </p:sp>
      <p:sp>
        <p:nvSpPr>
          <p:cNvPr id="40" name="TextBox 39"/>
          <p:cNvSpPr txBox="1"/>
          <p:nvPr/>
        </p:nvSpPr>
        <p:spPr>
          <a:xfrm>
            <a:off x="10280339" y="2916936"/>
            <a:ext cx="996956"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a:t>
            </a:r>
          </a:p>
        </p:txBody>
      </p:sp>
      <p:sp>
        <p:nvSpPr>
          <p:cNvPr id="41" name="Rounded Rectangle 40"/>
          <p:cNvSpPr/>
          <p:nvPr/>
        </p:nvSpPr>
        <p:spPr>
          <a:xfrm>
            <a:off x="841248" y="3310128"/>
            <a:ext cx="10509199" cy="1412748"/>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1248" y="3310128"/>
            <a:ext cx="54864" cy="1412748"/>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42416" y="3438144"/>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WHAT THIS MEANS, PLAINLY</a:t>
            </a:r>
          </a:p>
        </p:txBody>
      </p:sp>
      <p:sp>
        <p:nvSpPr>
          <p:cNvPr id="44" name="TextBox 43"/>
          <p:cNvSpPr txBox="1"/>
          <p:nvPr/>
        </p:nvSpPr>
        <p:spPr>
          <a:xfrm>
            <a:off x="1042416" y="3712464"/>
            <a:ext cx="1014343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marketed +0.48%/yr is a selection-skill measure consistent with the raw row. The book a client actually holds returned +0.09%/yr at three years, with a win rate of 51%. The churn discipline that makes the product attractive on tax and operations absorbs almost the whole measured edge. The engine's own performance file says so: the low-churn book gives up roughly half a point a year at three to five years in exchange for about 60% less turnover.</a:t>
            </a:r>
          </a:p>
        </p:txBody>
      </p:sp>
      <p:sp>
        <p:nvSpPr>
          <p:cNvPr id="45" name="TextBox 44"/>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QFRA2_recommendation_performance.md, 2018-H1 to 2024-H2, active categories pooled.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03 · THE EVIDENCE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same book, category by category</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Where the deployed book actually delivered, and where it did not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13</a:t>
            </a:r>
          </a:p>
        </p:txBody>
      </p:sp>
      <p:sp>
        <p:nvSpPr>
          <p:cNvPr id="15" name="TextBox 14"/>
          <p:cNvSpPr txBox="1"/>
          <p:nvPr/>
        </p:nvSpPr>
        <p:spPr>
          <a:xfrm>
            <a:off x="914400" y="1773936"/>
            <a:ext cx="2962656"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DEPLOYED CATEGORY</a:t>
            </a:r>
          </a:p>
        </p:txBody>
      </p:sp>
      <p:sp>
        <p:nvSpPr>
          <p:cNvPr id="16" name="TextBox 15"/>
          <p:cNvSpPr txBox="1"/>
          <p:nvPr/>
        </p:nvSpPr>
        <p:spPr>
          <a:xfrm>
            <a:off x="4023360" y="1773936"/>
            <a:ext cx="2048255"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HELD 3Y MEDIAN ALPHA</a:t>
            </a:r>
          </a:p>
        </p:txBody>
      </p:sp>
      <p:sp>
        <p:nvSpPr>
          <p:cNvPr id="17" name="TextBox 16"/>
          <p:cNvSpPr txBox="1"/>
          <p:nvPr/>
        </p:nvSpPr>
        <p:spPr>
          <a:xfrm>
            <a:off x="6217920" y="1773936"/>
            <a:ext cx="505937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READ</a:t>
            </a:r>
          </a:p>
        </p:txBody>
      </p:sp>
      <p:sp>
        <p:nvSpPr>
          <p:cNvPr id="18" name="Rectangle 17"/>
          <p:cNvSpPr/>
          <p:nvPr/>
        </p:nvSpPr>
        <p:spPr>
          <a:xfrm>
            <a:off x="841248" y="2029967"/>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2075688"/>
            <a:ext cx="2962656"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Flexi Cap</a:t>
            </a:r>
          </a:p>
        </p:txBody>
      </p:sp>
      <p:sp>
        <p:nvSpPr>
          <p:cNvPr id="20" name="TextBox 19"/>
          <p:cNvSpPr txBox="1"/>
          <p:nvPr/>
        </p:nvSpPr>
        <p:spPr>
          <a:xfrm>
            <a:off x="4023360" y="2075688"/>
            <a:ext cx="2048255" cy="384048"/>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+2.16%</a:t>
            </a:r>
          </a:p>
        </p:txBody>
      </p:sp>
      <p:sp>
        <p:nvSpPr>
          <p:cNvPr id="21" name="TextBox 20"/>
          <p:cNvSpPr txBox="1"/>
          <p:nvPr/>
        </p:nvSpPr>
        <p:spPr>
          <a:xfrm>
            <a:off x="6217920" y="2075688"/>
            <a:ext cx="505937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The only category where the realised book beat the theory.</a:t>
            </a:r>
          </a:p>
        </p:txBody>
      </p:sp>
      <p:sp>
        <p:nvSpPr>
          <p:cNvPr id="22" name="Rectangle 21"/>
          <p:cNvSpPr/>
          <p:nvPr/>
        </p:nvSpPr>
        <p:spPr>
          <a:xfrm>
            <a:off x="841248" y="2441448"/>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2459736"/>
            <a:ext cx="2962656"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Large Cap</a:t>
            </a:r>
          </a:p>
        </p:txBody>
      </p:sp>
      <p:sp>
        <p:nvSpPr>
          <p:cNvPr id="24" name="TextBox 23"/>
          <p:cNvSpPr txBox="1"/>
          <p:nvPr/>
        </p:nvSpPr>
        <p:spPr>
          <a:xfrm>
            <a:off x="4023360" y="2459736"/>
            <a:ext cx="2048255" cy="384048"/>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-0.25%</a:t>
            </a:r>
          </a:p>
        </p:txBody>
      </p:sp>
      <p:sp>
        <p:nvSpPr>
          <p:cNvPr id="25" name="TextBox 24"/>
          <p:cNvSpPr txBox="1"/>
          <p:nvPr/>
        </p:nvSpPr>
        <p:spPr>
          <a:xfrm>
            <a:off x="6217920" y="2459736"/>
            <a:ext cx="505937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Index core, as designed.</a:t>
            </a:r>
          </a:p>
        </p:txBody>
      </p:sp>
      <p:sp>
        <p:nvSpPr>
          <p:cNvPr id="26" name="TextBox 25"/>
          <p:cNvSpPr txBox="1"/>
          <p:nvPr/>
        </p:nvSpPr>
        <p:spPr>
          <a:xfrm>
            <a:off x="914400" y="2843784"/>
            <a:ext cx="2962656"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Large &amp; Mid Cap</a:t>
            </a:r>
          </a:p>
        </p:txBody>
      </p:sp>
      <p:sp>
        <p:nvSpPr>
          <p:cNvPr id="27" name="TextBox 26"/>
          <p:cNvSpPr txBox="1"/>
          <p:nvPr/>
        </p:nvSpPr>
        <p:spPr>
          <a:xfrm>
            <a:off x="4023360" y="2843784"/>
            <a:ext cx="2048255" cy="384048"/>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-0.38%</a:t>
            </a:r>
          </a:p>
        </p:txBody>
      </p:sp>
      <p:sp>
        <p:nvSpPr>
          <p:cNvPr id="28" name="TextBox 27"/>
          <p:cNvSpPr txBox="1"/>
          <p:nvPr/>
        </p:nvSpPr>
        <p:spPr>
          <a:xfrm>
            <a:off x="6217920" y="2843784"/>
            <a:ext cx="505937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Best theoretical edge, worst delivery gap.</a:t>
            </a:r>
          </a:p>
        </p:txBody>
      </p:sp>
      <p:sp>
        <p:nvSpPr>
          <p:cNvPr id="29" name="Rectangle 28"/>
          <p:cNvSpPr/>
          <p:nvPr/>
        </p:nvSpPr>
        <p:spPr>
          <a:xfrm>
            <a:off x="841248" y="3209544"/>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3227832"/>
            <a:ext cx="2962656"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Small Cap</a:t>
            </a:r>
          </a:p>
        </p:txBody>
      </p:sp>
      <p:sp>
        <p:nvSpPr>
          <p:cNvPr id="31" name="TextBox 30"/>
          <p:cNvSpPr txBox="1"/>
          <p:nvPr/>
        </p:nvSpPr>
        <p:spPr>
          <a:xfrm>
            <a:off x="4023360" y="3227832"/>
            <a:ext cx="2048255" cy="384048"/>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-1.34%</a:t>
            </a:r>
          </a:p>
        </p:txBody>
      </p:sp>
      <p:sp>
        <p:nvSpPr>
          <p:cNvPr id="32" name="TextBox 31"/>
          <p:cNvSpPr txBox="1"/>
          <p:nvPr/>
        </p:nvSpPr>
        <p:spPr>
          <a:xfrm>
            <a:off x="6217920" y="3227832"/>
            <a:ext cx="505937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A rising tide, not our selection.</a:t>
            </a:r>
          </a:p>
        </p:txBody>
      </p:sp>
      <p:sp>
        <p:nvSpPr>
          <p:cNvPr id="33" name="TextBox 32"/>
          <p:cNvSpPr txBox="1"/>
          <p:nvPr/>
        </p:nvSpPr>
        <p:spPr>
          <a:xfrm>
            <a:off x="914400" y="3611879"/>
            <a:ext cx="2962656"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Multi Cap</a:t>
            </a:r>
          </a:p>
        </p:txBody>
      </p:sp>
      <p:sp>
        <p:nvSpPr>
          <p:cNvPr id="34" name="TextBox 33"/>
          <p:cNvSpPr txBox="1"/>
          <p:nvPr/>
        </p:nvSpPr>
        <p:spPr>
          <a:xfrm>
            <a:off x="4023360" y="3611879"/>
            <a:ext cx="2048255" cy="384048"/>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-2.35%</a:t>
            </a:r>
          </a:p>
        </p:txBody>
      </p:sp>
      <p:sp>
        <p:nvSpPr>
          <p:cNvPr id="35" name="TextBox 34"/>
          <p:cNvSpPr txBox="1"/>
          <p:nvPr/>
        </p:nvSpPr>
        <p:spPr>
          <a:xfrm>
            <a:off x="6217920" y="3611879"/>
            <a:ext cx="505937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Worst edge of the six; a blind pick wins.</a:t>
            </a:r>
          </a:p>
        </p:txBody>
      </p:sp>
      <p:sp>
        <p:nvSpPr>
          <p:cNvPr id="36" name="Rectangle 35"/>
          <p:cNvSpPr/>
          <p:nvPr/>
        </p:nvSpPr>
        <p:spPr>
          <a:xfrm>
            <a:off x="841248" y="3977640"/>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3995928"/>
            <a:ext cx="2962656"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Mid Cap</a:t>
            </a:r>
          </a:p>
        </p:txBody>
      </p:sp>
      <p:sp>
        <p:nvSpPr>
          <p:cNvPr id="38" name="TextBox 37"/>
          <p:cNvSpPr txBox="1"/>
          <p:nvPr/>
        </p:nvSpPr>
        <p:spPr>
          <a:xfrm>
            <a:off x="4023360" y="3995928"/>
            <a:ext cx="2048255" cy="384048"/>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-3.16%</a:t>
            </a:r>
          </a:p>
        </p:txBody>
      </p:sp>
      <p:sp>
        <p:nvSpPr>
          <p:cNvPr id="39" name="TextBox 38"/>
          <p:cNvSpPr txBox="1"/>
          <p:nvPr/>
        </p:nvSpPr>
        <p:spPr>
          <a:xfrm>
            <a:off x="6217920" y="3995928"/>
            <a:ext cx="505937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Why Mid is routed to a momentum index.</a:t>
            </a:r>
          </a:p>
        </p:txBody>
      </p:sp>
      <p:sp>
        <p:nvSpPr>
          <p:cNvPr id="40" name="Rounded Rectangle 39"/>
          <p:cNvSpPr/>
          <p:nvPr/>
        </p:nvSpPr>
        <p:spPr>
          <a:xfrm>
            <a:off x="841248" y="4462272"/>
            <a:ext cx="10509199" cy="1074419"/>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41248" y="4462272"/>
            <a:ext cx="54864" cy="1074419"/>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42416" y="4590288"/>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ONE OF THESE ROWS SHOULD DECIDE SOMETHING</a:t>
            </a:r>
          </a:p>
        </p:txBody>
      </p:sp>
      <p:sp>
        <p:nvSpPr>
          <p:cNvPr id="43" name="TextBox 42"/>
          <p:cNvSpPr txBox="1"/>
          <p:nvPr/>
        </p:nvSpPr>
        <p:spPr>
          <a:xfrm>
            <a:off x="1042416" y="4864608"/>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Held-book alpha is negative in five of the eight ranked categories. It is positive in Flexi, and in Focused and Value, which this deck excludes from deployment. That exclusion was decided on edge over a blind pick rather than on realised alpha, and the two lenses disagree here.</a:t>
            </a:r>
          </a:p>
        </p:txBody>
      </p:sp>
      <p:sp>
        <p:nvSpPr>
          <p:cNvPr id="44" name="TextBox 43"/>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QFRA2_recommendation_performance.md, per-category HELD book, 2018-H1 to 2024-H2.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03 · THE EVIDENCE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Against the obvious alternative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Why not simply buy the funds with the best three-year alpha</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14</a:t>
            </a:r>
          </a:p>
        </p:txBody>
      </p:sp>
      <p:sp>
        <p:nvSpPr>
          <p:cNvPr id="15" name="TextBox 14"/>
          <p:cNvSpPr txBox="1"/>
          <p:nvPr/>
        </p:nvSpPr>
        <p:spPr>
          <a:xfrm>
            <a:off x="914400" y="1773936"/>
            <a:ext cx="318834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STRATEGY</a:t>
            </a:r>
          </a:p>
        </p:txBody>
      </p:sp>
      <p:sp>
        <p:nvSpPr>
          <p:cNvPr id="16" name="TextBox 15"/>
          <p:cNvSpPr txBox="1"/>
          <p:nvPr/>
        </p:nvSpPr>
        <p:spPr>
          <a:xfrm>
            <a:off x="4249049" y="1773936"/>
            <a:ext cx="1773645"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3Y MEDIAN ALPHA</a:t>
            </a:r>
          </a:p>
        </p:txBody>
      </p:sp>
      <p:sp>
        <p:nvSpPr>
          <p:cNvPr id="17" name="TextBox 16"/>
          <p:cNvSpPr txBox="1"/>
          <p:nvPr/>
        </p:nvSpPr>
        <p:spPr>
          <a:xfrm>
            <a:off x="6168999" y="1773936"/>
            <a:ext cx="1470495"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3Y WIN RATE</a:t>
            </a:r>
          </a:p>
        </p:txBody>
      </p:sp>
      <p:sp>
        <p:nvSpPr>
          <p:cNvPr id="18" name="TextBox 17"/>
          <p:cNvSpPr txBox="1"/>
          <p:nvPr/>
        </p:nvSpPr>
        <p:spPr>
          <a:xfrm>
            <a:off x="7785799" y="1773936"/>
            <a:ext cx="1773645"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5Y MEDIAN ALPHA</a:t>
            </a:r>
          </a:p>
        </p:txBody>
      </p:sp>
      <p:sp>
        <p:nvSpPr>
          <p:cNvPr id="19" name="TextBox 18"/>
          <p:cNvSpPr txBox="1"/>
          <p:nvPr/>
        </p:nvSpPr>
        <p:spPr>
          <a:xfrm>
            <a:off x="9705749" y="1773936"/>
            <a:ext cx="1571545"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TURNOVER / YR</a:t>
            </a:r>
          </a:p>
        </p:txBody>
      </p:sp>
      <p:sp>
        <p:nvSpPr>
          <p:cNvPr id="20" name="Rectangle 19"/>
          <p:cNvSpPr/>
          <p:nvPr/>
        </p:nvSpPr>
        <p:spPr>
          <a:xfrm>
            <a:off x="841248" y="2029967"/>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2075688"/>
            <a:ext cx="3188345"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QFRA 2.0 final two</a:t>
            </a:r>
          </a:p>
        </p:txBody>
      </p:sp>
      <p:sp>
        <p:nvSpPr>
          <p:cNvPr id="22" name="TextBox 21"/>
          <p:cNvSpPr txBox="1"/>
          <p:nvPr/>
        </p:nvSpPr>
        <p:spPr>
          <a:xfrm>
            <a:off x="4249049" y="2075688"/>
            <a:ext cx="177364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+0.48%</a:t>
            </a:r>
          </a:p>
        </p:txBody>
      </p:sp>
      <p:sp>
        <p:nvSpPr>
          <p:cNvPr id="23" name="TextBox 22"/>
          <p:cNvSpPr txBox="1"/>
          <p:nvPr/>
        </p:nvSpPr>
        <p:spPr>
          <a:xfrm>
            <a:off x="6168999" y="2075688"/>
            <a:ext cx="147049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56.4%</a:t>
            </a:r>
          </a:p>
        </p:txBody>
      </p:sp>
      <p:sp>
        <p:nvSpPr>
          <p:cNvPr id="24" name="TextBox 23"/>
          <p:cNvSpPr txBox="1"/>
          <p:nvPr/>
        </p:nvSpPr>
        <p:spPr>
          <a:xfrm>
            <a:off x="7785799" y="2075688"/>
            <a:ext cx="177364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+0.58%</a:t>
            </a:r>
          </a:p>
        </p:txBody>
      </p:sp>
      <p:sp>
        <p:nvSpPr>
          <p:cNvPr id="25" name="TextBox 24"/>
          <p:cNvSpPr txBox="1"/>
          <p:nvPr/>
        </p:nvSpPr>
        <p:spPr>
          <a:xfrm>
            <a:off x="9705749" y="2075688"/>
            <a:ext cx="157154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3.9 deployed</a:t>
            </a:r>
          </a:p>
        </p:txBody>
      </p:sp>
      <p:sp>
        <p:nvSpPr>
          <p:cNvPr id="26" name="Rectangle 25"/>
          <p:cNvSpPr/>
          <p:nvPr/>
        </p:nvSpPr>
        <p:spPr>
          <a:xfrm>
            <a:off x="841248" y="2423160"/>
            <a:ext cx="10509199" cy="36576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2441448"/>
            <a:ext cx="3188345"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Best two by 3-year alpha</a:t>
            </a:r>
          </a:p>
        </p:txBody>
      </p:sp>
      <p:sp>
        <p:nvSpPr>
          <p:cNvPr id="28" name="TextBox 27"/>
          <p:cNvSpPr txBox="1"/>
          <p:nvPr/>
        </p:nvSpPr>
        <p:spPr>
          <a:xfrm>
            <a:off x="4249049" y="2441448"/>
            <a:ext cx="177364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+0.37%</a:t>
            </a:r>
          </a:p>
        </p:txBody>
      </p:sp>
      <p:sp>
        <p:nvSpPr>
          <p:cNvPr id="29" name="TextBox 28"/>
          <p:cNvSpPr txBox="1"/>
          <p:nvPr/>
        </p:nvSpPr>
        <p:spPr>
          <a:xfrm>
            <a:off x="6168999" y="2441448"/>
            <a:ext cx="147049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53.4%</a:t>
            </a:r>
          </a:p>
        </p:txBody>
      </p:sp>
      <p:sp>
        <p:nvSpPr>
          <p:cNvPr id="30" name="TextBox 29"/>
          <p:cNvSpPr txBox="1"/>
          <p:nvPr/>
        </p:nvSpPr>
        <p:spPr>
          <a:xfrm>
            <a:off x="7785799" y="2441448"/>
            <a:ext cx="177364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+0.90%</a:t>
            </a:r>
          </a:p>
        </p:txBody>
      </p:sp>
      <p:sp>
        <p:nvSpPr>
          <p:cNvPr id="31" name="TextBox 30"/>
          <p:cNvSpPr txBox="1"/>
          <p:nvPr/>
        </p:nvSpPr>
        <p:spPr>
          <a:xfrm>
            <a:off x="9705749" y="2441448"/>
            <a:ext cx="157154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7.8</a:t>
            </a:r>
          </a:p>
        </p:txBody>
      </p:sp>
      <p:sp>
        <p:nvSpPr>
          <p:cNvPr id="32" name="TextBox 31"/>
          <p:cNvSpPr txBox="1"/>
          <p:nvPr/>
        </p:nvSpPr>
        <p:spPr>
          <a:xfrm>
            <a:off x="914400" y="2807208"/>
            <a:ext cx="3188345"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Best three by 3-year alpha</a:t>
            </a:r>
          </a:p>
        </p:txBody>
      </p:sp>
      <p:sp>
        <p:nvSpPr>
          <p:cNvPr id="33" name="TextBox 32"/>
          <p:cNvSpPr txBox="1"/>
          <p:nvPr/>
        </p:nvSpPr>
        <p:spPr>
          <a:xfrm>
            <a:off x="4249049" y="2807208"/>
            <a:ext cx="177364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+0.31%</a:t>
            </a:r>
          </a:p>
        </p:txBody>
      </p:sp>
      <p:sp>
        <p:nvSpPr>
          <p:cNvPr id="34" name="TextBox 33"/>
          <p:cNvSpPr txBox="1"/>
          <p:nvPr/>
        </p:nvSpPr>
        <p:spPr>
          <a:xfrm>
            <a:off x="6168999" y="2807208"/>
            <a:ext cx="147049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53.2%</a:t>
            </a:r>
          </a:p>
        </p:txBody>
      </p:sp>
      <p:sp>
        <p:nvSpPr>
          <p:cNvPr id="35" name="TextBox 34"/>
          <p:cNvSpPr txBox="1"/>
          <p:nvPr/>
        </p:nvSpPr>
        <p:spPr>
          <a:xfrm>
            <a:off x="7785799" y="2807208"/>
            <a:ext cx="177364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+0.27%</a:t>
            </a:r>
          </a:p>
        </p:txBody>
      </p:sp>
      <p:sp>
        <p:nvSpPr>
          <p:cNvPr id="36" name="TextBox 35"/>
          <p:cNvSpPr txBox="1"/>
          <p:nvPr/>
        </p:nvSpPr>
        <p:spPr>
          <a:xfrm>
            <a:off x="9705749" y="2807208"/>
            <a:ext cx="157154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10.8</a:t>
            </a:r>
          </a:p>
        </p:txBody>
      </p:sp>
      <p:sp>
        <p:nvSpPr>
          <p:cNvPr id="37" name="Rectangle 36"/>
          <p:cNvSpPr/>
          <p:nvPr/>
        </p:nvSpPr>
        <p:spPr>
          <a:xfrm>
            <a:off x="841248" y="3154679"/>
            <a:ext cx="10509199" cy="36576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3172968"/>
            <a:ext cx="3188345"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Blind pick</a:t>
            </a:r>
          </a:p>
        </p:txBody>
      </p:sp>
      <p:sp>
        <p:nvSpPr>
          <p:cNvPr id="39" name="TextBox 38"/>
          <p:cNvSpPr txBox="1"/>
          <p:nvPr/>
        </p:nvSpPr>
        <p:spPr>
          <a:xfrm>
            <a:off x="4249049" y="3172968"/>
            <a:ext cx="177364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-0.76%</a:t>
            </a:r>
          </a:p>
        </p:txBody>
      </p:sp>
      <p:sp>
        <p:nvSpPr>
          <p:cNvPr id="40" name="TextBox 39"/>
          <p:cNvSpPr txBox="1"/>
          <p:nvPr/>
        </p:nvSpPr>
        <p:spPr>
          <a:xfrm>
            <a:off x="6168999" y="3172968"/>
            <a:ext cx="147049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42.8%</a:t>
            </a:r>
          </a:p>
        </p:txBody>
      </p:sp>
      <p:sp>
        <p:nvSpPr>
          <p:cNvPr id="41" name="TextBox 40"/>
          <p:cNvSpPr txBox="1"/>
          <p:nvPr/>
        </p:nvSpPr>
        <p:spPr>
          <a:xfrm>
            <a:off x="7785799" y="3172968"/>
            <a:ext cx="177364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-0.69%</a:t>
            </a:r>
          </a:p>
        </p:txBody>
      </p:sp>
      <p:sp>
        <p:nvSpPr>
          <p:cNvPr id="42" name="TextBox 41"/>
          <p:cNvSpPr txBox="1"/>
          <p:nvPr/>
        </p:nvSpPr>
        <p:spPr>
          <a:xfrm>
            <a:off x="9705749" y="3172968"/>
            <a:ext cx="157154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n/a</a:t>
            </a:r>
          </a:p>
        </p:txBody>
      </p:sp>
      <p:sp>
        <p:nvSpPr>
          <p:cNvPr id="43" name="Rounded Rectangle 42"/>
          <p:cNvSpPr/>
          <p:nvPr/>
        </p:nvSpPr>
        <p:spPr>
          <a:xfrm>
            <a:off x="841248" y="3621024"/>
            <a:ext cx="10509199" cy="1074419"/>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41248" y="3621024"/>
            <a:ext cx="54864" cy="1074419"/>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2416" y="3749039"/>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THE ANSWER, WITH ITS EXCEPTION STATED</a:t>
            </a:r>
          </a:p>
        </p:txBody>
      </p:sp>
      <p:sp>
        <p:nvSpPr>
          <p:cNvPr id="46" name="TextBox 45"/>
          <p:cNvSpPr txBox="1"/>
          <p:nvPr/>
        </p:nvSpPr>
        <p:spPr>
          <a:xfrm>
            <a:off x="1042416" y="4023360"/>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model wins 6 of the 8 pooled cells, and the topper still beats a blind pick, so it is a real signal rather than a straw man. Its only wins are the five-year cells, by a thin margin that reverses without factor adjustment. Small Cap is the clear exception: there the topper beats us outright.</a:t>
            </a:r>
          </a:p>
        </p:txBody>
      </p:sp>
      <p:sp>
        <p:nvSpPr>
          <p:cNvPr id="47" name="Rounded Rectangle 46"/>
          <p:cNvSpPr/>
          <p:nvPr/>
        </p:nvSpPr>
        <p:spPr>
          <a:xfrm>
            <a:off x="841248" y="4805172"/>
            <a:ext cx="10509199" cy="1074419"/>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41248" y="4805172"/>
            <a:ext cx="54864" cy="1074419"/>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42416" y="4933188"/>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AND ONE BELIEF THIS TEST CORRECTED</a:t>
            </a:r>
          </a:p>
        </p:txBody>
      </p:sp>
      <p:sp>
        <p:nvSpPr>
          <p:cNvPr id="50" name="TextBox 49"/>
          <p:cNvSpPr txBox="1"/>
          <p:nvPr/>
        </p:nvSpPr>
        <p:spPr>
          <a:xfrm>
            <a:off x="1042416" y="5207508"/>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We expected the topper to churn far harder. It does not: at 7.8 changes a year it is no worse than our own unconstrained ranking at 11.1. Our low turnover comes from the churn rule, not from a steadier signal, and anyone could bolt that rule onto a topper strategy.</a:t>
            </a:r>
          </a:p>
        </p:txBody>
      </p:sp>
      <p:sp>
        <p:nvSpPr>
          <p:cNvPr id="51" name="TextBox 50"/>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qfra2_pac_prep/3Y_TOPPER_BENCHMARK.md. Built on the same panel and the same pooling convention as the published model-versus-random table.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03 · THE EVIDENCE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400" b="1" i="0">
                <a:solidFill>
                  <a:srgbClr val="1B27A3"/>
                </a:solidFill>
                <a:latin typeface="Bahnschrift"/>
              </a:rPr>
              <a:t>When the model runs, and why it matters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The review anchor is worth about 8 points of hit rate, so we tested all six</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15</a:t>
            </a:r>
          </a:p>
        </p:txBody>
      </p:sp>
      <p:pic>
        <p:nvPicPr>
          <p:cNvPr id="15" name="Picture 14" descr="anchor_pair_evidence.png"/>
          <p:cNvPicPr>
            <a:picLocks noChangeAspect="1"/>
          </p:cNvPicPr>
          <p:nvPr/>
        </p:nvPicPr>
        <p:blipFill>
          <a:blip r:embed="rId3"/>
          <a:stretch>
            <a:fillRect/>
          </a:stretch>
        </p:blipFill>
        <p:spPr>
          <a:xfrm>
            <a:off x="2807524" y="1700784"/>
            <a:ext cx="6576646" cy="2331720"/>
          </a:xfrm>
          <a:prstGeom prst="rect">
            <a:avLst/>
          </a:prstGeom>
        </p:spPr>
      </p:pic>
      <p:sp>
        <p:nvSpPr>
          <p:cNvPr id="16" name="Rounded Rectangle 15"/>
          <p:cNvSpPr/>
          <p:nvPr/>
        </p:nvSpPr>
        <p:spPr>
          <a:xfrm>
            <a:off x="841248" y="4142232"/>
            <a:ext cx="10509199" cy="1751076"/>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1248" y="4142232"/>
            <a:ext cx="54864" cy="175107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6" y="4270248"/>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APRIL AND OCTOBER, ON THE MONTH END</a:t>
            </a:r>
          </a:p>
        </p:txBody>
      </p:sp>
      <p:sp>
        <p:nvSpPr>
          <p:cNvPr id="19" name="TextBox 18"/>
          <p:cNvSpPr txBox="1"/>
          <p:nvPr/>
        </p:nvSpPr>
        <p:spPr>
          <a:xfrm>
            <a:off x="1042416" y="4544568"/>
            <a:ext cx="10143439" cy="129387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All six possible six-month pairs were replayed through the short-term framework's live decision logic at every month end from January 2012 to July 2024, across all six category sheets: 906 formations. April and October leads on the measure specified before the study ran, and ties with June and December on the 66% hit rate while the other four sit at 55% to 58%. Month end matters as much as the pair: a first-of-April anchor closes its window on about 31 March, so it is the March window renamed, and it scores a 53% hit rate against 66%. End-April reads prices that have digested the March-quarter and full-year results.</a:t>
            </a:r>
          </a:p>
        </p:txBody>
      </p:sp>
      <p:sp>
        <p:nvSpPr>
          <p:cNvPr id="20" name="TextBox 19"/>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04_RND_LAB/STOCK_SCORECARD_750/results/anchor_pair_study/. Presented measure is the 10% trimmed mean, specified in the original brief.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4.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04</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04</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The two frameworks</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Why a second, shorter-horizon framework earns its place, and where each one drives the call</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1</a:t>
            </a:r>
          </a:p>
        </p:txBody>
      </p:sp>
      <p:sp>
        <p:nvSpPr>
          <p:cNvPr id="11" name="TextBox 10"/>
          <p:cNvSpPr txBox="1"/>
          <p:nvPr/>
        </p:nvSpPr>
        <p:spPr>
          <a:xfrm>
            <a:off x="841248" y="525780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8</a:t>
            </a:r>
          </a:p>
        </p:txBody>
      </p:sp>
      <p:sp>
        <p:nvSpPr>
          <p:cNvPr id="12" name="TextBox 11"/>
          <p:cNvSpPr txBox="1"/>
          <p:nvPr/>
        </p:nvSpPr>
        <p:spPr>
          <a:xfrm>
            <a:off x="841248" y="553212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a:t>
            </a:r>
          </a:p>
        </p:txBody>
      </p:sp>
      <p:sp>
        <p:nvSpPr>
          <p:cNvPr id="13" name="TextBox 12"/>
          <p:cNvSpPr txBox="1"/>
          <p:nvPr/>
        </p:nvSpPr>
        <p:spPr>
          <a:xfrm>
            <a:off x="841248" y="580644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2</a:t>
            </a:r>
          </a:p>
        </p:txBody>
      </p:sp>
      <p:sp>
        <p:nvSpPr>
          <p:cNvPr id="14" name="TextBox 13"/>
          <p:cNvSpPr txBox="1"/>
          <p:nvPr/>
        </p:nvSpPr>
        <p:spPr>
          <a:xfrm>
            <a:off x="841248" y="6080759"/>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TWO FRAMEWORKS</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Why we run a second framework</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00" b="1" i="0">
                <a:solidFill>
                  <a:srgbClr val="F2A93C"/>
                </a:solidFill>
                <a:latin typeface="Bahnschrift"/>
              </a:rPr>
              <a:t>Different horizons, one shared signal, and an honest statement of the overlap</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17</a:t>
            </a:r>
          </a:p>
        </p:txBody>
      </p:sp>
      <p:sp>
        <p:nvSpPr>
          <p:cNvPr id="15" name="TextBox 14"/>
          <p:cNvSpPr txBox="1"/>
          <p:nvPr/>
        </p:nvSpPr>
        <p:spPr>
          <a:xfrm>
            <a:off x="914400" y="1755648"/>
            <a:ext cx="195681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CATEGORY</a:t>
            </a:r>
          </a:p>
        </p:txBody>
      </p:sp>
      <p:sp>
        <p:nvSpPr>
          <p:cNvPr id="16" name="TextBox 15"/>
          <p:cNvSpPr txBox="1"/>
          <p:nvPr/>
        </p:nvSpPr>
        <p:spPr>
          <a:xfrm>
            <a:off x="3017520" y="1755648"/>
            <a:ext cx="2139696"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CORE</a:t>
            </a:r>
          </a:p>
        </p:txBody>
      </p:sp>
      <p:sp>
        <p:nvSpPr>
          <p:cNvPr id="17" name="TextBox 16"/>
          <p:cNvSpPr txBox="1"/>
          <p:nvPr/>
        </p:nvSpPr>
        <p:spPr>
          <a:xfrm>
            <a:off x="5303520" y="1755648"/>
            <a:ext cx="1545336"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DRIVEN BY</a:t>
            </a:r>
          </a:p>
        </p:txBody>
      </p:sp>
      <p:sp>
        <p:nvSpPr>
          <p:cNvPr id="18" name="TextBox 17"/>
          <p:cNvSpPr txBox="1"/>
          <p:nvPr/>
        </p:nvSpPr>
        <p:spPr>
          <a:xfrm>
            <a:off x="6995160" y="1755648"/>
            <a:ext cx="428213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WHY</a:t>
            </a:r>
          </a:p>
        </p:txBody>
      </p:sp>
      <p:sp>
        <p:nvSpPr>
          <p:cNvPr id="19" name="Rectangle 18"/>
          <p:cNvSpPr/>
          <p:nvPr/>
        </p:nvSpPr>
        <p:spPr>
          <a:xfrm>
            <a:off x="841248" y="2011680"/>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057400"/>
            <a:ext cx="1956815"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Large Cap</a:t>
            </a:r>
          </a:p>
        </p:txBody>
      </p:sp>
      <p:sp>
        <p:nvSpPr>
          <p:cNvPr id="21" name="TextBox 20"/>
          <p:cNvSpPr txBox="1"/>
          <p:nvPr/>
        </p:nvSpPr>
        <p:spPr>
          <a:xfrm>
            <a:off x="3017520" y="2057400"/>
            <a:ext cx="2139696"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Plain index</a:t>
            </a:r>
          </a:p>
        </p:txBody>
      </p:sp>
      <p:sp>
        <p:nvSpPr>
          <p:cNvPr id="22" name="TextBox 21"/>
          <p:cNvSpPr txBox="1"/>
          <p:nvPr/>
        </p:nvSpPr>
        <p:spPr>
          <a:xfrm>
            <a:off x="5303520" y="2057400"/>
            <a:ext cx="1545336"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QFRA-2</a:t>
            </a:r>
          </a:p>
        </p:txBody>
      </p:sp>
      <p:sp>
        <p:nvSpPr>
          <p:cNvPr id="23" name="TextBox 22"/>
          <p:cNvSpPr txBox="1"/>
          <p:nvPr/>
        </p:nvSpPr>
        <p:spPr>
          <a:xfrm>
            <a:off x="6995160" y="2057400"/>
            <a:ext cx="4282135"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Active selection is not distinguishable from a blind pick.</a:t>
            </a:r>
          </a:p>
        </p:txBody>
      </p:sp>
      <p:sp>
        <p:nvSpPr>
          <p:cNvPr id="24" name="Rectangle 23"/>
          <p:cNvSpPr/>
          <p:nvPr/>
        </p:nvSpPr>
        <p:spPr>
          <a:xfrm>
            <a:off x="841248" y="2423160"/>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441448"/>
            <a:ext cx="1956815"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Large &amp; Mid Cap</a:t>
            </a:r>
          </a:p>
        </p:txBody>
      </p:sp>
      <p:sp>
        <p:nvSpPr>
          <p:cNvPr id="26" name="TextBox 25"/>
          <p:cNvSpPr txBox="1"/>
          <p:nvPr/>
        </p:nvSpPr>
        <p:spPr>
          <a:xfrm>
            <a:off x="3017520" y="2441448"/>
            <a:ext cx="2139696"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Active</a:t>
            </a:r>
          </a:p>
        </p:txBody>
      </p:sp>
      <p:sp>
        <p:nvSpPr>
          <p:cNvPr id="27" name="TextBox 26"/>
          <p:cNvSpPr txBox="1"/>
          <p:nvPr/>
        </p:nvSpPr>
        <p:spPr>
          <a:xfrm>
            <a:off x="5303520" y="2441448"/>
            <a:ext cx="1545336"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QFRA-2</a:t>
            </a:r>
          </a:p>
        </p:txBody>
      </p:sp>
      <p:sp>
        <p:nvSpPr>
          <p:cNvPr id="28" name="TextBox 27"/>
          <p:cNvSpPr txBox="1"/>
          <p:nvPr/>
        </p:nvSpPr>
        <p:spPr>
          <a:xfrm>
            <a:off x="6995160" y="2441448"/>
            <a:ext cx="4282135"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Best theoretical edge of any category, worst delivery gap.</a:t>
            </a:r>
          </a:p>
        </p:txBody>
      </p:sp>
      <p:sp>
        <p:nvSpPr>
          <p:cNvPr id="29" name="TextBox 28"/>
          <p:cNvSpPr txBox="1"/>
          <p:nvPr/>
        </p:nvSpPr>
        <p:spPr>
          <a:xfrm>
            <a:off x="914400" y="2825496"/>
            <a:ext cx="1956815"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Mid Cap</a:t>
            </a:r>
          </a:p>
        </p:txBody>
      </p:sp>
      <p:sp>
        <p:nvSpPr>
          <p:cNvPr id="30" name="TextBox 29"/>
          <p:cNvSpPr txBox="1"/>
          <p:nvPr/>
        </p:nvSpPr>
        <p:spPr>
          <a:xfrm>
            <a:off x="3017520" y="2825496"/>
            <a:ext cx="2139696"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Factor momentum</a:t>
            </a:r>
          </a:p>
        </p:txBody>
      </p:sp>
      <p:sp>
        <p:nvSpPr>
          <p:cNvPr id="31" name="TextBox 30"/>
          <p:cNvSpPr txBox="1"/>
          <p:nvPr/>
        </p:nvSpPr>
        <p:spPr>
          <a:xfrm>
            <a:off x="5303520" y="2825496"/>
            <a:ext cx="1545336"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QFRA-2</a:t>
            </a:r>
          </a:p>
        </p:txBody>
      </p:sp>
      <p:sp>
        <p:nvSpPr>
          <p:cNvPr id="32" name="TextBox 31"/>
          <p:cNvSpPr txBox="1"/>
          <p:nvPr/>
        </p:nvSpPr>
        <p:spPr>
          <a:xfrm>
            <a:off x="6995160" y="2825496"/>
            <a:ext cx="4282135"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Active edge near zero and the worst realised book of the eight.</a:t>
            </a:r>
          </a:p>
        </p:txBody>
      </p:sp>
      <p:sp>
        <p:nvSpPr>
          <p:cNvPr id="33" name="Rectangle 32"/>
          <p:cNvSpPr/>
          <p:nvPr/>
        </p:nvSpPr>
        <p:spPr>
          <a:xfrm>
            <a:off x="841248" y="3191256"/>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 y="3209544"/>
            <a:ext cx="1956815"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Flexi Cap</a:t>
            </a:r>
          </a:p>
        </p:txBody>
      </p:sp>
      <p:sp>
        <p:nvSpPr>
          <p:cNvPr id="35" name="TextBox 34"/>
          <p:cNvSpPr txBox="1"/>
          <p:nvPr/>
        </p:nvSpPr>
        <p:spPr>
          <a:xfrm>
            <a:off x="3017520" y="3209544"/>
            <a:ext cx="2139696"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Active</a:t>
            </a:r>
          </a:p>
        </p:txBody>
      </p:sp>
      <p:sp>
        <p:nvSpPr>
          <p:cNvPr id="36" name="TextBox 35"/>
          <p:cNvSpPr txBox="1"/>
          <p:nvPr/>
        </p:nvSpPr>
        <p:spPr>
          <a:xfrm>
            <a:off x="5303520" y="3209544"/>
            <a:ext cx="1545336"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Both agree</a:t>
            </a:r>
          </a:p>
        </p:txBody>
      </p:sp>
      <p:sp>
        <p:nvSpPr>
          <p:cNvPr id="37" name="TextBox 36"/>
          <p:cNvSpPr txBox="1"/>
          <p:nvPr/>
        </p:nvSpPr>
        <p:spPr>
          <a:xfrm>
            <a:off x="6995160" y="3209544"/>
            <a:ext cx="4282135"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The one category where realised beat theoretical.</a:t>
            </a:r>
          </a:p>
        </p:txBody>
      </p:sp>
      <p:sp>
        <p:nvSpPr>
          <p:cNvPr id="38" name="TextBox 37"/>
          <p:cNvSpPr txBox="1"/>
          <p:nvPr/>
        </p:nvSpPr>
        <p:spPr>
          <a:xfrm>
            <a:off x="914400" y="3593591"/>
            <a:ext cx="1956815"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Multi Cap</a:t>
            </a:r>
          </a:p>
        </p:txBody>
      </p:sp>
      <p:sp>
        <p:nvSpPr>
          <p:cNvPr id="39" name="TextBox 38"/>
          <p:cNvSpPr txBox="1"/>
          <p:nvPr/>
        </p:nvSpPr>
        <p:spPr>
          <a:xfrm>
            <a:off x="3017520" y="3593591"/>
            <a:ext cx="2139696"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Plain index, provisional</a:t>
            </a:r>
          </a:p>
        </p:txBody>
      </p:sp>
      <p:sp>
        <p:nvSpPr>
          <p:cNvPr id="40" name="TextBox 39"/>
          <p:cNvSpPr txBox="1"/>
          <p:nvPr/>
        </p:nvSpPr>
        <p:spPr>
          <a:xfrm>
            <a:off x="5303520" y="3593591"/>
            <a:ext cx="1545336"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QFRA-2</a:t>
            </a:r>
          </a:p>
        </p:txBody>
      </p:sp>
      <p:sp>
        <p:nvSpPr>
          <p:cNvPr id="41" name="TextBox 40"/>
          <p:cNvSpPr txBox="1"/>
          <p:nvPr/>
        </p:nvSpPr>
        <p:spPr>
          <a:xfrm>
            <a:off x="6995160" y="3593591"/>
            <a:ext cx="4282135"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Worst edge of the six; no evidenced factor substitute yet.</a:t>
            </a:r>
          </a:p>
        </p:txBody>
      </p:sp>
      <p:sp>
        <p:nvSpPr>
          <p:cNvPr id="42" name="Rectangle 41"/>
          <p:cNvSpPr/>
          <p:nvPr/>
        </p:nvSpPr>
        <p:spPr>
          <a:xfrm>
            <a:off x="841248" y="3959352"/>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3977639"/>
            <a:ext cx="1956815"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Small Cap</a:t>
            </a:r>
          </a:p>
        </p:txBody>
      </p:sp>
      <p:sp>
        <p:nvSpPr>
          <p:cNvPr id="44" name="TextBox 43"/>
          <p:cNvSpPr txBox="1"/>
          <p:nvPr/>
        </p:nvSpPr>
        <p:spPr>
          <a:xfrm>
            <a:off x="3017520" y="3977639"/>
            <a:ext cx="2139696"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Index core plus a tactical satellite</a:t>
            </a:r>
          </a:p>
        </p:txBody>
      </p:sp>
      <p:sp>
        <p:nvSpPr>
          <p:cNvPr id="45" name="TextBox 44"/>
          <p:cNvSpPr txBox="1"/>
          <p:nvPr/>
        </p:nvSpPr>
        <p:spPr>
          <a:xfrm>
            <a:off x="5303520" y="3977639"/>
            <a:ext cx="1545336"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Both, different jobs</a:t>
            </a:r>
          </a:p>
        </p:txBody>
      </p:sp>
      <p:sp>
        <p:nvSpPr>
          <p:cNvPr id="46" name="TextBox 45"/>
          <p:cNvSpPr txBox="1"/>
          <p:nvPr/>
        </p:nvSpPr>
        <p:spPr>
          <a:xfrm>
            <a:off x="6995160" y="3977639"/>
            <a:ext cx="4282135"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The level is the market's; the short signal is ours.</a:t>
            </a:r>
          </a:p>
        </p:txBody>
      </p:sp>
      <p:sp>
        <p:nvSpPr>
          <p:cNvPr id="47" name="Rounded Rectangle 46"/>
          <p:cNvSpPr/>
          <p:nvPr/>
        </p:nvSpPr>
        <p:spPr>
          <a:xfrm>
            <a:off x="841248" y="4407408"/>
            <a:ext cx="10509199" cy="1243584"/>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41248" y="4407408"/>
            <a:ext cx="54864" cy="1243584"/>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42416" y="4535424"/>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STATE THE OVERLAP BEFORE ANYONE FINDS IT</a:t>
            </a:r>
          </a:p>
        </p:txBody>
      </p:sp>
      <p:sp>
        <p:nvSpPr>
          <p:cNvPr id="50" name="TextBox 49"/>
          <p:cNvSpPr txBox="1"/>
          <p:nvPr/>
        </p:nvSpPr>
        <p:spPr>
          <a:xfrm>
            <a:off x="1042416" y="4809744"/>
            <a:ext cx="10143439" cy="78638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short-term framework ranks funds on their six-month total capture ratio. QFRA-2 already carries that same quantity at a weight of 0.30, plus a three-year down-capture term, so the capture family is 40% to 48% of the QFRA-2 score. When the two agree, part of that is one signal agreeing with itself. What the short-term framework clearly adds is recency and its own replayed backtest.</a:t>
            </a:r>
          </a:p>
        </p:txBody>
      </p:sp>
      <p:sp>
        <p:nvSpPr>
          <p:cNvPr id="51" name="TextBox 50"/>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qfra2_pac_prep/FRAMEWORK_COMPLEMENTARITY.md; overlap verified at final_model.py:154.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TWO FRAMEWORKS</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Small Cap, stated precisely</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400" b="1" i="0">
                <a:solidFill>
                  <a:srgbClr val="F2A93C"/>
                </a:solidFill>
                <a:latin typeface="Bahnschrift"/>
              </a:rPr>
              <a:t>The claim was that we have a lot of alpha in small caps. Half of that is true, and the half that is not changes how we should run it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18</a:t>
            </a:r>
          </a:p>
        </p:txBody>
      </p:sp>
      <p:sp>
        <p:nvSpPr>
          <p:cNvPr id="15" name="TextBox 14"/>
          <p:cNvSpPr txBox="1"/>
          <p:nvPr/>
        </p:nvSpPr>
        <p:spPr>
          <a:xfrm>
            <a:off x="841248"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92%</a:t>
            </a:r>
          </a:p>
        </p:txBody>
      </p:sp>
      <p:sp>
        <p:nvSpPr>
          <p:cNvPr id="16" name="TextBox 15"/>
          <p:cNvSpPr txBox="1"/>
          <p:nvPr/>
        </p:nvSpPr>
        <p:spPr>
          <a:xfrm>
            <a:off x="841248"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OF SMALL-CAP ALPHA A BLIND PICK ALSO GETS</a:t>
            </a:r>
          </a:p>
        </p:txBody>
      </p:sp>
      <p:sp>
        <p:nvSpPr>
          <p:cNvPr id="17" name="TextBox 16"/>
          <p:cNvSpPr txBox="1"/>
          <p:nvPr/>
        </p:nvSpPr>
        <p:spPr>
          <a:xfrm>
            <a:off x="34685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-1.34%</a:t>
            </a:r>
          </a:p>
        </p:txBody>
      </p:sp>
      <p:sp>
        <p:nvSpPr>
          <p:cNvPr id="18" name="TextBox 17"/>
          <p:cNvSpPr txBox="1"/>
          <p:nvPr/>
        </p:nvSpPr>
        <p:spPr>
          <a:xfrm>
            <a:off x="34685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DEPLOYED BOOK 3Y ALPHA IN SMALL</a:t>
            </a:r>
          </a:p>
        </p:txBody>
      </p:sp>
      <p:sp>
        <p:nvSpPr>
          <p:cNvPr id="19" name="Rectangle 18"/>
          <p:cNvSpPr/>
          <p:nvPr/>
        </p:nvSpPr>
        <p:spPr>
          <a:xfrm>
            <a:off x="34136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958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+3.49%</a:t>
            </a:r>
          </a:p>
        </p:txBody>
      </p:sp>
      <p:sp>
        <p:nvSpPr>
          <p:cNvPr id="21" name="TextBox 20"/>
          <p:cNvSpPr txBox="1"/>
          <p:nvPr/>
        </p:nvSpPr>
        <p:spPr>
          <a:xfrm>
            <a:off x="60958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SHORT-TERM BUY LEG MEDIAN EXCESS</a:t>
            </a:r>
          </a:p>
        </p:txBody>
      </p:sp>
      <p:sp>
        <p:nvSpPr>
          <p:cNvPr id="22" name="Rectangle 21"/>
          <p:cNvSpPr/>
          <p:nvPr/>
        </p:nvSpPr>
        <p:spPr>
          <a:xfrm>
            <a:off x="60409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231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72%</a:t>
            </a:r>
          </a:p>
        </p:txBody>
      </p:sp>
      <p:sp>
        <p:nvSpPr>
          <p:cNvPr id="24" name="TextBox 23"/>
          <p:cNvSpPr txBox="1"/>
          <p:nvPr/>
        </p:nvSpPr>
        <p:spPr>
          <a:xfrm>
            <a:off x="87231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SHORT-TERM BUY LEG HIT RATE</a:t>
            </a:r>
          </a:p>
        </p:txBody>
      </p:sp>
      <p:sp>
        <p:nvSpPr>
          <p:cNvPr id="25" name="Rectangle 24"/>
          <p:cNvSpPr/>
          <p:nvPr/>
        </p:nvSpPr>
        <p:spPr>
          <a:xfrm>
            <a:off x="86682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41248" y="2633472"/>
            <a:ext cx="10509199" cy="1074419"/>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2633472"/>
            <a:ext cx="54864" cy="1074419"/>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2761488"/>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THE LEVEL IS THE MARKET'S, NOT OURS</a:t>
            </a:r>
          </a:p>
        </p:txBody>
      </p:sp>
      <p:sp>
        <p:nvSpPr>
          <p:cNvPr id="29" name="TextBox 28"/>
          <p:cNvSpPr txBox="1"/>
          <p:nvPr/>
        </p:nvSpPr>
        <p:spPr>
          <a:xfrm>
            <a:off x="1042416" y="3035808"/>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Small Cap has the highest absolute alpha of any category, +2.20% a year, but a blind pick captures +2.03% of it. The incremental edge is +0.17% and it did not survive into the deployed book, which returned -1.34%.</a:t>
            </a:r>
          </a:p>
        </p:txBody>
      </p:sp>
      <p:sp>
        <p:nvSpPr>
          <p:cNvPr id="30" name="Rounded Rectangle 29"/>
          <p:cNvSpPr/>
          <p:nvPr/>
        </p:nvSpPr>
        <p:spPr>
          <a:xfrm>
            <a:off x="841248" y="3799331"/>
            <a:ext cx="10509199" cy="1074419"/>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41248" y="3799331"/>
            <a:ext cx="54864" cy="1074419"/>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42416" y="3927347"/>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BUT THE SHORT-HORIZON SIGNAL IS REAL, AND IT IS OURS</a:t>
            </a:r>
          </a:p>
        </p:txBody>
      </p:sp>
      <p:sp>
        <p:nvSpPr>
          <p:cNvPr id="33" name="TextBox 32"/>
          <p:cNvSpPr txBox="1"/>
          <p:nvPr/>
        </p:nvSpPr>
        <p:spPr>
          <a:xfrm>
            <a:off x="1042416" y="4201668"/>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short-term framework's small-cap buy leg is the strongest single signal in the firm: +3.49% median forward excess at a 72% hit rate, across 906 formations. That is six-month capture persistence, not five-year stock picking.</a:t>
            </a:r>
          </a:p>
        </p:txBody>
      </p:sp>
      <p:sp>
        <p:nvSpPr>
          <p:cNvPr id="34" name="Rounded Rectangle 33"/>
          <p:cNvSpPr/>
          <p:nvPr/>
        </p:nvSpPr>
        <p:spPr>
          <a:xfrm>
            <a:off x="841248" y="4965191"/>
            <a:ext cx="10509199" cy="905256"/>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41248" y="4965191"/>
            <a:ext cx="54864" cy="90525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42416" y="5093207"/>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SO RUN IT AS WHAT IT IS</a:t>
            </a:r>
          </a:p>
        </p:txBody>
      </p:sp>
      <p:sp>
        <p:nvSpPr>
          <p:cNvPr id="37" name="TextBox 36"/>
          <p:cNvSpPr txBox="1"/>
          <p:nvPr/>
        </p:nvSpPr>
        <p:spPr>
          <a:xfrm>
            <a:off x="1042416" y="5367527"/>
            <a:ext cx="10143439" cy="44805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An index core for the beta, plus a separately sized and separately clocked tactical satellite. What we should not do is badge that satellite as our small-cap alpha.</a:t>
            </a:r>
          </a:p>
        </p:txBody>
      </p:sp>
      <p:sp>
        <p:nvSpPr>
          <p:cNvPr id="38" name="TextBox 37"/>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Random-baseline test from the model-versus-random panel; buy-leg figures from the anchor-pair study extension.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TWO FRAMEWORKS</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Who is allowed to say sell</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A defect found this review, and the rule that replaced it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19</a:t>
            </a:r>
          </a:p>
        </p:txBody>
      </p:sp>
      <p:sp>
        <p:nvSpPr>
          <p:cNvPr id="15" name="Rounded Rectangle 14"/>
          <p:cNvSpPr/>
          <p:nvPr/>
        </p:nvSpPr>
        <p:spPr>
          <a:xfrm>
            <a:off x="841248" y="1792224"/>
            <a:ext cx="10509199" cy="1074419"/>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 y="1792224"/>
            <a:ext cx="54864" cy="1074419"/>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2416" y="1920240"/>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THE DEFECT</a:t>
            </a:r>
          </a:p>
        </p:txBody>
      </p:sp>
      <p:sp>
        <p:nvSpPr>
          <p:cNvPr id="18" name="TextBox 17"/>
          <p:cNvSpPr txBox="1"/>
          <p:nvPr/>
        </p:nvSpPr>
        <p:spPr>
          <a:xfrm>
            <a:off x="1042416" y="2194560"/>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QFRA 2.0 has no Sell verdict, yet our client pipeline derived one from it by treating a SENTINEL flag or a below-40 score as an exit signal. Both legs were wrong, and in one live case the rule called for selling a fund the same engine ranked second in its category with the top grade.</a:t>
            </a:r>
          </a:p>
        </p:txBody>
      </p:sp>
      <p:sp>
        <p:nvSpPr>
          <p:cNvPr id="19" name="TextBox 18"/>
          <p:cNvSpPr txBox="1"/>
          <p:nvPr/>
        </p:nvSpPr>
        <p:spPr>
          <a:xfrm>
            <a:off x="914400" y="2976372"/>
            <a:ext cx="2596896"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FRAMEWORK</a:t>
            </a:r>
          </a:p>
        </p:txBody>
      </p:sp>
      <p:sp>
        <p:nvSpPr>
          <p:cNvPr id="20" name="TextBox 19"/>
          <p:cNvSpPr txBox="1"/>
          <p:nvPr/>
        </p:nvSpPr>
        <p:spPr>
          <a:xfrm>
            <a:off x="3657600" y="2976372"/>
            <a:ext cx="761969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ROLE NOW</a:t>
            </a:r>
          </a:p>
        </p:txBody>
      </p:sp>
      <p:sp>
        <p:nvSpPr>
          <p:cNvPr id="21" name="Rectangle 20"/>
          <p:cNvSpPr/>
          <p:nvPr/>
        </p:nvSpPr>
        <p:spPr>
          <a:xfrm>
            <a:off x="841248" y="3232404"/>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3278124"/>
            <a:ext cx="2596896"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Short-term (QFRA-1)</a:t>
            </a:r>
          </a:p>
        </p:txBody>
      </p:sp>
      <p:sp>
        <p:nvSpPr>
          <p:cNvPr id="23" name="TextBox 22"/>
          <p:cNvSpPr txBox="1"/>
          <p:nvPr/>
        </p:nvSpPr>
        <p:spPr>
          <a:xfrm>
            <a:off x="3657600" y="3278124"/>
            <a:ext cx="7619695"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ORIGINATES the sell. It is the only framework with a sell verdict and the only one with a replayed backtest.</a:t>
            </a:r>
          </a:p>
        </p:txBody>
      </p:sp>
      <p:sp>
        <p:nvSpPr>
          <p:cNvPr id="24" name="Rectangle 23"/>
          <p:cNvSpPr/>
          <p:nvPr/>
        </p:nvSpPr>
        <p:spPr>
          <a:xfrm>
            <a:off x="841248" y="3680460"/>
            <a:ext cx="10509199" cy="42062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3698748"/>
            <a:ext cx="2596896"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QFRA 2.0</a:t>
            </a:r>
          </a:p>
        </p:txBody>
      </p:sp>
      <p:sp>
        <p:nvSpPr>
          <p:cNvPr id="26" name="TextBox 25"/>
          <p:cNvSpPr txBox="1"/>
          <p:nvPr/>
        </p:nvSpPr>
        <p:spPr>
          <a:xfrm>
            <a:off x="3657600" y="3698748"/>
            <a:ext cx="7619695"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VETOES only. A top-two grade blocks the sell. It can never originate one.</a:t>
            </a:r>
          </a:p>
        </p:txBody>
      </p:sp>
      <p:sp>
        <p:nvSpPr>
          <p:cNvPr id="27" name="TextBox 26"/>
          <p:cNvSpPr txBox="1"/>
          <p:nvPr/>
        </p:nvSpPr>
        <p:spPr>
          <a:xfrm>
            <a:off x="914400" y="4119372"/>
            <a:ext cx="2596896"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Disagreement</a:t>
            </a:r>
          </a:p>
        </p:txBody>
      </p:sp>
      <p:sp>
        <p:nvSpPr>
          <p:cNvPr id="28" name="TextBox 27"/>
          <p:cNvSpPr txBox="1"/>
          <p:nvPr/>
        </p:nvSpPr>
        <p:spPr>
          <a:xfrm>
            <a:off x="3657600" y="4119372"/>
            <a:ext cx="7619695"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Surfaced as a contradiction for the fund manager's pack, never resolved silently to hold.</a:t>
            </a:r>
          </a:p>
        </p:txBody>
      </p:sp>
      <p:sp>
        <p:nvSpPr>
          <p:cNvPr id="29" name="Rounded Rectangle 28"/>
          <p:cNvSpPr/>
          <p:nvPr/>
        </p:nvSpPr>
        <p:spPr>
          <a:xfrm>
            <a:off x="841248" y="4631436"/>
            <a:ext cx="10509199" cy="1074419"/>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41248" y="4631436"/>
            <a:ext cx="54864" cy="1074419"/>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2416" y="4759451"/>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AND THE LIMIT ON THE LEG THAT NOW ORIGINATES</a:t>
            </a:r>
          </a:p>
        </p:txBody>
      </p:sp>
      <p:sp>
        <p:nvSpPr>
          <p:cNvPr id="32" name="TextBox 31"/>
          <p:cNvSpPr txBox="1"/>
          <p:nvPr/>
        </p:nvSpPr>
        <p:spPr>
          <a:xfrm>
            <a:off x="1042416" y="5033772"/>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On the same 906 formations the buy leg is strong, at +2.59% median excess and a 66% hit rate. The sell leg is not: 49% hit, below 50% in all six anchor pairs. A sell must stand on the analyst's reason, with capture as support, not on the backtest.</a:t>
            </a:r>
          </a:p>
        </p:txBody>
      </p:sp>
      <p:sp>
        <p:nvSpPr>
          <p:cNvPr id="33" name="TextBox 3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Implemented at 09_PRODUCT/scripts/fund_ctx_adapter.py. Sell-leg measurement in the anchor-pair study extension.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5.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05</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05</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Track record and the ask</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Every review period since 2018, the limits we accept, and the decision sought</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2</a:t>
            </a:r>
          </a:p>
        </p:txBody>
      </p:sp>
      <p:sp>
        <p:nvSpPr>
          <p:cNvPr id="11" name="TextBox 10"/>
          <p:cNvSpPr txBox="1"/>
          <p:nvPr/>
        </p:nvSpPr>
        <p:spPr>
          <a:xfrm>
            <a:off x="841248" y="525780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0</a:t>
            </a:r>
          </a:p>
        </p:txBody>
      </p:sp>
      <p:sp>
        <p:nvSpPr>
          <p:cNvPr id="12" name="TextBox 11"/>
          <p:cNvSpPr txBox="1"/>
          <p:nvPr/>
        </p:nvSpPr>
        <p:spPr>
          <a:xfrm>
            <a:off x="841248" y="553212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a:t>
            </a:r>
          </a:p>
        </p:txBody>
      </p:sp>
      <p:sp>
        <p:nvSpPr>
          <p:cNvPr id="13" name="TextBox 12"/>
          <p:cNvSpPr txBox="1"/>
          <p:nvPr/>
        </p:nvSpPr>
        <p:spPr>
          <a:xfrm>
            <a:off x="841248" y="580644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2</a:t>
            </a:r>
          </a:p>
        </p:txBody>
      </p:sp>
      <p:sp>
        <p:nvSpPr>
          <p:cNvPr id="14" name="TextBox 13"/>
          <p:cNvSpPr txBox="1"/>
          <p:nvPr/>
        </p:nvSpPr>
        <p:spPr>
          <a:xfrm>
            <a:off x="841248" y="6080759"/>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TRACK RECORD</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Every review period since 2018</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00" b="1" i="0">
                <a:solidFill>
                  <a:srgbClr val="F2A93C"/>
                </a:solidFill>
                <a:latin typeface="Bahnschrift"/>
              </a:rPr>
              <a:t>Rebuilt this review so a retained fund keeps its slot and no period is hidden</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21</a:t>
            </a:r>
          </a:p>
        </p:txBody>
      </p:sp>
      <p:pic>
        <p:nvPicPr>
          <p:cNvPr id="15" name="Picture 14" descr="qfra2_tenure.png"/>
          <p:cNvPicPr>
            <a:picLocks noChangeAspect="1"/>
          </p:cNvPicPr>
          <p:nvPr/>
        </p:nvPicPr>
        <p:blipFill>
          <a:blip r:embed="rId3"/>
          <a:stretch>
            <a:fillRect/>
          </a:stretch>
        </p:blipFill>
        <p:spPr>
          <a:xfrm>
            <a:off x="2552116" y="1664208"/>
            <a:ext cx="7087462" cy="2889504"/>
          </a:xfrm>
          <a:prstGeom prst="rect">
            <a:avLst/>
          </a:prstGeom>
        </p:spPr>
      </p:pic>
      <p:sp>
        <p:nvSpPr>
          <p:cNvPr id="16" name="Rounded Rectangle 15"/>
          <p:cNvSpPr/>
          <p:nvPr/>
        </p:nvSpPr>
        <p:spPr>
          <a:xfrm>
            <a:off x="841248" y="4663440"/>
            <a:ext cx="10509199" cy="1243584"/>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1248" y="4663440"/>
            <a:ext cx="54864" cy="1243584"/>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6" y="4791455"/>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WHAT WAS WRONG WITH THE PREVIOUS VERSION</a:t>
            </a:r>
          </a:p>
        </p:txBody>
      </p:sp>
      <p:sp>
        <p:nvSpPr>
          <p:cNvPr id="19" name="TextBox 18"/>
          <p:cNvSpPr txBox="1"/>
          <p:nvPr/>
        </p:nvSpPr>
        <p:spPr>
          <a:xfrm>
            <a:off x="1042416" y="5065776"/>
            <a:ext cx="10143439" cy="78638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It printed only the 43 periods in which something changed, hiding 93 of 136 rows, and it let a retained fund move between slots when the ranking reordered. JM Large Cap was held without interruption from 2020 to 2024 and appeared in both. Slot changes for retained funds are now zero, and all 17 periods are shown.</a:t>
            </a:r>
          </a:p>
        </p:txBody>
      </p:sp>
      <p:sp>
        <p:nvSpPr>
          <p:cNvPr id="20" name="TextBox 19"/>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Rebuilt from QFRA2_recommendation_history.csv, which was complete all along. Script: 09_PRODUCT/scripts/qfra2_history_rebuild.py.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TRACK RECORD</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limits we accept</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Stated up front, because the committee will find them anyway</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22</a:t>
            </a:r>
          </a:p>
        </p:txBody>
      </p:sp>
      <p:sp>
        <p:nvSpPr>
          <p:cNvPr id="15" name="TextBox 14"/>
          <p:cNvSpPr txBox="1"/>
          <p:nvPr/>
        </p:nvSpPr>
        <p:spPr>
          <a:xfrm>
            <a:off x="841248" y="1755648"/>
            <a:ext cx="10509199" cy="256032"/>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The deployed edge is small</a:t>
            </a:r>
          </a:p>
        </p:txBody>
      </p:sp>
      <p:sp>
        <p:nvSpPr>
          <p:cNvPr id="16" name="TextBox 15"/>
          <p:cNvSpPr txBox="1"/>
          <p:nvPr/>
        </p:nvSpPr>
        <p:spPr>
          <a:xfrm>
            <a:off x="859536" y="2020824"/>
            <a:ext cx="10472623" cy="402336"/>
          </a:xfrm>
          <a:prstGeom prst="rect">
            <a:avLst/>
          </a:prstGeom>
          <a:noFill/>
        </p:spPr>
        <p:txBody>
          <a:bodyPr wrap="square" anchor="t" lIns="0" rIns="0" tIns="0" bIns="0">
            <a:spAutoFit/>
          </a:bodyPr>
          <a:lstStyle/>
          <a:p>
            <a:pPr algn="l">
              <a:spcBef>
                <a:spcPts val="0"/>
              </a:spcBef>
              <a:spcAft>
                <a:spcPts val="0"/>
              </a:spcAft>
            </a:pPr>
            <a:r>
              <a:rPr sz="980" b="0" i="0">
                <a:solidFill>
                  <a:srgbClr val="16233B"/>
                </a:solidFill>
                <a:latin typeface="Bahnschrift"/>
              </a:rPr>
              <a:t>+0.09% a year at three years on the held book, against +0.48% for the unconstrained ranking. This is the honest headline.</a:t>
            </a:r>
          </a:p>
        </p:txBody>
      </p:sp>
      <p:sp>
        <p:nvSpPr>
          <p:cNvPr id="17" name="TextBox 16"/>
          <p:cNvSpPr txBox="1"/>
          <p:nvPr/>
        </p:nvSpPr>
        <p:spPr>
          <a:xfrm>
            <a:off x="841248" y="2450591"/>
            <a:ext cx="10509199" cy="256032"/>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One era of validation</a:t>
            </a:r>
          </a:p>
        </p:txBody>
      </p:sp>
      <p:sp>
        <p:nvSpPr>
          <p:cNvPr id="18" name="TextBox 17"/>
          <p:cNvSpPr txBox="1"/>
          <p:nvPr/>
        </p:nvSpPr>
        <p:spPr>
          <a:xfrm>
            <a:off x="859536" y="2715768"/>
            <a:ext cx="10472623" cy="402336"/>
          </a:xfrm>
          <a:prstGeom prst="rect">
            <a:avLst/>
          </a:prstGeom>
          <a:noFill/>
        </p:spPr>
        <p:txBody>
          <a:bodyPr wrap="square" anchor="t" lIns="0" rIns="0" tIns="0" bIns="0">
            <a:spAutoFit/>
          </a:bodyPr>
          <a:lstStyle/>
          <a:p>
            <a:pPr algn="l">
              <a:spcBef>
                <a:spcPts val="0"/>
              </a:spcBef>
              <a:spcAft>
                <a:spcPts val="0"/>
              </a:spcAft>
            </a:pPr>
            <a:r>
              <a:rPr sz="980" b="0" i="0">
                <a:solidFill>
                  <a:srgbClr val="16233B"/>
                </a:solidFill>
                <a:latin typeface="Bahnschrift"/>
              </a:rPr>
              <a:t>Roughly 2014 to 2024, a single macro regime. The edge is regime-dependent and we cannot yet show it across a full cycle.</a:t>
            </a:r>
          </a:p>
        </p:txBody>
      </p:sp>
      <p:sp>
        <p:nvSpPr>
          <p:cNvPr id="19" name="TextBox 18"/>
          <p:cNvSpPr txBox="1"/>
          <p:nvPr/>
        </p:nvSpPr>
        <p:spPr>
          <a:xfrm>
            <a:off x="841248" y="3145535"/>
            <a:ext cx="10509199" cy="256032"/>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The universe is thin</a:t>
            </a:r>
          </a:p>
        </p:txBody>
      </p:sp>
      <p:sp>
        <p:nvSpPr>
          <p:cNvPr id="20" name="TextBox 19"/>
          <p:cNvSpPr txBox="1"/>
          <p:nvPr/>
        </p:nvSpPr>
        <p:spPr>
          <a:xfrm>
            <a:off x="859536" y="3410711"/>
            <a:ext cx="10472623" cy="402336"/>
          </a:xfrm>
          <a:prstGeom prst="rect">
            <a:avLst/>
          </a:prstGeom>
          <a:noFill/>
        </p:spPr>
        <p:txBody>
          <a:bodyPr wrap="square" anchor="t" lIns="0" rIns="0" tIns="0" bIns="0">
            <a:spAutoFit/>
          </a:bodyPr>
          <a:lstStyle/>
          <a:p>
            <a:pPr algn="l">
              <a:spcBef>
                <a:spcPts val="0"/>
              </a:spcBef>
              <a:spcAft>
                <a:spcPts val="0"/>
              </a:spcAft>
            </a:pPr>
            <a:r>
              <a:rPr sz="980" b="0" i="0">
                <a:solidFill>
                  <a:srgbClr val="16233B"/>
                </a:solidFill>
                <a:latin typeface="Bahnschrift"/>
              </a:rPr>
              <a:t>5 to 9 eligible funds per deployed category, not the 40 to 60 previously stated. A top-five shortlist is close to the whole field in four of six categories, and the binding constraint is NAV coverage, not the gates.</a:t>
            </a:r>
          </a:p>
        </p:txBody>
      </p:sp>
      <p:sp>
        <p:nvSpPr>
          <p:cNvPr id="21" name="TextBox 20"/>
          <p:cNvSpPr txBox="1"/>
          <p:nvPr/>
        </p:nvSpPr>
        <p:spPr>
          <a:xfrm>
            <a:off x="841248" y="3840479"/>
            <a:ext cx="10509199" cy="256032"/>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Scores do not compare across categories</a:t>
            </a:r>
          </a:p>
        </p:txBody>
      </p:sp>
      <p:sp>
        <p:nvSpPr>
          <p:cNvPr id="22" name="TextBox 21"/>
          <p:cNvSpPr txBox="1"/>
          <p:nvPr/>
        </p:nvSpPr>
        <p:spPr>
          <a:xfrm>
            <a:off x="859536" y="4105655"/>
            <a:ext cx="10472623" cy="402336"/>
          </a:xfrm>
          <a:prstGeom prst="rect">
            <a:avLst/>
          </a:prstGeom>
          <a:noFill/>
        </p:spPr>
        <p:txBody>
          <a:bodyPr wrap="square" anchor="t" lIns="0" rIns="0" tIns="0" bIns="0">
            <a:spAutoFit/>
          </a:bodyPr>
          <a:lstStyle/>
          <a:p>
            <a:pPr algn="l">
              <a:spcBef>
                <a:spcPts val="0"/>
              </a:spcBef>
              <a:spcAft>
                <a:spcPts val="0"/>
              </a:spcAft>
            </a:pPr>
            <a:r>
              <a:rPr sz="980" b="0" i="0">
                <a:solidFill>
                  <a:srgbClr val="16233B"/>
                </a:solidFill>
                <a:latin typeface="Bahnschrift"/>
              </a:rPr>
              <a:t>The score is a within-category rank. 80 out of 100 is second of five in Large and Mid; 88 is fourth of thirty-three in Focused.</a:t>
            </a:r>
          </a:p>
        </p:txBody>
      </p:sp>
      <p:sp>
        <p:nvSpPr>
          <p:cNvPr id="23" name="TextBox 22"/>
          <p:cNvSpPr txBox="1"/>
          <p:nvPr/>
        </p:nvSpPr>
        <p:spPr>
          <a:xfrm>
            <a:off x="841248" y="4535423"/>
            <a:ext cx="10509199" cy="256032"/>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The asset floor is unenforced where the feed is missing</a:t>
            </a:r>
          </a:p>
        </p:txBody>
      </p:sp>
      <p:sp>
        <p:nvSpPr>
          <p:cNvPr id="24" name="TextBox 23"/>
          <p:cNvSpPr txBox="1"/>
          <p:nvPr/>
        </p:nvSpPr>
        <p:spPr>
          <a:xfrm>
            <a:off x="859536" y="4800599"/>
            <a:ext cx="10472623" cy="402336"/>
          </a:xfrm>
          <a:prstGeom prst="rect">
            <a:avLst/>
          </a:prstGeom>
          <a:noFill/>
        </p:spPr>
        <p:txBody>
          <a:bodyPr wrap="square" anchor="t" lIns="0" rIns="0" tIns="0" bIns="0">
            <a:spAutoFit/>
          </a:bodyPr>
          <a:lstStyle/>
          <a:p>
            <a:pPr algn="l">
              <a:spcBef>
                <a:spcPts val="0"/>
              </a:spcBef>
              <a:spcAft>
                <a:spcPts val="0"/>
              </a:spcAft>
            </a:pPr>
            <a:r>
              <a:rPr sz="980" b="0" i="0">
                <a:solidFill>
                  <a:srgbClr val="16233B"/>
                </a:solidFill>
                <a:latin typeface="Bahnschrift"/>
              </a:rPr>
              <a:t>Twelve of the forty published rows carry no asset figure, so the capacity gate cannot bite there. This includes every Focused and Value row.</a:t>
            </a:r>
          </a:p>
        </p:txBody>
      </p:sp>
      <p:sp>
        <p:nvSpPr>
          <p:cNvPr id="25" name="TextBox 24"/>
          <p:cNvSpPr txBox="1"/>
          <p:nvPr/>
        </p:nvSpPr>
        <p:spPr>
          <a:xfrm>
            <a:off x="841248" y="5230367"/>
            <a:ext cx="10509199" cy="256032"/>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The scope decision and realised alpha disagree</a:t>
            </a:r>
          </a:p>
        </p:txBody>
      </p:sp>
      <p:sp>
        <p:nvSpPr>
          <p:cNvPr id="26" name="TextBox 25"/>
          <p:cNvSpPr txBox="1"/>
          <p:nvPr/>
        </p:nvSpPr>
        <p:spPr>
          <a:xfrm>
            <a:off x="859536" y="5495543"/>
            <a:ext cx="10472623" cy="402336"/>
          </a:xfrm>
          <a:prstGeom prst="rect">
            <a:avLst/>
          </a:prstGeom>
          <a:noFill/>
        </p:spPr>
        <p:txBody>
          <a:bodyPr wrap="square" anchor="t" lIns="0" rIns="0" tIns="0" bIns="0">
            <a:spAutoFit/>
          </a:bodyPr>
          <a:lstStyle/>
          <a:p>
            <a:pPr algn="l">
              <a:spcBef>
                <a:spcPts val="0"/>
              </a:spcBef>
              <a:spcAft>
                <a:spcPts val="0"/>
              </a:spcAft>
            </a:pPr>
            <a:r>
              <a:rPr sz="980" b="0" i="0">
                <a:solidFill>
                  <a:srgbClr val="16233B"/>
                </a:solidFill>
                <a:latin typeface="Bahnschrift"/>
              </a:rPr>
              <a:t>Focused and Value are excluded, yet they are two of only three categories whose held book was positive at three and five years. The exclusion rests on edge over a blind pick, not on realised alpha. The committee should know it is choosing between two defensible lenses.</a:t>
            </a:r>
          </a:p>
        </p:txBody>
      </p:sp>
      <p:sp>
        <p:nvSpPr>
          <p:cNvPr id="27" name="TextBox 26"/>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Universe and scores verified 2026-08-04. Held-book alpha from the engine's own performance file.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THE ASK</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decision sought</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Approval to deploy, on the corrected numbers</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23</a:t>
            </a:r>
          </a:p>
        </p:txBody>
      </p:sp>
      <p:sp>
        <p:nvSpPr>
          <p:cNvPr id="15" name="TextBox 14"/>
          <p:cNvSpPr txBox="1"/>
          <p:nvPr/>
        </p:nvSpPr>
        <p:spPr>
          <a:xfrm>
            <a:off x="841248"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6</a:t>
            </a:r>
          </a:p>
        </p:txBody>
      </p:sp>
      <p:sp>
        <p:nvSpPr>
          <p:cNvPr id="16" name="TextBox 15"/>
          <p:cNvSpPr txBox="1"/>
          <p:nvPr/>
        </p:nvSpPr>
        <p:spPr>
          <a:xfrm>
            <a:off x="841248"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CATEGORIES IN SCOPE</a:t>
            </a:r>
          </a:p>
        </p:txBody>
      </p:sp>
      <p:sp>
        <p:nvSpPr>
          <p:cNvPr id="17" name="TextBox 16"/>
          <p:cNvSpPr txBox="1"/>
          <p:nvPr/>
        </p:nvSpPr>
        <p:spPr>
          <a:xfrm>
            <a:off x="34685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6 months</a:t>
            </a:r>
          </a:p>
        </p:txBody>
      </p:sp>
      <p:sp>
        <p:nvSpPr>
          <p:cNvPr id="18" name="TextBox 17"/>
          <p:cNvSpPr txBox="1"/>
          <p:nvPr/>
        </p:nvSpPr>
        <p:spPr>
          <a:xfrm>
            <a:off x="34685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REVIEW CADENCE</a:t>
            </a:r>
          </a:p>
        </p:txBody>
      </p:sp>
      <p:sp>
        <p:nvSpPr>
          <p:cNvPr id="19" name="Rectangle 18"/>
          <p:cNvSpPr/>
          <p:nvPr/>
        </p:nvSpPr>
        <p:spPr>
          <a:xfrm>
            <a:off x="34136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958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frozen v2.0</a:t>
            </a:r>
          </a:p>
        </p:txBody>
      </p:sp>
      <p:sp>
        <p:nvSpPr>
          <p:cNvPr id="21" name="TextBox 20"/>
          <p:cNvSpPr txBox="1"/>
          <p:nvPr/>
        </p:nvSpPr>
        <p:spPr>
          <a:xfrm>
            <a:off x="60958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NO FURTHER TUNING</a:t>
            </a:r>
          </a:p>
        </p:txBody>
      </p:sp>
      <p:sp>
        <p:nvSpPr>
          <p:cNvPr id="22" name="Rectangle 21"/>
          <p:cNvSpPr/>
          <p:nvPr/>
        </p:nvSpPr>
        <p:spPr>
          <a:xfrm>
            <a:off x="60409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231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3.9 / yr</a:t>
            </a:r>
          </a:p>
        </p:txBody>
      </p:sp>
      <p:sp>
        <p:nvSpPr>
          <p:cNvPr id="24" name="TextBox 23"/>
          <p:cNvSpPr txBox="1"/>
          <p:nvPr/>
        </p:nvSpPr>
        <p:spPr>
          <a:xfrm>
            <a:off x="87231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EXPECTED BOOK CHANGES</a:t>
            </a:r>
          </a:p>
        </p:txBody>
      </p:sp>
      <p:sp>
        <p:nvSpPr>
          <p:cNvPr id="25" name="Rectangle 24"/>
          <p:cNvSpPr/>
          <p:nvPr/>
        </p:nvSpPr>
        <p:spPr>
          <a:xfrm>
            <a:off x="86682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41248" y="2578608"/>
            <a:ext cx="10509199" cy="1243584"/>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2578608"/>
            <a:ext cx="54864" cy="1243584"/>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2706624"/>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APPROVE</a:t>
            </a:r>
          </a:p>
        </p:txBody>
      </p:sp>
      <p:sp>
        <p:nvSpPr>
          <p:cNvPr id="29" name="TextBox 28"/>
          <p:cNvSpPr txBox="1"/>
          <p:nvPr/>
        </p:nvSpPr>
        <p:spPr>
          <a:xfrm>
            <a:off x="1042416" y="2980944"/>
            <a:ext cx="10143439" cy="78638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Deployment across the six categories: Large as an index core, Large and Mid, Mid as a momentum sleeve, Flexi, Multi and Small. Governance as described: a Direct-plan and total-return basis, the SENTINEL screen, a veto-or-trim-only discretionary gate, the churn rule, and a published record of recommendations and rejected ideas.</a:t>
            </a:r>
          </a:p>
        </p:txBody>
      </p:sp>
      <p:sp>
        <p:nvSpPr>
          <p:cNvPr id="30" name="Rounded Rectangle 29"/>
          <p:cNvSpPr/>
          <p:nvPr/>
        </p:nvSpPr>
        <p:spPr>
          <a:xfrm>
            <a:off x="841248" y="3895344"/>
            <a:ext cx="10509199" cy="1074419"/>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41248" y="3895344"/>
            <a:ext cx="54864" cy="1074419"/>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42416" y="4023359"/>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NOTE, ON THE RECORD</a:t>
            </a:r>
          </a:p>
        </p:txBody>
      </p:sp>
      <p:sp>
        <p:nvSpPr>
          <p:cNvPr id="33" name="TextBox 32"/>
          <p:cNvSpPr txBox="1"/>
          <p:nvPr/>
        </p:nvSpPr>
        <p:spPr>
          <a:xfrm>
            <a:off x="1042416" y="4297680"/>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This deck corrects five of the nine headline figures in the previous pack, including a machine-learning claim the engine does not support and a client-facing probability that was never computed. The model is unchanged and remains frozen; what changed is what we say about it.</a:t>
            </a:r>
          </a:p>
        </p:txBody>
      </p:sp>
      <p:sp>
        <p:nvSpPr>
          <p:cNvPr id="34" name="Rounded Rectangle 33"/>
          <p:cNvSpPr/>
          <p:nvPr/>
        </p:nvSpPr>
        <p:spPr>
          <a:xfrm>
            <a:off x="841248" y="5042916"/>
            <a:ext cx="10509199" cy="905256"/>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41248" y="5042916"/>
            <a:ext cx="54864" cy="90525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42416" y="5170931"/>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TWO ITEMS WE ARE NOT ASKING TO CLOSE TODAY</a:t>
            </a:r>
          </a:p>
        </p:txBody>
      </p:sp>
      <p:sp>
        <p:nvSpPr>
          <p:cNvPr id="37" name="TextBox 36"/>
          <p:cNvSpPr txBox="1"/>
          <p:nvPr/>
        </p:nvSpPr>
        <p:spPr>
          <a:xfrm>
            <a:off x="1042416" y="5445252"/>
            <a:ext cx="10143439" cy="44805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Whether Focused and Value should be re-scoped, given their held books were positive while two deployed categories were not; and the small-cap follow-up. Both need work first.</a:t>
            </a:r>
          </a:p>
        </p:txBody>
      </p:sp>
      <p:sp>
        <p:nvSpPr>
          <p:cNvPr id="38" name="TextBox 37"/>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Corrections logged in 07_RISK_OFFICE/ADVERSARIAL_REVIEWS.md and 03_RESEARCH_DESK/qfra2_pac_prep/NUMBER_AUDIT.md.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2331720"/>
            <a:ext cx="9966960" cy="1737360"/>
          </a:xfrm>
          <a:prstGeom prst="rect">
            <a:avLst/>
          </a:prstGeom>
          <a:noFill/>
        </p:spPr>
        <p:txBody>
          <a:bodyPr wrap="square" anchor="t" lIns="0" rIns="0" tIns="0" bIns="0">
            <a:spAutoFit/>
          </a:bodyPr>
          <a:lstStyle/>
          <a:p>
            <a:pPr algn="l">
              <a:spcBef>
                <a:spcPts val="0"/>
              </a:spcBef>
              <a:spcAft>
                <a:spcPts val="0"/>
              </a:spcAft>
            </a:pPr>
            <a:r>
              <a:rPr sz="3300" b="1" i="0">
                <a:solidFill>
                  <a:srgbClr val="FFFFFF"/>
                </a:solidFill>
                <a:latin typeface="Georgia"/>
              </a:rPr>
              <a:t>Measure it, validate it,</a:t>
            </a:r>
            <a:r>
              <a:rPr sz="3300" b="1" i="0">
                <a:solidFill>
                  <a:srgbClr val="FFFFFF"/>
                </a:solidFill>
                <a:latin typeface="Georgia"/>
              </a:rPr>
              <a:t>screen out the losers, and say</a:t>
            </a:r>
            <a:r>
              <a:rPr sz="3300" b="1" i="0">
                <a:solidFill>
                  <a:srgbClr val="F2A93C"/>
                </a:solidFill>
                <a:latin typeface="Georgia"/>
              </a:rPr>
              <a:t>where we cannot win.</a:t>
            </a:r>
          </a:p>
        </p:txBody>
      </p:sp>
      <p:sp>
        <p:nvSpPr>
          <p:cNvPr id="5" name="Rectangle 4"/>
          <p:cNvSpPr/>
          <p:nvPr/>
        </p:nvSpPr>
        <p:spPr>
          <a:xfrm>
            <a:off x="841248" y="4617720"/>
            <a:ext cx="3840480" cy="20116"/>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4882896"/>
            <a:ext cx="9692640" cy="731520"/>
          </a:xfrm>
          <a:prstGeom prst="rect">
            <a:avLst/>
          </a:prstGeom>
          <a:noFill/>
        </p:spPr>
        <p:txBody>
          <a:bodyPr wrap="square" anchor="t" lIns="0" rIns="0" tIns="0" bIns="0">
            <a:spAutoFit/>
          </a:bodyPr>
          <a:lstStyle/>
          <a:p>
            <a:pPr algn="l">
              <a:spcBef>
                <a:spcPts val="0"/>
              </a:spcBef>
              <a:spcAft>
                <a:spcPts val="0"/>
              </a:spcAft>
            </a:pPr>
            <a:r>
              <a:rPr sz="1150" b="0" i="0">
                <a:solidFill>
                  <a:srgbClr val="8C95DE"/>
                </a:solidFill>
                <a:latin typeface="Bahnschrift"/>
              </a:rPr>
              <a:t>QFRA 2.0  ·  Quantitative Fund Ranking Algorithm  ·  frozen v2.0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