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874519"/>
            <a:ext cx="9509760" cy="457200"/>
          </a:xfrm>
          <a:prstGeom prst="rect">
            <a:avLst/>
          </a:prstGeom>
          <a:noFill/>
        </p:spPr>
        <p:txBody>
          <a:bodyPr wrap="square" anchor="t" lIns="0" rIns="0" tIns="0" bIns="0">
            <a:spAutoFit/>
          </a:bodyPr>
          <a:lstStyle/>
          <a:p>
            <a:pPr algn="l">
              <a:spcBef>
                <a:spcPts val="0"/>
              </a:spcBef>
              <a:spcAft>
                <a:spcPts val="0"/>
              </a:spcAft>
            </a:pPr>
            <a:r>
              <a:rPr sz="1300" b="1" i="0">
                <a:solidFill>
                  <a:srgbClr val="F2A93C"/>
                </a:solidFill>
                <a:latin typeface="Bahnschrift"/>
              </a:rPr>
              <a:t>QFRA 2.0</a:t>
            </a:r>
          </a:p>
        </p:txBody>
      </p:sp>
      <p:sp>
        <p:nvSpPr>
          <p:cNvPr id="5" name="TextBox 4"/>
          <p:cNvSpPr txBox="1"/>
          <p:nvPr/>
        </p:nvSpPr>
        <p:spPr>
          <a:xfrm>
            <a:off x="841248" y="2331720"/>
            <a:ext cx="10058400" cy="1371600"/>
          </a:xfrm>
          <a:prstGeom prst="rect">
            <a:avLst/>
          </a:prstGeom>
          <a:noFill/>
        </p:spPr>
        <p:txBody>
          <a:bodyPr wrap="square" anchor="t" lIns="0" rIns="0" tIns="0" bIns="0">
            <a:spAutoFit/>
          </a:bodyPr>
          <a:lstStyle/>
          <a:p>
            <a:pPr algn="l">
              <a:spcBef>
                <a:spcPts val="0"/>
              </a:spcBef>
              <a:spcAft>
                <a:spcPts val="0"/>
              </a:spcAft>
            </a:pPr>
            <a:r>
              <a:rPr sz="4000" b="1" i="0">
                <a:solidFill>
                  <a:srgbClr val="FFFFFF"/>
                </a:solidFill>
                <a:latin typeface="Georgia"/>
              </a:rPr>
              <a:t>Quantitative Fund Ranking Algorithm</a:t>
            </a:r>
          </a:p>
        </p:txBody>
      </p:sp>
      <p:sp>
        <p:nvSpPr>
          <p:cNvPr id="6" name="TextBox 5"/>
          <p:cNvSpPr txBox="1"/>
          <p:nvPr/>
        </p:nvSpPr>
        <p:spPr>
          <a:xfrm>
            <a:off x="841248" y="3794760"/>
            <a:ext cx="9692640" cy="365760"/>
          </a:xfrm>
          <a:prstGeom prst="rect">
            <a:avLst/>
          </a:prstGeom>
          <a:noFill/>
        </p:spPr>
        <p:txBody>
          <a:bodyPr wrap="square" anchor="t" lIns="0" rIns="0" tIns="0" bIns="0">
            <a:spAutoFit/>
          </a:bodyPr>
          <a:lstStyle/>
          <a:p>
            <a:pPr algn="l">
              <a:spcBef>
                <a:spcPts val="0"/>
              </a:spcBef>
              <a:spcAft>
                <a:spcPts val="0"/>
              </a:spcAft>
            </a:pPr>
            <a:r>
              <a:rPr sz="1500" b="0" i="0">
                <a:solidFill>
                  <a:srgbClr val="FFFFFF"/>
                </a:solidFill>
                <a:latin typeface="Bahnschrift"/>
              </a:rPr>
              <a:t>Product Approval Committee</a:t>
            </a:r>
          </a:p>
        </p:txBody>
      </p:sp>
      <p:sp>
        <p:nvSpPr>
          <p:cNvPr id="7" name="TextBox 6"/>
          <p:cNvSpPr txBox="1"/>
          <p:nvPr/>
        </p:nvSpPr>
        <p:spPr>
          <a:xfrm>
            <a:off x="841248" y="4224528"/>
            <a:ext cx="9692640" cy="365760"/>
          </a:xfrm>
          <a:prstGeom prst="rect">
            <a:avLst/>
          </a:prstGeom>
          <a:noFill/>
        </p:spPr>
        <p:txBody>
          <a:bodyPr wrap="square" anchor="t" lIns="0" rIns="0" tIns="0" bIns="0">
            <a:spAutoFit/>
          </a:bodyPr>
          <a:lstStyle/>
          <a:p>
            <a:pPr algn="l">
              <a:spcBef>
                <a:spcPts val="0"/>
              </a:spcBef>
              <a:spcAft>
                <a:spcPts val="0"/>
              </a:spcAft>
            </a:pPr>
            <a:r>
              <a:rPr sz="1150" b="0" i="0">
                <a:solidFill>
                  <a:srgbClr val="8C95DE"/>
                </a:solidFill>
                <a:latin typeface="Bahnschrift"/>
              </a:rPr>
              <a:t>Indian equity mutual funds  ·  HNI advisory  ·  Direct-plan basis  ·  price-return benchmarks</a:t>
            </a:r>
          </a:p>
        </p:txBody>
      </p:sp>
      <p:sp>
        <p:nvSpPr>
          <p:cNvPr id="8" name="Rectangle 7"/>
          <p:cNvSpPr/>
          <p:nvPr/>
        </p:nvSpPr>
        <p:spPr>
          <a:xfrm>
            <a:off x="841248" y="4892040"/>
            <a:ext cx="3840480" cy="20116"/>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5138928"/>
            <a:ext cx="9692640" cy="365760"/>
          </a:xfrm>
          <a:prstGeom prst="rect">
            <a:avLst/>
          </a:prstGeom>
          <a:noFill/>
        </p:spPr>
        <p:txBody>
          <a:bodyPr wrap="square" anchor="t" lIns="0" rIns="0" tIns="0" bIns="0">
            <a:spAutoFit/>
          </a:bodyPr>
          <a:lstStyle/>
          <a:p>
            <a:pPr algn="l">
              <a:spcBef>
                <a:spcPts val="0"/>
              </a:spcBef>
              <a:spcAft>
                <a:spcPts val="0"/>
              </a:spcAft>
            </a:pPr>
            <a:r>
              <a:rPr sz="1000" b="0" i="0">
                <a:solidFill>
                  <a:srgbClr val="8C95DE"/>
                </a:solidFill>
                <a:latin typeface="Bahnschrift"/>
              </a:rPr>
              <a:t>Recommendations as of 2026-05-27  ·  deck built 2026-08-06  ·  model frozen at v2.0</a:t>
            </a:r>
          </a:p>
        </p:txBody>
      </p:sp>
      <p:sp>
        <p:nvSpPr>
          <p:cNvPr id="10" name="TextBox 9"/>
          <p:cNvSpPr txBox="1"/>
          <p:nvPr/>
        </p:nvSpPr>
        <p:spPr>
          <a:xfrm>
            <a:off x="841248" y="5870448"/>
            <a:ext cx="9692640" cy="274320"/>
          </a:xfrm>
          <a:prstGeom prst="rect">
            <a:avLst/>
          </a:prstGeom>
          <a:noFill/>
        </p:spPr>
        <p:txBody>
          <a:bodyPr wrap="square" anchor="t" lIns="0" rIns="0" tIns="0" bIns="0">
            <a:spAutoFit/>
          </a:bodyPr>
          <a:lstStyle/>
          <a:p>
            <a:pPr algn="l">
              <a:spcBef>
                <a:spcPts val="0"/>
              </a:spcBef>
              <a:spcAft>
                <a:spcPts val="0"/>
              </a:spcAft>
            </a:pPr>
            <a:r>
              <a:rPr sz="900" b="0" i="0">
                <a:solidFill>
                  <a:srgbClr val="8C95DE"/>
                </a:solidFill>
                <a:latin typeface="Bahnschrift"/>
              </a:rPr>
              <a:t>Internal committee paper. Not for client distribution.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CONTENTS</a:t>
            </a:r>
          </a:p>
        </p:txBody>
      </p:sp>
      <p:sp>
        <p:nvSpPr>
          <p:cNvPr id="6" name="TextBox 5"/>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this deck covers</a:t>
            </a:r>
          </a:p>
        </p:txBody>
      </p:sp>
      <p:sp>
        <p:nvSpPr>
          <p:cNvPr id="7" name="Rectangle 6"/>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01</a:t>
            </a:r>
          </a:p>
        </p:txBody>
      </p:sp>
      <p:sp>
        <p:nvSpPr>
          <p:cNvPr id="9" name="TextBox 8"/>
          <p:cNvSpPr txBox="1"/>
          <p:nvPr/>
        </p:nvSpPr>
        <p:spPr>
          <a:xfrm>
            <a:off x="841248" y="1783080"/>
            <a:ext cx="731520" cy="457200"/>
          </a:xfrm>
          <a:prstGeom prst="rect">
            <a:avLst/>
          </a:prstGeom>
          <a:noFill/>
        </p:spPr>
        <p:txBody>
          <a:bodyPr wrap="square" anchor="t" lIns="0" rIns="0" tIns="0" bIns="0">
            <a:spAutoFit/>
          </a:bodyPr>
          <a:lstStyle/>
          <a:p>
            <a:pPr algn="l">
              <a:spcBef>
                <a:spcPts val="0"/>
              </a:spcBef>
              <a:spcAft>
                <a:spcPts val="0"/>
              </a:spcAft>
            </a:pPr>
            <a:r>
              <a:rPr sz="2200" b="1" i="0">
                <a:solidFill>
                  <a:srgbClr val="F2A93C"/>
                </a:solidFill>
                <a:latin typeface="Georgia"/>
              </a:rPr>
              <a:t>00</a:t>
            </a:r>
          </a:p>
        </p:txBody>
      </p:sp>
      <p:sp>
        <p:nvSpPr>
          <p:cNvPr id="10" name="TextBox 9"/>
          <p:cNvSpPr txBox="1"/>
          <p:nvPr/>
        </p:nvSpPr>
        <p:spPr>
          <a:xfrm>
            <a:off x="1709928" y="1801368"/>
            <a:ext cx="9052560" cy="310896"/>
          </a:xfrm>
          <a:prstGeom prst="rect">
            <a:avLst/>
          </a:prstGeom>
          <a:noFill/>
        </p:spPr>
        <p:txBody>
          <a:bodyPr wrap="square" anchor="t" lIns="0" rIns="0" tIns="0" bIns="0">
            <a:spAutoFit/>
          </a:bodyPr>
          <a:lstStyle/>
          <a:p>
            <a:pPr algn="l">
              <a:spcBef>
                <a:spcPts val="0"/>
              </a:spcBef>
              <a:spcAft>
                <a:spcPts val="0"/>
              </a:spcAft>
            </a:pPr>
            <a:r>
              <a:rPr sz="1400" b="1" i="0">
                <a:solidFill>
                  <a:srgbClr val="16233B"/>
                </a:solidFill>
                <a:latin typeface="Bahnschrift"/>
              </a:rPr>
              <a:t>The two frameworks, and a one-page summary</a:t>
            </a:r>
          </a:p>
        </p:txBody>
      </p:sp>
      <p:sp>
        <p:nvSpPr>
          <p:cNvPr id="11" name="TextBox 10"/>
          <p:cNvSpPr txBox="1"/>
          <p:nvPr/>
        </p:nvSpPr>
        <p:spPr>
          <a:xfrm>
            <a:off x="1709928" y="2148840"/>
            <a:ext cx="9052560" cy="310896"/>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what each framework is  ·  how well each is evidenced  ·  the ask in brief</a:t>
            </a:r>
          </a:p>
        </p:txBody>
      </p:sp>
      <p:sp>
        <p:nvSpPr>
          <p:cNvPr id="12" name="TextBox 11"/>
          <p:cNvSpPr txBox="1"/>
          <p:nvPr/>
        </p:nvSpPr>
        <p:spPr>
          <a:xfrm>
            <a:off x="841248" y="2423160"/>
            <a:ext cx="731520" cy="457200"/>
          </a:xfrm>
          <a:prstGeom prst="rect">
            <a:avLst/>
          </a:prstGeom>
          <a:noFill/>
        </p:spPr>
        <p:txBody>
          <a:bodyPr wrap="square" anchor="t" lIns="0" rIns="0" tIns="0" bIns="0">
            <a:spAutoFit/>
          </a:bodyPr>
          <a:lstStyle/>
          <a:p>
            <a:pPr algn="l">
              <a:spcBef>
                <a:spcPts val="0"/>
              </a:spcBef>
              <a:spcAft>
                <a:spcPts val="0"/>
              </a:spcAft>
            </a:pPr>
            <a:r>
              <a:rPr sz="2200" b="1" i="0">
                <a:solidFill>
                  <a:srgbClr val="F2A93C"/>
                </a:solidFill>
                <a:latin typeface="Georgia"/>
              </a:rPr>
              <a:t>01</a:t>
            </a:r>
          </a:p>
        </p:txBody>
      </p:sp>
      <p:sp>
        <p:nvSpPr>
          <p:cNvPr id="13" name="TextBox 12"/>
          <p:cNvSpPr txBox="1"/>
          <p:nvPr/>
        </p:nvSpPr>
        <p:spPr>
          <a:xfrm>
            <a:off x="1709928" y="2441448"/>
            <a:ext cx="9052560" cy="310896"/>
          </a:xfrm>
          <a:prstGeom prst="rect">
            <a:avLst/>
          </a:prstGeom>
          <a:noFill/>
        </p:spPr>
        <p:txBody>
          <a:bodyPr wrap="square" anchor="t" lIns="0" rIns="0" tIns="0" bIns="0">
            <a:spAutoFit/>
          </a:bodyPr>
          <a:lstStyle/>
          <a:p>
            <a:pPr algn="l">
              <a:spcBef>
                <a:spcPts val="0"/>
              </a:spcBef>
              <a:spcAft>
                <a:spcPts val="0"/>
              </a:spcAft>
            </a:pPr>
            <a:r>
              <a:rPr sz="1400" b="1" i="0">
                <a:solidFill>
                  <a:srgbClr val="16233B"/>
                </a:solidFill>
                <a:latin typeface="Bahnschrift"/>
              </a:rPr>
              <a:t>What it is, and what it is not</a:t>
            </a:r>
          </a:p>
        </p:txBody>
      </p:sp>
      <p:sp>
        <p:nvSpPr>
          <p:cNvPr id="14" name="TextBox 13"/>
          <p:cNvSpPr txBox="1"/>
          <p:nvPr/>
        </p:nvSpPr>
        <p:spPr>
          <a:xfrm>
            <a:off x="1709928" y="2788920"/>
            <a:ext cx="9052560" cy="310896"/>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the mandate  ·  v1 to v2  ·  no machine learning, and why  ·  where the alpha comes from  ·  versus the rating houses</a:t>
            </a:r>
          </a:p>
        </p:txBody>
      </p:sp>
      <p:sp>
        <p:nvSpPr>
          <p:cNvPr id="15" name="TextBox 14"/>
          <p:cNvSpPr txBox="1"/>
          <p:nvPr/>
        </p:nvSpPr>
        <p:spPr>
          <a:xfrm>
            <a:off x="841248" y="3063239"/>
            <a:ext cx="731520" cy="457200"/>
          </a:xfrm>
          <a:prstGeom prst="rect">
            <a:avLst/>
          </a:prstGeom>
          <a:noFill/>
        </p:spPr>
        <p:txBody>
          <a:bodyPr wrap="square" anchor="t" lIns="0" rIns="0" tIns="0" bIns="0">
            <a:spAutoFit/>
          </a:bodyPr>
          <a:lstStyle/>
          <a:p>
            <a:pPr algn="l">
              <a:spcBef>
                <a:spcPts val="0"/>
              </a:spcBef>
              <a:spcAft>
                <a:spcPts val="0"/>
              </a:spcAft>
            </a:pPr>
            <a:r>
              <a:rPr sz="2200" b="1" i="0">
                <a:solidFill>
                  <a:srgbClr val="F2A93C"/>
                </a:solidFill>
                <a:latin typeface="Georgia"/>
              </a:rPr>
              <a:t>02</a:t>
            </a:r>
          </a:p>
        </p:txBody>
      </p:sp>
      <p:sp>
        <p:nvSpPr>
          <p:cNvPr id="16" name="TextBox 15"/>
          <p:cNvSpPr txBox="1"/>
          <p:nvPr/>
        </p:nvSpPr>
        <p:spPr>
          <a:xfrm>
            <a:off x="1709928" y="3081527"/>
            <a:ext cx="9052560" cy="310896"/>
          </a:xfrm>
          <a:prstGeom prst="rect">
            <a:avLst/>
          </a:prstGeom>
          <a:noFill/>
        </p:spPr>
        <p:txBody>
          <a:bodyPr wrap="square" anchor="t" lIns="0" rIns="0" tIns="0" bIns="0">
            <a:spAutoFit/>
          </a:bodyPr>
          <a:lstStyle/>
          <a:p>
            <a:pPr algn="l">
              <a:spcBef>
                <a:spcPts val="0"/>
              </a:spcBef>
              <a:spcAft>
                <a:spcPts val="0"/>
              </a:spcAft>
            </a:pPr>
            <a:r>
              <a:rPr sz="1400" b="1" i="0">
                <a:solidFill>
                  <a:srgbClr val="16233B"/>
                </a:solidFill>
                <a:latin typeface="Bahnschrift"/>
              </a:rPr>
              <a:t>How a rank is produced</a:t>
            </a:r>
          </a:p>
        </p:txBody>
      </p:sp>
      <p:sp>
        <p:nvSpPr>
          <p:cNvPr id="17" name="TextBox 16"/>
          <p:cNvSpPr txBox="1"/>
          <p:nvPr/>
        </p:nvSpPr>
        <p:spPr>
          <a:xfrm>
            <a:off x="1709928" y="3428999"/>
            <a:ext cx="9052560" cy="310896"/>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the pipeline  ·  CALIBRE  ·  SENTINEL  ·  the Mid sleeve  ·  the current final two  ·  a sample scorecard</a:t>
            </a:r>
          </a:p>
        </p:txBody>
      </p:sp>
      <p:sp>
        <p:nvSpPr>
          <p:cNvPr id="18" name="TextBox 17"/>
          <p:cNvSpPr txBox="1"/>
          <p:nvPr/>
        </p:nvSpPr>
        <p:spPr>
          <a:xfrm>
            <a:off x="841248" y="3703320"/>
            <a:ext cx="731520" cy="457200"/>
          </a:xfrm>
          <a:prstGeom prst="rect">
            <a:avLst/>
          </a:prstGeom>
          <a:noFill/>
        </p:spPr>
        <p:txBody>
          <a:bodyPr wrap="square" anchor="t" lIns="0" rIns="0" tIns="0" bIns="0">
            <a:spAutoFit/>
          </a:bodyPr>
          <a:lstStyle/>
          <a:p>
            <a:pPr algn="l">
              <a:spcBef>
                <a:spcPts val="0"/>
              </a:spcBef>
              <a:spcAft>
                <a:spcPts val="0"/>
              </a:spcAft>
            </a:pPr>
            <a:r>
              <a:rPr sz="2200" b="1" i="0">
                <a:solidFill>
                  <a:srgbClr val="F2A93C"/>
                </a:solidFill>
                <a:latin typeface="Georgia"/>
              </a:rPr>
              <a:t>03</a:t>
            </a:r>
          </a:p>
        </p:txBody>
      </p:sp>
      <p:sp>
        <p:nvSpPr>
          <p:cNvPr id="19" name="TextBox 18"/>
          <p:cNvSpPr txBox="1"/>
          <p:nvPr/>
        </p:nvSpPr>
        <p:spPr>
          <a:xfrm>
            <a:off x="1709928" y="3721607"/>
            <a:ext cx="9052560" cy="310896"/>
          </a:xfrm>
          <a:prstGeom prst="rect">
            <a:avLst/>
          </a:prstGeom>
          <a:noFill/>
        </p:spPr>
        <p:txBody>
          <a:bodyPr wrap="square" anchor="t" lIns="0" rIns="0" tIns="0" bIns="0">
            <a:spAutoFit/>
          </a:bodyPr>
          <a:lstStyle/>
          <a:p>
            <a:pPr algn="l">
              <a:spcBef>
                <a:spcPts val="0"/>
              </a:spcBef>
              <a:spcAft>
                <a:spcPts val="0"/>
              </a:spcAft>
            </a:pPr>
            <a:r>
              <a:rPr sz="1400" b="1" i="0">
                <a:solidFill>
                  <a:srgbClr val="16233B"/>
                </a:solidFill>
                <a:latin typeface="Bahnschrift"/>
              </a:rPr>
              <a:t>The evidence, honestly</a:t>
            </a:r>
          </a:p>
        </p:txBody>
      </p:sp>
      <p:sp>
        <p:nvSpPr>
          <p:cNvPr id="20" name="TextBox 19"/>
          <p:cNvSpPr txBox="1"/>
          <p:nvPr/>
        </p:nvSpPr>
        <p:spPr>
          <a:xfrm>
            <a:off x="1709928" y="4069080"/>
            <a:ext cx="9052560" cy="310896"/>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raw versus deployed  ·  by category  ·  the selection edge  ·  hit rates  ·  a 3-year topper  ·  the cadence</a:t>
            </a:r>
          </a:p>
        </p:txBody>
      </p:sp>
      <p:sp>
        <p:nvSpPr>
          <p:cNvPr id="21" name="TextBox 20"/>
          <p:cNvSpPr txBox="1"/>
          <p:nvPr/>
        </p:nvSpPr>
        <p:spPr>
          <a:xfrm>
            <a:off x="841248" y="4343400"/>
            <a:ext cx="731520" cy="457200"/>
          </a:xfrm>
          <a:prstGeom prst="rect">
            <a:avLst/>
          </a:prstGeom>
          <a:noFill/>
        </p:spPr>
        <p:txBody>
          <a:bodyPr wrap="square" anchor="t" lIns="0" rIns="0" tIns="0" bIns="0">
            <a:spAutoFit/>
          </a:bodyPr>
          <a:lstStyle/>
          <a:p>
            <a:pPr algn="l">
              <a:spcBef>
                <a:spcPts val="0"/>
              </a:spcBef>
              <a:spcAft>
                <a:spcPts val="0"/>
              </a:spcAft>
            </a:pPr>
            <a:r>
              <a:rPr sz="2200" b="1" i="0">
                <a:solidFill>
                  <a:srgbClr val="F2A93C"/>
                </a:solidFill>
                <a:latin typeface="Georgia"/>
              </a:rPr>
              <a:t>04</a:t>
            </a:r>
          </a:p>
        </p:txBody>
      </p:sp>
      <p:sp>
        <p:nvSpPr>
          <p:cNvPr id="22" name="TextBox 21"/>
          <p:cNvSpPr txBox="1"/>
          <p:nvPr/>
        </p:nvSpPr>
        <p:spPr>
          <a:xfrm>
            <a:off x="1709928" y="4361688"/>
            <a:ext cx="9052560" cy="310896"/>
          </a:xfrm>
          <a:prstGeom prst="rect">
            <a:avLst/>
          </a:prstGeom>
          <a:noFill/>
        </p:spPr>
        <p:txBody>
          <a:bodyPr wrap="square" anchor="t" lIns="0" rIns="0" tIns="0" bIns="0">
            <a:spAutoFit/>
          </a:bodyPr>
          <a:lstStyle/>
          <a:p>
            <a:pPr algn="l">
              <a:spcBef>
                <a:spcPts val="0"/>
              </a:spcBef>
              <a:spcAft>
                <a:spcPts val="0"/>
              </a:spcAft>
            </a:pPr>
            <a:r>
              <a:rPr sz="1400" b="1" i="0">
                <a:solidFill>
                  <a:srgbClr val="16233B"/>
                </a:solidFill>
                <a:latin typeface="Bahnschrift"/>
              </a:rPr>
              <a:t>The two frameworks</a:t>
            </a:r>
          </a:p>
        </p:txBody>
      </p:sp>
      <p:sp>
        <p:nvSpPr>
          <p:cNvPr id="23" name="TextBox 22"/>
          <p:cNvSpPr txBox="1"/>
          <p:nvPr/>
        </p:nvSpPr>
        <p:spPr>
          <a:xfrm>
            <a:off x="1709928" y="4709160"/>
            <a:ext cx="9052560" cy="310896"/>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why QFRA-1 is complementary  ·  where each one drives the call</a:t>
            </a:r>
          </a:p>
        </p:txBody>
      </p:sp>
      <p:sp>
        <p:nvSpPr>
          <p:cNvPr id="24" name="TextBox 23"/>
          <p:cNvSpPr txBox="1"/>
          <p:nvPr/>
        </p:nvSpPr>
        <p:spPr>
          <a:xfrm>
            <a:off x="841248" y="4983480"/>
            <a:ext cx="731520" cy="457200"/>
          </a:xfrm>
          <a:prstGeom prst="rect">
            <a:avLst/>
          </a:prstGeom>
          <a:noFill/>
        </p:spPr>
        <p:txBody>
          <a:bodyPr wrap="square" anchor="t" lIns="0" rIns="0" tIns="0" bIns="0">
            <a:spAutoFit/>
          </a:bodyPr>
          <a:lstStyle/>
          <a:p>
            <a:pPr algn="l">
              <a:spcBef>
                <a:spcPts val="0"/>
              </a:spcBef>
              <a:spcAft>
                <a:spcPts val="0"/>
              </a:spcAft>
            </a:pPr>
            <a:r>
              <a:rPr sz="2200" b="1" i="0">
                <a:solidFill>
                  <a:srgbClr val="F2A93C"/>
                </a:solidFill>
                <a:latin typeface="Georgia"/>
              </a:rPr>
              <a:t>05</a:t>
            </a:r>
          </a:p>
        </p:txBody>
      </p:sp>
      <p:sp>
        <p:nvSpPr>
          <p:cNvPr id="25" name="TextBox 24"/>
          <p:cNvSpPr txBox="1"/>
          <p:nvPr/>
        </p:nvSpPr>
        <p:spPr>
          <a:xfrm>
            <a:off x="1709928" y="5001768"/>
            <a:ext cx="9052560" cy="310896"/>
          </a:xfrm>
          <a:prstGeom prst="rect">
            <a:avLst/>
          </a:prstGeom>
          <a:noFill/>
        </p:spPr>
        <p:txBody>
          <a:bodyPr wrap="square" anchor="t" lIns="0" rIns="0" tIns="0" bIns="0">
            <a:spAutoFit/>
          </a:bodyPr>
          <a:lstStyle/>
          <a:p>
            <a:pPr algn="l">
              <a:spcBef>
                <a:spcPts val="0"/>
              </a:spcBef>
              <a:spcAft>
                <a:spcPts val="0"/>
              </a:spcAft>
            </a:pPr>
            <a:r>
              <a:rPr sz="1400" b="1" i="0">
                <a:solidFill>
                  <a:srgbClr val="16233B"/>
                </a:solidFill>
                <a:latin typeface="Bahnschrift"/>
              </a:rPr>
              <a:t>Track record and the ask</a:t>
            </a:r>
          </a:p>
        </p:txBody>
      </p:sp>
      <p:sp>
        <p:nvSpPr>
          <p:cNvPr id="26" name="TextBox 25"/>
          <p:cNvSpPr txBox="1"/>
          <p:nvPr/>
        </p:nvSpPr>
        <p:spPr>
          <a:xfrm>
            <a:off x="1709928" y="5349240"/>
            <a:ext cx="9052560" cy="310896"/>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every review period since 2018  ·  live so far  ·  churn  ·  what we rejected  ·  how we validate our own models  ·  limits  ·  the decision sought</a:t>
            </a:r>
          </a:p>
        </p:txBody>
      </p:sp>
      <p:sp>
        <p:nvSpPr>
          <p:cNvPr id="27" name="TextBox 26"/>
          <p:cNvSpPr txBox="1"/>
          <p:nvPr/>
        </p:nvSpPr>
        <p:spPr>
          <a:xfrm>
            <a:off x="841248" y="5715000"/>
            <a:ext cx="10509199" cy="274320"/>
          </a:xfrm>
          <a:prstGeom prst="rect">
            <a:avLst/>
          </a:prstGeom>
          <a:noFill/>
        </p:spPr>
        <p:txBody>
          <a:bodyPr wrap="square" anchor="t" lIns="0" rIns="0" tIns="0" bIns="0">
            <a:spAutoFit/>
          </a:bodyPr>
          <a:lstStyle/>
          <a:p>
            <a:pPr algn="l">
              <a:spcBef>
                <a:spcPts val="0"/>
              </a:spcBef>
              <a:spcAft>
                <a:spcPts val="0"/>
              </a:spcAft>
            </a:pPr>
            <a:r>
              <a:rPr sz="1050" b="0" i="0">
                <a:solidFill>
                  <a:srgbClr val="6B7280"/>
                </a:solidFill>
                <a:latin typeface="Bahnschrift"/>
              </a:rPr>
              <a:t>Five of the nine headline figures in the previous committee pack did not survive an audit against the engine's own outputs. They are corrected here, not repeated.</a:t>
            </a:r>
          </a:p>
        </p:txBody>
      </p:sp>
      <p:sp>
        <p:nvSpPr>
          <p:cNvPr id="28" name="TextBox 2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Audit trail: 03_RESEARCH_DESK/qfra2_pac_prep/NUMBER_AUDIT.md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TWO FRAMEWORKS</a:t>
            </a:r>
          </a:p>
        </p:txBody>
      </p:sp>
      <p:sp>
        <p:nvSpPr>
          <p:cNvPr id="6" name="TextBox 5"/>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each one is, before anything else</a:t>
            </a:r>
          </a:p>
        </p:txBody>
      </p:sp>
      <p:sp>
        <p:nvSpPr>
          <p:cNvPr id="7" name="Rectangle 6"/>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463040"/>
            <a:ext cx="10509199" cy="219456"/>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The desk runs two fund frameworks on one calendar. They differ in horizon, in what they may conclude, and in how well each is evidenced</a:t>
            </a:r>
          </a:p>
        </p:txBody>
      </p:sp>
      <p:sp>
        <p:nvSpPr>
          <p:cNvPr id="9" name="TextBox 8"/>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02</a:t>
            </a:r>
          </a:p>
        </p:txBody>
      </p:sp>
      <p:sp>
        <p:nvSpPr>
          <p:cNvPr id="10" name="TextBox 9"/>
          <p:cNvSpPr txBox="1"/>
          <p:nvPr/>
        </p:nvSpPr>
        <p:spPr>
          <a:xfrm>
            <a:off x="914400" y="1792224"/>
            <a:ext cx="207123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
            </a:r>
          </a:p>
        </p:txBody>
      </p:sp>
      <p:sp>
        <p:nvSpPr>
          <p:cNvPr id="11" name="TextBox 10"/>
          <p:cNvSpPr txBox="1"/>
          <p:nvPr/>
        </p:nvSpPr>
        <p:spPr>
          <a:xfrm>
            <a:off x="3131937" y="1792224"/>
            <a:ext cx="399952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QFRA-1  SHORT TERM</a:t>
            </a:r>
          </a:p>
        </p:txBody>
      </p:sp>
      <p:sp>
        <p:nvSpPr>
          <p:cNvPr id="12" name="TextBox 11"/>
          <p:cNvSpPr txBox="1"/>
          <p:nvPr/>
        </p:nvSpPr>
        <p:spPr>
          <a:xfrm>
            <a:off x="7277768" y="1792224"/>
            <a:ext cx="399952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QFRA-2  LONG TERM</a:t>
            </a:r>
          </a:p>
        </p:txBody>
      </p:sp>
      <p:sp>
        <p:nvSpPr>
          <p:cNvPr id="13" name="Rectangle 12"/>
          <p:cNvSpPr/>
          <p:nvPr/>
        </p:nvSpPr>
        <p:spPr>
          <a:xfrm>
            <a:off x="841248" y="2048256"/>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093976"/>
            <a:ext cx="2071233"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Question it answers</a:t>
            </a:r>
          </a:p>
        </p:txBody>
      </p:sp>
      <p:sp>
        <p:nvSpPr>
          <p:cNvPr id="15" name="TextBox 14"/>
          <p:cNvSpPr txBox="1"/>
          <p:nvPr/>
        </p:nvSpPr>
        <p:spPr>
          <a:xfrm>
            <a:off x="3131937" y="2093976"/>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Which funds are capturing the upside now</a:t>
            </a:r>
          </a:p>
        </p:txBody>
      </p:sp>
      <p:sp>
        <p:nvSpPr>
          <p:cNvPr id="16" name="TextBox 15"/>
          <p:cNvSpPr txBox="1"/>
          <p:nvPr/>
        </p:nvSpPr>
        <p:spPr>
          <a:xfrm>
            <a:off x="7277768" y="2093976"/>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Which two funds should beat the category index over 3 to 5 years</a:t>
            </a:r>
          </a:p>
        </p:txBody>
      </p:sp>
      <p:sp>
        <p:nvSpPr>
          <p:cNvPr id="17" name="Rectangle 16"/>
          <p:cNvSpPr/>
          <p:nvPr/>
        </p:nvSpPr>
        <p:spPr>
          <a:xfrm>
            <a:off x="841248" y="2368296"/>
            <a:ext cx="10509199" cy="29260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386584"/>
            <a:ext cx="2071233"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Horizon</a:t>
            </a:r>
          </a:p>
        </p:txBody>
      </p:sp>
      <p:sp>
        <p:nvSpPr>
          <p:cNvPr id="19" name="TextBox 18"/>
          <p:cNvSpPr txBox="1"/>
          <p:nvPr/>
        </p:nvSpPr>
        <p:spPr>
          <a:xfrm>
            <a:off x="3131937" y="2386584"/>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6-month capture windows</a:t>
            </a:r>
          </a:p>
        </p:txBody>
      </p:sp>
      <p:sp>
        <p:nvSpPr>
          <p:cNvPr id="20" name="TextBox 19"/>
          <p:cNvSpPr txBox="1"/>
          <p:nvPr/>
        </p:nvSpPr>
        <p:spPr>
          <a:xfrm>
            <a:off x="7277768" y="2386584"/>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3 to 5 years, factor-adjusted</a:t>
            </a:r>
          </a:p>
        </p:txBody>
      </p:sp>
      <p:sp>
        <p:nvSpPr>
          <p:cNvPr id="21" name="TextBox 20"/>
          <p:cNvSpPr txBox="1"/>
          <p:nvPr/>
        </p:nvSpPr>
        <p:spPr>
          <a:xfrm>
            <a:off x="914400" y="2679191"/>
            <a:ext cx="2071233"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Verdicts it can emit</a:t>
            </a:r>
          </a:p>
        </p:txBody>
      </p:sp>
      <p:sp>
        <p:nvSpPr>
          <p:cNvPr id="22" name="TextBox 21"/>
          <p:cNvSpPr txBox="1"/>
          <p:nvPr/>
        </p:nvSpPr>
        <p:spPr>
          <a:xfrm>
            <a:off x="3131937" y="2679191"/>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BUY / SELL / HOLD</a:t>
            </a:r>
          </a:p>
        </p:txBody>
      </p:sp>
      <p:sp>
        <p:nvSpPr>
          <p:cNvPr id="23" name="TextBox 22"/>
          <p:cNvSpPr txBox="1"/>
          <p:nvPr/>
        </p:nvSpPr>
        <p:spPr>
          <a:xfrm>
            <a:off x="7277768" y="2679191"/>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ACTIVE / INDEX CORE only. There is NO sell verdict</a:t>
            </a:r>
          </a:p>
        </p:txBody>
      </p:sp>
      <p:sp>
        <p:nvSpPr>
          <p:cNvPr id="24" name="Rectangle 23"/>
          <p:cNvSpPr/>
          <p:nvPr/>
        </p:nvSpPr>
        <p:spPr>
          <a:xfrm>
            <a:off x="841248" y="2953511"/>
            <a:ext cx="10509199" cy="29260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971799"/>
            <a:ext cx="2071233"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Who may originate a sell</a:t>
            </a:r>
          </a:p>
        </p:txBody>
      </p:sp>
      <p:sp>
        <p:nvSpPr>
          <p:cNvPr id="26" name="TextBox 25"/>
          <p:cNvSpPr txBox="1"/>
          <p:nvPr/>
        </p:nvSpPr>
        <p:spPr>
          <a:xfrm>
            <a:off x="3131937" y="2971799"/>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This framework only</a:t>
            </a:r>
          </a:p>
        </p:txBody>
      </p:sp>
      <p:sp>
        <p:nvSpPr>
          <p:cNvPr id="27" name="TextBox 26"/>
          <p:cNvSpPr txBox="1"/>
          <p:nvPr/>
        </p:nvSpPr>
        <p:spPr>
          <a:xfrm>
            <a:off x="7277768" y="2971799"/>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Cannot. It may only VETO one</a:t>
            </a:r>
          </a:p>
        </p:txBody>
      </p:sp>
      <p:sp>
        <p:nvSpPr>
          <p:cNvPr id="28" name="TextBox 27"/>
          <p:cNvSpPr txBox="1"/>
          <p:nvPr/>
        </p:nvSpPr>
        <p:spPr>
          <a:xfrm>
            <a:off x="914400" y="3264407"/>
            <a:ext cx="2071233"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Coverage</a:t>
            </a:r>
          </a:p>
        </p:txBody>
      </p:sp>
      <p:sp>
        <p:nvSpPr>
          <p:cNvPr id="29" name="TextBox 28"/>
          <p:cNvSpPr txBox="1"/>
          <p:nvPr/>
        </p:nvSpPr>
        <p:spPr>
          <a:xfrm>
            <a:off x="3131937" y="3264407"/>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6 categories, from the desk workbook</a:t>
            </a:r>
          </a:p>
        </p:txBody>
      </p:sp>
      <p:sp>
        <p:nvSpPr>
          <p:cNvPr id="30" name="TextBox 29"/>
          <p:cNvSpPr txBox="1"/>
          <p:nvPr/>
        </p:nvSpPr>
        <p:spPr>
          <a:xfrm>
            <a:off x="7277768" y="3264407"/>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8 categories, 99 Direct-plan funds after gates</a:t>
            </a:r>
          </a:p>
        </p:txBody>
      </p:sp>
      <p:sp>
        <p:nvSpPr>
          <p:cNvPr id="31" name="Rectangle 30"/>
          <p:cNvSpPr/>
          <p:nvPr/>
        </p:nvSpPr>
        <p:spPr>
          <a:xfrm>
            <a:off x="841248" y="3538727"/>
            <a:ext cx="10509199" cy="29260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557015"/>
            <a:ext cx="2071233"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Universe depth</a:t>
            </a:r>
          </a:p>
        </p:txBody>
      </p:sp>
      <p:sp>
        <p:nvSpPr>
          <p:cNvPr id="33" name="TextBox 32"/>
          <p:cNvSpPr txBox="1"/>
          <p:nvPr/>
        </p:nvSpPr>
        <p:spPr>
          <a:xfrm>
            <a:off x="3131937" y="3557015"/>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All funds on the category sheet</a:t>
            </a:r>
          </a:p>
        </p:txBody>
      </p:sp>
      <p:sp>
        <p:nvSpPr>
          <p:cNvPr id="34" name="TextBox 33"/>
          <p:cNvSpPr txBox="1"/>
          <p:nvPr/>
        </p:nvSpPr>
        <p:spPr>
          <a:xfrm>
            <a:off x="7277768" y="3557015"/>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5 to 9 eligible funds in a deployed category</a:t>
            </a:r>
          </a:p>
        </p:txBody>
      </p:sp>
      <p:sp>
        <p:nvSpPr>
          <p:cNvPr id="35" name="TextBox 34"/>
          <p:cNvSpPr txBox="1"/>
          <p:nvPr/>
        </p:nvSpPr>
        <p:spPr>
          <a:xfrm>
            <a:off x="914400" y="3849623"/>
            <a:ext cx="2071233"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Benchmark basis</a:t>
            </a:r>
          </a:p>
        </p:txBody>
      </p:sp>
      <p:sp>
        <p:nvSpPr>
          <p:cNvPr id="36" name="TextBox 35"/>
          <p:cNvSpPr txBox="1"/>
          <p:nvPr/>
        </p:nvSpPr>
        <p:spPr>
          <a:xfrm>
            <a:off x="3131937" y="3849623"/>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Price return</a:t>
            </a:r>
          </a:p>
        </p:txBody>
      </p:sp>
      <p:sp>
        <p:nvSpPr>
          <p:cNvPr id="37" name="TextBox 36"/>
          <p:cNvSpPr txBox="1"/>
          <p:nvPr/>
        </p:nvSpPr>
        <p:spPr>
          <a:xfrm>
            <a:off x="7277768" y="3849623"/>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Total return in its own docs</a:t>
            </a:r>
          </a:p>
        </p:txBody>
      </p:sp>
      <p:sp>
        <p:nvSpPr>
          <p:cNvPr id="38" name="Rectangle 37"/>
          <p:cNvSpPr/>
          <p:nvPr/>
        </p:nvSpPr>
        <p:spPr>
          <a:xfrm>
            <a:off x="841248" y="4123944"/>
            <a:ext cx="10509199" cy="29260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4142231"/>
            <a:ext cx="2071233"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Evidence</a:t>
            </a:r>
          </a:p>
        </p:txBody>
      </p:sp>
      <p:sp>
        <p:nvSpPr>
          <p:cNvPr id="40" name="TextBox 39"/>
          <p:cNvSpPr txBox="1"/>
          <p:nvPr/>
        </p:nvSpPr>
        <p:spPr>
          <a:xfrm>
            <a:off x="3131937" y="4142231"/>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906-formation replay: BUY leg strong, SELL leg near a coin flip</a:t>
            </a:r>
          </a:p>
        </p:txBody>
      </p:sp>
      <p:sp>
        <p:nvSpPr>
          <p:cNvPr id="41" name="TextBox 40"/>
          <p:cNvSpPr txBox="1"/>
          <p:nvPr/>
        </p:nvSpPr>
        <p:spPr>
          <a:xfrm>
            <a:off x="7277768" y="4142231"/>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Bootstrapped selection skill, but the held book realised far less</a:t>
            </a:r>
          </a:p>
        </p:txBody>
      </p:sp>
      <p:sp>
        <p:nvSpPr>
          <p:cNvPr id="42" name="TextBox 41"/>
          <p:cNvSpPr txBox="1"/>
          <p:nvPr/>
        </p:nvSpPr>
        <p:spPr>
          <a:xfrm>
            <a:off x="914400" y="4434840"/>
            <a:ext cx="2071233"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Cadence</a:t>
            </a:r>
          </a:p>
        </p:txBody>
      </p:sp>
      <p:sp>
        <p:nvSpPr>
          <p:cNvPr id="43" name="TextBox 42"/>
          <p:cNvSpPr txBox="1"/>
          <p:nvPr/>
        </p:nvSpPr>
        <p:spPr>
          <a:xfrm>
            <a:off x="3131937" y="4434840"/>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April and October month end</a:t>
            </a:r>
          </a:p>
        </p:txBody>
      </p:sp>
      <p:sp>
        <p:nvSpPr>
          <p:cNvPr id="44" name="TextBox 43"/>
          <p:cNvSpPr txBox="1"/>
          <p:nvPr/>
        </p:nvSpPr>
        <p:spPr>
          <a:xfrm>
            <a:off x="7277768" y="4434840"/>
            <a:ext cx="3999526" cy="29260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The same calendar, run together</a:t>
            </a:r>
          </a:p>
        </p:txBody>
      </p:sp>
      <p:sp>
        <p:nvSpPr>
          <p:cNvPr id="45" name="Rounded Rectangle 44"/>
          <p:cNvSpPr/>
          <p:nvPr/>
        </p:nvSpPr>
        <p:spPr>
          <a:xfrm>
            <a:off x="841248" y="4846320"/>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41248" y="4846320"/>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2416" y="4974336"/>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THEY ARE NOT INDEPENDENT, AND THAT CHANGES WHAT AGREEMENT MEANS</a:t>
            </a:r>
          </a:p>
        </p:txBody>
      </p:sp>
      <p:sp>
        <p:nvSpPr>
          <p:cNvPr id="48" name="TextBox 47"/>
          <p:cNvSpPr txBox="1"/>
          <p:nvPr/>
        </p:nvSpPr>
        <p:spPr>
          <a:xfrm>
            <a:off x="1042416" y="5248656"/>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QFRA-1 ranks on the 6-month capture ratio, which QFRA-2 already carries at a weight of 0.30 plus a three-year down-capture term, so the capture family is 40% to 48% of the QFRA-2 score. When both agree, part of that is one signal agreeing with itself.</a:t>
            </a:r>
          </a:p>
        </p:txBody>
      </p:sp>
      <p:sp>
        <p:nvSpPr>
          <p:cNvPr id="49" name="TextBox 4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Sources: the qfra1-rerun and qfra2-rerun skills; overlap verified at final_model.py:154. Benchmark basis: TRI is not obtainable on our network, so every index we hold is price-return, measured 2026-08-06.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EXECUTIVE SUMMARY</a:t>
            </a:r>
          </a:p>
        </p:txBody>
      </p:sp>
      <p:sp>
        <p:nvSpPr>
          <p:cNvPr id="6" name="TextBox 5"/>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is being asked, and on what evidence</a:t>
            </a:r>
          </a:p>
        </p:txBody>
      </p:sp>
      <p:sp>
        <p:nvSpPr>
          <p:cNvPr id="7" name="Rectangle 6"/>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463040"/>
            <a:ext cx="10509199" cy="219456"/>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One page. The two edge figures are both here on purpose: the second one is what a client actually received</a:t>
            </a:r>
          </a:p>
        </p:txBody>
      </p:sp>
      <p:sp>
        <p:nvSpPr>
          <p:cNvPr id="9" name="TextBox 8"/>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03</a:t>
            </a:r>
          </a:p>
        </p:txBody>
      </p:sp>
      <p:sp>
        <p:nvSpPr>
          <p:cNvPr id="10" name="TextBox 9"/>
          <p:cNvSpPr txBox="1"/>
          <p:nvPr/>
        </p:nvSpPr>
        <p:spPr>
          <a:xfrm>
            <a:off x="841248"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+1.65%</a:t>
            </a:r>
          </a:p>
        </p:txBody>
      </p:sp>
      <p:sp>
        <p:nvSpPr>
          <p:cNvPr id="11" name="TextBox 10"/>
          <p:cNvSpPr txBox="1"/>
          <p:nvPr/>
        </p:nvSpPr>
        <p:spPr>
          <a:xfrm>
            <a:off x="841248"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EDGE, UNCONSTRAINED RANK</a:t>
            </a:r>
          </a:p>
        </p:txBody>
      </p:sp>
      <p:sp>
        <p:nvSpPr>
          <p:cNvPr id="12" name="TextBox 11"/>
          <p:cNvSpPr txBox="1"/>
          <p:nvPr/>
        </p:nvSpPr>
        <p:spPr>
          <a:xfrm>
            <a:off x="841248" y="2322576"/>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over a random pick, pooled</a:t>
            </a:r>
          </a:p>
        </p:txBody>
      </p:sp>
      <p:sp>
        <p:nvSpPr>
          <p:cNvPr id="13" name="TextBox 12"/>
          <p:cNvSpPr txBox="1"/>
          <p:nvPr/>
        </p:nvSpPr>
        <p:spPr>
          <a:xfrm>
            <a:off x="34685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+0.09%</a:t>
            </a:r>
          </a:p>
        </p:txBody>
      </p:sp>
      <p:sp>
        <p:nvSpPr>
          <p:cNvPr id="14" name="TextBox 13"/>
          <p:cNvSpPr txBox="1"/>
          <p:nvPr/>
        </p:nvSpPr>
        <p:spPr>
          <a:xfrm>
            <a:off x="34685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ALPHA, THE BOOK HELD</a:t>
            </a:r>
          </a:p>
        </p:txBody>
      </p:sp>
      <p:sp>
        <p:nvSpPr>
          <p:cNvPr id="15" name="TextBox 14"/>
          <p:cNvSpPr txBox="1"/>
          <p:nvPr/>
        </p:nvSpPr>
        <p:spPr>
          <a:xfrm>
            <a:off x="3468547" y="2322576"/>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after the churn rule</a:t>
            </a:r>
          </a:p>
        </p:txBody>
      </p:sp>
      <p:sp>
        <p:nvSpPr>
          <p:cNvPr id="16" name="Rectangle 15"/>
          <p:cNvSpPr/>
          <p:nvPr/>
        </p:nvSpPr>
        <p:spPr>
          <a:xfrm>
            <a:off x="34136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58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3.9 / yr</a:t>
            </a:r>
          </a:p>
        </p:txBody>
      </p:sp>
      <p:sp>
        <p:nvSpPr>
          <p:cNvPr id="18" name="TextBox 17"/>
          <p:cNvSpPr txBox="1"/>
          <p:nvPr/>
        </p:nvSpPr>
        <p:spPr>
          <a:xfrm>
            <a:off x="60958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BOOK CHANGES, 8-YEAR REALISED</a:t>
            </a:r>
          </a:p>
        </p:txBody>
      </p:sp>
      <p:sp>
        <p:nvSpPr>
          <p:cNvPr id="19" name="TextBox 18"/>
          <p:cNvSpPr txBox="1"/>
          <p:nvPr/>
        </p:nvSpPr>
        <p:spPr>
          <a:xfrm>
            <a:off x="6095847" y="2322576"/>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average hold near 3 years</a:t>
            </a:r>
          </a:p>
        </p:txBody>
      </p:sp>
      <p:sp>
        <p:nvSpPr>
          <p:cNvPr id="20" name="Rectangle 19"/>
          <p:cNvSpPr/>
          <p:nvPr/>
        </p:nvSpPr>
        <p:spPr>
          <a:xfrm>
            <a:off x="60409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231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+0.65%/yr</a:t>
            </a:r>
          </a:p>
        </p:txBody>
      </p:sp>
      <p:sp>
        <p:nvSpPr>
          <p:cNvPr id="22" name="TextBox 21"/>
          <p:cNvSpPr txBox="1"/>
          <p:nvPr/>
        </p:nvSpPr>
        <p:spPr>
          <a:xfrm>
            <a:off x="87231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LIVE SINCE JAN-2025</a:t>
            </a:r>
          </a:p>
        </p:txBody>
      </p:sp>
      <p:sp>
        <p:nvSpPr>
          <p:cNvPr id="23" name="TextBox 22"/>
          <p:cNvSpPr txBox="1"/>
          <p:nvPr/>
        </p:nvSpPr>
        <p:spPr>
          <a:xfrm>
            <a:off x="8723147" y="2322576"/>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the 6 categories in scope</a:t>
            </a:r>
          </a:p>
        </p:txBody>
      </p:sp>
      <p:sp>
        <p:nvSpPr>
          <p:cNvPr id="24" name="Rectangle 23"/>
          <p:cNvSpPr/>
          <p:nvPr/>
        </p:nvSpPr>
        <p:spPr>
          <a:xfrm>
            <a:off x="86682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2670048"/>
            <a:ext cx="2286000" cy="365760"/>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What it is</a:t>
            </a:r>
          </a:p>
        </p:txBody>
      </p:sp>
      <p:sp>
        <p:nvSpPr>
          <p:cNvPr id="26" name="TextBox 25"/>
          <p:cNvSpPr txBox="1"/>
          <p:nvPr/>
        </p:nvSpPr>
        <p:spPr>
          <a:xfrm>
            <a:off x="3264408" y="2670048"/>
            <a:ext cx="8086039" cy="603504"/>
          </a:xfrm>
          <a:prstGeom prst="rect">
            <a:avLst/>
          </a:prstGeom>
          <a:noFill/>
        </p:spPr>
        <p:txBody>
          <a:bodyPr wrap="square" anchor="t" lIns="0" rIns="0" tIns="0" bIns="0">
            <a:spAutoFit/>
          </a:bodyPr>
          <a:lstStyle/>
          <a:p>
            <a:pPr algn="l">
              <a:spcBef>
                <a:spcPts val="0"/>
              </a:spcBef>
              <a:spcAft>
                <a:spcPts val="0"/>
              </a:spcAft>
            </a:pPr>
            <a:r>
              <a:rPr sz="1050" b="0" i="0">
                <a:solidFill>
                  <a:srgbClr val="16233B"/>
                </a:solidFill>
                <a:latin typeface="Bahnschrift"/>
              </a:rPr>
              <a:t>A ranking engine that publishes the top two funds in each category, expected to beat the category index over three to five years. It has no sell verdict, and it abstains where it cannot show an edge.</a:t>
            </a:r>
          </a:p>
        </p:txBody>
      </p:sp>
      <p:sp>
        <p:nvSpPr>
          <p:cNvPr id="27" name="TextBox 26"/>
          <p:cNvSpPr txBox="1"/>
          <p:nvPr/>
        </p:nvSpPr>
        <p:spPr>
          <a:xfrm>
            <a:off x="841248" y="3310128"/>
            <a:ext cx="2286000" cy="365760"/>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Where the edge is</a:t>
            </a:r>
          </a:p>
        </p:txBody>
      </p:sp>
      <p:sp>
        <p:nvSpPr>
          <p:cNvPr id="28" name="TextBox 27"/>
          <p:cNvSpPr txBox="1"/>
          <p:nvPr/>
        </p:nvSpPr>
        <p:spPr>
          <a:xfrm>
            <a:off x="3264408" y="3310128"/>
            <a:ext cx="8086039" cy="603504"/>
          </a:xfrm>
          <a:prstGeom prst="rect">
            <a:avLst/>
          </a:prstGeom>
          <a:noFill/>
        </p:spPr>
        <p:txBody>
          <a:bodyPr wrap="square" anchor="t" lIns="0" rIns="0" tIns="0" bIns="0">
            <a:spAutoFit/>
          </a:bodyPr>
          <a:lstStyle/>
          <a:p>
            <a:pPr algn="l">
              <a:spcBef>
                <a:spcPts val="0"/>
              </a:spcBef>
              <a:spcAft>
                <a:spcPts val="0"/>
              </a:spcAft>
            </a:pPr>
            <a:r>
              <a:rPr sz="1050" b="0" i="0">
                <a:solidFill>
                  <a:srgbClr val="16233B"/>
                </a:solidFill>
                <a:latin typeface="Bahnschrift"/>
              </a:rPr>
              <a:t>Largest in Large &amp; Mid at +2.86%/yr and Flexi at +1.90%/yr over a random pick of the same eligible field. In Small the level is the market's, not ours. In Mid it is absent, which is why Mid runs a momentum index.</a:t>
            </a:r>
          </a:p>
        </p:txBody>
      </p:sp>
      <p:sp>
        <p:nvSpPr>
          <p:cNvPr id="29" name="TextBox 28"/>
          <p:cNvSpPr txBox="1"/>
          <p:nvPr/>
        </p:nvSpPr>
        <p:spPr>
          <a:xfrm>
            <a:off x="841248" y="3950208"/>
            <a:ext cx="2286000" cy="365760"/>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The ask</a:t>
            </a:r>
          </a:p>
        </p:txBody>
      </p:sp>
      <p:sp>
        <p:nvSpPr>
          <p:cNvPr id="30" name="TextBox 29"/>
          <p:cNvSpPr txBox="1"/>
          <p:nvPr/>
        </p:nvSpPr>
        <p:spPr>
          <a:xfrm>
            <a:off x="3264408" y="3950208"/>
            <a:ext cx="8086039" cy="603504"/>
          </a:xfrm>
          <a:prstGeom prst="rect">
            <a:avLst/>
          </a:prstGeom>
          <a:noFill/>
        </p:spPr>
        <p:txBody>
          <a:bodyPr wrap="square" anchor="t" lIns="0" rIns="0" tIns="0" bIns="0">
            <a:spAutoFit/>
          </a:bodyPr>
          <a:lstStyle/>
          <a:p>
            <a:pPr algn="l">
              <a:spcBef>
                <a:spcPts val="0"/>
              </a:spcBef>
              <a:spcAft>
                <a:spcPts val="0"/>
              </a:spcAft>
            </a:pPr>
            <a:r>
              <a:rPr sz="1050" b="0" i="0">
                <a:solidFill>
                  <a:srgbClr val="16233B"/>
                </a:solidFill>
                <a:latin typeface="Bahnschrift"/>
              </a:rPr>
              <a:t>Approve deployment across the six categories in scope, on the corrected numbers, with the model frozen at v2.0 and re-run every six months.</a:t>
            </a:r>
          </a:p>
        </p:txBody>
      </p:sp>
      <p:sp>
        <p:nvSpPr>
          <p:cNvPr id="31" name="Rounded Rectangle 30"/>
          <p:cNvSpPr/>
          <p:nvPr/>
        </p:nvSpPr>
        <p:spPr>
          <a:xfrm>
            <a:off x="841248" y="4626864"/>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41248" y="4626864"/>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2416" y="4754880"/>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BOTH EDGE FIGURES ARE ON THIS PAGE</a:t>
            </a:r>
          </a:p>
        </p:txBody>
      </p:sp>
      <p:sp>
        <p:nvSpPr>
          <p:cNvPr id="34" name="TextBox 33"/>
          <p:cNvSpPr txBox="1"/>
          <p:nvPr/>
        </p:nvSpPr>
        <p:spPr>
          <a:xfrm>
            <a:off x="1042416" y="5029200"/>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Selection skill is measured on the unconstrained ranking. Clients hold the churn-constrained one, and the churn discipline that makes the product attractive on tax absorbs most of the measured edge. Quoting only the first figure is how the previous pack read; section 3 does the arithmetic in full.</a:t>
            </a:r>
          </a:p>
        </p:txBody>
      </p:sp>
      <p:sp>
        <p:nvSpPr>
          <p:cNvPr id="35" name="TextBox 3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Edge and pooled figures: QFRA2_HANDOFF.md section 5. Held book: QFRA2_recommendation_performance.md. Live: QFRA2_realized.csv, rank&lt;=2, six in-scope categories. Audit: qfra2_pac_prep/NUMBER_AUDIT.md.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1.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01</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01</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What it is, and what it is not</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The mandate, the absence of machine learning, and where the alpha actually comes from</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WHAT IT IS</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mandate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One job, stated narrowly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05</a:t>
            </a:r>
          </a:p>
        </p:txBody>
      </p:sp>
      <p:sp>
        <p:nvSpPr>
          <p:cNvPr id="15" name="TextBox 14"/>
          <p:cNvSpPr txBox="1"/>
          <p:nvPr/>
        </p:nvSpPr>
        <p:spPr>
          <a:xfrm>
            <a:off x="841248"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8</a:t>
            </a:r>
          </a:p>
        </p:txBody>
      </p:sp>
      <p:sp>
        <p:nvSpPr>
          <p:cNvPr id="16" name="TextBox 15"/>
          <p:cNvSpPr txBox="1"/>
          <p:nvPr/>
        </p:nvSpPr>
        <p:spPr>
          <a:xfrm>
            <a:off x="841248"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CATEGORIES RANKED</a:t>
            </a:r>
          </a:p>
        </p:txBody>
      </p:sp>
      <p:sp>
        <p:nvSpPr>
          <p:cNvPr id="17" name="TextBox 16"/>
          <p:cNvSpPr txBox="1"/>
          <p:nvPr/>
        </p:nvSpPr>
        <p:spPr>
          <a:xfrm>
            <a:off x="34685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99</a:t>
            </a:r>
          </a:p>
        </p:txBody>
      </p:sp>
      <p:sp>
        <p:nvSpPr>
          <p:cNvPr id="18" name="TextBox 17"/>
          <p:cNvSpPr txBox="1"/>
          <p:nvPr/>
        </p:nvSpPr>
        <p:spPr>
          <a:xfrm>
            <a:off x="34685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DIRECT-PLAN FUNDS IN THE UNIVERSE</a:t>
            </a:r>
          </a:p>
        </p:txBody>
      </p:sp>
      <p:sp>
        <p:nvSpPr>
          <p:cNvPr id="19" name="Rectangle 18"/>
          <p:cNvSpPr/>
          <p:nvPr/>
        </p:nvSpPr>
        <p:spPr>
          <a:xfrm>
            <a:off x="34136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2</a:t>
            </a:r>
          </a:p>
        </p:txBody>
      </p:sp>
      <p:sp>
        <p:nvSpPr>
          <p:cNvPr id="21" name="TextBox 20"/>
          <p:cNvSpPr txBox="1"/>
          <p:nvPr/>
        </p:nvSpPr>
        <p:spPr>
          <a:xfrm>
            <a:off x="60958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FUNDS RECOMMENDED PER CATEGORY</a:t>
            </a:r>
          </a:p>
        </p:txBody>
      </p:sp>
      <p:sp>
        <p:nvSpPr>
          <p:cNvPr id="22" name="Rectangle 21"/>
          <p:cNvSpPr/>
          <p:nvPr/>
        </p:nvSpPr>
        <p:spPr>
          <a:xfrm>
            <a:off x="60409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231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6</a:t>
            </a:r>
          </a:p>
        </p:txBody>
      </p:sp>
      <p:sp>
        <p:nvSpPr>
          <p:cNvPr id="24" name="TextBox 23"/>
          <p:cNvSpPr txBox="1"/>
          <p:nvPr/>
        </p:nvSpPr>
        <p:spPr>
          <a:xfrm>
            <a:off x="87231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CATEGORIES DEPLOYED</a:t>
            </a:r>
          </a:p>
        </p:txBody>
      </p:sp>
      <p:sp>
        <p:nvSpPr>
          <p:cNvPr id="25" name="Rectangle 24"/>
          <p:cNvSpPr/>
          <p:nvPr/>
        </p:nvSpPr>
        <p:spPr>
          <a:xfrm>
            <a:off x="86682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2761488"/>
            <a:ext cx="2286000" cy="365760"/>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What it does</a:t>
            </a:r>
          </a:p>
        </p:txBody>
      </p:sp>
      <p:sp>
        <p:nvSpPr>
          <p:cNvPr id="27" name="TextBox 26"/>
          <p:cNvSpPr txBox="1"/>
          <p:nvPr/>
        </p:nvSpPr>
        <p:spPr>
          <a:xfrm>
            <a:off x="3264408" y="2761488"/>
            <a:ext cx="8086039" cy="713232"/>
          </a:xfrm>
          <a:prstGeom prst="rect">
            <a:avLst/>
          </a:prstGeom>
          <a:noFill/>
        </p:spPr>
        <p:txBody>
          <a:bodyPr wrap="square" anchor="t" lIns="0" rIns="0" tIns="0" bIns="0">
            <a:spAutoFit/>
          </a:bodyPr>
          <a:lstStyle/>
          <a:p>
            <a:pPr algn="l">
              <a:spcBef>
                <a:spcPts val="0"/>
              </a:spcBef>
              <a:spcAft>
                <a:spcPts val="0"/>
              </a:spcAft>
            </a:pPr>
            <a:r>
              <a:rPr sz="1050" b="0" i="0">
                <a:solidFill>
                  <a:srgbClr val="16233B"/>
                </a:solidFill>
                <a:latin typeface="Bahnschrift"/>
              </a:rPr>
              <a:t>Ranks the eligible funds in a category and publishes the top 2, from a top-5 shortlist, expected to beat the category Total-Return index over 3 to 5 years.</a:t>
            </a:r>
          </a:p>
        </p:txBody>
      </p:sp>
      <p:sp>
        <p:nvSpPr>
          <p:cNvPr id="28" name="TextBox 27"/>
          <p:cNvSpPr txBox="1"/>
          <p:nvPr/>
        </p:nvSpPr>
        <p:spPr>
          <a:xfrm>
            <a:off x="841248" y="3547872"/>
            <a:ext cx="2286000" cy="365760"/>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What it is not</a:t>
            </a:r>
          </a:p>
        </p:txBody>
      </p:sp>
      <p:sp>
        <p:nvSpPr>
          <p:cNvPr id="29" name="TextBox 28"/>
          <p:cNvSpPr txBox="1"/>
          <p:nvPr/>
        </p:nvSpPr>
        <p:spPr>
          <a:xfrm>
            <a:off x="3264408" y="3547872"/>
            <a:ext cx="8086039" cy="713232"/>
          </a:xfrm>
          <a:prstGeom prst="rect">
            <a:avLst/>
          </a:prstGeom>
          <a:noFill/>
        </p:spPr>
        <p:txBody>
          <a:bodyPr wrap="square" anchor="t" lIns="0" rIns="0" tIns="0" bIns="0">
            <a:spAutoFit/>
          </a:bodyPr>
          <a:lstStyle/>
          <a:p>
            <a:pPr algn="l">
              <a:spcBef>
                <a:spcPts val="0"/>
              </a:spcBef>
              <a:spcAft>
                <a:spcPts val="0"/>
              </a:spcAft>
            </a:pPr>
            <a:r>
              <a:rPr sz="1050" b="0" i="0">
                <a:solidFill>
                  <a:srgbClr val="16233B"/>
                </a:solidFill>
                <a:latin typeface="Bahnschrift"/>
              </a:rPr>
              <a:t>Not a market call, not a timing model, and not a sell engine. It has no Sell verdict at all: its verdicts are Active and Index core.</a:t>
            </a:r>
          </a:p>
        </p:txBody>
      </p:sp>
      <p:sp>
        <p:nvSpPr>
          <p:cNvPr id="30" name="TextBox 29"/>
          <p:cNvSpPr txBox="1"/>
          <p:nvPr/>
        </p:nvSpPr>
        <p:spPr>
          <a:xfrm>
            <a:off x="841248" y="4334256"/>
            <a:ext cx="2286000" cy="365760"/>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Who it is for</a:t>
            </a:r>
          </a:p>
        </p:txBody>
      </p:sp>
      <p:sp>
        <p:nvSpPr>
          <p:cNvPr id="31" name="TextBox 30"/>
          <p:cNvSpPr txBox="1"/>
          <p:nvPr/>
        </p:nvSpPr>
        <p:spPr>
          <a:xfrm>
            <a:off x="3264408" y="4334256"/>
            <a:ext cx="8086039" cy="713232"/>
          </a:xfrm>
          <a:prstGeom prst="rect">
            <a:avLst/>
          </a:prstGeom>
          <a:noFill/>
        </p:spPr>
        <p:txBody>
          <a:bodyPr wrap="square" anchor="t" lIns="0" rIns="0" tIns="0" bIns="0">
            <a:spAutoFit/>
          </a:bodyPr>
          <a:lstStyle/>
          <a:p>
            <a:pPr algn="l">
              <a:spcBef>
                <a:spcPts val="0"/>
              </a:spcBef>
              <a:spcAft>
                <a:spcPts val="0"/>
              </a:spcAft>
            </a:pPr>
            <a:r>
              <a:rPr sz="1050" b="0" i="0">
                <a:solidFill>
                  <a:srgbClr val="16233B"/>
                </a:solidFill>
                <a:latin typeface="Bahnschrift"/>
              </a:rPr>
              <a:t>HNI advisory on a Direct-plan basis, measured against Total-Return benchmarks, reviewed twice a year.</a:t>
            </a:r>
          </a:p>
        </p:txBody>
      </p:sp>
      <p:sp>
        <p:nvSpPr>
          <p:cNvPr id="32" name="TextBox 31"/>
          <p:cNvSpPr txBox="1"/>
          <p:nvPr/>
        </p:nvSpPr>
        <p:spPr>
          <a:xfrm>
            <a:off x="841248" y="5120640"/>
            <a:ext cx="2286000" cy="365760"/>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Deployment scope</a:t>
            </a:r>
          </a:p>
        </p:txBody>
      </p:sp>
      <p:sp>
        <p:nvSpPr>
          <p:cNvPr id="33" name="TextBox 32"/>
          <p:cNvSpPr txBox="1"/>
          <p:nvPr/>
        </p:nvSpPr>
        <p:spPr>
          <a:xfrm>
            <a:off x="3264408" y="5120640"/>
            <a:ext cx="8086039" cy="713232"/>
          </a:xfrm>
          <a:prstGeom prst="rect">
            <a:avLst/>
          </a:prstGeom>
          <a:noFill/>
        </p:spPr>
        <p:txBody>
          <a:bodyPr wrap="square" anchor="t" lIns="0" rIns="0" tIns="0" bIns="0">
            <a:spAutoFit/>
          </a:bodyPr>
          <a:lstStyle/>
          <a:p>
            <a:pPr algn="l">
              <a:spcBef>
                <a:spcPts val="0"/>
              </a:spcBef>
              <a:spcAft>
                <a:spcPts val="0"/>
              </a:spcAft>
            </a:pPr>
            <a:r>
              <a:rPr sz="1050" b="0" i="0">
                <a:solidFill>
                  <a:srgbClr val="16233B"/>
                </a:solidFill>
                <a:latin typeface="Bahnschrift"/>
              </a:rPr>
              <a:t>Large as an index core, Large and Mid, Mid as a momentum sleeve, Flexi, Multi, Small. Focused and Value are ranked but not deployed.</a:t>
            </a:r>
          </a:p>
        </p:txBody>
      </p:sp>
      <p:sp>
        <p:nvSpPr>
          <p:cNvPr id="34" name="TextBox 3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Universe replicated from Mf_qfra2/data/verified_navs_*.csv, 2026-08-04. Verdicts from QFRA2_current.csv.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WHAT IT IS</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QFRA 1.0 to QFRA 2.0</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changed, and why a second version was needed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1463040"/>
            <a:ext cx="10509199" cy="219456"/>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v1 was a narrow, short-horizon, high-churn ranker. v2 is broad, validated, low-churn and built for money that stays invested</a:t>
            </a:r>
          </a:p>
        </p:txBody>
      </p:sp>
      <p:sp>
        <p:nvSpPr>
          <p:cNvPr id="15" name="TextBox 14"/>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06</a:t>
            </a:r>
          </a:p>
        </p:txBody>
      </p:sp>
      <p:sp>
        <p:nvSpPr>
          <p:cNvPr id="16" name="TextBox 15"/>
          <p:cNvSpPr txBox="1"/>
          <p:nvPr/>
        </p:nvSpPr>
        <p:spPr>
          <a:xfrm>
            <a:off x="914400" y="1792224"/>
            <a:ext cx="173525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DIMENSION</a:t>
            </a:r>
          </a:p>
        </p:txBody>
      </p:sp>
      <p:sp>
        <p:nvSpPr>
          <p:cNvPr id="17" name="TextBox 16"/>
          <p:cNvSpPr txBox="1"/>
          <p:nvPr/>
        </p:nvSpPr>
        <p:spPr>
          <a:xfrm>
            <a:off x="2795959" y="1792224"/>
            <a:ext cx="311200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QFRA 1.0</a:t>
            </a:r>
          </a:p>
        </p:txBody>
      </p:sp>
      <p:sp>
        <p:nvSpPr>
          <p:cNvPr id="18" name="TextBox 17"/>
          <p:cNvSpPr txBox="1"/>
          <p:nvPr/>
        </p:nvSpPr>
        <p:spPr>
          <a:xfrm>
            <a:off x="6054270" y="1792224"/>
            <a:ext cx="5223024"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QFRA 2.0</a:t>
            </a:r>
          </a:p>
        </p:txBody>
      </p:sp>
      <p:sp>
        <p:nvSpPr>
          <p:cNvPr id="19" name="Rectangle 18"/>
          <p:cNvSpPr/>
          <p:nvPr/>
        </p:nvSpPr>
        <p:spPr>
          <a:xfrm>
            <a:off x="841248" y="2048256"/>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093976"/>
            <a:ext cx="1735255"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Signals</a:t>
            </a:r>
          </a:p>
        </p:txBody>
      </p:sp>
      <p:sp>
        <p:nvSpPr>
          <p:cNvPr id="21" name="TextBox 20"/>
          <p:cNvSpPr txBox="1"/>
          <p:nvPr/>
        </p:nvSpPr>
        <p:spPr>
          <a:xfrm>
            <a:off x="2795959" y="2093976"/>
            <a:ext cx="3112006"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Capture ratios only, a narrow base</a:t>
            </a:r>
          </a:p>
        </p:txBody>
      </p:sp>
      <p:sp>
        <p:nvSpPr>
          <p:cNvPr id="22" name="TextBox 21"/>
          <p:cNvSpPr txBox="1"/>
          <p:nvPr/>
        </p:nvSpPr>
        <p:spPr>
          <a:xfrm>
            <a:off x="6054270" y="2093976"/>
            <a:ext cx="5223024"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Factor alpha, appraisal ratio, information ratio, up and down capture, momentum, Calmar, quality beta</a:t>
            </a:r>
          </a:p>
        </p:txBody>
      </p:sp>
      <p:sp>
        <p:nvSpPr>
          <p:cNvPr id="23" name="Rectangle 22"/>
          <p:cNvSpPr/>
          <p:nvPr/>
        </p:nvSpPr>
        <p:spPr>
          <a:xfrm>
            <a:off x="841248" y="2459736"/>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478024"/>
            <a:ext cx="1735255"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Alpha horizon</a:t>
            </a:r>
          </a:p>
        </p:txBody>
      </p:sp>
      <p:sp>
        <p:nvSpPr>
          <p:cNvPr id="25" name="TextBox 24"/>
          <p:cNvSpPr txBox="1"/>
          <p:nvPr/>
        </p:nvSpPr>
        <p:spPr>
          <a:xfrm>
            <a:off x="2795959" y="2478024"/>
            <a:ext cx="3112006"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One year</a:t>
            </a:r>
          </a:p>
        </p:txBody>
      </p:sp>
      <p:sp>
        <p:nvSpPr>
          <p:cNvPr id="26" name="TextBox 25"/>
          <p:cNvSpPr txBox="1"/>
          <p:nvPr/>
        </p:nvSpPr>
        <p:spPr>
          <a:xfrm>
            <a:off x="6054270" y="2478024"/>
            <a:ext cx="5223024"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Three to five years, sized for money that compounds</a:t>
            </a:r>
          </a:p>
        </p:txBody>
      </p:sp>
      <p:sp>
        <p:nvSpPr>
          <p:cNvPr id="27" name="TextBox 26"/>
          <p:cNvSpPr txBox="1"/>
          <p:nvPr/>
        </p:nvSpPr>
        <p:spPr>
          <a:xfrm>
            <a:off x="914400" y="2862072"/>
            <a:ext cx="1735255"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Method</a:t>
            </a:r>
          </a:p>
        </p:txBody>
      </p:sp>
      <p:sp>
        <p:nvSpPr>
          <p:cNvPr id="28" name="TextBox 27"/>
          <p:cNvSpPr txBox="1"/>
          <p:nvPr/>
        </p:nvSpPr>
        <p:spPr>
          <a:xfrm>
            <a:off x="2795959" y="2862072"/>
            <a:ext cx="3112006"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Rule-based, static scoring</a:t>
            </a:r>
          </a:p>
        </p:txBody>
      </p:sp>
      <p:sp>
        <p:nvSpPr>
          <p:cNvPr id="29" name="TextBox 28"/>
          <p:cNvSpPr txBox="1"/>
          <p:nvPr/>
        </p:nvSpPr>
        <p:spPr>
          <a:xfrm>
            <a:off x="6054270" y="2862072"/>
            <a:ext cx="5223024"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Still rule-based: percentile ranks within a category and date, weights fixed by hand, then validated out of sample</a:t>
            </a:r>
          </a:p>
        </p:txBody>
      </p:sp>
      <p:sp>
        <p:nvSpPr>
          <p:cNvPr id="30" name="Rectangle 29"/>
          <p:cNvSpPr/>
          <p:nvPr/>
        </p:nvSpPr>
        <p:spPr>
          <a:xfrm>
            <a:off x="841248" y="3227832"/>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3246120"/>
            <a:ext cx="1735255"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Selection</a:t>
            </a:r>
          </a:p>
        </p:txBody>
      </p:sp>
      <p:sp>
        <p:nvSpPr>
          <p:cNvPr id="32" name="TextBox 31"/>
          <p:cNvSpPr txBox="1"/>
          <p:nvPr/>
        </p:nvSpPr>
        <p:spPr>
          <a:xfrm>
            <a:off x="2795959" y="3246120"/>
            <a:ext cx="3112006"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Direct rules</a:t>
            </a:r>
          </a:p>
        </p:txBody>
      </p:sp>
      <p:sp>
        <p:nvSpPr>
          <p:cNvPr id="33" name="TextBox 32"/>
          <p:cNvSpPr txBox="1"/>
          <p:nvPr/>
        </p:nvSpPr>
        <p:spPr>
          <a:xfrm>
            <a:off x="6054270" y="3246120"/>
            <a:ext cx="5223024"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 top-five shortlist, then a final two, with a discretionary gate that may only veto or trim</a:t>
            </a:r>
          </a:p>
        </p:txBody>
      </p:sp>
      <p:sp>
        <p:nvSpPr>
          <p:cNvPr id="34" name="TextBox 33"/>
          <p:cNvSpPr txBox="1"/>
          <p:nvPr/>
        </p:nvSpPr>
        <p:spPr>
          <a:xfrm>
            <a:off x="914400" y="3630168"/>
            <a:ext cx="1735255"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Turnover</a:t>
            </a:r>
          </a:p>
        </p:txBody>
      </p:sp>
      <p:sp>
        <p:nvSpPr>
          <p:cNvPr id="35" name="TextBox 34"/>
          <p:cNvSpPr txBox="1"/>
          <p:nvPr/>
        </p:nvSpPr>
        <p:spPr>
          <a:xfrm>
            <a:off x="2795959" y="3630168"/>
            <a:ext cx="3112006"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Frequent changes, high churn</a:t>
            </a:r>
          </a:p>
        </p:txBody>
      </p:sp>
      <p:sp>
        <p:nvSpPr>
          <p:cNvPr id="36" name="TextBox 35"/>
          <p:cNvSpPr txBox="1"/>
          <p:nvPr/>
        </p:nvSpPr>
        <p:spPr>
          <a:xfrm>
            <a:off x="6054270" y="3630168"/>
            <a:ext cx="5223024"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Low churn: 3.9 book changes a year realised over eight years, tax-aware</a:t>
            </a:r>
          </a:p>
        </p:txBody>
      </p:sp>
      <p:sp>
        <p:nvSpPr>
          <p:cNvPr id="37" name="Rectangle 36"/>
          <p:cNvSpPr/>
          <p:nvPr/>
        </p:nvSpPr>
        <p:spPr>
          <a:xfrm>
            <a:off x="841248" y="3995928"/>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014215"/>
            <a:ext cx="1735255"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Investor fit</a:t>
            </a:r>
          </a:p>
        </p:txBody>
      </p:sp>
      <p:sp>
        <p:nvSpPr>
          <p:cNvPr id="39" name="TextBox 38"/>
          <p:cNvSpPr txBox="1"/>
          <p:nvPr/>
        </p:nvSpPr>
        <p:spPr>
          <a:xfrm>
            <a:off x="2795959" y="4014215"/>
            <a:ext cx="3112006"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Tactical, lump sum</a:t>
            </a:r>
          </a:p>
        </p:txBody>
      </p:sp>
      <p:sp>
        <p:nvSpPr>
          <p:cNvPr id="40" name="TextBox 39"/>
          <p:cNvSpPr txBox="1"/>
          <p:nvPr/>
        </p:nvSpPr>
        <p:spPr>
          <a:xfrm>
            <a:off x="6054270" y="4014215"/>
            <a:ext cx="5223024"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Long horizon, suitable for a staggered entry</a:t>
            </a:r>
          </a:p>
        </p:txBody>
      </p:sp>
      <p:sp>
        <p:nvSpPr>
          <p:cNvPr id="41" name="TextBox 40"/>
          <p:cNvSpPr txBox="1"/>
          <p:nvPr/>
        </p:nvSpPr>
        <p:spPr>
          <a:xfrm>
            <a:off x="914400" y="4398264"/>
            <a:ext cx="1735255"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Risk control</a:t>
            </a:r>
          </a:p>
        </p:txBody>
      </p:sp>
      <p:sp>
        <p:nvSpPr>
          <p:cNvPr id="42" name="TextBox 41"/>
          <p:cNvSpPr txBox="1"/>
          <p:nvPr/>
        </p:nvSpPr>
        <p:spPr>
          <a:xfrm>
            <a:off x="2795959" y="4398264"/>
            <a:ext cx="3112006"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None</a:t>
            </a:r>
          </a:p>
        </p:txBody>
      </p:sp>
      <p:sp>
        <p:nvSpPr>
          <p:cNvPr id="43" name="TextBox 42"/>
          <p:cNvSpPr txBox="1"/>
          <p:nvPr/>
        </p:nvSpPr>
        <p:spPr>
          <a:xfrm>
            <a:off x="6054270" y="4398264"/>
            <a:ext cx="5223024"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SENTINEL loser screen, the CALIBRE scorecard, and out-of-sample validation</a:t>
            </a:r>
          </a:p>
        </p:txBody>
      </p:sp>
      <p:sp>
        <p:nvSpPr>
          <p:cNvPr id="44" name="Rounded Rectangle 43"/>
          <p:cNvSpPr/>
          <p:nvPr/>
        </p:nvSpPr>
        <p:spPr>
          <a:xfrm>
            <a:off x="841248" y="4855464"/>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41248" y="4855464"/>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2416" y="4983479"/>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TWO ROWS THIS TABLE USED TO CARRY, AND NO LONGER DOES</a:t>
            </a:r>
          </a:p>
        </p:txBody>
      </p:sp>
      <p:sp>
        <p:nvSpPr>
          <p:cNvPr id="47" name="TextBox 46"/>
          <p:cNvSpPr txBox="1"/>
          <p:nvPr/>
        </p:nvSpPr>
        <p:spPr>
          <a:xfrm>
            <a:off x="1042416" y="5257800"/>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previous version called the method a dynamic, AI/ML-assisted ranking and the selection step an ML rank. Neither is true of the engine, so both were removed rather than softened. The very next page sets out what is actually there.</a:t>
            </a:r>
          </a:p>
        </p:txBody>
      </p:sp>
      <p:sp>
        <p:nvSpPr>
          <p:cNvPr id="48" name="TextBox 4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Signals and gates: final_model.py. Churn: the 8-year realised history. Deleted claims: qfra2_pac_prep/AI_ML_AUDIT.md.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WHAT IT IS</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1700" b="1" i="0">
                <a:solidFill>
                  <a:srgbClr val="1B27A3"/>
                </a:solidFill>
                <a:latin typeface="Bahnschrift"/>
              </a:rPr>
              <a:t>No machine learning, and why that is the right answer</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400" b="1" i="0">
                <a:solidFill>
                  <a:srgbClr val="F2A93C"/>
                </a:solidFill>
                <a:latin typeface="Bahnschrift"/>
              </a:rPr>
              <a:t>The previous pack claimed an AI/ML ranking. There is none, and adding one would recreate a failure we already tested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07</a:t>
            </a:r>
          </a:p>
        </p:txBody>
      </p:sp>
      <p:sp>
        <p:nvSpPr>
          <p:cNvPr id="15" name="Rounded Rectangle 14"/>
          <p:cNvSpPr/>
          <p:nvPr/>
        </p:nvSpPr>
        <p:spPr>
          <a:xfrm>
            <a:off x="841248" y="1810512"/>
            <a:ext cx="10509199" cy="1243584"/>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810512"/>
            <a:ext cx="54864" cy="1243584"/>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193852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WHAT THE EARLIER DECK CLAIMED, AND WHAT IS ACTUALLY THERE</a:t>
            </a:r>
          </a:p>
        </p:txBody>
      </p:sp>
      <p:sp>
        <p:nvSpPr>
          <p:cNvPr id="18" name="TextBox 17"/>
          <p:cNvSpPr txBox="1"/>
          <p:nvPr/>
        </p:nvSpPr>
        <p:spPr>
          <a:xfrm>
            <a:off x="1042416" y="2212848"/>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It called the method an "AI/ML-assisted ranking" and the selection an "ML rank". Neither is true: across all 137 engine files there is no scikit-learn, LightGBM, XGBoost, TensorFlow, PyTorch or Keras. The same build script also printed "ML on the cross-section: too small, it memorises one era", so the pack contradicted itself.</a:t>
            </a:r>
          </a:p>
        </p:txBody>
      </p:sp>
      <p:sp>
        <p:nvSpPr>
          <p:cNvPr id="19" name="TextBox 18"/>
          <p:cNvSpPr txBox="1"/>
          <p:nvPr/>
        </p:nvSpPr>
        <p:spPr>
          <a:xfrm>
            <a:off x="914400" y="3182112"/>
            <a:ext cx="259689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LAYER</a:t>
            </a:r>
          </a:p>
        </p:txBody>
      </p:sp>
      <p:sp>
        <p:nvSpPr>
          <p:cNvPr id="20" name="TextBox 19"/>
          <p:cNvSpPr txBox="1"/>
          <p:nvPr/>
        </p:nvSpPr>
        <p:spPr>
          <a:xfrm>
            <a:off x="3657600" y="3182112"/>
            <a:ext cx="761969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IT ACTUALLY IS</a:t>
            </a:r>
          </a:p>
        </p:txBody>
      </p:sp>
      <p:sp>
        <p:nvSpPr>
          <p:cNvPr id="21" name="Rectangle 20"/>
          <p:cNvSpPr/>
          <p:nvPr/>
        </p:nvSpPr>
        <p:spPr>
          <a:xfrm>
            <a:off x="841248" y="3438144"/>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483864"/>
            <a:ext cx="2596896"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Signals</a:t>
            </a:r>
          </a:p>
        </p:txBody>
      </p:sp>
      <p:sp>
        <p:nvSpPr>
          <p:cNvPr id="23" name="TextBox 22"/>
          <p:cNvSpPr txBox="1"/>
          <p:nvPr/>
        </p:nvSpPr>
        <p:spPr>
          <a:xfrm>
            <a:off x="3657600" y="3483864"/>
            <a:ext cx="7619695"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Six to eight per-fund measures over a 756-day window: information ratio, down-capture, Calmar, momentum, alpha stability, capture ratio.</a:t>
            </a:r>
          </a:p>
        </p:txBody>
      </p:sp>
      <p:sp>
        <p:nvSpPr>
          <p:cNvPr id="24" name="Rectangle 23"/>
          <p:cNvSpPr/>
          <p:nvPr/>
        </p:nvSpPr>
        <p:spPr>
          <a:xfrm>
            <a:off x="841248" y="3886200"/>
            <a:ext cx="10509199" cy="42062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904488"/>
            <a:ext cx="2596896"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Factor step</a:t>
            </a:r>
          </a:p>
        </p:txBody>
      </p:sp>
      <p:sp>
        <p:nvSpPr>
          <p:cNvPr id="26" name="TextBox 25"/>
          <p:cNvSpPr txBox="1"/>
          <p:nvPr/>
        </p:nvSpPr>
        <p:spPr>
          <a:xfrm>
            <a:off x="3657600" y="3904488"/>
            <a:ext cx="7619695"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One ordinary least-squares regression. The only estimated coefficients anywhere in the engine, and they feed just 2 of the ranked inputs.</a:t>
            </a:r>
          </a:p>
        </p:txBody>
      </p:sp>
      <p:sp>
        <p:nvSpPr>
          <p:cNvPr id="27" name="TextBox 26"/>
          <p:cNvSpPr txBox="1"/>
          <p:nvPr/>
        </p:nvSpPr>
        <p:spPr>
          <a:xfrm>
            <a:off x="914400" y="4325112"/>
            <a:ext cx="2596896"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Combination</a:t>
            </a:r>
          </a:p>
        </p:txBody>
      </p:sp>
      <p:sp>
        <p:nvSpPr>
          <p:cNvPr id="28" name="TextBox 27"/>
          <p:cNvSpPr txBox="1"/>
          <p:nvPr/>
        </p:nvSpPr>
        <p:spPr>
          <a:xfrm>
            <a:off x="3657600" y="4325112"/>
            <a:ext cx="7619695"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Cross-sectional percentile ranks blended with hand-set constants: an equal-weight average, then 0.9 and 0.1, then 0.7 and 0.3.</a:t>
            </a:r>
          </a:p>
        </p:txBody>
      </p:sp>
      <p:sp>
        <p:nvSpPr>
          <p:cNvPr id="29" name="Rectangle 28"/>
          <p:cNvSpPr/>
          <p:nvPr/>
        </p:nvSpPr>
        <p:spPr>
          <a:xfrm>
            <a:off x="841248" y="4727448"/>
            <a:ext cx="10509199" cy="42062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45736"/>
            <a:ext cx="2596896"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Screens</a:t>
            </a:r>
          </a:p>
        </p:txBody>
      </p:sp>
      <p:sp>
        <p:nvSpPr>
          <p:cNvPr id="31" name="TextBox 30"/>
          <p:cNvSpPr txBox="1"/>
          <p:nvPr/>
        </p:nvSpPr>
        <p:spPr>
          <a:xfrm>
            <a:off x="3657600" y="4745736"/>
            <a:ext cx="7619695"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Fixed percentile and asset thresholds. Nothing is fitted.</a:t>
            </a:r>
          </a:p>
        </p:txBody>
      </p:sp>
      <p:sp>
        <p:nvSpPr>
          <p:cNvPr id="32" name="TextBox 3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Audit: qfra2_pac_prep/AI_ML_AUDIT.md. Engine: final_model.py, factors_live.py:223, features.py:38.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WHAT IT IS</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000" b="1" i="0">
                <a:solidFill>
                  <a:srgbClr val="1B27A3"/>
                </a:solidFill>
                <a:latin typeface="Bahnschrift"/>
              </a:rPr>
              <a:t>Where we do use AI, and whether to add it here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400" b="1" i="0">
                <a:solidFill>
                  <a:srgbClr val="F2A93C"/>
                </a:solidFill>
                <a:latin typeface="Bahnschrift"/>
              </a:rPr>
              <a:t>The boundary matters: an analyst agent doing research is not the same claim as a model that learns its weights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08</a:t>
            </a:r>
          </a:p>
        </p:txBody>
      </p:sp>
      <p:sp>
        <p:nvSpPr>
          <p:cNvPr id="15" name="Rounded Rectangle 14"/>
          <p:cNvSpPr/>
          <p:nvPr/>
        </p:nvSpPr>
        <p:spPr>
          <a:xfrm>
            <a:off x="841248" y="1810512"/>
            <a:ext cx="10509199" cy="1243584"/>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810512"/>
            <a:ext cx="54864" cy="1243584"/>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193852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WHERE AI IS ACTUALLY USED, AND WHERE IT IS NOT</a:t>
            </a:r>
          </a:p>
        </p:txBody>
      </p:sp>
      <p:sp>
        <p:nvSpPr>
          <p:cNvPr id="18" name="TextBox 17"/>
          <p:cNvSpPr txBox="1"/>
          <p:nvPr/>
        </p:nvSpPr>
        <p:spPr>
          <a:xfrm>
            <a:off x="1042416" y="2212848"/>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stock scorecard runs one language-model research agent per stock, and that is real. It is judgment and research, not a fitted ranker. It is also entirely stock-side: checked in both directions, there is no path by which that research reaches this fund model, and no path by which this model reaches the stock agents. The fund engine consumes no AI output at all.</a:t>
            </a:r>
          </a:p>
        </p:txBody>
      </p:sp>
      <p:sp>
        <p:nvSpPr>
          <p:cNvPr id="19" name="Rounded Rectangle 18"/>
          <p:cNvSpPr/>
          <p:nvPr/>
        </p:nvSpPr>
        <p:spPr>
          <a:xfrm>
            <a:off x="841248" y="3182112"/>
            <a:ext cx="10509199" cy="1243584"/>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1248" y="3182112"/>
            <a:ext cx="54864" cy="1243584"/>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6" y="331012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TWO THINGS IN THE REPOSITORY THAT LOOK LIKE AI AND ARE NOT</a:t>
            </a:r>
          </a:p>
        </p:txBody>
      </p:sp>
      <p:sp>
        <p:nvSpPr>
          <p:cNvPr id="22" name="TextBox 21"/>
          <p:cNvSpPr txBox="1"/>
          <p:nvPr/>
        </p:nvSpPr>
        <p:spPr>
          <a:xfrm>
            <a:off x="1042416" y="3584448"/>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legacy script does contain a real random-forest model. It sits outside the frozen engine, nothing imports it, and it hard-codes another machine's file paths. A second file named for an AI overlay detects manager changes from a hard-coded list, and its own comment says it is mocked to demonstrate the architecture. Neither is in the pipeline.</a:t>
            </a:r>
          </a:p>
        </p:txBody>
      </p:sp>
      <p:sp>
        <p:nvSpPr>
          <p:cNvPr id="23" name="Rounded Rectangle 22"/>
          <p:cNvSpPr/>
          <p:nvPr/>
        </p:nvSpPr>
        <p:spPr>
          <a:xfrm>
            <a:off x="841248" y="4553712"/>
            <a:ext cx="1050919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4553712"/>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6" y="4681727"/>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RECOMMENDATION: KEEP THE ENGINE, DROP THE CLAIM</a:t>
            </a:r>
          </a:p>
        </p:txBody>
      </p:sp>
      <p:sp>
        <p:nvSpPr>
          <p:cNvPr id="26" name="TextBox 25"/>
          <p:cNvSpPr txBox="1"/>
          <p:nvPr/>
        </p:nvSpPr>
        <p:spPr>
          <a:xfrm>
            <a:off x="1042416" y="4956048"/>
            <a:ext cx="1014343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Fitting weights on 5 to 9 funds per category is how a model memorises one era, which is what the research already found and rejected. Parsimony is the defensible position: few orthogonal signals, no fitted weights, nothing to overfit. If the committee wants real machine learning later, the credible route is a pooled panel learner across fund-months to replace the hand-set blend constants. That is new validated work, not a relabelling of what already exists.</a:t>
            </a:r>
          </a:p>
        </p:txBody>
      </p:sp>
      <p:sp>
        <p:nvSpPr>
          <p:cNvPr id="27" name="TextBox 2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qfra2_pac_prep/AI_ML_AUDIT.md. Stock-side agent research: STOCK_SCORECARD_750/FROZEN_METHODOLOGY.md.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WHAT IT IS</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Where the alpha comes from</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Four sources, each measured, and one of them is knowing when to stop</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09</a:t>
            </a:r>
          </a:p>
        </p:txBody>
      </p:sp>
      <p:sp>
        <p:nvSpPr>
          <p:cNvPr id="15" name="TextBox 14"/>
          <p:cNvSpPr txBox="1"/>
          <p:nvPr/>
        </p:nvSpPr>
        <p:spPr>
          <a:xfrm>
            <a:off x="841248" y="1792224"/>
            <a:ext cx="502920" cy="384048"/>
          </a:xfrm>
          <a:prstGeom prst="rect">
            <a:avLst/>
          </a:prstGeom>
          <a:noFill/>
        </p:spPr>
        <p:txBody>
          <a:bodyPr wrap="square" anchor="t" lIns="0" rIns="0" tIns="0" bIns="0">
            <a:spAutoFit/>
          </a:bodyPr>
          <a:lstStyle/>
          <a:p>
            <a:pPr algn="l">
              <a:spcBef>
                <a:spcPts val="0"/>
              </a:spcBef>
              <a:spcAft>
                <a:spcPts val="0"/>
              </a:spcAft>
            </a:pPr>
            <a:r>
              <a:rPr sz="1900" b="1" i="0">
                <a:solidFill>
                  <a:srgbClr val="F2A93C"/>
                </a:solidFill>
                <a:latin typeface="Georgia"/>
              </a:rPr>
              <a:t>1</a:t>
            </a:r>
          </a:p>
        </p:txBody>
      </p:sp>
      <p:sp>
        <p:nvSpPr>
          <p:cNvPr id="16" name="TextBox 15"/>
          <p:cNvSpPr txBox="1"/>
          <p:nvPr/>
        </p:nvSpPr>
        <p:spPr>
          <a:xfrm>
            <a:off x="1408176" y="1810512"/>
            <a:ext cx="9942271" cy="274320"/>
          </a:xfrm>
          <a:prstGeom prst="rect">
            <a:avLst/>
          </a:prstGeom>
          <a:noFill/>
        </p:spPr>
        <p:txBody>
          <a:bodyPr wrap="square" anchor="t" lIns="0" rIns="0" tIns="0" bIns="0">
            <a:spAutoFit/>
          </a:bodyPr>
          <a:lstStyle/>
          <a:p>
            <a:pPr algn="l">
              <a:spcBef>
                <a:spcPts val="0"/>
              </a:spcBef>
              <a:spcAft>
                <a:spcPts val="0"/>
              </a:spcAft>
            </a:pPr>
            <a:r>
              <a:rPr sz="1150" b="1" i="0">
                <a:solidFill>
                  <a:srgbClr val="1B27A3"/>
                </a:solidFill>
                <a:latin typeface="Bahnschrift"/>
              </a:rPr>
              <a:t>SELECTION, measured not described</a:t>
            </a:r>
          </a:p>
        </p:txBody>
      </p:sp>
      <p:sp>
        <p:nvSpPr>
          <p:cNvPr id="17" name="TextBox 16"/>
          <p:cNvSpPr txBox="1"/>
          <p:nvPr/>
        </p:nvSpPr>
        <p:spPr>
          <a:xfrm>
            <a:off x="1408176" y="2103120"/>
            <a:ext cx="9942271" cy="457200"/>
          </a:xfrm>
          <a:prstGeom prst="rect">
            <a:avLst/>
          </a:prstGeom>
          <a:noFill/>
        </p:spPr>
        <p:txBody>
          <a:bodyPr wrap="square" anchor="t" lIns="0" rIns="0" tIns="0" bIns="0">
            <a:spAutoFit/>
          </a:bodyPr>
          <a:lstStyle/>
          <a:p>
            <a:pPr algn="l">
              <a:spcBef>
                <a:spcPts val="0"/>
              </a:spcBef>
              <a:spcAft>
                <a:spcPts val="0"/>
              </a:spcAft>
            </a:pPr>
            <a:r>
              <a:rPr sz="1000" b="0" i="0">
                <a:solidFill>
                  <a:srgbClr val="16233B"/>
                </a:solidFill>
                <a:latin typeface="Bahnschrift"/>
              </a:rPr>
              <a:t>Factor-adjusted alpha and appraisal ratio, significance-gated. On the unconstrained ranking this is worth +0.48%/yr, with a 95% bootstrap interval of +0.06% to +1.05%.</a:t>
            </a:r>
          </a:p>
        </p:txBody>
      </p:sp>
      <p:sp>
        <p:nvSpPr>
          <p:cNvPr id="18" name="TextBox 17"/>
          <p:cNvSpPr txBox="1"/>
          <p:nvPr/>
        </p:nvSpPr>
        <p:spPr>
          <a:xfrm>
            <a:off x="841248" y="2560320"/>
            <a:ext cx="502920" cy="384048"/>
          </a:xfrm>
          <a:prstGeom prst="rect">
            <a:avLst/>
          </a:prstGeom>
          <a:noFill/>
        </p:spPr>
        <p:txBody>
          <a:bodyPr wrap="square" anchor="t" lIns="0" rIns="0" tIns="0" bIns="0">
            <a:spAutoFit/>
          </a:bodyPr>
          <a:lstStyle/>
          <a:p>
            <a:pPr algn="l">
              <a:spcBef>
                <a:spcPts val="0"/>
              </a:spcBef>
              <a:spcAft>
                <a:spcPts val="0"/>
              </a:spcAft>
            </a:pPr>
            <a:r>
              <a:rPr sz="1900" b="1" i="0">
                <a:solidFill>
                  <a:srgbClr val="F2A93C"/>
                </a:solidFill>
                <a:latin typeface="Georgia"/>
              </a:rPr>
              <a:t>2</a:t>
            </a:r>
          </a:p>
        </p:txBody>
      </p:sp>
      <p:sp>
        <p:nvSpPr>
          <p:cNvPr id="19" name="TextBox 18"/>
          <p:cNvSpPr txBox="1"/>
          <p:nvPr/>
        </p:nvSpPr>
        <p:spPr>
          <a:xfrm>
            <a:off x="1408176" y="2578608"/>
            <a:ext cx="9942271" cy="274320"/>
          </a:xfrm>
          <a:prstGeom prst="rect">
            <a:avLst/>
          </a:prstGeom>
          <a:noFill/>
        </p:spPr>
        <p:txBody>
          <a:bodyPr wrap="square" anchor="t" lIns="0" rIns="0" tIns="0" bIns="0">
            <a:spAutoFit/>
          </a:bodyPr>
          <a:lstStyle/>
          <a:p>
            <a:pPr algn="l">
              <a:spcBef>
                <a:spcPts val="0"/>
              </a:spcBef>
              <a:spcAft>
                <a:spcPts val="0"/>
              </a:spcAft>
            </a:pPr>
            <a:r>
              <a:rPr sz="1150" b="1" i="0">
                <a:solidFill>
                  <a:srgbClr val="1B27A3"/>
                </a:solidFill>
                <a:latin typeface="Bahnschrift"/>
              </a:rPr>
              <a:t>SCREENING OUT LOSERS</a:t>
            </a:r>
          </a:p>
        </p:txBody>
      </p:sp>
      <p:sp>
        <p:nvSpPr>
          <p:cNvPr id="20" name="TextBox 19"/>
          <p:cNvSpPr txBox="1"/>
          <p:nvPr/>
        </p:nvSpPr>
        <p:spPr>
          <a:xfrm>
            <a:off x="1408176" y="2871215"/>
            <a:ext cx="9942271" cy="457200"/>
          </a:xfrm>
          <a:prstGeom prst="rect">
            <a:avLst/>
          </a:prstGeom>
          <a:noFill/>
        </p:spPr>
        <p:txBody>
          <a:bodyPr wrap="square" anchor="t" lIns="0" rIns="0" tIns="0" bIns="0">
            <a:spAutoFit/>
          </a:bodyPr>
          <a:lstStyle/>
          <a:p>
            <a:pPr algn="l">
              <a:spcBef>
                <a:spcPts val="0"/>
              </a:spcBef>
              <a:spcAft>
                <a:spcPts val="0"/>
              </a:spcAft>
            </a:pPr>
            <a:r>
              <a:rPr sz="1000" b="0" i="0">
                <a:solidFill>
                  <a:srgbClr val="16233B"/>
                </a:solidFill>
                <a:latin typeface="Bahnschrift"/>
              </a:rPr>
              <a:t>SENTINEL flags closet indexing, a low-quality book and no measured skill. It lifts our own top-decile beat-the-index rate from 48.5% to 56.6%, the single largest validated lever in the model.</a:t>
            </a:r>
          </a:p>
        </p:txBody>
      </p:sp>
      <p:sp>
        <p:nvSpPr>
          <p:cNvPr id="21" name="TextBox 20"/>
          <p:cNvSpPr txBox="1"/>
          <p:nvPr/>
        </p:nvSpPr>
        <p:spPr>
          <a:xfrm>
            <a:off x="841248" y="3328415"/>
            <a:ext cx="502920" cy="384048"/>
          </a:xfrm>
          <a:prstGeom prst="rect">
            <a:avLst/>
          </a:prstGeom>
          <a:noFill/>
        </p:spPr>
        <p:txBody>
          <a:bodyPr wrap="square" anchor="t" lIns="0" rIns="0" tIns="0" bIns="0">
            <a:spAutoFit/>
          </a:bodyPr>
          <a:lstStyle/>
          <a:p>
            <a:pPr algn="l">
              <a:spcBef>
                <a:spcPts val="0"/>
              </a:spcBef>
              <a:spcAft>
                <a:spcPts val="0"/>
              </a:spcAft>
            </a:pPr>
            <a:r>
              <a:rPr sz="1900" b="1" i="0">
                <a:solidFill>
                  <a:srgbClr val="F2A93C"/>
                </a:solidFill>
                <a:latin typeface="Georgia"/>
              </a:rPr>
              <a:t>3</a:t>
            </a:r>
          </a:p>
        </p:txBody>
      </p:sp>
      <p:sp>
        <p:nvSpPr>
          <p:cNvPr id="22" name="TextBox 21"/>
          <p:cNvSpPr txBox="1"/>
          <p:nvPr/>
        </p:nvSpPr>
        <p:spPr>
          <a:xfrm>
            <a:off x="1408176" y="3346703"/>
            <a:ext cx="9942271" cy="274320"/>
          </a:xfrm>
          <a:prstGeom prst="rect">
            <a:avLst/>
          </a:prstGeom>
          <a:noFill/>
        </p:spPr>
        <p:txBody>
          <a:bodyPr wrap="square" anchor="t" lIns="0" rIns="0" tIns="0" bIns="0">
            <a:spAutoFit/>
          </a:bodyPr>
          <a:lstStyle/>
          <a:p>
            <a:pPr algn="l">
              <a:spcBef>
                <a:spcPts val="0"/>
              </a:spcBef>
              <a:spcAft>
                <a:spcPts val="0"/>
              </a:spcAft>
            </a:pPr>
            <a:r>
              <a:rPr sz="1150" b="1" i="0">
                <a:solidFill>
                  <a:srgbClr val="1B27A3"/>
                </a:solidFill>
                <a:latin typeface="Bahnschrift"/>
              </a:rPr>
              <a:t>ABSTAINING WHERE WE HAVE NO EDGE</a:t>
            </a:r>
          </a:p>
        </p:txBody>
      </p:sp>
      <p:sp>
        <p:nvSpPr>
          <p:cNvPr id="23" name="TextBox 22"/>
          <p:cNvSpPr txBox="1"/>
          <p:nvPr/>
        </p:nvSpPr>
        <p:spPr>
          <a:xfrm>
            <a:off x="1408176" y="3639311"/>
            <a:ext cx="9942271" cy="457200"/>
          </a:xfrm>
          <a:prstGeom prst="rect">
            <a:avLst/>
          </a:prstGeom>
          <a:noFill/>
        </p:spPr>
        <p:txBody>
          <a:bodyPr wrap="square" anchor="t" lIns="0" rIns="0" tIns="0" bIns="0">
            <a:spAutoFit/>
          </a:bodyPr>
          <a:lstStyle/>
          <a:p>
            <a:pPr algn="l">
              <a:spcBef>
                <a:spcPts val="0"/>
              </a:spcBef>
              <a:spcAft>
                <a:spcPts val="0"/>
              </a:spcAft>
            </a:pPr>
            <a:r>
              <a:rPr sz="1000" b="0" i="0">
                <a:solidFill>
                  <a:srgbClr val="16233B"/>
                </a:solidFill>
                <a:latin typeface="Bahnschrift"/>
              </a:rPr>
              <a:t>Large and Mid Cap are routed to an index core because active selection there is not distinguishable from a blind pick. Mid runs a momentum index instead, worth about +9%/yr over the plain mid-cap index.</a:t>
            </a:r>
          </a:p>
        </p:txBody>
      </p:sp>
      <p:sp>
        <p:nvSpPr>
          <p:cNvPr id="24" name="TextBox 23"/>
          <p:cNvSpPr txBox="1"/>
          <p:nvPr/>
        </p:nvSpPr>
        <p:spPr>
          <a:xfrm>
            <a:off x="841248" y="4096511"/>
            <a:ext cx="502920" cy="384048"/>
          </a:xfrm>
          <a:prstGeom prst="rect">
            <a:avLst/>
          </a:prstGeom>
          <a:noFill/>
        </p:spPr>
        <p:txBody>
          <a:bodyPr wrap="square" anchor="t" lIns="0" rIns="0" tIns="0" bIns="0">
            <a:spAutoFit/>
          </a:bodyPr>
          <a:lstStyle/>
          <a:p>
            <a:pPr algn="l">
              <a:spcBef>
                <a:spcPts val="0"/>
              </a:spcBef>
              <a:spcAft>
                <a:spcPts val="0"/>
              </a:spcAft>
            </a:pPr>
            <a:r>
              <a:rPr sz="1900" b="1" i="0">
                <a:solidFill>
                  <a:srgbClr val="F2A93C"/>
                </a:solidFill>
                <a:latin typeface="Georgia"/>
              </a:rPr>
              <a:t>4</a:t>
            </a:r>
          </a:p>
        </p:txBody>
      </p:sp>
      <p:sp>
        <p:nvSpPr>
          <p:cNvPr id="25" name="TextBox 24"/>
          <p:cNvSpPr txBox="1"/>
          <p:nvPr/>
        </p:nvSpPr>
        <p:spPr>
          <a:xfrm>
            <a:off x="1408176" y="4114799"/>
            <a:ext cx="9942271" cy="274320"/>
          </a:xfrm>
          <a:prstGeom prst="rect">
            <a:avLst/>
          </a:prstGeom>
          <a:noFill/>
        </p:spPr>
        <p:txBody>
          <a:bodyPr wrap="square" anchor="t" lIns="0" rIns="0" tIns="0" bIns="0">
            <a:spAutoFit/>
          </a:bodyPr>
          <a:lstStyle/>
          <a:p>
            <a:pPr algn="l">
              <a:spcBef>
                <a:spcPts val="0"/>
              </a:spcBef>
              <a:spcAft>
                <a:spcPts val="0"/>
              </a:spcAft>
            </a:pPr>
            <a:r>
              <a:rPr sz="1150" b="1" i="0">
                <a:solidFill>
                  <a:srgbClr val="1B27A3"/>
                </a:solidFill>
                <a:latin typeface="Bahnschrift"/>
              </a:rPr>
              <a:t>NOT TRADING IT AWAY</a:t>
            </a:r>
          </a:p>
        </p:txBody>
      </p:sp>
      <p:sp>
        <p:nvSpPr>
          <p:cNvPr id="26" name="TextBox 25"/>
          <p:cNvSpPr txBox="1"/>
          <p:nvPr/>
        </p:nvSpPr>
        <p:spPr>
          <a:xfrm>
            <a:off x="1408176" y="4407407"/>
            <a:ext cx="9942271" cy="457200"/>
          </a:xfrm>
          <a:prstGeom prst="rect">
            <a:avLst/>
          </a:prstGeom>
          <a:noFill/>
        </p:spPr>
        <p:txBody>
          <a:bodyPr wrap="square" anchor="t" lIns="0" rIns="0" tIns="0" bIns="0">
            <a:spAutoFit/>
          </a:bodyPr>
          <a:lstStyle/>
          <a:p>
            <a:pPr algn="l">
              <a:spcBef>
                <a:spcPts val="0"/>
              </a:spcBef>
              <a:spcAft>
                <a:spcPts val="0"/>
              </a:spcAft>
            </a:pPr>
            <a:r>
              <a:rPr sz="1000" b="0" i="0">
                <a:solidFill>
                  <a:srgbClr val="16233B"/>
                </a:solidFill>
                <a:latin typeface="Bahnschrift"/>
              </a:rPr>
              <a:t>The churn rule holds a fund unless a challenger clears a material margin, delivering 3.9 book changes a year and an average holding near three years. This protects long-term capital gains treatment.</a:t>
            </a:r>
          </a:p>
        </p:txBody>
      </p:sp>
      <p:sp>
        <p:nvSpPr>
          <p:cNvPr id="27" name="Rounded Rectangle 26"/>
          <p:cNvSpPr/>
          <p:nvPr/>
        </p:nvSpPr>
        <p:spPr>
          <a:xfrm>
            <a:off x="841248" y="4882895"/>
            <a:ext cx="10509199" cy="905256"/>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1248" y="4882895"/>
            <a:ext cx="54864" cy="905256"/>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2416" y="5010911"/>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AND THE HONEST SUBTRACTION</a:t>
            </a:r>
          </a:p>
        </p:txBody>
      </p:sp>
      <p:sp>
        <p:nvSpPr>
          <p:cNvPr id="30" name="TextBox 29"/>
          <p:cNvSpPr txBox="1"/>
          <p:nvPr/>
        </p:nvSpPr>
        <p:spPr>
          <a:xfrm>
            <a:off x="1042416" y="5285231"/>
            <a:ext cx="10143439" cy="44805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Source 4 pays for itself in tax and operations, but it also absorbs most of source 1. The deployed book's realized edge is far smaller than the ranking's, and that arithmetic is the next section.</a:t>
            </a:r>
          </a:p>
        </p:txBody>
      </p:sp>
      <p:sp>
        <p:nvSpPr>
          <p:cNvPr id="31" name="TextBox 3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Bootstrap and SENTINEL from QFRA2_evidence.csv. Churn from the 8-year realised history. Momentum sleeve from qfra2_smartbeta.py.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WHAT IT IS</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Why not simply use the rating houses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Seven differences, and the one that does not flatter us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1463040"/>
            <a:ext cx="10509199" cy="219456"/>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The difference is method and disclosure. It is not a wide performance margin, and this page does not claim one</a:t>
            </a:r>
          </a:p>
        </p:txBody>
      </p:sp>
      <p:sp>
        <p:nvSpPr>
          <p:cNvPr id="15" name="TextBox 14"/>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10</a:t>
            </a:r>
          </a:p>
        </p:txBody>
      </p:sp>
      <p:sp>
        <p:nvSpPr>
          <p:cNvPr id="16" name="TextBox 15"/>
          <p:cNvSpPr txBox="1"/>
          <p:nvPr/>
        </p:nvSpPr>
        <p:spPr>
          <a:xfrm>
            <a:off x="914400" y="1792224"/>
            <a:ext cx="182703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DIMENSION</a:t>
            </a:r>
          </a:p>
        </p:txBody>
      </p:sp>
      <p:sp>
        <p:nvSpPr>
          <p:cNvPr id="17" name="TextBox 16"/>
          <p:cNvSpPr txBox="1"/>
          <p:nvPr/>
        </p:nvSpPr>
        <p:spPr>
          <a:xfrm>
            <a:off x="2887743" y="1792224"/>
            <a:ext cx="3479140"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RATING HOUSES, STAR-CHASING</a:t>
            </a:r>
          </a:p>
        </p:txBody>
      </p:sp>
      <p:sp>
        <p:nvSpPr>
          <p:cNvPr id="18" name="TextBox 17"/>
          <p:cNvSpPr txBox="1"/>
          <p:nvPr/>
        </p:nvSpPr>
        <p:spPr>
          <a:xfrm>
            <a:off x="6513187" y="1792224"/>
            <a:ext cx="476410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QFRA 2.0</a:t>
            </a:r>
          </a:p>
        </p:txBody>
      </p:sp>
      <p:sp>
        <p:nvSpPr>
          <p:cNvPr id="19" name="Rectangle 18"/>
          <p:cNvSpPr/>
          <p:nvPr/>
        </p:nvSpPr>
        <p:spPr>
          <a:xfrm>
            <a:off x="841248" y="2048256"/>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093976"/>
            <a:ext cx="1827039"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Edge</a:t>
            </a:r>
          </a:p>
        </p:txBody>
      </p:sp>
      <p:sp>
        <p:nvSpPr>
          <p:cNvPr id="21" name="TextBox 20"/>
          <p:cNvSpPr txBox="1"/>
          <p:nvPr/>
        </p:nvSpPr>
        <p:spPr>
          <a:xfrm>
            <a:off x="2887743" y="2093976"/>
            <a:ext cx="3479140"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Qualitative, or last year's return</a:t>
            </a:r>
          </a:p>
        </p:txBody>
      </p:sp>
      <p:sp>
        <p:nvSpPr>
          <p:cNvPr id="22" name="TextBox 21"/>
          <p:cNvSpPr txBox="1"/>
          <p:nvPr/>
        </p:nvSpPr>
        <p:spPr>
          <a:xfrm>
            <a:off x="6513187" y="2093976"/>
            <a:ext cx="4764107"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Factor-adjusted alpha, gated on statistical significance</a:t>
            </a:r>
          </a:p>
        </p:txBody>
      </p:sp>
      <p:sp>
        <p:nvSpPr>
          <p:cNvPr id="23" name="Rectangle 22"/>
          <p:cNvSpPr/>
          <p:nvPr/>
        </p:nvSpPr>
        <p:spPr>
          <a:xfrm>
            <a:off x="841248" y="2459736"/>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478024"/>
            <a:ext cx="1827039"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Plan and basis</a:t>
            </a:r>
          </a:p>
        </p:txBody>
      </p:sp>
      <p:sp>
        <p:nvSpPr>
          <p:cNvPr id="25" name="TextBox 24"/>
          <p:cNvSpPr txBox="1"/>
          <p:nvPr/>
        </p:nvSpPr>
        <p:spPr>
          <a:xfrm>
            <a:off x="2887743" y="2478024"/>
            <a:ext cx="3479140"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Often Regular plan, price return</a:t>
            </a:r>
          </a:p>
        </p:txBody>
      </p:sp>
      <p:sp>
        <p:nvSpPr>
          <p:cNvPr id="26" name="TextBox 25"/>
          <p:cNvSpPr txBox="1"/>
          <p:nvPr/>
        </p:nvSpPr>
        <p:spPr>
          <a:xfrm>
            <a:off x="6513187" y="2478024"/>
            <a:ext cx="4764107"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Direct plan throughout, total-return benchmarks in the model's own documents</a:t>
            </a:r>
          </a:p>
        </p:txBody>
      </p:sp>
      <p:sp>
        <p:nvSpPr>
          <p:cNvPr id="27" name="TextBox 26"/>
          <p:cNvSpPr txBox="1"/>
          <p:nvPr/>
        </p:nvSpPr>
        <p:spPr>
          <a:xfrm>
            <a:off x="914400" y="2862072"/>
            <a:ext cx="1827039"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Validation</a:t>
            </a:r>
          </a:p>
        </p:txBody>
      </p:sp>
      <p:sp>
        <p:nvSpPr>
          <p:cNvPr id="28" name="TextBox 27"/>
          <p:cNvSpPr txBox="1"/>
          <p:nvPr/>
        </p:nvSpPr>
        <p:spPr>
          <a:xfrm>
            <a:off x="2887743" y="2862072"/>
            <a:ext cx="3479140"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In sample, or none published</a:t>
            </a:r>
          </a:p>
        </p:txBody>
      </p:sp>
      <p:sp>
        <p:nvSpPr>
          <p:cNvPr id="29" name="TextBox 28"/>
          <p:cNvSpPr txBox="1"/>
          <p:nvPr/>
        </p:nvSpPr>
        <p:spPr>
          <a:xfrm>
            <a:off x="6513187" y="2862072"/>
            <a:ext cx="4764107"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Walk-forward out of sample, plus a year-block bootstrap</a:t>
            </a:r>
          </a:p>
        </p:txBody>
      </p:sp>
      <p:sp>
        <p:nvSpPr>
          <p:cNvPr id="30" name="Rectangle 29"/>
          <p:cNvSpPr/>
          <p:nvPr/>
        </p:nvSpPr>
        <p:spPr>
          <a:xfrm>
            <a:off x="841248" y="3227832"/>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3246120"/>
            <a:ext cx="1827039"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Loser control</a:t>
            </a:r>
          </a:p>
        </p:txBody>
      </p:sp>
      <p:sp>
        <p:nvSpPr>
          <p:cNvPr id="32" name="TextBox 31"/>
          <p:cNvSpPr txBox="1"/>
          <p:nvPr/>
        </p:nvSpPr>
        <p:spPr>
          <a:xfrm>
            <a:off x="2887743" y="3246120"/>
            <a:ext cx="3479140"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None: every fund gets a rating</a:t>
            </a:r>
          </a:p>
        </p:txBody>
      </p:sp>
      <p:sp>
        <p:nvSpPr>
          <p:cNvPr id="33" name="TextBox 32"/>
          <p:cNvSpPr txBox="1"/>
          <p:nvPr/>
        </p:nvSpPr>
        <p:spPr>
          <a:xfrm>
            <a:off x="6513187" y="3246120"/>
            <a:ext cx="4764107"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SENTINEL lifts our own top-decile beat rate from 48.5% to 56.6%</a:t>
            </a:r>
          </a:p>
        </p:txBody>
      </p:sp>
      <p:sp>
        <p:nvSpPr>
          <p:cNvPr id="34" name="TextBox 33"/>
          <p:cNvSpPr txBox="1"/>
          <p:nvPr/>
        </p:nvSpPr>
        <p:spPr>
          <a:xfrm>
            <a:off x="914400" y="3630168"/>
            <a:ext cx="1827039"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Abstention</a:t>
            </a:r>
          </a:p>
        </p:txBody>
      </p:sp>
      <p:sp>
        <p:nvSpPr>
          <p:cNvPr id="35" name="TextBox 34"/>
          <p:cNvSpPr txBox="1"/>
          <p:nvPr/>
        </p:nvSpPr>
        <p:spPr>
          <a:xfrm>
            <a:off x="2887743" y="3630168"/>
            <a:ext cx="3479140"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Rates every fund in every category</a:t>
            </a:r>
          </a:p>
        </p:txBody>
      </p:sp>
      <p:sp>
        <p:nvSpPr>
          <p:cNvPr id="36" name="TextBox 35"/>
          <p:cNvSpPr txBox="1"/>
          <p:nvPr/>
        </p:nvSpPr>
        <p:spPr>
          <a:xfrm>
            <a:off x="6513187" y="3630168"/>
            <a:ext cx="4764107"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Routes to an index core or a factor sleeve where we cannot show an edge</a:t>
            </a:r>
          </a:p>
        </p:txBody>
      </p:sp>
      <p:sp>
        <p:nvSpPr>
          <p:cNvPr id="37" name="Rectangle 36"/>
          <p:cNvSpPr/>
          <p:nvPr/>
        </p:nvSpPr>
        <p:spPr>
          <a:xfrm>
            <a:off x="841248" y="3995928"/>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014215"/>
            <a:ext cx="1827039"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Turnover and tax</a:t>
            </a:r>
          </a:p>
        </p:txBody>
      </p:sp>
      <p:sp>
        <p:nvSpPr>
          <p:cNvPr id="39" name="TextBox 38"/>
          <p:cNvSpPr txBox="1"/>
          <p:nvPr/>
        </p:nvSpPr>
        <p:spPr>
          <a:xfrm>
            <a:off x="2887743" y="4014215"/>
            <a:ext cx="3479140"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High, or simply not discussed</a:t>
            </a:r>
          </a:p>
        </p:txBody>
      </p:sp>
      <p:sp>
        <p:nvSpPr>
          <p:cNvPr id="40" name="TextBox 39"/>
          <p:cNvSpPr txBox="1"/>
          <p:nvPr/>
        </p:nvSpPr>
        <p:spPr>
          <a:xfrm>
            <a:off x="6513187" y="4014215"/>
            <a:ext cx="4764107"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3.9 book changes a year, and the rule that produces it is published</a:t>
            </a:r>
          </a:p>
        </p:txBody>
      </p:sp>
      <p:sp>
        <p:nvSpPr>
          <p:cNvPr id="41" name="TextBox 40"/>
          <p:cNvSpPr txBox="1"/>
          <p:nvPr/>
        </p:nvSpPr>
        <p:spPr>
          <a:xfrm>
            <a:off x="914400" y="4398264"/>
            <a:ext cx="1827039"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Limits</a:t>
            </a:r>
          </a:p>
        </p:txBody>
      </p:sp>
      <p:sp>
        <p:nvSpPr>
          <p:cNvPr id="42" name="TextBox 41"/>
          <p:cNvSpPr txBox="1"/>
          <p:nvPr/>
        </p:nvSpPr>
        <p:spPr>
          <a:xfrm>
            <a:off x="2887743" y="4398264"/>
            <a:ext cx="3479140"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Rarely stated</a:t>
            </a:r>
          </a:p>
        </p:txBody>
      </p:sp>
      <p:sp>
        <p:nvSpPr>
          <p:cNvPr id="43" name="TextBox 42"/>
          <p:cNvSpPr txBox="1"/>
          <p:nvPr/>
        </p:nvSpPr>
        <p:spPr>
          <a:xfrm>
            <a:off x="6513187" y="4398264"/>
            <a:ext cx="4764107" cy="38404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Stated: one era, a thin universe, and a held book well below the ranking</a:t>
            </a:r>
          </a:p>
        </p:txBody>
      </p:sp>
      <p:sp>
        <p:nvSpPr>
          <p:cNvPr id="44" name="Rounded Rectangle 43"/>
          <p:cNvSpPr/>
          <p:nvPr/>
        </p:nvSpPr>
        <p:spPr>
          <a:xfrm>
            <a:off x="841248" y="4855464"/>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41248" y="4855464"/>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2416" y="4983479"/>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THE HONEST VERSION OF THIS COMPARISON</a:t>
            </a:r>
          </a:p>
        </p:txBody>
      </p:sp>
      <p:sp>
        <p:nvSpPr>
          <p:cNvPr id="47" name="TextBox 46"/>
          <p:cNvSpPr txBox="1"/>
          <p:nvPr/>
        </p:nvSpPr>
        <p:spPr>
          <a:xfrm>
            <a:off x="1042416" y="5257800"/>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rating house does not claim a factor-adjusted edge, so on that row there is nothing to beat. And our own held book earned +0.09%/yr at three years. What this page claims is a better method and fuller disclosure, not a wide margin.</a:t>
            </a:r>
          </a:p>
        </p:txBody>
      </p:sp>
      <p:sp>
        <p:nvSpPr>
          <p:cNvPr id="48" name="TextBox 4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SENTINEL lift: QFRA2_evidence.csv. Held book: QFRA2_recommendation_performance.md. Rating-house column describes published retail methodology in general, and names no competitor.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2.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02</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02</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How a rank is produced</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The pipeline end to end, the quality scorecard, the negative screen, and the churn rule</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12-17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HOW IT WORKS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pipeline, step by step</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Point-in-time throughout. Every weight below is a fixed constant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12</a:t>
            </a:r>
          </a:p>
        </p:txBody>
      </p:sp>
      <p:sp>
        <p:nvSpPr>
          <p:cNvPr id="15" name="TextBox 14"/>
          <p:cNvSpPr txBox="1"/>
          <p:nvPr/>
        </p:nvSpPr>
        <p:spPr>
          <a:xfrm>
            <a:off x="914400" y="1755648"/>
            <a:ext cx="310896"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
            </a:r>
          </a:p>
        </p:txBody>
      </p:sp>
      <p:sp>
        <p:nvSpPr>
          <p:cNvPr id="16" name="TextBox 15"/>
          <p:cNvSpPr txBox="1"/>
          <p:nvPr/>
        </p:nvSpPr>
        <p:spPr>
          <a:xfrm>
            <a:off x="1371600" y="1755648"/>
            <a:ext cx="213969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STEP</a:t>
            </a:r>
          </a:p>
        </p:txBody>
      </p:sp>
      <p:sp>
        <p:nvSpPr>
          <p:cNvPr id="17" name="TextBox 16"/>
          <p:cNvSpPr txBox="1"/>
          <p:nvPr/>
        </p:nvSpPr>
        <p:spPr>
          <a:xfrm>
            <a:off x="3657600" y="1755648"/>
            <a:ext cx="761969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HAPPENS</a:t>
            </a:r>
          </a:p>
        </p:txBody>
      </p:sp>
      <p:sp>
        <p:nvSpPr>
          <p:cNvPr id="18" name="Rectangle 17"/>
          <p:cNvSpPr/>
          <p:nvPr/>
        </p:nvSpPr>
        <p:spPr>
          <a:xfrm>
            <a:off x="841248" y="201168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057400"/>
            <a:ext cx="310896" cy="34290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0</a:t>
            </a:r>
          </a:p>
        </p:txBody>
      </p:sp>
      <p:sp>
        <p:nvSpPr>
          <p:cNvPr id="20" name="TextBox 19"/>
          <p:cNvSpPr txBox="1"/>
          <p:nvPr/>
        </p:nvSpPr>
        <p:spPr>
          <a:xfrm>
            <a:off x="1371600" y="2057400"/>
            <a:ext cx="2139696"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Data</a:t>
            </a:r>
          </a:p>
        </p:txBody>
      </p:sp>
      <p:sp>
        <p:nvSpPr>
          <p:cNvPr id="21" name="TextBox 20"/>
          <p:cNvSpPr txBox="1"/>
          <p:nvPr/>
        </p:nvSpPr>
        <p:spPr>
          <a:xfrm>
            <a:off x="3657600" y="2057400"/>
            <a:ext cx="7619695"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Direct-Growth NAVs and a price-to-total-return benchmark, strictly point-in-time.</a:t>
            </a:r>
          </a:p>
        </p:txBody>
      </p:sp>
      <p:sp>
        <p:nvSpPr>
          <p:cNvPr id="22" name="Rectangle 21"/>
          <p:cNvSpPr/>
          <p:nvPr/>
        </p:nvSpPr>
        <p:spPr>
          <a:xfrm>
            <a:off x="841248" y="2382012"/>
            <a:ext cx="10509199" cy="34290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2400300"/>
            <a:ext cx="310896" cy="34290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1</a:t>
            </a:r>
          </a:p>
        </p:txBody>
      </p:sp>
      <p:sp>
        <p:nvSpPr>
          <p:cNvPr id="24" name="TextBox 23"/>
          <p:cNvSpPr txBox="1"/>
          <p:nvPr/>
        </p:nvSpPr>
        <p:spPr>
          <a:xfrm>
            <a:off x="1371600" y="2400300"/>
            <a:ext cx="2139696"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Eligibility</a:t>
            </a:r>
          </a:p>
        </p:txBody>
      </p:sp>
      <p:sp>
        <p:nvSpPr>
          <p:cNvPr id="25" name="TextBox 24"/>
          <p:cNvSpPr txBox="1"/>
          <p:nvPr/>
        </p:nvSpPr>
        <p:spPr>
          <a:xfrm>
            <a:off x="3657600" y="2400300"/>
            <a:ext cx="7619695"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At least 3 years of returns as a hard gate, plus an asset floor, cost and true-to-label checks. Leaves 5 to 9 funds in a deployed category.</a:t>
            </a:r>
          </a:p>
        </p:txBody>
      </p:sp>
      <p:sp>
        <p:nvSpPr>
          <p:cNvPr id="26" name="TextBox 25"/>
          <p:cNvSpPr txBox="1"/>
          <p:nvPr/>
        </p:nvSpPr>
        <p:spPr>
          <a:xfrm>
            <a:off x="914400" y="2743200"/>
            <a:ext cx="310896" cy="34290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2</a:t>
            </a:r>
          </a:p>
        </p:txBody>
      </p:sp>
      <p:sp>
        <p:nvSpPr>
          <p:cNvPr id="27" name="TextBox 26"/>
          <p:cNvSpPr txBox="1"/>
          <p:nvPr/>
        </p:nvSpPr>
        <p:spPr>
          <a:xfrm>
            <a:off x="1371600" y="2743200"/>
            <a:ext cx="2139696"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Factor model</a:t>
            </a:r>
          </a:p>
        </p:txBody>
      </p:sp>
      <p:sp>
        <p:nvSpPr>
          <p:cNvPr id="28" name="TextBox 27"/>
          <p:cNvSpPr txBox="1"/>
          <p:nvPr/>
        </p:nvSpPr>
        <p:spPr>
          <a:xfrm>
            <a:off x="3657600" y="2743200"/>
            <a:ext cx="7619695"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Regress on six factors for alpha, its t-statistic, R-squared, quality beta and appraisal.</a:t>
            </a:r>
          </a:p>
        </p:txBody>
      </p:sp>
      <p:sp>
        <p:nvSpPr>
          <p:cNvPr id="29" name="Rectangle 28"/>
          <p:cNvSpPr/>
          <p:nvPr/>
        </p:nvSpPr>
        <p:spPr>
          <a:xfrm>
            <a:off x="841248" y="3067812"/>
            <a:ext cx="10509199" cy="34290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086100"/>
            <a:ext cx="310896" cy="34290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3</a:t>
            </a:r>
          </a:p>
        </p:txBody>
      </p:sp>
      <p:sp>
        <p:nvSpPr>
          <p:cNvPr id="31" name="TextBox 30"/>
          <p:cNvSpPr txBox="1"/>
          <p:nvPr/>
        </p:nvSpPr>
        <p:spPr>
          <a:xfrm>
            <a:off x="1371600" y="3086100"/>
            <a:ext cx="2139696"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Signals</a:t>
            </a:r>
          </a:p>
        </p:txBody>
      </p:sp>
      <p:sp>
        <p:nvSpPr>
          <p:cNvPr id="32" name="TextBox 31"/>
          <p:cNvSpPr txBox="1"/>
          <p:nvPr/>
        </p:nvSpPr>
        <p:spPr>
          <a:xfrm>
            <a:off x="3657600" y="3086100"/>
            <a:ext cx="7619695"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Information ratio, down-capture, Calmar, momentum, appraisal, quality beta, alpha stability, 6-month capture.</a:t>
            </a:r>
          </a:p>
        </p:txBody>
      </p:sp>
      <p:sp>
        <p:nvSpPr>
          <p:cNvPr id="33" name="TextBox 32"/>
          <p:cNvSpPr txBox="1"/>
          <p:nvPr/>
        </p:nvSpPr>
        <p:spPr>
          <a:xfrm>
            <a:off x="914400" y="3429000"/>
            <a:ext cx="310896" cy="34290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4</a:t>
            </a:r>
          </a:p>
        </p:txBody>
      </p:sp>
      <p:sp>
        <p:nvSpPr>
          <p:cNvPr id="34" name="TextBox 33"/>
          <p:cNvSpPr txBox="1"/>
          <p:nvPr/>
        </p:nvSpPr>
        <p:spPr>
          <a:xfrm>
            <a:off x="1371600" y="3429000"/>
            <a:ext cx="2139696"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Rank</a:t>
            </a:r>
          </a:p>
        </p:txBody>
      </p:sp>
      <p:sp>
        <p:nvSpPr>
          <p:cNvPr id="35" name="TextBox 34"/>
          <p:cNvSpPr txBox="1"/>
          <p:nvPr/>
        </p:nvSpPr>
        <p:spPr>
          <a:xfrm>
            <a:off x="3657600" y="3429000"/>
            <a:ext cx="7619695"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Percentile-rank each signal within the category and date.</a:t>
            </a:r>
          </a:p>
        </p:txBody>
      </p:sp>
      <p:sp>
        <p:nvSpPr>
          <p:cNvPr id="36" name="Rectangle 35"/>
          <p:cNvSpPr/>
          <p:nvPr/>
        </p:nvSpPr>
        <p:spPr>
          <a:xfrm>
            <a:off x="841248" y="3753612"/>
            <a:ext cx="10509199" cy="34290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3771900"/>
            <a:ext cx="310896" cy="34290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5</a:t>
            </a:r>
          </a:p>
        </p:txBody>
      </p:sp>
      <p:sp>
        <p:nvSpPr>
          <p:cNvPr id="38" name="TextBox 37"/>
          <p:cNvSpPr txBox="1"/>
          <p:nvPr/>
        </p:nvSpPr>
        <p:spPr>
          <a:xfrm>
            <a:off x="1371600" y="3771900"/>
            <a:ext cx="2139696"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Score</a:t>
            </a:r>
          </a:p>
        </p:txBody>
      </p:sp>
      <p:sp>
        <p:nvSpPr>
          <p:cNvPr id="39" name="TextBox 38"/>
          <p:cNvSpPr txBox="1"/>
          <p:nvPr/>
        </p:nvSpPr>
        <p:spPr>
          <a:xfrm>
            <a:off x="3657600" y="3771900"/>
            <a:ext cx="7619695"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Average the ranks, then 0.9 of that plus 0.1 of alpha stability.</a:t>
            </a:r>
          </a:p>
        </p:txBody>
      </p:sp>
      <p:sp>
        <p:nvSpPr>
          <p:cNvPr id="40" name="TextBox 39"/>
          <p:cNvSpPr txBox="1"/>
          <p:nvPr/>
        </p:nvSpPr>
        <p:spPr>
          <a:xfrm>
            <a:off x="914400" y="4114800"/>
            <a:ext cx="310896" cy="34290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6</a:t>
            </a:r>
          </a:p>
        </p:txBody>
      </p:sp>
      <p:sp>
        <p:nvSpPr>
          <p:cNvPr id="41" name="TextBox 40"/>
          <p:cNvSpPr txBox="1"/>
          <p:nvPr/>
        </p:nvSpPr>
        <p:spPr>
          <a:xfrm>
            <a:off x="1371600" y="4114800"/>
            <a:ext cx="2139696"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Capture blend</a:t>
            </a:r>
          </a:p>
        </p:txBody>
      </p:sp>
      <p:sp>
        <p:nvSpPr>
          <p:cNvPr id="42" name="TextBox 41"/>
          <p:cNvSpPr txBox="1"/>
          <p:nvPr/>
        </p:nvSpPr>
        <p:spPr>
          <a:xfrm>
            <a:off x="3657600" y="4114800"/>
            <a:ext cx="7619695"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0.7 of the score plus 0.3 of the 6-month capture ratio.</a:t>
            </a:r>
          </a:p>
        </p:txBody>
      </p:sp>
      <p:sp>
        <p:nvSpPr>
          <p:cNvPr id="43" name="Rectangle 42"/>
          <p:cNvSpPr/>
          <p:nvPr/>
        </p:nvSpPr>
        <p:spPr>
          <a:xfrm>
            <a:off x="841248" y="4439412"/>
            <a:ext cx="10509199" cy="34290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4457700"/>
            <a:ext cx="310896" cy="34290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7</a:t>
            </a:r>
          </a:p>
        </p:txBody>
      </p:sp>
      <p:sp>
        <p:nvSpPr>
          <p:cNvPr id="45" name="TextBox 44"/>
          <p:cNvSpPr txBox="1"/>
          <p:nvPr/>
        </p:nvSpPr>
        <p:spPr>
          <a:xfrm>
            <a:off x="1371600" y="4457700"/>
            <a:ext cx="2139696"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Routing</a:t>
            </a:r>
          </a:p>
        </p:txBody>
      </p:sp>
      <p:sp>
        <p:nvSpPr>
          <p:cNvPr id="46" name="TextBox 45"/>
          <p:cNvSpPr txBox="1"/>
          <p:nvPr/>
        </p:nvSpPr>
        <p:spPr>
          <a:xfrm>
            <a:off x="3657600" y="4457700"/>
            <a:ext cx="7619695"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Active, or an index core for Large and Mid, or the Mid momentum sleeve.</a:t>
            </a:r>
          </a:p>
        </p:txBody>
      </p:sp>
      <p:sp>
        <p:nvSpPr>
          <p:cNvPr id="47" name="TextBox 46"/>
          <p:cNvSpPr txBox="1"/>
          <p:nvPr/>
        </p:nvSpPr>
        <p:spPr>
          <a:xfrm>
            <a:off x="914400" y="4800600"/>
            <a:ext cx="310896" cy="34290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8</a:t>
            </a:r>
          </a:p>
        </p:txBody>
      </p:sp>
      <p:sp>
        <p:nvSpPr>
          <p:cNvPr id="48" name="TextBox 47"/>
          <p:cNvSpPr txBox="1"/>
          <p:nvPr/>
        </p:nvSpPr>
        <p:spPr>
          <a:xfrm>
            <a:off x="1371600" y="4800600"/>
            <a:ext cx="2139696"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SENTINEL</a:t>
            </a:r>
          </a:p>
        </p:txBody>
      </p:sp>
      <p:sp>
        <p:nvSpPr>
          <p:cNvPr id="49" name="TextBox 48"/>
          <p:cNvSpPr txBox="1"/>
          <p:nvPr/>
        </p:nvSpPr>
        <p:spPr>
          <a:xfrm>
            <a:off x="3657600" y="4800600"/>
            <a:ext cx="7619695"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Subtract one point per loser trait, then take the top 5.</a:t>
            </a:r>
          </a:p>
        </p:txBody>
      </p:sp>
      <p:sp>
        <p:nvSpPr>
          <p:cNvPr id="50" name="Rectangle 49"/>
          <p:cNvSpPr/>
          <p:nvPr/>
        </p:nvSpPr>
        <p:spPr>
          <a:xfrm>
            <a:off x="841248" y="5125212"/>
            <a:ext cx="10509199" cy="34290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4400" y="5143500"/>
            <a:ext cx="310896" cy="34290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9</a:t>
            </a:r>
          </a:p>
        </p:txBody>
      </p:sp>
      <p:sp>
        <p:nvSpPr>
          <p:cNvPr id="52" name="TextBox 51"/>
          <p:cNvSpPr txBox="1"/>
          <p:nvPr/>
        </p:nvSpPr>
        <p:spPr>
          <a:xfrm>
            <a:off x="1371600" y="5143500"/>
            <a:ext cx="2139696"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CALIBRE</a:t>
            </a:r>
          </a:p>
        </p:txBody>
      </p:sp>
      <p:sp>
        <p:nvSpPr>
          <p:cNvPr id="53" name="TextBox 52"/>
          <p:cNvSpPr txBox="1"/>
          <p:nvPr/>
        </p:nvSpPr>
        <p:spPr>
          <a:xfrm>
            <a:off x="3657600" y="5143500"/>
            <a:ext cx="7619695"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Quality scorecard and a discretionary gate that may only veto or trim, never flatter.</a:t>
            </a:r>
          </a:p>
        </p:txBody>
      </p:sp>
      <p:sp>
        <p:nvSpPr>
          <p:cNvPr id="54" name="TextBox 53"/>
          <p:cNvSpPr txBox="1"/>
          <p:nvPr/>
        </p:nvSpPr>
        <p:spPr>
          <a:xfrm>
            <a:off x="914400" y="5486400"/>
            <a:ext cx="310896" cy="34290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10</a:t>
            </a:r>
          </a:p>
        </p:txBody>
      </p:sp>
      <p:sp>
        <p:nvSpPr>
          <p:cNvPr id="55" name="TextBox 54"/>
          <p:cNvSpPr txBox="1"/>
          <p:nvPr/>
        </p:nvSpPr>
        <p:spPr>
          <a:xfrm>
            <a:off x="1371600" y="5486400"/>
            <a:ext cx="2139696"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Final two</a:t>
            </a:r>
          </a:p>
        </p:txBody>
      </p:sp>
      <p:sp>
        <p:nvSpPr>
          <p:cNvPr id="56" name="TextBox 55"/>
          <p:cNvSpPr txBox="1"/>
          <p:nvPr/>
        </p:nvSpPr>
        <p:spPr>
          <a:xfrm>
            <a:off x="3657600" y="5486400"/>
            <a:ext cx="7619695"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Rank, take two, then apply the churn rule against the book already held.</a:t>
            </a:r>
          </a:p>
        </p:txBody>
      </p:sp>
      <p:sp>
        <p:nvSpPr>
          <p:cNvPr id="57" name="TextBox 5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Mf_qfra2/mr_x_framework/src/final_model.py. Model frozen at v2.0; no weight on this page is fitted.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HOW IT WORKS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CALIBRE, the seven pillars of a rank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600" b="1" i="0">
                <a:solidFill>
                  <a:srgbClr val="F2A93C"/>
                </a:solidFill>
                <a:latin typeface="Bahnschrift"/>
              </a:rPr>
              <a:t>Rewritten this review so that every pillar says something we can actually evidence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13</a:t>
            </a:r>
          </a:p>
        </p:txBody>
      </p:sp>
      <p:sp>
        <p:nvSpPr>
          <p:cNvPr id="15" name="TextBox 14"/>
          <p:cNvSpPr txBox="1"/>
          <p:nvPr/>
        </p:nvSpPr>
        <p:spPr>
          <a:xfrm>
            <a:off x="914400" y="1755648"/>
            <a:ext cx="237744"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
            </a:r>
          </a:p>
        </p:txBody>
      </p:sp>
      <p:sp>
        <p:nvSpPr>
          <p:cNvPr id="16" name="TextBox 15"/>
          <p:cNvSpPr txBox="1"/>
          <p:nvPr/>
        </p:nvSpPr>
        <p:spPr>
          <a:xfrm>
            <a:off x="1298448" y="1755648"/>
            <a:ext cx="172821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PILLAR</a:t>
            </a:r>
          </a:p>
        </p:txBody>
      </p:sp>
      <p:sp>
        <p:nvSpPr>
          <p:cNvPr id="17" name="TextBox 16"/>
          <p:cNvSpPr txBox="1"/>
          <p:nvPr/>
        </p:nvSpPr>
        <p:spPr>
          <a:xfrm>
            <a:off x="3172968" y="1755648"/>
            <a:ext cx="569945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IT MEANS</a:t>
            </a:r>
          </a:p>
        </p:txBody>
      </p:sp>
      <p:sp>
        <p:nvSpPr>
          <p:cNvPr id="18" name="TextBox 17"/>
          <p:cNvSpPr txBox="1"/>
          <p:nvPr/>
        </p:nvSpPr>
        <p:spPr>
          <a:xfrm>
            <a:off x="9018727" y="1755648"/>
            <a:ext cx="2258568"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EVIDENCE</a:t>
            </a:r>
          </a:p>
        </p:txBody>
      </p:sp>
      <p:sp>
        <p:nvSpPr>
          <p:cNvPr id="19" name="Rectangle 18"/>
          <p:cNvSpPr/>
          <p:nvPr/>
        </p:nvSpPr>
        <p:spPr>
          <a:xfrm>
            <a:off x="841248" y="201168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057400"/>
            <a:ext cx="237744"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C</a:t>
            </a:r>
          </a:p>
        </p:txBody>
      </p:sp>
      <p:sp>
        <p:nvSpPr>
          <p:cNvPr id="21" name="TextBox 20"/>
          <p:cNvSpPr txBox="1"/>
          <p:nvPr/>
        </p:nvSpPr>
        <p:spPr>
          <a:xfrm>
            <a:off x="1298448" y="2057400"/>
            <a:ext cx="1728216"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Conviction</a:t>
            </a:r>
          </a:p>
        </p:txBody>
      </p:sp>
      <p:sp>
        <p:nvSpPr>
          <p:cNvPr id="22" name="TextBox 21"/>
          <p:cNvSpPr txBox="1"/>
          <p:nvPr/>
        </p:nvSpPr>
        <p:spPr>
          <a:xfrm>
            <a:off x="3172968" y="2057400"/>
            <a:ext cx="5699455"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Top-of-category funds earn our biggest calls, while new ones start smaller.</a:t>
            </a:r>
          </a:p>
        </p:txBody>
      </p:sp>
      <p:sp>
        <p:nvSpPr>
          <p:cNvPr id="23" name="TextBox 22"/>
          <p:cNvSpPr txBox="1"/>
          <p:nvPr/>
        </p:nvSpPr>
        <p:spPr>
          <a:xfrm>
            <a:off x="9018727" y="2057400"/>
            <a:ext cx="2258568"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Computed</a:t>
            </a:r>
          </a:p>
        </p:txBody>
      </p:sp>
      <p:sp>
        <p:nvSpPr>
          <p:cNvPr id="24" name="Rectangle 23"/>
          <p:cNvSpPr/>
          <p:nvPr/>
        </p:nvSpPr>
        <p:spPr>
          <a:xfrm>
            <a:off x="841248" y="2377440"/>
            <a:ext cx="10509199" cy="33832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395728"/>
            <a:ext cx="237744"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A</a:t>
            </a:r>
          </a:p>
        </p:txBody>
      </p:sp>
      <p:sp>
        <p:nvSpPr>
          <p:cNvPr id="26" name="TextBox 25"/>
          <p:cNvSpPr txBox="1"/>
          <p:nvPr/>
        </p:nvSpPr>
        <p:spPr>
          <a:xfrm>
            <a:off x="1298448" y="2395728"/>
            <a:ext cx="1728216"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Alpha</a:t>
            </a:r>
          </a:p>
        </p:txBody>
      </p:sp>
      <p:sp>
        <p:nvSpPr>
          <p:cNvPr id="27" name="TextBox 26"/>
          <p:cNvSpPr txBox="1"/>
          <p:nvPr/>
        </p:nvSpPr>
        <p:spPr>
          <a:xfrm>
            <a:off x="3172968" y="2395728"/>
            <a:ext cx="5699455"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Factor alpha and appraisal ratio, gated on clear activeness.</a:t>
            </a:r>
          </a:p>
        </p:txBody>
      </p:sp>
      <p:sp>
        <p:nvSpPr>
          <p:cNvPr id="28" name="TextBox 27"/>
          <p:cNvSpPr txBox="1"/>
          <p:nvPr/>
        </p:nvSpPr>
        <p:spPr>
          <a:xfrm>
            <a:off x="9018727" y="2395728"/>
            <a:ext cx="2258568"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Computed</a:t>
            </a:r>
          </a:p>
        </p:txBody>
      </p:sp>
      <p:sp>
        <p:nvSpPr>
          <p:cNvPr id="29" name="TextBox 28"/>
          <p:cNvSpPr txBox="1"/>
          <p:nvPr/>
        </p:nvSpPr>
        <p:spPr>
          <a:xfrm>
            <a:off x="914400" y="2734056"/>
            <a:ext cx="237744"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L</a:t>
            </a:r>
          </a:p>
        </p:txBody>
      </p:sp>
      <p:sp>
        <p:nvSpPr>
          <p:cNvPr id="30" name="TextBox 29"/>
          <p:cNvSpPr txBox="1"/>
          <p:nvPr/>
        </p:nvSpPr>
        <p:spPr>
          <a:xfrm>
            <a:off x="1298448" y="2734056"/>
            <a:ext cx="1728216"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Leadership</a:t>
            </a:r>
          </a:p>
        </p:txBody>
      </p:sp>
      <p:sp>
        <p:nvSpPr>
          <p:cNvPr id="31" name="TextBox 30"/>
          <p:cNvSpPr txBox="1"/>
          <p:nvPr/>
        </p:nvSpPr>
        <p:spPr>
          <a:xfrm>
            <a:off x="3172968" y="2734056"/>
            <a:ext cx="5699455"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Manager tenure, key-person exit risk, AMC governance, true to mandate.</a:t>
            </a:r>
          </a:p>
        </p:txBody>
      </p:sp>
      <p:sp>
        <p:nvSpPr>
          <p:cNvPr id="32" name="TextBox 31"/>
          <p:cNvSpPr txBox="1"/>
          <p:nvPr/>
        </p:nvSpPr>
        <p:spPr>
          <a:xfrm>
            <a:off x="9018727" y="2734056"/>
            <a:ext cx="2258568"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Analyst</a:t>
            </a:r>
          </a:p>
        </p:txBody>
      </p:sp>
      <p:sp>
        <p:nvSpPr>
          <p:cNvPr id="33" name="Rectangle 32"/>
          <p:cNvSpPr/>
          <p:nvPr/>
        </p:nvSpPr>
        <p:spPr>
          <a:xfrm>
            <a:off x="841248" y="3054096"/>
            <a:ext cx="10509199" cy="33832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072384"/>
            <a:ext cx="237744"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I</a:t>
            </a:r>
          </a:p>
        </p:txBody>
      </p:sp>
      <p:sp>
        <p:nvSpPr>
          <p:cNvPr id="35" name="TextBox 34"/>
          <p:cNvSpPr txBox="1"/>
          <p:nvPr/>
        </p:nvSpPr>
        <p:spPr>
          <a:xfrm>
            <a:off x="1298448" y="3072384"/>
            <a:ext cx="1728216"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Integrity</a:t>
            </a:r>
          </a:p>
        </p:txBody>
      </p:sp>
      <p:sp>
        <p:nvSpPr>
          <p:cNvPr id="36" name="TextBox 35"/>
          <p:cNvSpPr txBox="1"/>
          <p:nvPr/>
        </p:nvSpPr>
        <p:spPr>
          <a:xfrm>
            <a:off x="3172968" y="3072384"/>
            <a:ext cx="5699455"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Fair fees versus category, with nothing hidden from the investor.</a:t>
            </a:r>
          </a:p>
        </p:txBody>
      </p:sp>
      <p:sp>
        <p:nvSpPr>
          <p:cNvPr id="37" name="TextBox 36"/>
          <p:cNvSpPr txBox="1"/>
          <p:nvPr/>
        </p:nvSpPr>
        <p:spPr>
          <a:xfrm>
            <a:off x="9018727" y="3072384"/>
            <a:ext cx="2258568"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Computed</a:t>
            </a:r>
          </a:p>
        </p:txBody>
      </p:sp>
      <p:sp>
        <p:nvSpPr>
          <p:cNvPr id="38" name="TextBox 37"/>
          <p:cNvSpPr txBox="1"/>
          <p:nvPr/>
        </p:nvSpPr>
        <p:spPr>
          <a:xfrm>
            <a:off x="914400" y="3410712"/>
            <a:ext cx="237744"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B</a:t>
            </a:r>
          </a:p>
        </p:txBody>
      </p:sp>
      <p:sp>
        <p:nvSpPr>
          <p:cNvPr id="39" name="TextBox 38"/>
          <p:cNvSpPr txBox="1"/>
          <p:nvPr/>
        </p:nvSpPr>
        <p:spPr>
          <a:xfrm>
            <a:off x="1298448" y="3410712"/>
            <a:ext cx="1728216"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Benchmark</a:t>
            </a:r>
          </a:p>
        </p:txBody>
      </p:sp>
      <p:sp>
        <p:nvSpPr>
          <p:cNvPr id="40" name="TextBox 39"/>
          <p:cNvSpPr txBox="1"/>
          <p:nvPr/>
        </p:nvSpPr>
        <p:spPr>
          <a:xfrm>
            <a:off x="3172968" y="3410712"/>
            <a:ext cx="5699455"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Win rate and up and down capture versus the total-return index.</a:t>
            </a:r>
          </a:p>
        </p:txBody>
      </p:sp>
      <p:sp>
        <p:nvSpPr>
          <p:cNvPr id="41" name="TextBox 40"/>
          <p:cNvSpPr txBox="1"/>
          <p:nvPr/>
        </p:nvSpPr>
        <p:spPr>
          <a:xfrm>
            <a:off x="9018727" y="3410712"/>
            <a:ext cx="2258568"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Computed</a:t>
            </a:r>
          </a:p>
        </p:txBody>
      </p:sp>
      <p:sp>
        <p:nvSpPr>
          <p:cNvPr id="42" name="Rectangle 41"/>
          <p:cNvSpPr/>
          <p:nvPr/>
        </p:nvSpPr>
        <p:spPr>
          <a:xfrm>
            <a:off x="841248" y="3730752"/>
            <a:ext cx="10509199" cy="33832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3749040"/>
            <a:ext cx="237744"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R</a:t>
            </a:r>
          </a:p>
        </p:txBody>
      </p:sp>
      <p:sp>
        <p:nvSpPr>
          <p:cNvPr id="44" name="TextBox 43"/>
          <p:cNvSpPr txBox="1"/>
          <p:nvPr/>
        </p:nvSpPr>
        <p:spPr>
          <a:xfrm>
            <a:off x="1298448" y="3749040"/>
            <a:ext cx="1728216"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Resilience</a:t>
            </a:r>
          </a:p>
        </p:txBody>
      </p:sp>
      <p:sp>
        <p:nvSpPr>
          <p:cNvPr id="45" name="TextBox 44"/>
          <p:cNvSpPr txBox="1"/>
          <p:nvPr/>
        </p:nvSpPr>
        <p:spPr>
          <a:xfrm>
            <a:off x="3172968" y="3749040"/>
            <a:ext cx="5699455"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Down-capture, drawdown, alpha stability, concentration, holdings quality.</a:t>
            </a:r>
          </a:p>
        </p:txBody>
      </p:sp>
      <p:sp>
        <p:nvSpPr>
          <p:cNvPr id="46" name="TextBox 45"/>
          <p:cNvSpPr txBox="1"/>
          <p:nvPr/>
        </p:nvSpPr>
        <p:spPr>
          <a:xfrm>
            <a:off x="9018727" y="3749040"/>
            <a:ext cx="2258568"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Mixed</a:t>
            </a:r>
          </a:p>
        </p:txBody>
      </p:sp>
      <p:sp>
        <p:nvSpPr>
          <p:cNvPr id="47" name="TextBox 46"/>
          <p:cNvSpPr txBox="1"/>
          <p:nvPr/>
        </p:nvSpPr>
        <p:spPr>
          <a:xfrm>
            <a:off x="914400" y="4087368"/>
            <a:ext cx="237744"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E</a:t>
            </a:r>
          </a:p>
        </p:txBody>
      </p:sp>
      <p:sp>
        <p:nvSpPr>
          <p:cNvPr id="48" name="TextBox 47"/>
          <p:cNvSpPr txBox="1"/>
          <p:nvPr/>
        </p:nvSpPr>
        <p:spPr>
          <a:xfrm>
            <a:off x="1298448" y="4087368"/>
            <a:ext cx="1728216"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Edge</a:t>
            </a:r>
          </a:p>
        </p:txBody>
      </p:sp>
      <p:sp>
        <p:nvSpPr>
          <p:cNvPr id="49" name="TextBox 48"/>
          <p:cNvSpPr txBox="1"/>
          <p:nvPr/>
        </p:nvSpPr>
        <p:spPr>
          <a:xfrm>
            <a:off x="3172968" y="4087368"/>
            <a:ext cx="5699455" cy="33832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A validated edge, cost-efficient and clean of red flags.</a:t>
            </a:r>
          </a:p>
        </p:txBody>
      </p:sp>
      <p:sp>
        <p:nvSpPr>
          <p:cNvPr id="50" name="TextBox 49"/>
          <p:cNvSpPr txBox="1"/>
          <p:nvPr/>
        </p:nvSpPr>
        <p:spPr>
          <a:xfrm>
            <a:off x="9018727" y="4087368"/>
            <a:ext cx="2258568" cy="338328"/>
          </a:xfrm>
          <a:prstGeom prst="rect">
            <a:avLst/>
          </a:prstGeom>
          <a:noFill/>
        </p:spPr>
        <p:txBody>
          <a:bodyPr wrap="square" anchor="ctr" lIns="0" rIns="0" tIns="0" bIns="0">
            <a:spAutoFit/>
          </a:bodyPr>
          <a:lstStyle/>
          <a:p>
            <a:pPr algn="ctr">
              <a:spcBef>
                <a:spcPts val="0"/>
              </a:spcBef>
              <a:spcAft>
                <a:spcPts val="0"/>
              </a:spcAft>
            </a:pPr>
            <a:r>
              <a:rPr sz="1000" b="0" i="0">
                <a:solidFill>
                  <a:srgbClr val="16233B"/>
                </a:solidFill>
                <a:latin typeface="Georgia"/>
              </a:rPr>
              <a:t>Computed</a:t>
            </a:r>
          </a:p>
        </p:txBody>
      </p:sp>
      <p:sp>
        <p:nvSpPr>
          <p:cNvPr id="51" name="Rounded Rectangle 50"/>
          <p:cNvSpPr/>
          <p:nvPr/>
        </p:nvSpPr>
        <p:spPr>
          <a:xfrm>
            <a:off x="841248" y="4498848"/>
            <a:ext cx="10509199"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41248" y="4498848"/>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42416" y="4626864"/>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TWO PILLARS WERE WRONG AND ARE NOW FIXED</a:t>
            </a:r>
          </a:p>
        </p:txBody>
      </p:sp>
      <p:sp>
        <p:nvSpPr>
          <p:cNvPr id="54" name="TextBox 53"/>
          <p:cNvSpPr txBox="1"/>
          <p:nvPr/>
        </p:nvSpPr>
        <p:spPr>
          <a:xfrm>
            <a:off x="1042416" y="4901184"/>
            <a:ext cx="1014343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Integrity used to read as Active Share, concentration, price-earnings discipline and return-on-capital quality. That is portfolio construction, not integrity, and two of the four were never computed: there is no return-on-capital formula in the engine, and the price-earnings item is a NAV-trend proxy that disclaims itself. Conviction used to read "within-category rank, clamped to track-record tier", which is accurate and unreadable.</a:t>
            </a:r>
          </a:p>
        </p:txBody>
      </p:sp>
      <p:sp>
        <p:nvSpPr>
          <p:cNvPr id="55" name="TextBox 5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qfra2_pac_prep/CALIBRE_PILLARS.md. Analyst-judgment pillars are labelled as such and applied one-directionally.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HOW IT WORKS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SENTINEL and the churn rule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negative screen, and the discipline that decides when not to act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14</a:t>
            </a:r>
          </a:p>
        </p:txBody>
      </p:sp>
      <p:sp>
        <p:nvSpPr>
          <p:cNvPr id="15" name="Rounded Rectangle 14"/>
          <p:cNvSpPr/>
          <p:nvPr/>
        </p:nvSpPr>
        <p:spPr>
          <a:xfrm>
            <a:off x="841248" y="1792224"/>
            <a:ext cx="1050919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792224"/>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1920240"/>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SENTINEL: SCREEN OUT LOSERS RATHER THAN ONLY RANK WINNERS</a:t>
            </a:r>
          </a:p>
        </p:txBody>
      </p:sp>
      <p:sp>
        <p:nvSpPr>
          <p:cNvPr id="18" name="TextBox 17"/>
          <p:cNvSpPr txBox="1"/>
          <p:nvPr/>
        </p:nvSpPr>
        <p:spPr>
          <a:xfrm>
            <a:off x="1042416" y="2194560"/>
            <a:ext cx="1014343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Per fund, relative to its own category, raise one flag for each proven decay trait and subtract them from the blended score. R-squared in the top quartile means closet indexing. Quality beta in the bottom quartile means a junk book. Appraisal in the bottom quartile means no skill per unit of risk. It lifts our own top-decile beat-the-index rate from 48.5% to 56.6%. Only 3 of 12 candidate traits survived out of sample. It is deliberately switched off for Mid and Value, which mean-revert.</a:t>
            </a:r>
          </a:p>
        </p:txBody>
      </p:sp>
      <p:sp>
        <p:nvSpPr>
          <p:cNvPr id="19" name="Rounded Rectangle 18"/>
          <p:cNvSpPr/>
          <p:nvPr/>
        </p:nvSpPr>
        <p:spPr>
          <a:xfrm>
            <a:off x="841248" y="3351276"/>
            <a:ext cx="10509199"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1248" y="3351276"/>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6" y="3479292"/>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THE CHURN RULE, AND WHAT IT COSTS</a:t>
            </a:r>
          </a:p>
        </p:txBody>
      </p:sp>
      <p:sp>
        <p:nvSpPr>
          <p:cNvPr id="22" name="TextBox 21"/>
          <p:cNvSpPr txBox="1"/>
          <p:nvPr/>
        </p:nvSpPr>
        <p:spPr>
          <a:xfrm>
            <a:off x="1042416" y="3753612"/>
            <a:ext cx="1014343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An incumbent is replaced only if a challenger beats it by a material margin in rank and the incumbent has fallen out of the category's top quartile, with at most one swap per category per review. Realised over eight years: 3.9 book changes a year, average holding near three years. The earlier pack said 2.6 a year; that figure is not supported by any output, including the chart data in the script that printed it.</a:t>
            </a:r>
          </a:p>
        </p:txBody>
      </p:sp>
      <p:sp>
        <p:nvSpPr>
          <p:cNvPr id="23" name="Rounded Rectangle 22"/>
          <p:cNvSpPr/>
          <p:nvPr/>
        </p:nvSpPr>
        <p:spPr>
          <a:xfrm>
            <a:off x="841248" y="4873752"/>
            <a:ext cx="10509199" cy="1074419"/>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4873752"/>
            <a:ext cx="54864" cy="1074419"/>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6" y="500176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ONE CONSEQUENCE THE COMMITTEE SHOULD HOLD ON TO</a:t>
            </a:r>
          </a:p>
        </p:txBody>
      </p:sp>
      <p:sp>
        <p:nvSpPr>
          <p:cNvPr id="26" name="TextBox 25"/>
          <p:cNvSpPr txBox="1"/>
          <p:nvPr/>
        </p:nvSpPr>
        <p:spPr>
          <a:xfrm>
            <a:off x="1042416" y="5276088"/>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SENTINEL is a shortlist screen: it decides which candidates reach the top five. It is not a verdict on a fund a client owns, and our pipeline was briefly wired as though it were. Fixed, and covered in section 4.</a:t>
            </a:r>
          </a:p>
        </p:txBody>
      </p:sp>
      <p:sp>
        <p:nvSpPr>
          <p:cNvPr id="27" name="TextBox 2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SENTINEL lift from QFRA2_evidence.csv. Churn from qfra2_charts_ceo.py chart data and the realised history.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HOW IT WORKS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1800" b="1" i="0">
                <a:solidFill>
                  <a:srgbClr val="1B27A3"/>
                </a:solidFill>
                <a:latin typeface="Bahnschrift"/>
              </a:rPr>
              <a:t>The Mid Cap sleeve, and why it is not an active fund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one category where the routing step overrides the ranking</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1463040"/>
            <a:ext cx="10509199" cy="219456"/>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The sleeve cleared the same out-of-sample bar that every model retune failed, which is what separates an enhancement from a rescue</a:t>
            </a:r>
          </a:p>
        </p:txBody>
      </p:sp>
      <p:sp>
        <p:nvSpPr>
          <p:cNvPr id="15" name="TextBox 14"/>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15</a:t>
            </a:r>
          </a:p>
        </p:txBody>
      </p:sp>
      <p:pic>
        <p:nvPicPr>
          <p:cNvPr id="16" name="Picture 15" descr="qfra2_mid_momentum.png"/>
          <p:cNvPicPr>
            <a:picLocks noChangeAspect="1"/>
          </p:cNvPicPr>
          <p:nvPr/>
        </p:nvPicPr>
        <p:blipFill>
          <a:blip r:embed="rId3"/>
          <a:stretch>
            <a:fillRect/>
          </a:stretch>
        </p:blipFill>
        <p:spPr>
          <a:xfrm>
            <a:off x="1616296" y="1737360"/>
            <a:ext cx="8959102" cy="1874519"/>
          </a:xfrm>
          <a:prstGeom prst="rect">
            <a:avLst/>
          </a:prstGeom>
        </p:spPr>
      </p:pic>
      <p:sp>
        <p:nvSpPr>
          <p:cNvPr id="17" name="Rounded Rectangle 16"/>
          <p:cNvSpPr/>
          <p:nvPr/>
        </p:nvSpPr>
        <p:spPr>
          <a:xfrm>
            <a:off x="841248" y="3685032"/>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3685032"/>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 y="381304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NOT AN ACTIVE MID-CAP FUND</a:t>
            </a:r>
          </a:p>
        </p:txBody>
      </p:sp>
      <p:sp>
        <p:nvSpPr>
          <p:cNvPr id="20" name="TextBox 19"/>
          <p:cNvSpPr txBox="1"/>
          <p:nvPr/>
        </p:nvSpPr>
        <p:spPr>
          <a:xfrm>
            <a:off x="1042416" y="4087368"/>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Mid-cap active selection is indistinguishable from chance over the eight-year replay: the model's picks returned -2.55%/yr against a random pick's -2.61%. The deployed mid book was the worst of the eight categories at -3.16%/yr. There is no stock-picking edge here to sell.</a:t>
            </a:r>
          </a:p>
        </p:txBody>
      </p:sp>
      <p:sp>
        <p:nvSpPr>
          <p:cNvPr id="21" name="Rounded Rectangle 20"/>
          <p:cNvSpPr/>
          <p:nvPr/>
        </p:nvSpPr>
        <p:spPr>
          <a:xfrm>
            <a:off x="841248" y="4832604"/>
            <a:ext cx="10509199" cy="1074419"/>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 y="4832604"/>
            <a:ext cx="54864" cy="1074419"/>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 y="4960620"/>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STRUCTURE, AND WHAT CAN GO WRONG WITH IT</a:t>
            </a:r>
          </a:p>
        </p:txBody>
      </p:sp>
      <p:sp>
        <p:nvSpPr>
          <p:cNvPr id="24" name="TextBox 23"/>
          <p:cNvSpPr txBox="1"/>
          <p:nvPr/>
        </p:nvSpPr>
        <p:spPr>
          <a:xfrm>
            <a:off x="1042416" y="5234940"/>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momentum index carries 50 to 60% of the sleeve and one active fund the rest. Momentum can crash: worst drawdown about -72%, no better than the index it beats. Pre-2022 history is backfilled, and a real vehicle costs 0.3 to 0.5% a year plus tracking error.</a:t>
            </a:r>
          </a:p>
        </p:txBody>
      </p:sp>
      <p:sp>
        <p:nvSpPr>
          <p:cNvPr id="25" name="TextBox 2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Premium and win rates: QFRA2_HANDOFF.md section 4; pre-2018 split from qfra2_charts_ceo.py. Active mid edge: HANDOFF section 5. Held book: QFRA2_recommendation_performance.md. Sleeve spec: QFRA2_MID_SLEEVE.md.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HOW IT WORKS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current final two, per category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engine actually publishes, as of the last run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1463040"/>
            <a:ext cx="10509199" cy="219456"/>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The output the committee is being asked to approve, straight from the engine's recommendation file</a:t>
            </a:r>
          </a:p>
        </p:txBody>
      </p:sp>
      <p:sp>
        <p:nvSpPr>
          <p:cNvPr id="15" name="TextBox 14"/>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16</a:t>
            </a:r>
          </a:p>
        </p:txBody>
      </p:sp>
      <p:sp>
        <p:nvSpPr>
          <p:cNvPr id="16" name="TextBox 15"/>
          <p:cNvSpPr txBox="1"/>
          <p:nvPr/>
        </p:nvSpPr>
        <p:spPr>
          <a:xfrm>
            <a:off x="914400" y="1792224"/>
            <a:ext cx="1466950"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CATEGORY</a:t>
            </a:r>
          </a:p>
        </p:txBody>
      </p:sp>
      <p:sp>
        <p:nvSpPr>
          <p:cNvPr id="17" name="TextBox 16"/>
          <p:cNvSpPr txBox="1"/>
          <p:nvPr/>
        </p:nvSpPr>
        <p:spPr>
          <a:xfrm>
            <a:off x="2527654" y="1792224"/>
            <a:ext cx="1190392"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ROUTING</a:t>
            </a:r>
          </a:p>
        </p:txBody>
      </p:sp>
      <p:sp>
        <p:nvSpPr>
          <p:cNvPr id="18" name="TextBox 17"/>
          <p:cNvSpPr txBox="1"/>
          <p:nvPr/>
        </p:nvSpPr>
        <p:spPr>
          <a:xfrm>
            <a:off x="3864350" y="1792224"/>
            <a:ext cx="340285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FINAL TWO</a:t>
            </a:r>
          </a:p>
        </p:txBody>
      </p:sp>
      <p:sp>
        <p:nvSpPr>
          <p:cNvPr id="19" name="TextBox 18"/>
          <p:cNvSpPr txBox="1"/>
          <p:nvPr/>
        </p:nvSpPr>
        <p:spPr>
          <a:xfrm>
            <a:off x="7413510" y="1792224"/>
            <a:ext cx="637276"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QFRA</a:t>
            </a:r>
          </a:p>
        </p:txBody>
      </p:sp>
      <p:sp>
        <p:nvSpPr>
          <p:cNvPr id="20" name="TextBox 19"/>
          <p:cNvSpPr txBox="1"/>
          <p:nvPr/>
        </p:nvSpPr>
        <p:spPr>
          <a:xfrm>
            <a:off x="8197090" y="1792224"/>
            <a:ext cx="683369"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CALIBRE</a:t>
            </a:r>
          </a:p>
        </p:txBody>
      </p:sp>
      <p:sp>
        <p:nvSpPr>
          <p:cNvPr id="21" name="TextBox 20"/>
          <p:cNvSpPr txBox="1"/>
          <p:nvPr/>
        </p:nvSpPr>
        <p:spPr>
          <a:xfrm>
            <a:off x="9026764" y="1792224"/>
            <a:ext cx="1098206"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SENTINEL</a:t>
            </a:r>
          </a:p>
        </p:txBody>
      </p:sp>
      <p:sp>
        <p:nvSpPr>
          <p:cNvPr id="22" name="TextBox 21"/>
          <p:cNvSpPr txBox="1"/>
          <p:nvPr/>
        </p:nvSpPr>
        <p:spPr>
          <a:xfrm>
            <a:off x="10271274" y="1792224"/>
            <a:ext cx="1006020"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CONVICTION</a:t>
            </a:r>
          </a:p>
        </p:txBody>
      </p:sp>
      <p:sp>
        <p:nvSpPr>
          <p:cNvPr id="23" name="Rectangle 22"/>
          <p:cNvSpPr/>
          <p:nvPr/>
        </p:nvSpPr>
        <p:spPr>
          <a:xfrm>
            <a:off x="841248" y="2048256"/>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093976"/>
            <a:ext cx="1466950"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Large Cap</a:t>
            </a:r>
          </a:p>
        </p:txBody>
      </p:sp>
      <p:sp>
        <p:nvSpPr>
          <p:cNvPr id="25" name="TextBox 24"/>
          <p:cNvSpPr txBox="1"/>
          <p:nvPr/>
        </p:nvSpPr>
        <p:spPr>
          <a:xfrm>
            <a:off x="2527654" y="2093976"/>
            <a:ext cx="1190392"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index core</a:t>
            </a:r>
          </a:p>
        </p:txBody>
      </p:sp>
      <p:sp>
        <p:nvSpPr>
          <p:cNvPr id="26" name="TextBox 25"/>
          <p:cNvSpPr txBox="1"/>
          <p:nvPr/>
        </p:nvSpPr>
        <p:spPr>
          <a:xfrm>
            <a:off x="3864350" y="2093976"/>
            <a:ext cx="3402855"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HSBC Large Cap  ·  Invesco India Largecap</a:t>
            </a:r>
          </a:p>
        </p:txBody>
      </p:sp>
      <p:sp>
        <p:nvSpPr>
          <p:cNvPr id="27" name="TextBox 26"/>
          <p:cNvSpPr txBox="1"/>
          <p:nvPr/>
        </p:nvSpPr>
        <p:spPr>
          <a:xfrm>
            <a:off x="7413510" y="2093976"/>
            <a:ext cx="63727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100 · 88</a:t>
            </a:r>
          </a:p>
        </p:txBody>
      </p:sp>
      <p:sp>
        <p:nvSpPr>
          <p:cNvPr id="28" name="TextBox 27"/>
          <p:cNvSpPr txBox="1"/>
          <p:nvPr/>
        </p:nvSpPr>
        <p:spPr>
          <a:xfrm>
            <a:off x="8197090" y="2093976"/>
            <a:ext cx="683369"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C · C</a:t>
            </a:r>
          </a:p>
        </p:txBody>
      </p:sp>
      <p:sp>
        <p:nvSpPr>
          <p:cNvPr id="29" name="TextBox 28"/>
          <p:cNvSpPr txBox="1"/>
          <p:nvPr/>
        </p:nvSpPr>
        <p:spPr>
          <a:xfrm>
            <a:off x="9026764" y="2093976"/>
            <a:ext cx="109820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clear · clear</a:t>
            </a:r>
          </a:p>
        </p:txBody>
      </p:sp>
      <p:sp>
        <p:nvSpPr>
          <p:cNvPr id="30" name="TextBox 29"/>
          <p:cNvSpPr txBox="1"/>
          <p:nvPr/>
        </p:nvSpPr>
        <p:spPr>
          <a:xfrm>
            <a:off x="10271274" y="2093976"/>
            <a:ext cx="1006020"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Low, index-lean</a:t>
            </a:r>
          </a:p>
        </p:txBody>
      </p:sp>
      <p:sp>
        <p:nvSpPr>
          <p:cNvPr id="31" name="Rectangle 30"/>
          <p:cNvSpPr/>
          <p:nvPr/>
        </p:nvSpPr>
        <p:spPr>
          <a:xfrm>
            <a:off x="841248" y="2496312"/>
            <a:ext cx="10509199" cy="42062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2514600"/>
            <a:ext cx="1466950"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Large &amp; Mid Cap</a:t>
            </a:r>
          </a:p>
        </p:txBody>
      </p:sp>
      <p:sp>
        <p:nvSpPr>
          <p:cNvPr id="33" name="TextBox 32"/>
          <p:cNvSpPr txBox="1"/>
          <p:nvPr/>
        </p:nvSpPr>
        <p:spPr>
          <a:xfrm>
            <a:off x="2527654" y="2514600"/>
            <a:ext cx="1190392"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active</a:t>
            </a:r>
          </a:p>
        </p:txBody>
      </p:sp>
      <p:sp>
        <p:nvSpPr>
          <p:cNvPr id="34" name="TextBox 33"/>
          <p:cNvSpPr txBox="1"/>
          <p:nvPr/>
        </p:nvSpPr>
        <p:spPr>
          <a:xfrm>
            <a:off x="3864350" y="2514600"/>
            <a:ext cx="3402855"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ICICI Pru Large &amp; Mid  ·  Franklin India Equity Adv</a:t>
            </a:r>
          </a:p>
        </p:txBody>
      </p:sp>
      <p:sp>
        <p:nvSpPr>
          <p:cNvPr id="35" name="TextBox 34"/>
          <p:cNvSpPr txBox="1"/>
          <p:nvPr/>
        </p:nvSpPr>
        <p:spPr>
          <a:xfrm>
            <a:off x="7413510" y="2514600"/>
            <a:ext cx="63727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100 · 80</a:t>
            </a:r>
          </a:p>
        </p:txBody>
      </p:sp>
      <p:sp>
        <p:nvSpPr>
          <p:cNvPr id="36" name="TextBox 35"/>
          <p:cNvSpPr txBox="1"/>
          <p:nvPr/>
        </p:nvSpPr>
        <p:spPr>
          <a:xfrm>
            <a:off x="8197090" y="2514600"/>
            <a:ext cx="683369"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A · A</a:t>
            </a:r>
          </a:p>
        </p:txBody>
      </p:sp>
      <p:sp>
        <p:nvSpPr>
          <p:cNvPr id="37" name="TextBox 36"/>
          <p:cNvSpPr txBox="1"/>
          <p:nvPr/>
        </p:nvSpPr>
        <p:spPr>
          <a:xfrm>
            <a:off x="9026764" y="2514600"/>
            <a:ext cx="109820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clear · flagged (1)</a:t>
            </a:r>
          </a:p>
        </p:txBody>
      </p:sp>
      <p:sp>
        <p:nvSpPr>
          <p:cNvPr id="38" name="TextBox 37"/>
          <p:cNvSpPr txBox="1"/>
          <p:nvPr/>
        </p:nvSpPr>
        <p:spPr>
          <a:xfrm>
            <a:off x="10271274" y="2514600"/>
            <a:ext cx="1006020"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High</a:t>
            </a:r>
          </a:p>
        </p:txBody>
      </p:sp>
      <p:sp>
        <p:nvSpPr>
          <p:cNvPr id="39" name="TextBox 38"/>
          <p:cNvSpPr txBox="1"/>
          <p:nvPr/>
        </p:nvSpPr>
        <p:spPr>
          <a:xfrm>
            <a:off x="914400" y="2935224"/>
            <a:ext cx="1466950"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Mid Cap</a:t>
            </a:r>
          </a:p>
        </p:txBody>
      </p:sp>
      <p:sp>
        <p:nvSpPr>
          <p:cNvPr id="40" name="TextBox 39"/>
          <p:cNvSpPr txBox="1"/>
          <p:nvPr/>
        </p:nvSpPr>
        <p:spPr>
          <a:xfrm>
            <a:off x="2527654" y="2935224"/>
            <a:ext cx="1190392"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momentum sleeve</a:t>
            </a:r>
          </a:p>
        </p:txBody>
      </p:sp>
      <p:sp>
        <p:nvSpPr>
          <p:cNvPr id="41" name="TextBox 40"/>
          <p:cNvSpPr txBox="1"/>
          <p:nvPr/>
        </p:nvSpPr>
        <p:spPr>
          <a:xfrm>
            <a:off x="3864350" y="2935224"/>
            <a:ext cx="3402855"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Quant Mid Cap  ·  Aditya Birla SL Midcap</a:t>
            </a:r>
          </a:p>
        </p:txBody>
      </p:sp>
      <p:sp>
        <p:nvSpPr>
          <p:cNvPr id="42" name="TextBox 41"/>
          <p:cNvSpPr txBox="1"/>
          <p:nvPr/>
        </p:nvSpPr>
        <p:spPr>
          <a:xfrm>
            <a:off x="7413510" y="2935224"/>
            <a:ext cx="63727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100 · 88</a:t>
            </a:r>
          </a:p>
        </p:txBody>
      </p:sp>
      <p:sp>
        <p:nvSpPr>
          <p:cNvPr id="43" name="TextBox 42"/>
          <p:cNvSpPr txBox="1"/>
          <p:nvPr/>
        </p:nvSpPr>
        <p:spPr>
          <a:xfrm>
            <a:off x="8197090" y="2935224"/>
            <a:ext cx="683369"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C · C</a:t>
            </a:r>
          </a:p>
        </p:txBody>
      </p:sp>
      <p:sp>
        <p:nvSpPr>
          <p:cNvPr id="44" name="TextBox 43"/>
          <p:cNvSpPr txBox="1"/>
          <p:nvPr/>
        </p:nvSpPr>
        <p:spPr>
          <a:xfrm>
            <a:off x="9026764" y="2935224"/>
            <a:ext cx="109820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clear · clear</a:t>
            </a:r>
          </a:p>
        </p:txBody>
      </p:sp>
      <p:sp>
        <p:nvSpPr>
          <p:cNvPr id="45" name="TextBox 44"/>
          <p:cNvSpPr txBox="1"/>
          <p:nvPr/>
        </p:nvSpPr>
        <p:spPr>
          <a:xfrm>
            <a:off x="10271274" y="2935224"/>
            <a:ext cx="1006020"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Low, index-lean</a:t>
            </a:r>
          </a:p>
        </p:txBody>
      </p:sp>
      <p:sp>
        <p:nvSpPr>
          <p:cNvPr id="46" name="Rectangle 45"/>
          <p:cNvSpPr/>
          <p:nvPr/>
        </p:nvSpPr>
        <p:spPr>
          <a:xfrm>
            <a:off x="841248" y="3337560"/>
            <a:ext cx="10509199" cy="42062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 y="3355848"/>
            <a:ext cx="1466950"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Flexi Cap</a:t>
            </a:r>
          </a:p>
        </p:txBody>
      </p:sp>
      <p:sp>
        <p:nvSpPr>
          <p:cNvPr id="48" name="TextBox 47"/>
          <p:cNvSpPr txBox="1"/>
          <p:nvPr/>
        </p:nvSpPr>
        <p:spPr>
          <a:xfrm>
            <a:off x="2527654" y="3355848"/>
            <a:ext cx="1190392"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active</a:t>
            </a:r>
          </a:p>
        </p:txBody>
      </p:sp>
      <p:sp>
        <p:nvSpPr>
          <p:cNvPr id="49" name="TextBox 48"/>
          <p:cNvSpPr txBox="1"/>
          <p:nvPr/>
        </p:nvSpPr>
        <p:spPr>
          <a:xfrm>
            <a:off x="3864350" y="3355848"/>
            <a:ext cx="3402855"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Kotak Flexicap  ·  HDFC Flexi Cap</a:t>
            </a:r>
          </a:p>
        </p:txBody>
      </p:sp>
      <p:sp>
        <p:nvSpPr>
          <p:cNvPr id="50" name="TextBox 49"/>
          <p:cNvSpPr txBox="1"/>
          <p:nvPr/>
        </p:nvSpPr>
        <p:spPr>
          <a:xfrm>
            <a:off x="7413510" y="3355848"/>
            <a:ext cx="63727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100 · 83</a:t>
            </a:r>
          </a:p>
        </p:txBody>
      </p:sp>
      <p:sp>
        <p:nvSpPr>
          <p:cNvPr id="51" name="TextBox 50"/>
          <p:cNvSpPr txBox="1"/>
          <p:nvPr/>
        </p:nvSpPr>
        <p:spPr>
          <a:xfrm>
            <a:off x="8197090" y="3355848"/>
            <a:ext cx="683369"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A · A</a:t>
            </a:r>
          </a:p>
        </p:txBody>
      </p:sp>
      <p:sp>
        <p:nvSpPr>
          <p:cNvPr id="52" name="TextBox 51"/>
          <p:cNvSpPr txBox="1"/>
          <p:nvPr/>
        </p:nvSpPr>
        <p:spPr>
          <a:xfrm>
            <a:off x="9026764" y="3355848"/>
            <a:ext cx="109820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clear · clear</a:t>
            </a:r>
          </a:p>
        </p:txBody>
      </p:sp>
      <p:sp>
        <p:nvSpPr>
          <p:cNvPr id="53" name="TextBox 52"/>
          <p:cNvSpPr txBox="1"/>
          <p:nvPr/>
        </p:nvSpPr>
        <p:spPr>
          <a:xfrm>
            <a:off x="10271274" y="3355848"/>
            <a:ext cx="1006020"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High</a:t>
            </a:r>
          </a:p>
        </p:txBody>
      </p:sp>
      <p:sp>
        <p:nvSpPr>
          <p:cNvPr id="54" name="TextBox 53"/>
          <p:cNvSpPr txBox="1"/>
          <p:nvPr/>
        </p:nvSpPr>
        <p:spPr>
          <a:xfrm>
            <a:off x="914400" y="3776472"/>
            <a:ext cx="1466950"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Multi Cap</a:t>
            </a:r>
          </a:p>
        </p:txBody>
      </p:sp>
      <p:sp>
        <p:nvSpPr>
          <p:cNvPr id="55" name="TextBox 54"/>
          <p:cNvSpPr txBox="1"/>
          <p:nvPr/>
        </p:nvSpPr>
        <p:spPr>
          <a:xfrm>
            <a:off x="2527654" y="3776472"/>
            <a:ext cx="1190392"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active</a:t>
            </a:r>
          </a:p>
        </p:txBody>
      </p:sp>
      <p:sp>
        <p:nvSpPr>
          <p:cNvPr id="56" name="TextBox 55"/>
          <p:cNvSpPr txBox="1"/>
          <p:nvPr/>
        </p:nvSpPr>
        <p:spPr>
          <a:xfrm>
            <a:off x="3864350" y="3776472"/>
            <a:ext cx="3402855"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Invesco India Multicap  ·  ICICI Pru Multicap</a:t>
            </a:r>
          </a:p>
        </p:txBody>
      </p:sp>
      <p:sp>
        <p:nvSpPr>
          <p:cNvPr id="57" name="TextBox 56"/>
          <p:cNvSpPr txBox="1"/>
          <p:nvPr/>
        </p:nvSpPr>
        <p:spPr>
          <a:xfrm>
            <a:off x="7413510" y="3776472"/>
            <a:ext cx="63727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100 · 80</a:t>
            </a:r>
          </a:p>
        </p:txBody>
      </p:sp>
      <p:sp>
        <p:nvSpPr>
          <p:cNvPr id="58" name="TextBox 57"/>
          <p:cNvSpPr txBox="1"/>
          <p:nvPr/>
        </p:nvSpPr>
        <p:spPr>
          <a:xfrm>
            <a:off x="8197090" y="3776472"/>
            <a:ext cx="683369"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A · A</a:t>
            </a:r>
          </a:p>
        </p:txBody>
      </p:sp>
      <p:sp>
        <p:nvSpPr>
          <p:cNvPr id="59" name="TextBox 58"/>
          <p:cNvSpPr txBox="1"/>
          <p:nvPr/>
        </p:nvSpPr>
        <p:spPr>
          <a:xfrm>
            <a:off x="9026764" y="3776472"/>
            <a:ext cx="109820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clear · clear</a:t>
            </a:r>
          </a:p>
        </p:txBody>
      </p:sp>
      <p:sp>
        <p:nvSpPr>
          <p:cNvPr id="60" name="TextBox 59"/>
          <p:cNvSpPr txBox="1"/>
          <p:nvPr/>
        </p:nvSpPr>
        <p:spPr>
          <a:xfrm>
            <a:off x="10271274" y="3776472"/>
            <a:ext cx="1006020"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High</a:t>
            </a:r>
          </a:p>
        </p:txBody>
      </p:sp>
      <p:sp>
        <p:nvSpPr>
          <p:cNvPr id="61" name="Rectangle 60"/>
          <p:cNvSpPr/>
          <p:nvPr/>
        </p:nvSpPr>
        <p:spPr>
          <a:xfrm>
            <a:off x="841248" y="4178808"/>
            <a:ext cx="10509199" cy="42062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4400" y="4197096"/>
            <a:ext cx="1466950"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Small Cap</a:t>
            </a:r>
          </a:p>
        </p:txBody>
      </p:sp>
      <p:sp>
        <p:nvSpPr>
          <p:cNvPr id="63" name="TextBox 62"/>
          <p:cNvSpPr txBox="1"/>
          <p:nvPr/>
        </p:nvSpPr>
        <p:spPr>
          <a:xfrm>
            <a:off x="2527654" y="4197096"/>
            <a:ext cx="1190392"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active</a:t>
            </a:r>
          </a:p>
        </p:txBody>
      </p:sp>
      <p:sp>
        <p:nvSpPr>
          <p:cNvPr id="64" name="TextBox 63"/>
          <p:cNvSpPr txBox="1"/>
          <p:nvPr/>
        </p:nvSpPr>
        <p:spPr>
          <a:xfrm>
            <a:off x="3864350" y="4197096"/>
            <a:ext cx="3402855" cy="42062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Aditya Birla SL Small Cap  ·  Sundaram Small Cap</a:t>
            </a:r>
          </a:p>
        </p:txBody>
      </p:sp>
      <p:sp>
        <p:nvSpPr>
          <p:cNvPr id="65" name="TextBox 64"/>
          <p:cNvSpPr txBox="1"/>
          <p:nvPr/>
        </p:nvSpPr>
        <p:spPr>
          <a:xfrm>
            <a:off x="7413510" y="4197096"/>
            <a:ext cx="63727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100 · 83</a:t>
            </a:r>
          </a:p>
        </p:txBody>
      </p:sp>
      <p:sp>
        <p:nvSpPr>
          <p:cNvPr id="66" name="TextBox 65"/>
          <p:cNvSpPr txBox="1"/>
          <p:nvPr/>
        </p:nvSpPr>
        <p:spPr>
          <a:xfrm>
            <a:off x="8197090" y="4197096"/>
            <a:ext cx="683369"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A · A</a:t>
            </a:r>
          </a:p>
        </p:txBody>
      </p:sp>
      <p:sp>
        <p:nvSpPr>
          <p:cNvPr id="67" name="TextBox 66"/>
          <p:cNvSpPr txBox="1"/>
          <p:nvPr/>
        </p:nvSpPr>
        <p:spPr>
          <a:xfrm>
            <a:off x="9026764" y="4197096"/>
            <a:ext cx="1098206"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clear · clear</a:t>
            </a:r>
          </a:p>
        </p:txBody>
      </p:sp>
      <p:sp>
        <p:nvSpPr>
          <p:cNvPr id="68" name="TextBox 67"/>
          <p:cNvSpPr txBox="1"/>
          <p:nvPr/>
        </p:nvSpPr>
        <p:spPr>
          <a:xfrm>
            <a:off x="10271274" y="4197096"/>
            <a:ext cx="1006020" cy="420624"/>
          </a:xfrm>
          <a:prstGeom prst="rect">
            <a:avLst/>
          </a:prstGeom>
          <a:noFill/>
        </p:spPr>
        <p:txBody>
          <a:bodyPr wrap="square" anchor="ctr" lIns="0" rIns="0" tIns="0" bIns="0">
            <a:spAutoFit/>
          </a:bodyPr>
          <a:lstStyle/>
          <a:p>
            <a:pPr algn="ctr">
              <a:spcBef>
                <a:spcPts val="0"/>
              </a:spcBef>
              <a:spcAft>
                <a:spcPts val="0"/>
              </a:spcAft>
            </a:pPr>
            <a:r>
              <a:rPr sz="900" b="0" i="0">
                <a:solidFill>
                  <a:srgbClr val="16233B"/>
                </a:solidFill>
                <a:latin typeface="Georgia"/>
              </a:rPr>
              <a:t>High</a:t>
            </a:r>
          </a:p>
        </p:txBody>
      </p:sp>
      <p:sp>
        <p:nvSpPr>
          <p:cNvPr id="69" name="Rounded Rectangle 68"/>
          <p:cNvSpPr/>
          <p:nvPr/>
        </p:nvSpPr>
        <p:spPr>
          <a:xfrm>
            <a:off x="841248" y="4617720"/>
            <a:ext cx="10509199" cy="1243584"/>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41248" y="4617720"/>
            <a:ext cx="54864" cy="1243584"/>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42416" y="4745736"/>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THREE THINGS TO READ OFF THIS TABLE BEFORE APPROVING IT</a:t>
            </a:r>
          </a:p>
        </p:txBody>
      </p:sp>
      <p:sp>
        <p:nvSpPr>
          <p:cNvPr id="72" name="TextBox 71"/>
          <p:cNvSpPr txBox="1"/>
          <p:nvPr/>
        </p:nvSpPr>
        <p:spPr>
          <a:xfrm>
            <a:off x="1042416" y="5020056"/>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In deployment the Mid slot-1 fund is replaced by the BSE Midcap 150 Momentum 30 index, for the reason on the previous page; the ranked fund stays as the active half. A score is a rank within its own category, so Large Cap's 88 and Flexi's 83 are not comparable quantities. And Focused and Value are ranked by the engine but are not in the ask.</a:t>
            </a:r>
          </a:p>
        </p:txBody>
      </p:sp>
      <p:sp>
        <p:nvSpPr>
          <p:cNvPr id="73" name="TextBox 7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Verbatim from mr_x_framework/outputs/recommendations/QFRA2_current.csv, rank&lt;=2, asof 2026-05-27. Column merit_grade is shown as CALIBRE, the pending rename. Out-of-scope ranks: Focused (360 ONE, HSBC), Value/Contra (two closed Sundaram series with no continuous NAV).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HOW IT WORKS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one fund's output looks like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Aditya Birla SL Small Cap Fund, Direct Growth  ·  Small Cap  ·  active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1463040"/>
            <a:ext cx="10509199" cy="219456"/>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The client-facing scorecard the engine produces per fund. Four fields, each computed, and no forecast</a:t>
            </a:r>
          </a:p>
        </p:txBody>
      </p:sp>
      <p:sp>
        <p:nvSpPr>
          <p:cNvPr id="15" name="TextBox 14"/>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17</a:t>
            </a:r>
          </a:p>
        </p:txBody>
      </p:sp>
      <p:sp>
        <p:nvSpPr>
          <p:cNvPr id="16" name="TextBox 15"/>
          <p:cNvSpPr txBox="1"/>
          <p:nvPr/>
        </p:nvSpPr>
        <p:spPr>
          <a:xfrm>
            <a:off x="841248"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100 / 100</a:t>
            </a:r>
          </a:p>
        </p:txBody>
      </p:sp>
      <p:sp>
        <p:nvSpPr>
          <p:cNvPr id="17" name="TextBox 16"/>
          <p:cNvSpPr txBox="1"/>
          <p:nvPr/>
        </p:nvSpPr>
        <p:spPr>
          <a:xfrm>
            <a:off x="841248"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QFRA SCORE, WITHIN CATEGORY</a:t>
            </a:r>
          </a:p>
        </p:txBody>
      </p:sp>
      <p:sp>
        <p:nvSpPr>
          <p:cNvPr id="18" name="TextBox 17"/>
          <p:cNvSpPr txBox="1"/>
          <p:nvPr/>
        </p:nvSpPr>
        <p:spPr>
          <a:xfrm>
            <a:off x="34685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A</a:t>
            </a:r>
          </a:p>
        </p:txBody>
      </p:sp>
      <p:sp>
        <p:nvSpPr>
          <p:cNvPr id="19" name="TextBox 18"/>
          <p:cNvSpPr txBox="1"/>
          <p:nvPr/>
        </p:nvSpPr>
        <p:spPr>
          <a:xfrm>
            <a:off x="34685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CALIBRE GRADE</a:t>
            </a:r>
          </a:p>
        </p:txBody>
      </p:sp>
      <p:sp>
        <p:nvSpPr>
          <p:cNvPr id="20" name="Rectangle 19"/>
          <p:cNvSpPr/>
          <p:nvPr/>
        </p:nvSpPr>
        <p:spPr>
          <a:xfrm>
            <a:off x="34136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58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clear</a:t>
            </a:r>
          </a:p>
        </p:txBody>
      </p:sp>
      <p:sp>
        <p:nvSpPr>
          <p:cNvPr id="22" name="TextBox 21"/>
          <p:cNvSpPr txBox="1"/>
          <p:nvPr/>
        </p:nvSpPr>
        <p:spPr>
          <a:xfrm>
            <a:off x="60958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SENTINEL, NO LOSER FLAGS</a:t>
            </a:r>
          </a:p>
        </p:txBody>
      </p:sp>
      <p:sp>
        <p:nvSpPr>
          <p:cNvPr id="23" name="Rectangle 22"/>
          <p:cNvSpPr/>
          <p:nvPr/>
        </p:nvSpPr>
        <p:spPr>
          <a:xfrm>
            <a:off x="60409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231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0.84</a:t>
            </a:r>
          </a:p>
        </p:txBody>
      </p:sp>
      <p:sp>
        <p:nvSpPr>
          <p:cNvPr id="25" name="TextBox 24"/>
          <p:cNvSpPr txBox="1"/>
          <p:nvPr/>
        </p:nvSpPr>
        <p:spPr>
          <a:xfrm>
            <a:off x="87231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 VS CATEGORY</a:t>
            </a:r>
          </a:p>
        </p:txBody>
      </p:sp>
      <p:sp>
        <p:nvSpPr>
          <p:cNvPr id="26" name="Rectangle 25"/>
          <p:cNvSpPr/>
          <p:nvPr/>
        </p:nvSpPr>
        <p:spPr>
          <a:xfrm>
            <a:off x="86682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2615184"/>
            <a:ext cx="2651760" cy="365760"/>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Drivers</a:t>
            </a:r>
          </a:p>
        </p:txBody>
      </p:sp>
      <p:sp>
        <p:nvSpPr>
          <p:cNvPr id="28" name="TextBox 27"/>
          <p:cNvSpPr txBox="1"/>
          <p:nvPr/>
        </p:nvSpPr>
        <p:spPr>
          <a:xfrm>
            <a:off x="3630168" y="2615184"/>
            <a:ext cx="7720279" cy="566928"/>
          </a:xfrm>
          <a:prstGeom prst="rect">
            <a:avLst/>
          </a:prstGeom>
          <a:noFill/>
        </p:spPr>
        <p:txBody>
          <a:bodyPr wrap="square" anchor="t" lIns="0" rIns="0" tIns="0" bIns="0">
            <a:spAutoFit/>
          </a:bodyPr>
          <a:lstStyle/>
          <a:p>
            <a:pPr algn="l">
              <a:spcBef>
                <a:spcPts val="0"/>
              </a:spcBef>
              <a:spcAft>
                <a:spcPts val="0"/>
              </a:spcAft>
            </a:pPr>
            <a:r>
              <a:rPr sz="1050" b="0" i="0">
                <a:solidFill>
                  <a:srgbClr val="16233B"/>
                </a:solidFill>
                <a:latin typeface="Bahnschrift"/>
              </a:rPr>
              <a:t>Top-quartile factor alpha and appraisal ratio, a favourable six-month capture ratio, no SENTINEL flag, and the highest absolute alpha of the eight categories.</a:t>
            </a:r>
          </a:p>
        </p:txBody>
      </p:sp>
      <p:sp>
        <p:nvSpPr>
          <p:cNvPr id="29" name="TextBox 28"/>
          <p:cNvSpPr txBox="1"/>
          <p:nvPr/>
        </p:nvSpPr>
        <p:spPr>
          <a:xfrm>
            <a:off x="841248" y="3236976"/>
            <a:ext cx="2651760" cy="365760"/>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What would change our mind</a:t>
            </a:r>
          </a:p>
        </p:txBody>
      </p:sp>
      <p:sp>
        <p:nvSpPr>
          <p:cNvPr id="30" name="TextBox 29"/>
          <p:cNvSpPr txBox="1"/>
          <p:nvPr/>
        </p:nvSpPr>
        <p:spPr>
          <a:xfrm>
            <a:off x="3630168" y="3236976"/>
            <a:ext cx="7720279" cy="566928"/>
          </a:xfrm>
          <a:prstGeom prst="rect">
            <a:avLst/>
          </a:prstGeom>
          <a:noFill/>
        </p:spPr>
        <p:txBody>
          <a:bodyPr wrap="square" anchor="t" lIns="0" rIns="0" tIns="0" bIns="0">
            <a:spAutoFit/>
          </a:bodyPr>
          <a:lstStyle/>
          <a:p>
            <a:pPr algn="l">
              <a:spcBef>
                <a:spcPts val="0"/>
              </a:spcBef>
              <a:spcAft>
                <a:spcPts val="0"/>
              </a:spcAft>
            </a:pPr>
            <a:r>
              <a:rPr sz="1050" b="0" i="0">
                <a:solidFill>
                  <a:srgbClr val="16233B"/>
                </a:solidFill>
                <a:latin typeface="Bahnschrift"/>
              </a:rPr>
              <a:t>A SENTINEL flag; falling out of the category's top quartile while a challenger clears the churn margin; or a hard red flag such as a manager exit or a capacity breach.</a:t>
            </a:r>
          </a:p>
        </p:txBody>
      </p:sp>
      <p:sp>
        <p:nvSpPr>
          <p:cNvPr id="31" name="TextBox 30"/>
          <p:cNvSpPr txBox="1"/>
          <p:nvPr/>
        </p:nvSpPr>
        <p:spPr>
          <a:xfrm>
            <a:off x="841248" y="3858768"/>
            <a:ext cx="2651760" cy="365760"/>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Live</a:t>
            </a:r>
          </a:p>
        </p:txBody>
      </p:sp>
      <p:sp>
        <p:nvSpPr>
          <p:cNvPr id="32" name="TextBox 31"/>
          <p:cNvSpPr txBox="1"/>
          <p:nvPr/>
        </p:nvSpPr>
        <p:spPr>
          <a:xfrm>
            <a:off x="3630168" y="3858768"/>
            <a:ext cx="7720279" cy="566928"/>
          </a:xfrm>
          <a:prstGeom prst="rect">
            <a:avLst/>
          </a:prstGeom>
          <a:noFill/>
        </p:spPr>
        <p:txBody>
          <a:bodyPr wrap="square" anchor="t" lIns="0" rIns="0" tIns="0" bIns="0">
            <a:spAutoFit/>
          </a:bodyPr>
          <a:lstStyle/>
          <a:p>
            <a:pPr algn="l">
              <a:spcBef>
                <a:spcPts val="0"/>
              </a:spcBef>
              <a:spcAft>
                <a:spcPts val="0"/>
              </a:spcAft>
            </a:pPr>
            <a:r>
              <a:rPr sz="1050" b="0" i="0">
                <a:solidFill>
                  <a:srgbClr val="16233B"/>
                </a:solidFill>
                <a:latin typeface="Bahnschrift"/>
              </a:rPr>
              <a:t>Recommended January 2025. Realised +7.3%/yr alpha to 2026-05-27, the best of the twelve in-scope picks.</a:t>
            </a:r>
          </a:p>
        </p:txBody>
      </p:sp>
      <p:sp>
        <p:nvSpPr>
          <p:cNvPr id="33" name="Rounded Rectangle 32"/>
          <p:cNvSpPr/>
          <p:nvPr/>
        </p:nvSpPr>
        <p:spPr>
          <a:xfrm>
            <a:off x="841248" y="4535423"/>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1248" y="4535423"/>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2416" y="4663439"/>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WHAT THIS PAGE USED TO CLAIM, AND DOES NOT</a:t>
            </a:r>
          </a:p>
        </p:txBody>
      </p:sp>
      <p:sp>
        <p:nvSpPr>
          <p:cNvPr id="36" name="TextBox 35"/>
          <p:cNvSpPr txBox="1"/>
          <p:nvPr/>
        </p:nvSpPr>
        <p:spPr>
          <a:xfrm>
            <a:off x="1042416" y="4937759"/>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previous version carried a chip reading P(beat 3-5y) about 56%. The engine does not compute it: the figure was a hardcoded string, and the model's own specification defers the calibrated probability as in-sample only and says not to promise it client-facing. It is removed rather than re-estimated.</a:t>
            </a:r>
          </a:p>
        </p:txBody>
      </p:sp>
      <p:sp>
        <p:nvSpPr>
          <p:cNvPr id="37" name="TextBox 3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Fields verbatim from QFRA2_current.csv for this fund. Realised alpha from QFRA2_realized.csv. Deferred probability: MODEL_SPEC.md Part D, steps 9 and 11; finding 1 in qfra2_pac_prep/NUMBER_AUDIT.md.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3.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03</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03</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The evidence, honestly</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What the ranking earns, what the deployed book earns, and how both compare with the obvious alternative</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19-24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THE EVIDENCE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1900" b="1" i="0">
                <a:solidFill>
                  <a:srgbClr val="1B27A3"/>
                </a:solidFill>
                <a:latin typeface="Bahnschrift"/>
              </a:rPr>
              <a:t>The number we have been quoting is the wrong book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400" b="1" i="0">
                <a:solidFill>
                  <a:srgbClr val="F2A93C"/>
                </a:solidFill>
                <a:latin typeface="Bahnschrift"/>
              </a:rPr>
              <a:t>Selection skill is measured on the unconstrained ranking. Clients hold the churn-constrained one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19</a:t>
            </a:r>
          </a:p>
        </p:txBody>
      </p:sp>
      <p:sp>
        <p:nvSpPr>
          <p:cNvPr id="15" name="TextBox 14"/>
          <p:cNvSpPr txBox="1"/>
          <p:nvPr/>
        </p:nvSpPr>
        <p:spPr>
          <a:xfrm>
            <a:off x="914400" y="1773936"/>
            <a:ext cx="2931704"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BOOK</a:t>
            </a:r>
          </a:p>
        </p:txBody>
      </p:sp>
      <p:sp>
        <p:nvSpPr>
          <p:cNvPr id="16" name="TextBox 15"/>
          <p:cNvSpPr txBox="1"/>
          <p:nvPr/>
        </p:nvSpPr>
        <p:spPr>
          <a:xfrm>
            <a:off x="3992408" y="1773936"/>
            <a:ext cx="1480643"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1Y MEDIAN ALPHA</a:t>
            </a:r>
          </a:p>
        </p:txBody>
      </p:sp>
      <p:sp>
        <p:nvSpPr>
          <p:cNvPr id="17" name="TextBox 16"/>
          <p:cNvSpPr txBox="1"/>
          <p:nvPr/>
        </p:nvSpPr>
        <p:spPr>
          <a:xfrm>
            <a:off x="5619355" y="1773936"/>
            <a:ext cx="1480643"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3Y MEDIAN ALPHA</a:t>
            </a:r>
          </a:p>
        </p:txBody>
      </p:sp>
      <p:sp>
        <p:nvSpPr>
          <p:cNvPr id="18" name="TextBox 17"/>
          <p:cNvSpPr txBox="1"/>
          <p:nvPr/>
        </p:nvSpPr>
        <p:spPr>
          <a:xfrm>
            <a:off x="7246302" y="1773936"/>
            <a:ext cx="1260785"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3Y WIN RATE</a:t>
            </a:r>
          </a:p>
        </p:txBody>
      </p:sp>
      <p:sp>
        <p:nvSpPr>
          <p:cNvPr id="19" name="TextBox 18"/>
          <p:cNvSpPr txBox="1"/>
          <p:nvPr/>
        </p:nvSpPr>
        <p:spPr>
          <a:xfrm>
            <a:off x="8653391" y="1773936"/>
            <a:ext cx="1480643"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5Y MEDIAN ALPHA</a:t>
            </a:r>
          </a:p>
        </p:txBody>
      </p:sp>
      <p:sp>
        <p:nvSpPr>
          <p:cNvPr id="20" name="TextBox 19"/>
          <p:cNvSpPr txBox="1"/>
          <p:nvPr/>
        </p:nvSpPr>
        <p:spPr>
          <a:xfrm>
            <a:off x="10280339" y="1773936"/>
            <a:ext cx="996956"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CHANGES / YR</a:t>
            </a:r>
          </a:p>
        </p:txBody>
      </p:sp>
      <p:sp>
        <p:nvSpPr>
          <p:cNvPr id="21" name="Rectangle 20"/>
          <p:cNvSpPr/>
          <p:nvPr/>
        </p:nvSpPr>
        <p:spPr>
          <a:xfrm>
            <a:off x="841248" y="2029967"/>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2075688"/>
            <a:ext cx="2931704"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HELD: deployed, churn-constrained</a:t>
            </a:r>
          </a:p>
        </p:txBody>
      </p:sp>
      <p:sp>
        <p:nvSpPr>
          <p:cNvPr id="23" name="TextBox 22"/>
          <p:cNvSpPr txBox="1"/>
          <p:nvPr/>
        </p:nvSpPr>
        <p:spPr>
          <a:xfrm>
            <a:off x="3992408" y="2075688"/>
            <a:ext cx="1480643"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-0.09%</a:t>
            </a:r>
          </a:p>
        </p:txBody>
      </p:sp>
      <p:sp>
        <p:nvSpPr>
          <p:cNvPr id="24" name="TextBox 23"/>
          <p:cNvSpPr txBox="1"/>
          <p:nvPr/>
        </p:nvSpPr>
        <p:spPr>
          <a:xfrm>
            <a:off x="5619355" y="2075688"/>
            <a:ext cx="1480643"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+0.09%</a:t>
            </a:r>
          </a:p>
        </p:txBody>
      </p:sp>
      <p:sp>
        <p:nvSpPr>
          <p:cNvPr id="25" name="TextBox 24"/>
          <p:cNvSpPr txBox="1"/>
          <p:nvPr/>
        </p:nvSpPr>
        <p:spPr>
          <a:xfrm>
            <a:off x="7246302" y="2075688"/>
            <a:ext cx="1260785"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51.0%</a:t>
            </a:r>
          </a:p>
        </p:txBody>
      </p:sp>
      <p:sp>
        <p:nvSpPr>
          <p:cNvPr id="26" name="TextBox 25"/>
          <p:cNvSpPr txBox="1"/>
          <p:nvPr/>
        </p:nvSpPr>
        <p:spPr>
          <a:xfrm>
            <a:off x="8653391" y="2075688"/>
            <a:ext cx="1480643"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+0.20%</a:t>
            </a:r>
          </a:p>
        </p:txBody>
      </p:sp>
      <p:sp>
        <p:nvSpPr>
          <p:cNvPr id="27" name="TextBox 26"/>
          <p:cNvSpPr txBox="1"/>
          <p:nvPr/>
        </p:nvSpPr>
        <p:spPr>
          <a:xfrm>
            <a:off x="10280339" y="2075688"/>
            <a:ext cx="996956"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3.9</a:t>
            </a:r>
          </a:p>
        </p:txBody>
      </p:sp>
      <p:sp>
        <p:nvSpPr>
          <p:cNvPr id="28" name="Rectangle 27"/>
          <p:cNvSpPr/>
          <p:nvPr/>
        </p:nvSpPr>
        <p:spPr>
          <a:xfrm>
            <a:off x="841248" y="2478024"/>
            <a:ext cx="10509199" cy="42062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2496312"/>
            <a:ext cx="2931704"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RAW: top 2, no churn rule</a:t>
            </a:r>
          </a:p>
        </p:txBody>
      </p:sp>
      <p:sp>
        <p:nvSpPr>
          <p:cNvPr id="30" name="TextBox 29"/>
          <p:cNvSpPr txBox="1"/>
          <p:nvPr/>
        </p:nvSpPr>
        <p:spPr>
          <a:xfrm>
            <a:off x="3992408" y="2496312"/>
            <a:ext cx="1480643"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+1.62%</a:t>
            </a:r>
          </a:p>
        </p:txBody>
      </p:sp>
      <p:sp>
        <p:nvSpPr>
          <p:cNvPr id="31" name="TextBox 30"/>
          <p:cNvSpPr txBox="1"/>
          <p:nvPr/>
        </p:nvSpPr>
        <p:spPr>
          <a:xfrm>
            <a:off x="5619355" y="2496312"/>
            <a:ext cx="1480643"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+0.56%</a:t>
            </a:r>
          </a:p>
        </p:txBody>
      </p:sp>
      <p:sp>
        <p:nvSpPr>
          <p:cNvPr id="32" name="TextBox 31"/>
          <p:cNvSpPr txBox="1"/>
          <p:nvPr/>
        </p:nvSpPr>
        <p:spPr>
          <a:xfrm>
            <a:off x="7246302" y="2496312"/>
            <a:ext cx="1260785"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56.7%</a:t>
            </a:r>
          </a:p>
        </p:txBody>
      </p:sp>
      <p:sp>
        <p:nvSpPr>
          <p:cNvPr id="33" name="TextBox 32"/>
          <p:cNvSpPr txBox="1"/>
          <p:nvPr/>
        </p:nvSpPr>
        <p:spPr>
          <a:xfrm>
            <a:off x="8653391" y="2496312"/>
            <a:ext cx="1480643"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+0.85%</a:t>
            </a:r>
          </a:p>
        </p:txBody>
      </p:sp>
      <p:sp>
        <p:nvSpPr>
          <p:cNvPr id="34" name="TextBox 33"/>
          <p:cNvSpPr txBox="1"/>
          <p:nvPr/>
        </p:nvSpPr>
        <p:spPr>
          <a:xfrm>
            <a:off x="10280339" y="2496312"/>
            <a:ext cx="996956"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9.8</a:t>
            </a:r>
          </a:p>
        </p:txBody>
      </p:sp>
      <p:sp>
        <p:nvSpPr>
          <p:cNvPr id="35" name="TextBox 34"/>
          <p:cNvSpPr txBox="1"/>
          <p:nvPr/>
        </p:nvSpPr>
        <p:spPr>
          <a:xfrm>
            <a:off x="914400" y="2916936"/>
            <a:ext cx="2931704"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Benchmark, total return</a:t>
            </a:r>
          </a:p>
        </p:txBody>
      </p:sp>
      <p:sp>
        <p:nvSpPr>
          <p:cNvPr id="36" name="TextBox 35"/>
          <p:cNvSpPr txBox="1"/>
          <p:nvPr/>
        </p:nvSpPr>
        <p:spPr>
          <a:xfrm>
            <a:off x="3992408" y="2916936"/>
            <a:ext cx="1480643"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0.00%</a:t>
            </a:r>
          </a:p>
        </p:txBody>
      </p:sp>
      <p:sp>
        <p:nvSpPr>
          <p:cNvPr id="37" name="TextBox 36"/>
          <p:cNvSpPr txBox="1"/>
          <p:nvPr/>
        </p:nvSpPr>
        <p:spPr>
          <a:xfrm>
            <a:off x="5619355" y="2916936"/>
            <a:ext cx="1480643"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0.00%</a:t>
            </a:r>
          </a:p>
        </p:txBody>
      </p:sp>
      <p:sp>
        <p:nvSpPr>
          <p:cNvPr id="38" name="TextBox 37"/>
          <p:cNvSpPr txBox="1"/>
          <p:nvPr/>
        </p:nvSpPr>
        <p:spPr>
          <a:xfrm>
            <a:off x="7246302" y="2916936"/>
            <a:ext cx="1260785"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n/a</a:t>
            </a:r>
          </a:p>
        </p:txBody>
      </p:sp>
      <p:sp>
        <p:nvSpPr>
          <p:cNvPr id="39" name="TextBox 38"/>
          <p:cNvSpPr txBox="1"/>
          <p:nvPr/>
        </p:nvSpPr>
        <p:spPr>
          <a:xfrm>
            <a:off x="8653391" y="2916936"/>
            <a:ext cx="1480643"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0.00%</a:t>
            </a:r>
          </a:p>
        </p:txBody>
      </p:sp>
      <p:sp>
        <p:nvSpPr>
          <p:cNvPr id="40" name="TextBox 39"/>
          <p:cNvSpPr txBox="1"/>
          <p:nvPr/>
        </p:nvSpPr>
        <p:spPr>
          <a:xfrm>
            <a:off x="10280339" y="2916936"/>
            <a:ext cx="996956" cy="42062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a:t>
            </a:r>
          </a:p>
        </p:txBody>
      </p:sp>
      <p:sp>
        <p:nvSpPr>
          <p:cNvPr id="41" name="Rounded Rectangle 40"/>
          <p:cNvSpPr/>
          <p:nvPr/>
        </p:nvSpPr>
        <p:spPr>
          <a:xfrm>
            <a:off x="841248" y="3310128"/>
            <a:ext cx="10509199"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1248" y="3310128"/>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42416" y="3438144"/>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WHAT THIS MEANS, PLAINLY</a:t>
            </a:r>
          </a:p>
        </p:txBody>
      </p:sp>
      <p:sp>
        <p:nvSpPr>
          <p:cNvPr id="44" name="TextBox 43"/>
          <p:cNvSpPr txBox="1"/>
          <p:nvPr/>
        </p:nvSpPr>
        <p:spPr>
          <a:xfrm>
            <a:off x="1042416" y="3712464"/>
            <a:ext cx="1014343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marketed +0.48%/yr is a selection-skill measure consistent with the raw row. The book a client actually holds returned +0.09%/yr at three years, with a win rate of 51%. The churn discipline that makes the product attractive on tax and operations absorbs almost the whole measured edge. The engine's own performance file says so: the low-churn book gives up roughly half a point a year at three to five years in exchange for about 60% less turnover.</a:t>
            </a:r>
          </a:p>
        </p:txBody>
      </p:sp>
      <p:sp>
        <p:nvSpPr>
          <p:cNvPr id="45" name="TextBox 4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QFRA2_recommendation_performance.md, 2018-H1 to 2024-H2, active categories pooled.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THE EVIDENCE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same book, category by category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deployed book actually delivered, and where it did not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20</a:t>
            </a:r>
          </a:p>
        </p:txBody>
      </p:sp>
      <p:sp>
        <p:nvSpPr>
          <p:cNvPr id="15" name="TextBox 14"/>
          <p:cNvSpPr txBox="1"/>
          <p:nvPr/>
        </p:nvSpPr>
        <p:spPr>
          <a:xfrm>
            <a:off x="914400" y="1773936"/>
            <a:ext cx="296265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DEPLOYED CATEGORY</a:t>
            </a:r>
          </a:p>
        </p:txBody>
      </p:sp>
      <p:sp>
        <p:nvSpPr>
          <p:cNvPr id="16" name="TextBox 15"/>
          <p:cNvSpPr txBox="1"/>
          <p:nvPr/>
        </p:nvSpPr>
        <p:spPr>
          <a:xfrm>
            <a:off x="4023360" y="1773936"/>
            <a:ext cx="2048255"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HELD 3Y MEDIAN ALPHA</a:t>
            </a:r>
          </a:p>
        </p:txBody>
      </p:sp>
      <p:sp>
        <p:nvSpPr>
          <p:cNvPr id="17" name="TextBox 16"/>
          <p:cNvSpPr txBox="1"/>
          <p:nvPr/>
        </p:nvSpPr>
        <p:spPr>
          <a:xfrm>
            <a:off x="6217920" y="1773936"/>
            <a:ext cx="505937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READ</a:t>
            </a:r>
          </a:p>
        </p:txBody>
      </p:sp>
      <p:sp>
        <p:nvSpPr>
          <p:cNvPr id="18" name="Rectangle 17"/>
          <p:cNvSpPr/>
          <p:nvPr/>
        </p:nvSpPr>
        <p:spPr>
          <a:xfrm>
            <a:off x="841248" y="2029967"/>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075688"/>
            <a:ext cx="2962656"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Flexi Cap</a:t>
            </a:r>
          </a:p>
        </p:txBody>
      </p:sp>
      <p:sp>
        <p:nvSpPr>
          <p:cNvPr id="20" name="TextBox 19"/>
          <p:cNvSpPr txBox="1"/>
          <p:nvPr/>
        </p:nvSpPr>
        <p:spPr>
          <a:xfrm>
            <a:off x="4023360" y="2075688"/>
            <a:ext cx="2048255" cy="384048"/>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+2.16%</a:t>
            </a:r>
          </a:p>
        </p:txBody>
      </p:sp>
      <p:sp>
        <p:nvSpPr>
          <p:cNvPr id="21" name="TextBox 20"/>
          <p:cNvSpPr txBox="1"/>
          <p:nvPr/>
        </p:nvSpPr>
        <p:spPr>
          <a:xfrm>
            <a:off x="6217920" y="2075688"/>
            <a:ext cx="505937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The only category where the realised book beat the theory.</a:t>
            </a:r>
          </a:p>
        </p:txBody>
      </p:sp>
      <p:sp>
        <p:nvSpPr>
          <p:cNvPr id="22" name="Rectangle 21"/>
          <p:cNvSpPr/>
          <p:nvPr/>
        </p:nvSpPr>
        <p:spPr>
          <a:xfrm>
            <a:off x="841248" y="2441448"/>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2459736"/>
            <a:ext cx="2962656"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Large Cap</a:t>
            </a:r>
          </a:p>
        </p:txBody>
      </p:sp>
      <p:sp>
        <p:nvSpPr>
          <p:cNvPr id="24" name="TextBox 23"/>
          <p:cNvSpPr txBox="1"/>
          <p:nvPr/>
        </p:nvSpPr>
        <p:spPr>
          <a:xfrm>
            <a:off x="4023360" y="2459736"/>
            <a:ext cx="2048255" cy="384048"/>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-0.25%</a:t>
            </a:r>
          </a:p>
        </p:txBody>
      </p:sp>
      <p:sp>
        <p:nvSpPr>
          <p:cNvPr id="25" name="TextBox 24"/>
          <p:cNvSpPr txBox="1"/>
          <p:nvPr/>
        </p:nvSpPr>
        <p:spPr>
          <a:xfrm>
            <a:off x="6217920" y="2459736"/>
            <a:ext cx="505937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Index core, as designed.</a:t>
            </a:r>
          </a:p>
        </p:txBody>
      </p:sp>
      <p:sp>
        <p:nvSpPr>
          <p:cNvPr id="26" name="TextBox 25"/>
          <p:cNvSpPr txBox="1"/>
          <p:nvPr/>
        </p:nvSpPr>
        <p:spPr>
          <a:xfrm>
            <a:off x="914400" y="2843784"/>
            <a:ext cx="2962656"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Large &amp; Mid Cap</a:t>
            </a:r>
          </a:p>
        </p:txBody>
      </p:sp>
      <p:sp>
        <p:nvSpPr>
          <p:cNvPr id="27" name="TextBox 26"/>
          <p:cNvSpPr txBox="1"/>
          <p:nvPr/>
        </p:nvSpPr>
        <p:spPr>
          <a:xfrm>
            <a:off x="4023360" y="2843784"/>
            <a:ext cx="2048255" cy="384048"/>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-0.38%</a:t>
            </a:r>
          </a:p>
        </p:txBody>
      </p:sp>
      <p:sp>
        <p:nvSpPr>
          <p:cNvPr id="28" name="TextBox 27"/>
          <p:cNvSpPr txBox="1"/>
          <p:nvPr/>
        </p:nvSpPr>
        <p:spPr>
          <a:xfrm>
            <a:off x="6217920" y="2843784"/>
            <a:ext cx="505937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Best theoretical edge, worst delivery gap.</a:t>
            </a:r>
          </a:p>
        </p:txBody>
      </p:sp>
      <p:sp>
        <p:nvSpPr>
          <p:cNvPr id="29" name="Rectangle 28"/>
          <p:cNvSpPr/>
          <p:nvPr/>
        </p:nvSpPr>
        <p:spPr>
          <a:xfrm>
            <a:off x="841248" y="3209544"/>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3227832"/>
            <a:ext cx="2962656"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Small Cap</a:t>
            </a:r>
          </a:p>
        </p:txBody>
      </p:sp>
      <p:sp>
        <p:nvSpPr>
          <p:cNvPr id="31" name="TextBox 30"/>
          <p:cNvSpPr txBox="1"/>
          <p:nvPr/>
        </p:nvSpPr>
        <p:spPr>
          <a:xfrm>
            <a:off x="4023360" y="3227832"/>
            <a:ext cx="2048255" cy="384048"/>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-1.34%</a:t>
            </a:r>
          </a:p>
        </p:txBody>
      </p:sp>
      <p:sp>
        <p:nvSpPr>
          <p:cNvPr id="32" name="TextBox 31"/>
          <p:cNvSpPr txBox="1"/>
          <p:nvPr/>
        </p:nvSpPr>
        <p:spPr>
          <a:xfrm>
            <a:off x="6217920" y="3227832"/>
            <a:ext cx="505937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A rising tide, not our selection.</a:t>
            </a:r>
          </a:p>
        </p:txBody>
      </p:sp>
      <p:sp>
        <p:nvSpPr>
          <p:cNvPr id="33" name="TextBox 32"/>
          <p:cNvSpPr txBox="1"/>
          <p:nvPr/>
        </p:nvSpPr>
        <p:spPr>
          <a:xfrm>
            <a:off x="914400" y="3611879"/>
            <a:ext cx="2962656"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Multi Cap</a:t>
            </a:r>
          </a:p>
        </p:txBody>
      </p:sp>
      <p:sp>
        <p:nvSpPr>
          <p:cNvPr id="34" name="TextBox 33"/>
          <p:cNvSpPr txBox="1"/>
          <p:nvPr/>
        </p:nvSpPr>
        <p:spPr>
          <a:xfrm>
            <a:off x="4023360" y="3611879"/>
            <a:ext cx="2048255" cy="384048"/>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-2.35%</a:t>
            </a:r>
          </a:p>
        </p:txBody>
      </p:sp>
      <p:sp>
        <p:nvSpPr>
          <p:cNvPr id="35" name="TextBox 34"/>
          <p:cNvSpPr txBox="1"/>
          <p:nvPr/>
        </p:nvSpPr>
        <p:spPr>
          <a:xfrm>
            <a:off x="6217920" y="3611879"/>
            <a:ext cx="505937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Worst edge of the six; a blind pick wins.</a:t>
            </a:r>
          </a:p>
        </p:txBody>
      </p:sp>
      <p:sp>
        <p:nvSpPr>
          <p:cNvPr id="36" name="Rectangle 35"/>
          <p:cNvSpPr/>
          <p:nvPr/>
        </p:nvSpPr>
        <p:spPr>
          <a:xfrm>
            <a:off x="841248" y="3977640"/>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3995928"/>
            <a:ext cx="2962656"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Mid Cap</a:t>
            </a:r>
          </a:p>
        </p:txBody>
      </p:sp>
      <p:sp>
        <p:nvSpPr>
          <p:cNvPr id="38" name="TextBox 37"/>
          <p:cNvSpPr txBox="1"/>
          <p:nvPr/>
        </p:nvSpPr>
        <p:spPr>
          <a:xfrm>
            <a:off x="4023360" y="3995928"/>
            <a:ext cx="2048255" cy="384048"/>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-3.16%</a:t>
            </a:r>
          </a:p>
        </p:txBody>
      </p:sp>
      <p:sp>
        <p:nvSpPr>
          <p:cNvPr id="39" name="TextBox 38"/>
          <p:cNvSpPr txBox="1"/>
          <p:nvPr/>
        </p:nvSpPr>
        <p:spPr>
          <a:xfrm>
            <a:off x="6217920" y="3995928"/>
            <a:ext cx="5059375" cy="38404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Why Mid is routed to a momentum index.</a:t>
            </a:r>
          </a:p>
        </p:txBody>
      </p:sp>
      <p:sp>
        <p:nvSpPr>
          <p:cNvPr id="40" name="Rounded Rectangle 39"/>
          <p:cNvSpPr/>
          <p:nvPr/>
        </p:nvSpPr>
        <p:spPr>
          <a:xfrm>
            <a:off x="841248" y="4462272"/>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1248" y="4462272"/>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42416" y="459028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ONE OF THESE ROWS SHOULD DECIDE SOMETHING</a:t>
            </a:r>
          </a:p>
        </p:txBody>
      </p:sp>
      <p:sp>
        <p:nvSpPr>
          <p:cNvPr id="43" name="TextBox 42"/>
          <p:cNvSpPr txBox="1"/>
          <p:nvPr/>
        </p:nvSpPr>
        <p:spPr>
          <a:xfrm>
            <a:off x="1042416" y="4864608"/>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Held-book alpha is negative in five of the eight ranked categories. It is positive in Flexi, and in Focused and Value, which this deck excludes from deployment. That exclusion was decided on edge over a blind pick rather than on realised alpha, and the two lenses disagree here.</a:t>
            </a:r>
          </a:p>
        </p:txBody>
      </p:sp>
      <p:sp>
        <p:nvSpPr>
          <p:cNvPr id="44" name="TextBox 4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QFRA2_recommendation_performance.md, per-category HELD book, 2018-H1 to 2024-H2.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THE EVIDENCE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300" b="1" i="0">
                <a:solidFill>
                  <a:srgbClr val="1B27A3"/>
                </a:solidFill>
                <a:latin typeface="Bahnschrift"/>
              </a:rPr>
              <a:t>Where the selection edge is, by category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unconstrained ranking, against a random pick of the same field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21</a:t>
            </a:r>
          </a:p>
        </p:txBody>
      </p:sp>
      <p:pic>
        <p:nvPicPr>
          <p:cNvPr id="15" name="Picture 14" descr="qfra2_edge_by_category.png"/>
          <p:cNvPicPr>
            <a:picLocks noChangeAspect="1"/>
          </p:cNvPicPr>
          <p:nvPr/>
        </p:nvPicPr>
        <p:blipFill>
          <a:blip r:embed="rId3"/>
          <a:stretch>
            <a:fillRect/>
          </a:stretch>
        </p:blipFill>
        <p:spPr>
          <a:xfrm>
            <a:off x="1293853" y="1737360"/>
            <a:ext cx="9603987" cy="2423160"/>
          </a:xfrm>
          <a:prstGeom prst="rect">
            <a:avLst/>
          </a:prstGeom>
        </p:spPr>
      </p:pic>
      <p:sp>
        <p:nvSpPr>
          <p:cNvPr id="16" name="Rounded Rectangle 15"/>
          <p:cNvSpPr/>
          <p:nvPr/>
        </p:nvSpPr>
        <p:spPr>
          <a:xfrm>
            <a:off x="841248" y="4233672"/>
            <a:ext cx="10509199" cy="1243584"/>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 y="4233672"/>
            <a:ext cx="54864" cy="1243584"/>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6168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READ THE SHAPE, NOT THE POOLED NUMBER</a:t>
            </a:r>
          </a:p>
        </p:txBody>
      </p:sp>
      <p:sp>
        <p:nvSpPr>
          <p:cNvPr id="19" name="TextBox 18"/>
          <p:cNvSpPr txBox="1"/>
          <p:nvPr/>
        </p:nvSpPr>
        <p:spPr>
          <a:xfrm>
            <a:off x="1042416" y="4636008"/>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edge is concentrated: Large &amp; Mid at +2.86%/yr and Flexi at +1.90%/yr do almost all the work, and in those two a random pick actually loses to the index. Small is +0.17%, Multi is -0.10% and Mid is +0.06%, three of the six deployed categories where the ranking adds nothing measurable at three years. This is the unconstrained ranking; the book a client held earned a fraction of it, two pages back.</a:t>
            </a:r>
          </a:p>
        </p:txBody>
      </p:sp>
      <p:sp>
        <p:nvSpPr>
          <p:cNvPr id="20" name="TextBox 19"/>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QFRA2_HANDOFF.md section 5, the qfra2_vs_random.py panel. Total-return benchmarks here use the model's documented dividend add-back, which is modelled rather than vendor-official. Chart: chart_qfra2_evidence.py.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THE EVIDENCE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often the pick beat the index</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same unconstrained panel, measured as a hit rate rather than a median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22</a:t>
            </a:r>
          </a:p>
        </p:txBody>
      </p:sp>
      <p:pic>
        <p:nvPicPr>
          <p:cNvPr id="15" name="Picture 14" descr="qfra2_winrate.png"/>
          <p:cNvPicPr>
            <a:picLocks noChangeAspect="1"/>
          </p:cNvPicPr>
          <p:nvPr/>
        </p:nvPicPr>
        <p:blipFill>
          <a:blip r:embed="rId3"/>
          <a:stretch>
            <a:fillRect/>
          </a:stretch>
        </p:blipFill>
        <p:spPr>
          <a:xfrm>
            <a:off x="1293853" y="1737360"/>
            <a:ext cx="9603987" cy="2423160"/>
          </a:xfrm>
          <a:prstGeom prst="rect">
            <a:avLst/>
          </a:prstGeom>
        </p:spPr>
      </p:pic>
      <p:sp>
        <p:nvSpPr>
          <p:cNvPr id="16" name="Rounded Rectangle 15"/>
          <p:cNvSpPr/>
          <p:nvPr/>
        </p:nvSpPr>
        <p:spPr>
          <a:xfrm>
            <a:off x="841248" y="4233672"/>
            <a:ext cx="10509199" cy="1243584"/>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 y="4233672"/>
            <a:ext cx="54864" cy="1243584"/>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6168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WHERE A HIT RATE SAYS SOMETHING A MEDIAN DOES NOT</a:t>
            </a:r>
          </a:p>
        </p:txBody>
      </p:sp>
      <p:sp>
        <p:nvSpPr>
          <p:cNvPr id="19" name="TextBox 18"/>
          <p:cNvSpPr txBox="1"/>
          <p:nvPr/>
        </p:nvSpPr>
        <p:spPr>
          <a:xfrm>
            <a:off x="1042416" y="4636008"/>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In Large &amp; Mid the ranking lifts the hit rate 36 points, from 26% to 62%. In Small it lifts it 9 points, but off a 64% base: the category beat its index most of the time whoever picked. In Mid the ranking is 2 points BEHIND a random pick. And a lifted hit rate on this panel did not carry into the deployed book: Small's held book returned -1.34%/yr at three years while winning half its windows.</a:t>
            </a:r>
          </a:p>
        </p:txBody>
      </p:sp>
      <p:sp>
        <p:nvSpPr>
          <p:cNvPr id="20" name="TextBox 19"/>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QFRA2_HANDOFF.md section 5, win% model versus random at 3Y, same panel as the previous page. Held-book figures: QFRA2_recommendation_performance.md. Chart: chart_qfra2_evidence.py.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THE EVIDENCE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Against the obvious alternative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Why not simply buy the funds with the best three-year alpha</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23</a:t>
            </a:r>
          </a:p>
        </p:txBody>
      </p:sp>
      <p:sp>
        <p:nvSpPr>
          <p:cNvPr id="15" name="TextBox 14"/>
          <p:cNvSpPr txBox="1"/>
          <p:nvPr/>
        </p:nvSpPr>
        <p:spPr>
          <a:xfrm>
            <a:off x="914400" y="1773936"/>
            <a:ext cx="318834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STRATEGY</a:t>
            </a:r>
          </a:p>
        </p:txBody>
      </p:sp>
      <p:sp>
        <p:nvSpPr>
          <p:cNvPr id="16" name="TextBox 15"/>
          <p:cNvSpPr txBox="1"/>
          <p:nvPr/>
        </p:nvSpPr>
        <p:spPr>
          <a:xfrm>
            <a:off x="4249049" y="1773936"/>
            <a:ext cx="1773645"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3Y MEDIAN ALPHA</a:t>
            </a:r>
          </a:p>
        </p:txBody>
      </p:sp>
      <p:sp>
        <p:nvSpPr>
          <p:cNvPr id="17" name="TextBox 16"/>
          <p:cNvSpPr txBox="1"/>
          <p:nvPr/>
        </p:nvSpPr>
        <p:spPr>
          <a:xfrm>
            <a:off x="6168999" y="1773936"/>
            <a:ext cx="1470495"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3Y WIN RATE</a:t>
            </a:r>
          </a:p>
        </p:txBody>
      </p:sp>
      <p:sp>
        <p:nvSpPr>
          <p:cNvPr id="18" name="TextBox 17"/>
          <p:cNvSpPr txBox="1"/>
          <p:nvPr/>
        </p:nvSpPr>
        <p:spPr>
          <a:xfrm>
            <a:off x="7785799" y="1773936"/>
            <a:ext cx="1773645"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5Y MEDIAN ALPHA</a:t>
            </a:r>
          </a:p>
        </p:txBody>
      </p:sp>
      <p:sp>
        <p:nvSpPr>
          <p:cNvPr id="19" name="TextBox 18"/>
          <p:cNvSpPr txBox="1"/>
          <p:nvPr/>
        </p:nvSpPr>
        <p:spPr>
          <a:xfrm>
            <a:off x="9705749" y="1773936"/>
            <a:ext cx="1571545"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TURNOVER / YR</a:t>
            </a:r>
          </a:p>
        </p:txBody>
      </p:sp>
      <p:sp>
        <p:nvSpPr>
          <p:cNvPr id="20" name="Rectangle 19"/>
          <p:cNvSpPr/>
          <p:nvPr/>
        </p:nvSpPr>
        <p:spPr>
          <a:xfrm>
            <a:off x="841248" y="2029967"/>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075688"/>
            <a:ext cx="3188345" cy="365760"/>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QFRA 2.0 final two</a:t>
            </a:r>
          </a:p>
        </p:txBody>
      </p:sp>
      <p:sp>
        <p:nvSpPr>
          <p:cNvPr id="22" name="TextBox 21"/>
          <p:cNvSpPr txBox="1"/>
          <p:nvPr/>
        </p:nvSpPr>
        <p:spPr>
          <a:xfrm>
            <a:off x="4249049" y="2075688"/>
            <a:ext cx="17736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+0.48%</a:t>
            </a:r>
          </a:p>
        </p:txBody>
      </p:sp>
      <p:sp>
        <p:nvSpPr>
          <p:cNvPr id="23" name="TextBox 22"/>
          <p:cNvSpPr txBox="1"/>
          <p:nvPr/>
        </p:nvSpPr>
        <p:spPr>
          <a:xfrm>
            <a:off x="6168999" y="2075688"/>
            <a:ext cx="147049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56.4%</a:t>
            </a:r>
          </a:p>
        </p:txBody>
      </p:sp>
      <p:sp>
        <p:nvSpPr>
          <p:cNvPr id="24" name="TextBox 23"/>
          <p:cNvSpPr txBox="1"/>
          <p:nvPr/>
        </p:nvSpPr>
        <p:spPr>
          <a:xfrm>
            <a:off x="7785799" y="2075688"/>
            <a:ext cx="17736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+0.58%</a:t>
            </a:r>
          </a:p>
        </p:txBody>
      </p:sp>
      <p:sp>
        <p:nvSpPr>
          <p:cNvPr id="25" name="TextBox 24"/>
          <p:cNvSpPr txBox="1"/>
          <p:nvPr/>
        </p:nvSpPr>
        <p:spPr>
          <a:xfrm>
            <a:off x="9705749" y="2075688"/>
            <a:ext cx="15715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3.9 deployed</a:t>
            </a:r>
          </a:p>
        </p:txBody>
      </p:sp>
      <p:sp>
        <p:nvSpPr>
          <p:cNvPr id="26" name="Rectangle 25"/>
          <p:cNvSpPr/>
          <p:nvPr/>
        </p:nvSpPr>
        <p:spPr>
          <a:xfrm>
            <a:off x="841248" y="2423160"/>
            <a:ext cx="10509199" cy="36576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2441448"/>
            <a:ext cx="3188345" cy="365760"/>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Best two by 3-year alpha</a:t>
            </a:r>
          </a:p>
        </p:txBody>
      </p:sp>
      <p:sp>
        <p:nvSpPr>
          <p:cNvPr id="28" name="TextBox 27"/>
          <p:cNvSpPr txBox="1"/>
          <p:nvPr/>
        </p:nvSpPr>
        <p:spPr>
          <a:xfrm>
            <a:off x="4249049" y="2441448"/>
            <a:ext cx="17736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+0.37%</a:t>
            </a:r>
          </a:p>
        </p:txBody>
      </p:sp>
      <p:sp>
        <p:nvSpPr>
          <p:cNvPr id="29" name="TextBox 28"/>
          <p:cNvSpPr txBox="1"/>
          <p:nvPr/>
        </p:nvSpPr>
        <p:spPr>
          <a:xfrm>
            <a:off x="6168999" y="2441448"/>
            <a:ext cx="147049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53.4%</a:t>
            </a:r>
          </a:p>
        </p:txBody>
      </p:sp>
      <p:sp>
        <p:nvSpPr>
          <p:cNvPr id="30" name="TextBox 29"/>
          <p:cNvSpPr txBox="1"/>
          <p:nvPr/>
        </p:nvSpPr>
        <p:spPr>
          <a:xfrm>
            <a:off x="7785799" y="2441448"/>
            <a:ext cx="17736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+0.90%</a:t>
            </a:r>
          </a:p>
        </p:txBody>
      </p:sp>
      <p:sp>
        <p:nvSpPr>
          <p:cNvPr id="31" name="TextBox 30"/>
          <p:cNvSpPr txBox="1"/>
          <p:nvPr/>
        </p:nvSpPr>
        <p:spPr>
          <a:xfrm>
            <a:off x="9705749" y="2441448"/>
            <a:ext cx="15715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7.8</a:t>
            </a:r>
          </a:p>
        </p:txBody>
      </p:sp>
      <p:sp>
        <p:nvSpPr>
          <p:cNvPr id="32" name="TextBox 31"/>
          <p:cNvSpPr txBox="1"/>
          <p:nvPr/>
        </p:nvSpPr>
        <p:spPr>
          <a:xfrm>
            <a:off x="914400" y="2807208"/>
            <a:ext cx="3188345" cy="365760"/>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Best three by 3-year alpha</a:t>
            </a:r>
          </a:p>
        </p:txBody>
      </p:sp>
      <p:sp>
        <p:nvSpPr>
          <p:cNvPr id="33" name="TextBox 32"/>
          <p:cNvSpPr txBox="1"/>
          <p:nvPr/>
        </p:nvSpPr>
        <p:spPr>
          <a:xfrm>
            <a:off x="4249049" y="2807208"/>
            <a:ext cx="17736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+0.31%</a:t>
            </a:r>
          </a:p>
        </p:txBody>
      </p:sp>
      <p:sp>
        <p:nvSpPr>
          <p:cNvPr id="34" name="TextBox 33"/>
          <p:cNvSpPr txBox="1"/>
          <p:nvPr/>
        </p:nvSpPr>
        <p:spPr>
          <a:xfrm>
            <a:off x="6168999" y="2807208"/>
            <a:ext cx="147049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53.2%</a:t>
            </a:r>
          </a:p>
        </p:txBody>
      </p:sp>
      <p:sp>
        <p:nvSpPr>
          <p:cNvPr id="35" name="TextBox 34"/>
          <p:cNvSpPr txBox="1"/>
          <p:nvPr/>
        </p:nvSpPr>
        <p:spPr>
          <a:xfrm>
            <a:off x="7785799" y="2807208"/>
            <a:ext cx="17736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+0.27%</a:t>
            </a:r>
          </a:p>
        </p:txBody>
      </p:sp>
      <p:sp>
        <p:nvSpPr>
          <p:cNvPr id="36" name="TextBox 35"/>
          <p:cNvSpPr txBox="1"/>
          <p:nvPr/>
        </p:nvSpPr>
        <p:spPr>
          <a:xfrm>
            <a:off x="9705749" y="2807208"/>
            <a:ext cx="15715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10.8</a:t>
            </a:r>
          </a:p>
        </p:txBody>
      </p:sp>
      <p:sp>
        <p:nvSpPr>
          <p:cNvPr id="37" name="Rectangle 36"/>
          <p:cNvSpPr/>
          <p:nvPr/>
        </p:nvSpPr>
        <p:spPr>
          <a:xfrm>
            <a:off x="841248" y="3154679"/>
            <a:ext cx="10509199" cy="36576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3172968"/>
            <a:ext cx="3188345" cy="365760"/>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Blind pick</a:t>
            </a:r>
          </a:p>
        </p:txBody>
      </p:sp>
      <p:sp>
        <p:nvSpPr>
          <p:cNvPr id="39" name="TextBox 38"/>
          <p:cNvSpPr txBox="1"/>
          <p:nvPr/>
        </p:nvSpPr>
        <p:spPr>
          <a:xfrm>
            <a:off x="4249049" y="3172968"/>
            <a:ext cx="17736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-0.76%</a:t>
            </a:r>
          </a:p>
        </p:txBody>
      </p:sp>
      <p:sp>
        <p:nvSpPr>
          <p:cNvPr id="40" name="TextBox 39"/>
          <p:cNvSpPr txBox="1"/>
          <p:nvPr/>
        </p:nvSpPr>
        <p:spPr>
          <a:xfrm>
            <a:off x="6168999" y="3172968"/>
            <a:ext cx="147049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42.8%</a:t>
            </a:r>
          </a:p>
        </p:txBody>
      </p:sp>
      <p:sp>
        <p:nvSpPr>
          <p:cNvPr id="41" name="TextBox 40"/>
          <p:cNvSpPr txBox="1"/>
          <p:nvPr/>
        </p:nvSpPr>
        <p:spPr>
          <a:xfrm>
            <a:off x="7785799" y="3172968"/>
            <a:ext cx="17736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-0.69%</a:t>
            </a:r>
          </a:p>
        </p:txBody>
      </p:sp>
      <p:sp>
        <p:nvSpPr>
          <p:cNvPr id="42" name="TextBox 41"/>
          <p:cNvSpPr txBox="1"/>
          <p:nvPr/>
        </p:nvSpPr>
        <p:spPr>
          <a:xfrm>
            <a:off x="9705749" y="3172968"/>
            <a:ext cx="1571545" cy="365760"/>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n/a</a:t>
            </a:r>
          </a:p>
        </p:txBody>
      </p:sp>
      <p:sp>
        <p:nvSpPr>
          <p:cNvPr id="43" name="Rounded Rectangle 42"/>
          <p:cNvSpPr/>
          <p:nvPr/>
        </p:nvSpPr>
        <p:spPr>
          <a:xfrm>
            <a:off x="841248" y="3621024"/>
            <a:ext cx="10509199" cy="1074419"/>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41248" y="3621024"/>
            <a:ext cx="54864" cy="1074419"/>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2416" y="3749039"/>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ANSWER, WITH ITS EXCEPTION STATED</a:t>
            </a:r>
          </a:p>
        </p:txBody>
      </p:sp>
      <p:sp>
        <p:nvSpPr>
          <p:cNvPr id="46" name="TextBox 45"/>
          <p:cNvSpPr txBox="1"/>
          <p:nvPr/>
        </p:nvSpPr>
        <p:spPr>
          <a:xfrm>
            <a:off x="1042416" y="4023360"/>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model wins 6 of the 8 pooled cells, and the topper still beats a blind pick, so it is a real signal rather than a straw man. Its only wins are the five-year cells, by a thin margin that reverses without factor adjustment. Small Cap is the clear exception: there the topper beats us outright.</a:t>
            </a:r>
          </a:p>
        </p:txBody>
      </p:sp>
      <p:sp>
        <p:nvSpPr>
          <p:cNvPr id="47" name="Rounded Rectangle 46"/>
          <p:cNvSpPr/>
          <p:nvPr/>
        </p:nvSpPr>
        <p:spPr>
          <a:xfrm>
            <a:off x="841248" y="4805172"/>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41248" y="4805172"/>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2416" y="493318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AND ONE BELIEF THIS TEST CORRECTED</a:t>
            </a:r>
          </a:p>
        </p:txBody>
      </p:sp>
      <p:sp>
        <p:nvSpPr>
          <p:cNvPr id="50" name="TextBox 49"/>
          <p:cNvSpPr txBox="1"/>
          <p:nvPr/>
        </p:nvSpPr>
        <p:spPr>
          <a:xfrm>
            <a:off x="1042416" y="5207508"/>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We expected the topper to churn far harder. It does not: at 7.8 changes a year it is no worse than our own unconstrained ranking at 11.1. Our low turnover comes from the churn rule, not from a steadier signal, and anyone could bolt that rule onto a topper strategy.</a:t>
            </a:r>
          </a:p>
        </p:txBody>
      </p:sp>
      <p:sp>
        <p:nvSpPr>
          <p:cNvPr id="51" name="TextBox 5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qfra2_pac_prep/3Y_TOPPER_BENCHMARK.md. Built on the same panel and the same pooling convention as the published model-versus-random table.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THE EVIDENCE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400" b="1" i="0">
                <a:solidFill>
                  <a:srgbClr val="1B27A3"/>
                </a:solidFill>
                <a:latin typeface="Bahnschrift"/>
              </a:rPr>
              <a:t>When the model runs, and why it matters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review anchor is worth about 8 points of hit rate, so we tested all six</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24</a:t>
            </a:r>
          </a:p>
        </p:txBody>
      </p:sp>
      <p:pic>
        <p:nvPicPr>
          <p:cNvPr id="15" name="Picture 14" descr="anchor_pair_evidence.png"/>
          <p:cNvPicPr>
            <a:picLocks noChangeAspect="1"/>
          </p:cNvPicPr>
          <p:nvPr/>
        </p:nvPicPr>
        <p:blipFill>
          <a:blip r:embed="rId3"/>
          <a:stretch>
            <a:fillRect/>
          </a:stretch>
        </p:blipFill>
        <p:spPr>
          <a:xfrm>
            <a:off x="2807524" y="1700784"/>
            <a:ext cx="6576646" cy="2331720"/>
          </a:xfrm>
          <a:prstGeom prst="rect">
            <a:avLst/>
          </a:prstGeom>
        </p:spPr>
      </p:pic>
      <p:sp>
        <p:nvSpPr>
          <p:cNvPr id="16" name="Rounded Rectangle 15"/>
          <p:cNvSpPr/>
          <p:nvPr/>
        </p:nvSpPr>
        <p:spPr>
          <a:xfrm>
            <a:off x="841248" y="4142232"/>
            <a:ext cx="10509199" cy="175107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 y="4142232"/>
            <a:ext cx="54864" cy="175107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27024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APRIL AND OCTOBER, ON THE MONTH END</a:t>
            </a:r>
          </a:p>
        </p:txBody>
      </p:sp>
      <p:sp>
        <p:nvSpPr>
          <p:cNvPr id="19" name="TextBox 18"/>
          <p:cNvSpPr txBox="1"/>
          <p:nvPr/>
        </p:nvSpPr>
        <p:spPr>
          <a:xfrm>
            <a:off x="1042416" y="4544568"/>
            <a:ext cx="10143439" cy="129387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All six possible six-month pairs were replayed through the short-term framework's live decision logic at every month end from January 2012 to July 2024, across all six category sheets: 906 formations. April and October leads on the measure specified before the study ran, and ties with June and December on the 66% hit rate while the other four sit at 55% to 58%. Month end matters as much as the pair: a first-of-April anchor closes its window on about 31 March, so it is the March window renamed, and it scores a 53% hit rate against 66%. End-April reads prices that have digested the March-quarter and full-year results.</a:t>
            </a:r>
          </a:p>
        </p:txBody>
      </p:sp>
      <p:sp>
        <p:nvSpPr>
          <p:cNvPr id="20" name="TextBox 19"/>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04_RND_LAB/STOCK_SCORECARD_750/results/anchor_pair_study/. Presented measure is the 10% trimmed mean, specified in the original brief.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4.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04</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04</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The two frameworks</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Why a second, shorter-horizon framework earns its place, and where each one drives the call</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26-28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TWO FRAMEWORKS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Why we run a second framework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00" b="1" i="0">
                <a:solidFill>
                  <a:srgbClr val="F2A93C"/>
                </a:solidFill>
                <a:latin typeface="Bahnschrift"/>
              </a:rPr>
              <a:t>Different horizons, one shared signal, and an honest statement of the overlap</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26</a:t>
            </a:r>
          </a:p>
        </p:txBody>
      </p:sp>
      <p:sp>
        <p:nvSpPr>
          <p:cNvPr id="15" name="TextBox 14"/>
          <p:cNvSpPr txBox="1"/>
          <p:nvPr/>
        </p:nvSpPr>
        <p:spPr>
          <a:xfrm>
            <a:off x="914400" y="1755648"/>
            <a:ext cx="195681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CATEGORY</a:t>
            </a:r>
          </a:p>
        </p:txBody>
      </p:sp>
      <p:sp>
        <p:nvSpPr>
          <p:cNvPr id="16" name="TextBox 15"/>
          <p:cNvSpPr txBox="1"/>
          <p:nvPr/>
        </p:nvSpPr>
        <p:spPr>
          <a:xfrm>
            <a:off x="3017520" y="1755648"/>
            <a:ext cx="213969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CORE</a:t>
            </a:r>
          </a:p>
        </p:txBody>
      </p:sp>
      <p:sp>
        <p:nvSpPr>
          <p:cNvPr id="17" name="TextBox 16"/>
          <p:cNvSpPr txBox="1"/>
          <p:nvPr/>
        </p:nvSpPr>
        <p:spPr>
          <a:xfrm>
            <a:off x="5303520" y="1755648"/>
            <a:ext cx="154533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DRIVEN BY</a:t>
            </a:r>
          </a:p>
        </p:txBody>
      </p:sp>
      <p:sp>
        <p:nvSpPr>
          <p:cNvPr id="18" name="TextBox 17"/>
          <p:cNvSpPr txBox="1"/>
          <p:nvPr/>
        </p:nvSpPr>
        <p:spPr>
          <a:xfrm>
            <a:off x="6995160" y="1755648"/>
            <a:ext cx="42821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WHY</a:t>
            </a:r>
          </a:p>
        </p:txBody>
      </p:sp>
      <p:sp>
        <p:nvSpPr>
          <p:cNvPr id="19" name="Rectangle 18"/>
          <p:cNvSpPr/>
          <p:nvPr/>
        </p:nvSpPr>
        <p:spPr>
          <a:xfrm>
            <a:off x="841248" y="201168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057400"/>
            <a:ext cx="195681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Large Cap</a:t>
            </a:r>
          </a:p>
        </p:txBody>
      </p:sp>
      <p:sp>
        <p:nvSpPr>
          <p:cNvPr id="21" name="TextBox 20"/>
          <p:cNvSpPr txBox="1"/>
          <p:nvPr/>
        </p:nvSpPr>
        <p:spPr>
          <a:xfrm>
            <a:off x="3017520" y="2057400"/>
            <a:ext cx="213969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Plain index</a:t>
            </a:r>
          </a:p>
        </p:txBody>
      </p:sp>
      <p:sp>
        <p:nvSpPr>
          <p:cNvPr id="22" name="TextBox 21"/>
          <p:cNvSpPr txBox="1"/>
          <p:nvPr/>
        </p:nvSpPr>
        <p:spPr>
          <a:xfrm>
            <a:off x="5303520" y="2057400"/>
            <a:ext cx="154533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QFRA-2</a:t>
            </a:r>
          </a:p>
        </p:txBody>
      </p:sp>
      <p:sp>
        <p:nvSpPr>
          <p:cNvPr id="23" name="TextBox 22"/>
          <p:cNvSpPr txBox="1"/>
          <p:nvPr/>
        </p:nvSpPr>
        <p:spPr>
          <a:xfrm>
            <a:off x="6995160" y="2057400"/>
            <a:ext cx="428213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Active selection is not distinguishable from a blind pick.</a:t>
            </a:r>
          </a:p>
        </p:txBody>
      </p:sp>
      <p:sp>
        <p:nvSpPr>
          <p:cNvPr id="24" name="Rectangle 23"/>
          <p:cNvSpPr/>
          <p:nvPr/>
        </p:nvSpPr>
        <p:spPr>
          <a:xfrm>
            <a:off x="841248" y="2423160"/>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441448"/>
            <a:ext cx="195681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Large &amp; Mid Cap</a:t>
            </a:r>
          </a:p>
        </p:txBody>
      </p:sp>
      <p:sp>
        <p:nvSpPr>
          <p:cNvPr id="26" name="TextBox 25"/>
          <p:cNvSpPr txBox="1"/>
          <p:nvPr/>
        </p:nvSpPr>
        <p:spPr>
          <a:xfrm>
            <a:off x="3017520" y="2441448"/>
            <a:ext cx="213969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Active</a:t>
            </a:r>
          </a:p>
        </p:txBody>
      </p:sp>
      <p:sp>
        <p:nvSpPr>
          <p:cNvPr id="27" name="TextBox 26"/>
          <p:cNvSpPr txBox="1"/>
          <p:nvPr/>
        </p:nvSpPr>
        <p:spPr>
          <a:xfrm>
            <a:off x="5303520" y="2441448"/>
            <a:ext cx="154533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QFRA-2</a:t>
            </a:r>
          </a:p>
        </p:txBody>
      </p:sp>
      <p:sp>
        <p:nvSpPr>
          <p:cNvPr id="28" name="TextBox 27"/>
          <p:cNvSpPr txBox="1"/>
          <p:nvPr/>
        </p:nvSpPr>
        <p:spPr>
          <a:xfrm>
            <a:off x="6995160" y="2441448"/>
            <a:ext cx="428213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Best theoretical edge of any category, worst delivery gap.</a:t>
            </a:r>
          </a:p>
        </p:txBody>
      </p:sp>
      <p:sp>
        <p:nvSpPr>
          <p:cNvPr id="29" name="TextBox 28"/>
          <p:cNvSpPr txBox="1"/>
          <p:nvPr/>
        </p:nvSpPr>
        <p:spPr>
          <a:xfrm>
            <a:off x="914400" y="2825496"/>
            <a:ext cx="195681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Mid Cap</a:t>
            </a:r>
          </a:p>
        </p:txBody>
      </p:sp>
      <p:sp>
        <p:nvSpPr>
          <p:cNvPr id="30" name="TextBox 29"/>
          <p:cNvSpPr txBox="1"/>
          <p:nvPr/>
        </p:nvSpPr>
        <p:spPr>
          <a:xfrm>
            <a:off x="3017520" y="2825496"/>
            <a:ext cx="213969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Factor momentum</a:t>
            </a:r>
          </a:p>
        </p:txBody>
      </p:sp>
      <p:sp>
        <p:nvSpPr>
          <p:cNvPr id="31" name="TextBox 30"/>
          <p:cNvSpPr txBox="1"/>
          <p:nvPr/>
        </p:nvSpPr>
        <p:spPr>
          <a:xfrm>
            <a:off x="5303520" y="2825496"/>
            <a:ext cx="154533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QFRA-2</a:t>
            </a:r>
          </a:p>
        </p:txBody>
      </p:sp>
      <p:sp>
        <p:nvSpPr>
          <p:cNvPr id="32" name="TextBox 31"/>
          <p:cNvSpPr txBox="1"/>
          <p:nvPr/>
        </p:nvSpPr>
        <p:spPr>
          <a:xfrm>
            <a:off x="6995160" y="2825496"/>
            <a:ext cx="428213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Active edge near zero and the worst realised book of the eight.</a:t>
            </a:r>
          </a:p>
        </p:txBody>
      </p:sp>
      <p:sp>
        <p:nvSpPr>
          <p:cNvPr id="33" name="Rectangle 32"/>
          <p:cNvSpPr/>
          <p:nvPr/>
        </p:nvSpPr>
        <p:spPr>
          <a:xfrm>
            <a:off x="841248" y="3191256"/>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209544"/>
            <a:ext cx="195681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Flexi Cap</a:t>
            </a:r>
          </a:p>
        </p:txBody>
      </p:sp>
      <p:sp>
        <p:nvSpPr>
          <p:cNvPr id="35" name="TextBox 34"/>
          <p:cNvSpPr txBox="1"/>
          <p:nvPr/>
        </p:nvSpPr>
        <p:spPr>
          <a:xfrm>
            <a:off x="3017520" y="3209544"/>
            <a:ext cx="213969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Active</a:t>
            </a:r>
          </a:p>
        </p:txBody>
      </p:sp>
      <p:sp>
        <p:nvSpPr>
          <p:cNvPr id="36" name="TextBox 35"/>
          <p:cNvSpPr txBox="1"/>
          <p:nvPr/>
        </p:nvSpPr>
        <p:spPr>
          <a:xfrm>
            <a:off x="5303520" y="3209544"/>
            <a:ext cx="154533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Both agree</a:t>
            </a:r>
          </a:p>
        </p:txBody>
      </p:sp>
      <p:sp>
        <p:nvSpPr>
          <p:cNvPr id="37" name="TextBox 36"/>
          <p:cNvSpPr txBox="1"/>
          <p:nvPr/>
        </p:nvSpPr>
        <p:spPr>
          <a:xfrm>
            <a:off x="6995160" y="3209544"/>
            <a:ext cx="428213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The one category where realised beat theoretical.</a:t>
            </a:r>
          </a:p>
        </p:txBody>
      </p:sp>
      <p:sp>
        <p:nvSpPr>
          <p:cNvPr id="38" name="TextBox 37"/>
          <p:cNvSpPr txBox="1"/>
          <p:nvPr/>
        </p:nvSpPr>
        <p:spPr>
          <a:xfrm>
            <a:off x="914400" y="3593591"/>
            <a:ext cx="195681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Multi Cap</a:t>
            </a:r>
          </a:p>
        </p:txBody>
      </p:sp>
      <p:sp>
        <p:nvSpPr>
          <p:cNvPr id="39" name="TextBox 38"/>
          <p:cNvSpPr txBox="1"/>
          <p:nvPr/>
        </p:nvSpPr>
        <p:spPr>
          <a:xfrm>
            <a:off x="3017520" y="3593591"/>
            <a:ext cx="213969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Plain index, provisional</a:t>
            </a:r>
          </a:p>
        </p:txBody>
      </p:sp>
      <p:sp>
        <p:nvSpPr>
          <p:cNvPr id="40" name="TextBox 39"/>
          <p:cNvSpPr txBox="1"/>
          <p:nvPr/>
        </p:nvSpPr>
        <p:spPr>
          <a:xfrm>
            <a:off x="5303520" y="3593591"/>
            <a:ext cx="154533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QFRA-2</a:t>
            </a:r>
          </a:p>
        </p:txBody>
      </p:sp>
      <p:sp>
        <p:nvSpPr>
          <p:cNvPr id="41" name="TextBox 40"/>
          <p:cNvSpPr txBox="1"/>
          <p:nvPr/>
        </p:nvSpPr>
        <p:spPr>
          <a:xfrm>
            <a:off x="6995160" y="3593591"/>
            <a:ext cx="428213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Worst edge of the six; no evidenced factor substitute yet.</a:t>
            </a:r>
          </a:p>
        </p:txBody>
      </p:sp>
      <p:sp>
        <p:nvSpPr>
          <p:cNvPr id="42" name="Rectangle 41"/>
          <p:cNvSpPr/>
          <p:nvPr/>
        </p:nvSpPr>
        <p:spPr>
          <a:xfrm>
            <a:off x="841248" y="3959352"/>
            <a:ext cx="10509199" cy="384048"/>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3977639"/>
            <a:ext cx="195681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Small Cap</a:t>
            </a:r>
          </a:p>
        </p:txBody>
      </p:sp>
      <p:sp>
        <p:nvSpPr>
          <p:cNvPr id="44" name="TextBox 43"/>
          <p:cNvSpPr txBox="1"/>
          <p:nvPr/>
        </p:nvSpPr>
        <p:spPr>
          <a:xfrm>
            <a:off x="3017520" y="3977639"/>
            <a:ext cx="213969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Index core plus a tactical satellite</a:t>
            </a:r>
          </a:p>
        </p:txBody>
      </p:sp>
      <p:sp>
        <p:nvSpPr>
          <p:cNvPr id="45" name="TextBox 44"/>
          <p:cNvSpPr txBox="1"/>
          <p:nvPr/>
        </p:nvSpPr>
        <p:spPr>
          <a:xfrm>
            <a:off x="5303520" y="3977639"/>
            <a:ext cx="1545336"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Both, different jobs</a:t>
            </a:r>
          </a:p>
        </p:txBody>
      </p:sp>
      <p:sp>
        <p:nvSpPr>
          <p:cNvPr id="46" name="TextBox 45"/>
          <p:cNvSpPr txBox="1"/>
          <p:nvPr/>
        </p:nvSpPr>
        <p:spPr>
          <a:xfrm>
            <a:off x="6995160" y="3977639"/>
            <a:ext cx="4282135"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The level is the market's; the short signal is ours.</a:t>
            </a:r>
          </a:p>
        </p:txBody>
      </p:sp>
      <p:sp>
        <p:nvSpPr>
          <p:cNvPr id="47" name="Rounded Rectangle 46"/>
          <p:cNvSpPr/>
          <p:nvPr/>
        </p:nvSpPr>
        <p:spPr>
          <a:xfrm>
            <a:off x="841248" y="4407408"/>
            <a:ext cx="10509199" cy="1243584"/>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41248" y="4407408"/>
            <a:ext cx="54864" cy="1243584"/>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2416" y="4535424"/>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STATE THE OVERLAP BEFORE ANYONE FINDS IT</a:t>
            </a:r>
          </a:p>
        </p:txBody>
      </p:sp>
      <p:sp>
        <p:nvSpPr>
          <p:cNvPr id="50" name="TextBox 49"/>
          <p:cNvSpPr txBox="1"/>
          <p:nvPr/>
        </p:nvSpPr>
        <p:spPr>
          <a:xfrm>
            <a:off x="1042416" y="4809744"/>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short-term framework ranks funds on their six-month total capture ratio. QFRA-2 already carries that same quantity at a weight of 0.30, plus a three-year down-capture term, so the capture family is 40% to 48% of the QFRA-2 score. When the two agree, part of that is one signal agreeing with itself. What the short-term framework clearly adds is recency and its own replayed backtest.</a:t>
            </a:r>
          </a:p>
        </p:txBody>
      </p:sp>
      <p:sp>
        <p:nvSpPr>
          <p:cNvPr id="51" name="TextBox 5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qfra2_pac_prep/FRAMEWORK_COMPLEMENTARITY.md; overlap verified at final_model.py:154.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TWO FRAMEWORKS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Small Cap, stated precisely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400" b="1" i="0">
                <a:solidFill>
                  <a:srgbClr val="F2A93C"/>
                </a:solidFill>
                <a:latin typeface="Bahnschrift"/>
              </a:rPr>
              <a:t>The claim was that we have a lot of alpha in small caps. Half of that is true, and the half that is not changes how we should run it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27</a:t>
            </a:r>
          </a:p>
        </p:txBody>
      </p:sp>
      <p:sp>
        <p:nvSpPr>
          <p:cNvPr id="15" name="TextBox 14"/>
          <p:cNvSpPr txBox="1"/>
          <p:nvPr/>
        </p:nvSpPr>
        <p:spPr>
          <a:xfrm>
            <a:off x="841248"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92%</a:t>
            </a:r>
          </a:p>
        </p:txBody>
      </p:sp>
      <p:sp>
        <p:nvSpPr>
          <p:cNvPr id="16" name="TextBox 15"/>
          <p:cNvSpPr txBox="1"/>
          <p:nvPr/>
        </p:nvSpPr>
        <p:spPr>
          <a:xfrm>
            <a:off x="841248"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OF SMALL-CAP ALPHA A BLIND PICK ALSO GETS</a:t>
            </a:r>
          </a:p>
        </p:txBody>
      </p:sp>
      <p:sp>
        <p:nvSpPr>
          <p:cNvPr id="17" name="TextBox 16"/>
          <p:cNvSpPr txBox="1"/>
          <p:nvPr/>
        </p:nvSpPr>
        <p:spPr>
          <a:xfrm>
            <a:off x="34685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-1.34%</a:t>
            </a:r>
          </a:p>
        </p:txBody>
      </p:sp>
      <p:sp>
        <p:nvSpPr>
          <p:cNvPr id="18" name="TextBox 17"/>
          <p:cNvSpPr txBox="1"/>
          <p:nvPr/>
        </p:nvSpPr>
        <p:spPr>
          <a:xfrm>
            <a:off x="34685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DEPLOYED BOOK 3Y ALPHA IN SMALL</a:t>
            </a:r>
          </a:p>
        </p:txBody>
      </p:sp>
      <p:sp>
        <p:nvSpPr>
          <p:cNvPr id="19" name="Rectangle 18"/>
          <p:cNvSpPr/>
          <p:nvPr/>
        </p:nvSpPr>
        <p:spPr>
          <a:xfrm>
            <a:off x="34136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+3.49%</a:t>
            </a:r>
          </a:p>
        </p:txBody>
      </p:sp>
      <p:sp>
        <p:nvSpPr>
          <p:cNvPr id="21" name="TextBox 20"/>
          <p:cNvSpPr txBox="1"/>
          <p:nvPr/>
        </p:nvSpPr>
        <p:spPr>
          <a:xfrm>
            <a:off x="60958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SHORT-TERM BUY LEG MEDIAN EXCESS</a:t>
            </a:r>
          </a:p>
        </p:txBody>
      </p:sp>
      <p:sp>
        <p:nvSpPr>
          <p:cNvPr id="22" name="Rectangle 21"/>
          <p:cNvSpPr/>
          <p:nvPr/>
        </p:nvSpPr>
        <p:spPr>
          <a:xfrm>
            <a:off x="60409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231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72%</a:t>
            </a:r>
          </a:p>
        </p:txBody>
      </p:sp>
      <p:sp>
        <p:nvSpPr>
          <p:cNvPr id="24" name="TextBox 23"/>
          <p:cNvSpPr txBox="1"/>
          <p:nvPr/>
        </p:nvSpPr>
        <p:spPr>
          <a:xfrm>
            <a:off x="87231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SHORT-TERM BUY LEG HIT RATE</a:t>
            </a:r>
          </a:p>
        </p:txBody>
      </p:sp>
      <p:sp>
        <p:nvSpPr>
          <p:cNvPr id="25" name="Rectangle 24"/>
          <p:cNvSpPr/>
          <p:nvPr/>
        </p:nvSpPr>
        <p:spPr>
          <a:xfrm>
            <a:off x="86682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41248" y="2633472"/>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1248" y="2633472"/>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416" y="276148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THE LEVEL IS THE MARKET'S, NOT OURS</a:t>
            </a:r>
          </a:p>
        </p:txBody>
      </p:sp>
      <p:sp>
        <p:nvSpPr>
          <p:cNvPr id="29" name="TextBox 28"/>
          <p:cNvSpPr txBox="1"/>
          <p:nvPr/>
        </p:nvSpPr>
        <p:spPr>
          <a:xfrm>
            <a:off x="1042416" y="3035808"/>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Small Cap has the highest absolute alpha of any category, +2.20% a year, but a blind pick captures +2.03% of it. The incremental edge is +0.17% and it did not survive into the deployed book, which returned -1.34%.</a:t>
            </a:r>
          </a:p>
        </p:txBody>
      </p:sp>
      <p:sp>
        <p:nvSpPr>
          <p:cNvPr id="30" name="Rounded Rectangle 29"/>
          <p:cNvSpPr/>
          <p:nvPr/>
        </p:nvSpPr>
        <p:spPr>
          <a:xfrm>
            <a:off x="841248" y="3799331"/>
            <a:ext cx="10509199" cy="1074419"/>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41248" y="3799331"/>
            <a:ext cx="54864" cy="1074419"/>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2416" y="3927347"/>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BUT THE SHORT-HORIZON SIGNAL IS REAL, AND IT IS OURS</a:t>
            </a:r>
          </a:p>
        </p:txBody>
      </p:sp>
      <p:sp>
        <p:nvSpPr>
          <p:cNvPr id="33" name="TextBox 32"/>
          <p:cNvSpPr txBox="1"/>
          <p:nvPr/>
        </p:nvSpPr>
        <p:spPr>
          <a:xfrm>
            <a:off x="1042416" y="4201668"/>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short-term framework's small-cap buy leg is the strongest single signal in the firm: +3.49% median forward excess at a 72% hit rate, across 906 formations. That is six-month capture persistence, not five-year stock picking.</a:t>
            </a:r>
          </a:p>
        </p:txBody>
      </p:sp>
      <p:sp>
        <p:nvSpPr>
          <p:cNvPr id="34" name="Rounded Rectangle 33"/>
          <p:cNvSpPr/>
          <p:nvPr/>
        </p:nvSpPr>
        <p:spPr>
          <a:xfrm>
            <a:off x="841248" y="4965191"/>
            <a:ext cx="10509199" cy="90525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41248" y="4965191"/>
            <a:ext cx="54864" cy="90525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2416" y="5093207"/>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SO RUN IT AS WHAT IT IS</a:t>
            </a:r>
          </a:p>
        </p:txBody>
      </p:sp>
      <p:sp>
        <p:nvSpPr>
          <p:cNvPr id="37" name="TextBox 36"/>
          <p:cNvSpPr txBox="1"/>
          <p:nvPr/>
        </p:nvSpPr>
        <p:spPr>
          <a:xfrm>
            <a:off x="1042416" y="5367527"/>
            <a:ext cx="10143439" cy="44805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An index core for the beta, plus a separately sized and separately clocked tactical satellite. What we should not do is badge that satellite as our small-cap alpha.</a:t>
            </a:r>
          </a:p>
        </p:txBody>
      </p:sp>
      <p:sp>
        <p:nvSpPr>
          <p:cNvPr id="38" name="TextBox 3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Random-baseline test from the model-versus-random panel; buy-leg figures from the anchor-pair study extension.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TWO FRAMEWORKS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Who is allowed to say sell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 defect found this review, and the rule that replaced it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28</a:t>
            </a:r>
          </a:p>
        </p:txBody>
      </p:sp>
      <p:sp>
        <p:nvSpPr>
          <p:cNvPr id="15" name="Rounded Rectangle 14"/>
          <p:cNvSpPr/>
          <p:nvPr/>
        </p:nvSpPr>
        <p:spPr>
          <a:xfrm>
            <a:off x="841248" y="1792224"/>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792224"/>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1920240"/>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THE DEFECT</a:t>
            </a:r>
          </a:p>
        </p:txBody>
      </p:sp>
      <p:sp>
        <p:nvSpPr>
          <p:cNvPr id="18" name="TextBox 17"/>
          <p:cNvSpPr txBox="1"/>
          <p:nvPr/>
        </p:nvSpPr>
        <p:spPr>
          <a:xfrm>
            <a:off x="1042416" y="2194560"/>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QFRA 2.0 has no Sell verdict, yet our client pipeline derived one from it by treating a SENTINEL flag or a below-40 score as an exit signal. Both legs were wrong, and in one live case the rule called for selling a fund the same engine ranked second in its category with the top grade.</a:t>
            </a:r>
          </a:p>
        </p:txBody>
      </p:sp>
      <p:sp>
        <p:nvSpPr>
          <p:cNvPr id="19" name="TextBox 18"/>
          <p:cNvSpPr txBox="1"/>
          <p:nvPr/>
        </p:nvSpPr>
        <p:spPr>
          <a:xfrm>
            <a:off x="914400" y="2976372"/>
            <a:ext cx="259689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FRAMEWORK</a:t>
            </a:r>
          </a:p>
        </p:txBody>
      </p:sp>
      <p:sp>
        <p:nvSpPr>
          <p:cNvPr id="20" name="TextBox 19"/>
          <p:cNvSpPr txBox="1"/>
          <p:nvPr/>
        </p:nvSpPr>
        <p:spPr>
          <a:xfrm>
            <a:off x="3657600" y="2976372"/>
            <a:ext cx="761969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ROLE NOW</a:t>
            </a:r>
          </a:p>
        </p:txBody>
      </p:sp>
      <p:sp>
        <p:nvSpPr>
          <p:cNvPr id="21" name="Rectangle 20"/>
          <p:cNvSpPr/>
          <p:nvPr/>
        </p:nvSpPr>
        <p:spPr>
          <a:xfrm>
            <a:off x="841248" y="3232404"/>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278124"/>
            <a:ext cx="2596896"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Short-term (QFRA-1)</a:t>
            </a:r>
          </a:p>
        </p:txBody>
      </p:sp>
      <p:sp>
        <p:nvSpPr>
          <p:cNvPr id="23" name="TextBox 22"/>
          <p:cNvSpPr txBox="1"/>
          <p:nvPr/>
        </p:nvSpPr>
        <p:spPr>
          <a:xfrm>
            <a:off x="3657600" y="3278124"/>
            <a:ext cx="7619695"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ORIGINATES the sell. It is the only framework with a sell verdict and the only one with a replayed backtest.</a:t>
            </a:r>
          </a:p>
        </p:txBody>
      </p:sp>
      <p:sp>
        <p:nvSpPr>
          <p:cNvPr id="24" name="Rectangle 23"/>
          <p:cNvSpPr/>
          <p:nvPr/>
        </p:nvSpPr>
        <p:spPr>
          <a:xfrm>
            <a:off x="841248" y="3680460"/>
            <a:ext cx="10509199" cy="42062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698748"/>
            <a:ext cx="2596896"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QFRA 2.0</a:t>
            </a:r>
          </a:p>
        </p:txBody>
      </p:sp>
      <p:sp>
        <p:nvSpPr>
          <p:cNvPr id="26" name="TextBox 25"/>
          <p:cNvSpPr txBox="1"/>
          <p:nvPr/>
        </p:nvSpPr>
        <p:spPr>
          <a:xfrm>
            <a:off x="3657600" y="3698748"/>
            <a:ext cx="7619695"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VETOES only. A top-two grade blocks the sell. It can never originate one.</a:t>
            </a:r>
          </a:p>
        </p:txBody>
      </p:sp>
      <p:sp>
        <p:nvSpPr>
          <p:cNvPr id="27" name="TextBox 26"/>
          <p:cNvSpPr txBox="1"/>
          <p:nvPr/>
        </p:nvSpPr>
        <p:spPr>
          <a:xfrm>
            <a:off x="914400" y="4119372"/>
            <a:ext cx="2596896"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Disagreement</a:t>
            </a:r>
          </a:p>
        </p:txBody>
      </p:sp>
      <p:sp>
        <p:nvSpPr>
          <p:cNvPr id="28" name="TextBox 27"/>
          <p:cNvSpPr txBox="1"/>
          <p:nvPr/>
        </p:nvSpPr>
        <p:spPr>
          <a:xfrm>
            <a:off x="3657600" y="4119372"/>
            <a:ext cx="7619695" cy="42062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Surfaced as a contradiction for the fund manager's pack, never resolved silently to hold.</a:t>
            </a:r>
          </a:p>
        </p:txBody>
      </p:sp>
      <p:sp>
        <p:nvSpPr>
          <p:cNvPr id="29" name="Rounded Rectangle 28"/>
          <p:cNvSpPr/>
          <p:nvPr/>
        </p:nvSpPr>
        <p:spPr>
          <a:xfrm>
            <a:off x="841248" y="4631436"/>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41248" y="4631436"/>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2416" y="4759451"/>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AND THE LIMIT ON THE LEG THAT NOW ORIGINATES</a:t>
            </a:r>
          </a:p>
        </p:txBody>
      </p:sp>
      <p:sp>
        <p:nvSpPr>
          <p:cNvPr id="32" name="TextBox 31"/>
          <p:cNvSpPr txBox="1"/>
          <p:nvPr/>
        </p:nvSpPr>
        <p:spPr>
          <a:xfrm>
            <a:off x="1042416" y="5033772"/>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the same 906 formations the buy leg is strong, at +2.59% median excess and a 66% hit rate. The sell leg is not: 49% hit, below 50% in all six anchor pairs. A sell must stand on the analyst's reason, with capture as support, not on the backtest.</a:t>
            </a:r>
          </a:p>
        </p:txBody>
      </p:sp>
      <p:sp>
        <p:nvSpPr>
          <p:cNvPr id="33" name="TextBox 3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Implemented at 09_PRODUCT/scripts/fund_ctx_adapter.py. Sell-leg measurement in the anchor-pair study extension.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5.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05</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05</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Track record and the ask</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Every review period since 2018, the limits we accept, and the decision sought</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30-39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TRACK RECORD</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Every review period since 2018</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00" b="1" i="0">
                <a:solidFill>
                  <a:srgbClr val="F2A93C"/>
                </a:solidFill>
                <a:latin typeface="Bahnschrift"/>
              </a:rPr>
              <a:t>Rebuilt this review so a retained fund keeps its slot and no period is hidden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30</a:t>
            </a:r>
          </a:p>
        </p:txBody>
      </p:sp>
      <p:pic>
        <p:nvPicPr>
          <p:cNvPr id="15" name="Picture 14" descr="qfra2_tenure.png"/>
          <p:cNvPicPr>
            <a:picLocks noChangeAspect="1"/>
          </p:cNvPicPr>
          <p:nvPr/>
        </p:nvPicPr>
        <p:blipFill>
          <a:blip r:embed="rId3"/>
          <a:stretch>
            <a:fillRect/>
          </a:stretch>
        </p:blipFill>
        <p:spPr>
          <a:xfrm>
            <a:off x="2552116" y="1664208"/>
            <a:ext cx="7087462" cy="2889504"/>
          </a:xfrm>
          <a:prstGeom prst="rect">
            <a:avLst/>
          </a:prstGeom>
        </p:spPr>
      </p:pic>
      <p:sp>
        <p:nvSpPr>
          <p:cNvPr id="16" name="Rounded Rectangle 15"/>
          <p:cNvSpPr/>
          <p:nvPr/>
        </p:nvSpPr>
        <p:spPr>
          <a:xfrm>
            <a:off x="841248" y="4663440"/>
            <a:ext cx="10509199" cy="1243584"/>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 y="4663440"/>
            <a:ext cx="54864" cy="1243584"/>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791455"/>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WAS WRONG WITH THE PREVIOUS VERSION</a:t>
            </a:r>
          </a:p>
        </p:txBody>
      </p:sp>
      <p:sp>
        <p:nvSpPr>
          <p:cNvPr id="19" name="TextBox 18"/>
          <p:cNvSpPr txBox="1"/>
          <p:nvPr/>
        </p:nvSpPr>
        <p:spPr>
          <a:xfrm>
            <a:off x="1042416" y="5065776"/>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It printed only the 43 periods in which something changed, hiding 93 of 136 rows, and it let a retained fund move between slots when the ranking reordered. JM Large Cap was held without interruption from 2020 to 2024 and appeared in both. Slot changes for retained funds are now zero, and all 17 periods are shown.</a:t>
            </a:r>
          </a:p>
        </p:txBody>
      </p:sp>
      <p:sp>
        <p:nvSpPr>
          <p:cNvPr id="20" name="TextBox 19"/>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Rebuilt from QFRA2_recommendation_history.csv, which was complete all along. Script: 09_PRODUCT/scripts/qfra2_history_rebuild.py.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TRACK RECORD</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300" b="1" i="0">
                <a:solidFill>
                  <a:srgbClr val="1B27A3"/>
                </a:solidFill>
                <a:latin typeface="Bahnschrift"/>
              </a:rPr>
              <a:t>The January-2025 book, sixteen months on</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Live, not backtested, and far too short to settle anything</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1463040"/>
            <a:ext cx="10509199" cy="219456"/>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Realised annualised alpha of the twelve in-scope picks, Direct-plan NAVs against the category index</a:t>
            </a:r>
          </a:p>
        </p:txBody>
      </p:sp>
      <p:sp>
        <p:nvSpPr>
          <p:cNvPr id="15" name="TextBox 14"/>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31</a:t>
            </a:r>
          </a:p>
        </p:txBody>
      </p:sp>
      <p:sp>
        <p:nvSpPr>
          <p:cNvPr id="16" name="TextBox 15"/>
          <p:cNvSpPr txBox="1"/>
          <p:nvPr/>
        </p:nvSpPr>
        <p:spPr>
          <a:xfrm>
            <a:off x="841248"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+0.65%/yr</a:t>
            </a:r>
          </a:p>
        </p:txBody>
      </p:sp>
      <p:sp>
        <p:nvSpPr>
          <p:cNvPr id="17" name="TextBox 16"/>
          <p:cNvSpPr txBox="1"/>
          <p:nvPr/>
        </p:nvSpPr>
        <p:spPr>
          <a:xfrm>
            <a:off x="841248"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MEAN REALISED ALPHA</a:t>
            </a:r>
          </a:p>
        </p:txBody>
      </p:sp>
      <p:sp>
        <p:nvSpPr>
          <p:cNvPr id="18" name="TextBox 17"/>
          <p:cNvSpPr txBox="1"/>
          <p:nvPr/>
        </p:nvSpPr>
        <p:spPr>
          <a:xfrm>
            <a:off x="841248" y="2322576"/>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12 picks, 6 categories in scope</a:t>
            </a:r>
          </a:p>
        </p:txBody>
      </p:sp>
      <p:sp>
        <p:nvSpPr>
          <p:cNvPr id="19" name="TextBox 18"/>
          <p:cNvSpPr txBox="1"/>
          <p:nvPr/>
        </p:nvSpPr>
        <p:spPr>
          <a:xfrm>
            <a:off x="34685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+0.70%/yr</a:t>
            </a:r>
          </a:p>
        </p:txBody>
      </p:sp>
      <p:sp>
        <p:nvSpPr>
          <p:cNvPr id="20" name="TextBox 19"/>
          <p:cNvSpPr txBox="1"/>
          <p:nvPr/>
        </p:nvSpPr>
        <p:spPr>
          <a:xfrm>
            <a:off x="34685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MEDIAN REALISED ALPHA</a:t>
            </a:r>
          </a:p>
        </p:txBody>
      </p:sp>
      <p:sp>
        <p:nvSpPr>
          <p:cNvPr id="21" name="TextBox 20"/>
          <p:cNvSpPr txBox="1"/>
          <p:nvPr/>
        </p:nvSpPr>
        <p:spPr>
          <a:xfrm>
            <a:off x="3468547" y="2322576"/>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the same twelve picks</a:t>
            </a:r>
          </a:p>
        </p:txBody>
      </p:sp>
      <p:sp>
        <p:nvSpPr>
          <p:cNvPr id="22" name="Rectangle 21"/>
          <p:cNvSpPr/>
          <p:nvPr/>
        </p:nvSpPr>
        <p:spPr>
          <a:xfrm>
            <a:off x="34136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58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a:t>
            </a:r>
          </a:p>
        </p:txBody>
      </p:sp>
      <p:sp>
        <p:nvSpPr>
          <p:cNvPr id="24" name="TextBox 23"/>
          <p:cNvSpPr txBox="1"/>
          <p:nvPr/>
        </p:nvSpPr>
        <p:spPr>
          <a:xfrm>
            <a:off x="60958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SLOT CHANGES SINCE JAN-2025</a:t>
            </a:r>
          </a:p>
        </p:txBody>
      </p:sp>
      <p:sp>
        <p:nvSpPr>
          <p:cNvPr id="25" name="TextBox 24"/>
          <p:cNvSpPr txBox="1"/>
          <p:nvPr/>
        </p:nvSpPr>
        <p:spPr>
          <a:xfrm>
            <a:off x="6095847" y="2322576"/>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both re-runs held every slot</a:t>
            </a:r>
          </a:p>
        </p:txBody>
      </p:sp>
      <p:sp>
        <p:nvSpPr>
          <p:cNvPr id="26" name="Rectangle 25"/>
          <p:cNvSpPr/>
          <p:nvPr/>
        </p:nvSpPr>
        <p:spPr>
          <a:xfrm>
            <a:off x="60409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231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16 months</a:t>
            </a:r>
          </a:p>
        </p:txBody>
      </p:sp>
      <p:sp>
        <p:nvSpPr>
          <p:cNvPr id="28" name="TextBox 27"/>
          <p:cNvSpPr txBox="1"/>
          <p:nvPr/>
        </p:nvSpPr>
        <p:spPr>
          <a:xfrm>
            <a:off x="87231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ELAPSED OF A 3-TO-5-YEAR CALL</a:t>
            </a:r>
          </a:p>
        </p:txBody>
      </p:sp>
      <p:sp>
        <p:nvSpPr>
          <p:cNvPr id="29" name="TextBox 28"/>
          <p:cNvSpPr txBox="1"/>
          <p:nvPr/>
        </p:nvSpPr>
        <p:spPr>
          <a:xfrm>
            <a:off x="8723147" y="2322576"/>
            <a:ext cx="24901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to 2026-05-27</a:t>
            </a:r>
          </a:p>
        </p:txBody>
      </p:sp>
      <p:sp>
        <p:nvSpPr>
          <p:cNvPr id="30" name="Rectangle 29"/>
          <p:cNvSpPr/>
          <p:nvPr/>
        </p:nvSpPr>
        <p:spPr>
          <a:xfrm>
            <a:off x="86682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2615184"/>
            <a:ext cx="209397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CATEGORY</a:t>
            </a:r>
          </a:p>
        </p:txBody>
      </p:sp>
      <p:sp>
        <p:nvSpPr>
          <p:cNvPr id="32" name="TextBox 31"/>
          <p:cNvSpPr txBox="1"/>
          <p:nvPr/>
        </p:nvSpPr>
        <p:spPr>
          <a:xfrm>
            <a:off x="3154680" y="2615184"/>
            <a:ext cx="2002536"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THE TWO PICKS</a:t>
            </a:r>
          </a:p>
        </p:txBody>
      </p:sp>
      <p:sp>
        <p:nvSpPr>
          <p:cNvPr id="33" name="TextBox 32"/>
          <p:cNvSpPr txBox="1"/>
          <p:nvPr/>
        </p:nvSpPr>
        <p:spPr>
          <a:xfrm>
            <a:off x="5303520" y="2615184"/>
            <a:ext cx="1453896"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CATEGORY MEAN</a:t>
            </a:r>
          </a:p>
        </p:txBody>
      </p:sp>
      <p:sp>
        <p:nvSpPr>
          <p:cNvPr id="34" name="TextBox 33"/>
          <p:cNvSpPr txBox="1"/>
          <p:nvPr/>
        </p:nvSpPr>
        <p:spPr>
          <a:xfrm>
            <a:off x="6903720" y="2615184"/>
            <a:ext cx="437357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READ</a:t>
            </a:r>
          </a:p>
        </p:txBody>
      </p:sp>
      <p:sp>
        <p:nvSpPr>
          <p:cNvPr id="35" name="Rectangle 34"/>
          <p:cNvSpPr/>
          <p:nvPr/>
        </p:nvSpPr>
        <p:spPr>
          <a:xfrm>
            <a:off x="841248" y="2871215"/>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2916936"/>
            <a:ext cx="2093976"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Small Cap</a:t>
            </a:r>
          </a:p>
        </p:txBody>
      </p:sp>
      <p:sp>
        <p:nvSpPr>
          <p:cNvPr id="37" name="TextBox 36"/>
          <p:cNvSpPr txBox="1"/>
          <p:nvPr/>
        </p:nvSpPr>
        <p:spPr>
          <a:xfrm>
            <a:off x="3154680" y="2916936"/>
            <a:ext cx="2002536" cy="329184"/>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+7.3%  ·  +7.0%</a:t>
            </a:r>
          </a:p>
        </p:txBody>
      </p:sp>
      <p:sp>
        <p:nvSpPr>
          <p:cNvPr id="38" name="TextBox 37"/>
          <p:cNvSpPr txBox="1"/>
          <p:nvPr/>
        </p:nvSpPr>
        <p:spPr>
          <a:xfrm>
            <a:off x="5303520" y="2916936"/>
            <a:ext cx="1453896" cy="329184"/>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+7.15%</a:t>
            </a:r>
          </a:p>
        </p:txBody>
      </p:sp>
      <p:sp>
        <p:nvSpPr>
          <p:cNvPr id="39" name="TextBox 38"/>
          <p:cNvSpPr txBox="1"/>
          <p:nvPr/>
        </p:nvSpPr>
        <p:spPr>
          <a:xfrm>
            <a:off x="6903720" y="2916936"/>
            <a:ext cx="437357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The best pair of the twelve, both picks.</a:t>
            </a:r>
          </a:p>
        </p:txBody>
      </p:sp>
      <p:sp>
        <p:nvSpPr>
          <p:cNvPr id="40" name="Rectangle 39"/>
          <p:cNvSpPr/>
          <p:nvPr/>
        </p:nvSpPr>
        <p:spPr>
          <a:xfrm>
            <a:off x="841248" y="3227832"/>
            <a:ext cx="10509199" cy="32918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3246120"/>
            <a:ext cx="2093976"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Flexi Cap</a:t>
            </a:r>
          </a:p>
        </p:txBody>
      </p:sp>
      <p:sp>
        <p:nvSpPr>
          <p:cNvPr id="42" name="TextBox 41"/>
          <p:cNvSpPr txBox="1"/>
          <p:nvPr/>
        </p:nvSpPr>
        <p:spPr>
          <a:xfrm>
            <a:off x="3154680" y="3246120"/>
            <a:ext cx="2002536" cy="329184"/>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+2.4%  ·  +1.7%</a:t>
            </a:r>
          </a:p>
        </p:txBody>
      </p:sp>
      <p:sp>
        <p:nvSpPr>
          <p:cNvPr id="43" name="TextBox 42"/>
          <p:cNvSpPr txBox="1"/>
          <p:nvPr/>
        </p:nvSpPr>
        <p:spPr>
          <a:xfrm>
            <a:off x="5303520" y="3246120"/>
            <a:ext cx="1453896" cy="329184"/>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+2.05%</a:t>
            </a:r>
          </a:p>
        </p:txBody>
      </p:sp>
      <p:sp>
        <p:nvSpPr>
          <p:cNvPr id="44" name="TextBox 43"/>
          <p:cNvSpPr txBox="1"/>
          <p:nvPr/>
        </p:nvSpPr>
        <p:spPr>
          <a:xfrm>
            <a:off x="6903720" y="3246120"/>
            <a:ext cx="437357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Consistent with its backtested edge.</a:t>
            </a:r>
          </a:p>
        </p:txBody>
      </p:sp>
      <p:sp>
        <p:nvSpPr>
          <p:cNvPr id="45" name="TextBox 44"/>
          <p:cNvSpPr txBox="1"/>
          <p:nvPr/>
        </p:nvSpPr>
        <p:spPr>
          <a:xfrm>
            <a:off x="914400" y="3575303"/>
            <a:ext cx="2093976"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Large Cap</a:t>
            </a:r>
          </a:p>
        </p:txBody>
      </p:sp>
      <p:sp>
        <p:nvSpPr>
          <p:cNvPr id="46" name="TextBox 45"/>
          <p:cNvSpPr txBox="1"/>
          <p:nvPr/>
        </p:nvSpPr>
        <p:spPr>
          <a:xfrm>
            <a:off x="3154680" y="3575303"/>
            <a:ext cx="2002536" cy="329184"/>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-1.2%  ·  +3.6%</a:t>
            </a:r>
          </a:p>
        </p:txBody>
      </p:sp>
      <p:sp>
        <p:nvSpPr>
          <p:cNvPr id="47" name="TextBox 46"/>
          <p:cNvSpPr txBox="1"/>
          <p:nvPr/>
        </p:nvSpPr>
        <p:spPr>
          <a:xfrm>
            <a:off x="5303520" y="3575303"/>
            <a:ext cx="1453896" cy="329184"/>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+1.20%</a:t>
            </a:r>
          </a:p>
        </p:txBody>
      </p:sp>
      <p:sp>
        <p:nvSpPr>
          <p:cNvPr id="48" name="TextBox 47"/>
          <p:cNvSpPr txBox="1"/>
          <p:nvPr/>
        </p:nvSpPr>
        <p:spPr>
          <a:xfrm>
            <a:off x="6903720" y="3575303"/>
            <a:ext cx="437357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Index core; the pair disagrees sharply.</a:t>
            </a:r>
          </a:p>
        </p:txBody>
      </p:sp>
      <p:sp>
        <p:nvSpPr>
          <p:cNvPr id="49" name="Rectangle 48"/>
          <p:cNvSpPr/>
          <p:nvPr/>
        </p:nvSpPr>
        <p:spPr>
          <a:xfrm>
            <a:off x="841248" y="3886200"/>
            <a:ext cx="10509199" cy="32918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3904487"/>
            <a:ext cx="2093976"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Multi Cap</a:t>
            </a:r>
          </a:p>
        </p:txBody>
      </p:sp>
      <p:sp>
        <p:nvSpPr>
          <p:cNvPr id="51" name="TextBox 50"/>
          <p:cNvSpPr txBox="1"/>
          <p:nvPr/>
        </p:nvSpPr>
        <p:spPr>
          <a:xfrm>
            <a:off x="3154680" y="3904487"/>
            <a:ext cx="2002536" cy="329184"/>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-6.0%  ·  +5.2%</a:t>
            </a:r>
          </a:p>
        </p:txBody>
      </p:sp>
      <p:sp>
        <p:nvSpPr>
          <p:cNvPr id="52" name="TextBox 51"/>
          <p:cNvSpPr txBox="1"/>
          <p:nvPr/>
        </p:nvSpPr>
        <p:spPr>
          <a:xfrm>
            <a:off x="5303520" y="3904487"/>
            <a:ext cx="1453896" cy="329184"/>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-0.40%</a:t>
            </a:r>
          </a:p>
        </p:txBody>
      </p:sp>
      <p:sp>
        <p:nvSpPr>
          <p:cNvPr id="53" name="TextBox 52"/>
          <p:cNvSpPr txBox="1"/>
          <p:nvPr/>
        </p:nvSpPr>
        <p:spPr>
          <a:xfrm>
            <a:off x="6903720" y="3904487"/>
            <a:ext cx="437357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An 11-point spread inside one category.</a:t>
            </a:r>
          </a:p>
        </p:txBody>
      </p:sp>
      <p:sp>
        <p:nvSpPr>
          <p:cNvPr id="54" name="TextBox 53"/>
          <p:cNvSpPr txBox="1"/>
          <p:nvPr/>
        </p:nvSpPr>
        <p:spPr>
          <a:xfrm>
            <a:off x="914400" y="4233672"/>
            <a:ext cx="2093976"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Large &amp; Mid Cap</a:t>
            </a:r>
          </a:p>
        </p:txBody>
      </p:sp>
      <p:sp>
        <p:nvSpPr>
          <p:cNvPr id="55" name="TextBox 54"/>
          <p:cNvSpPr txBox="1"/>
          <p:nvPr/>
        </p:nvSpPr>
        <p:spPr>
          <a:xfrm>
            <a:off x="3154680" y="4233672"/>
            <a:ext cx="2002536" cy="329184"/>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-0.3%  ·  -3.1%</a:t>
            </a:r>
          </a:p>
        </p:txBody>
      </p:sp>
      <p:sp>
        <p:nvSpPr>
          <p:cNvPr id="56" name="TextBox 55"/>
          <p:cNvSpPr txBox="1"/>
          <p:nvPr/>
        </p:nvSpPr>
        <p:spPr>
          <a:xfrm>
            <a:off x="5303520" y="4233672"/>
            <a:ext cx="1453896" cy="329184"/>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-1.70%</a:t>
            </a:r>
          </a:p>
        </p:txBody>
      </p:sp>
      <p:sp>
        <p:nvSpPr>
          <p:cNvPr id="57" name="TextBox 56"/>
          <p:cNvSpPr txBox="1"/>
          <p:nvPr/>
        </p:nvSpPr>
        <p:spPr>
          <a:xfrm>
            <a:off x="6903720" y="4233672"/>
            <a:ext cx="437357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Best backtested edge, negative live.</a:t>
            </a:r>
          </a:p>
        </p:txBody>
      </p:sp>
      <p:sp>
        <p:nvSpPr>
          <p:cNvPr id="58" name="Rectangle 57"/>
          <p:cNvSpPr/>
          <p:nvPr/>
        </p:nvSpPr>
        <p:spPr>
          <a:xfrm>
            <a:off x="841248" y="4544568"/>
            <a:ext cx="10509199" cy="32918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4400" y="4562856"/>
            <a:ext cx="2093976"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Mid Cap</a:t>
            </a:r>
          </a:p>
        </p:txBody>
      </p:sp>
      <p:sp>
        <p:nvSpPr>
          <p:cNvPr id="60" name="TextBox 59"/>
          <p:cNvSpPr txBox="1"/>
          <p:nvPr/>
        </p:nvSpPr>
        <p:spPr>
          <a:xfrm>
            <a:off x="3154680" y="4562856"/>
            <a:ext cx="2002536" cy="329184"/>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-7.7%  ·  -1.1%</a:t>
            </a:r>
          </a:p>
        </p:txBody>
      </p:sp>
      <p:sp>
        <p:nvSpPr>
          <p:cNvPr id="61" name="TextBox 60"/>
          <p:cNvSpPr txBox="1"/>
          <p:nvPr/>
        </p:nvSpPr>
        <p:spPr>
          <a:xfrm>
            <a:off x="5303520" y="4562856"/>
            <a:ext cx="1453896" cy="329184"/>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-4.40%</a:t>
            </a:r>
          </a:p>
        </p:txBody>
      </p:sp>
      <p:sp>
        <p:nvSpPr>
          <p:cNvPr id="62" name="TextBox 61"/>
          <p:cNvSpPr txBox="1"/>
          <p:nvPr/>
        </p:nvSpPr>
        <p:spPr>
          <a:xfrm>
            <a:off x="6903720" y="4562856"/>
            <a:ext cx="4373575" cy="329184"/>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The routing to momentum, vindicated early.</a:t>
            </a:r>
          </a:p>
        </p:txBody>
      </p:sp>
      <p:sp>
        <p:nvSpPr>
          <p:cNvPr id="63" name="Rounded Rectangle 62"/>
          <p:cNvSpPr/>
          <p:nvPr/>
        </p:nvSpPr>
        <p:spPr>
          <a:xfrm>
            <a:off x="841248" y="4965192"/>
            <a:ext cx="10509199" cy="905256"/>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41248" y="4965192"/>
            <a:ext cx="54864" cy="905256"/>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42416" y="5093207"/>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SIXTEEN MONTHS IS A CHECK, NOT EVIDENCE</a:t>
            </a:r>
          </a:p>
        </p:txBody>
      </p:sp>
      <p:sp>
        <p:nvSpPr>
          <p:cNvPr id="66" name="TextBox 65"/>
          <p:cNvSpPr txBox="1"/>
          <p:nvPr/>
        </p:nvSpPr>
        <p:spPr>
          <a:xfrm>
            <a:off x="1042416" y="5367528"/>
            <a:ext cx="10143439" cy="44805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Twelve picks over sixteen months, with a 15-point spread between the best and worst single pick, cannot confirm a three-to-five-year thesis either way.</a:t>
            </a:r>
          </a:p>
        </p:txBody>
      </p:sp>
      <p:sp>
        <p:nvSpPr>
          <p:cNvPr id="67" name="TextBox 6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Recomputed from QFRA2_realized.csv, rank&lt;=2 rows, alpha_ann_pct, Jan-2025 to 2026-05-27. Slot stability from QFRA2_history_rebuilt.csv (2025-H2 and 2026-H1 both 'held' in all six). The previous pack's +0.9% is the all-eight-category mean and includes Focused, which is out of scope.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TRACK RECORD</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rarely the book actually changes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Eight years of realised turnover, and what the discipline costs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32</a:t>
            </a:r>
          </a:p>
        </p:txBody>
      </p:sp>
      <p:pic>
        <p:nvPicPr>
          <p:cNvPr id="15" name="Picture 14" descr="qfra2_churn.png"/>
          <p:cNvPicPr>
            <a:picLocks noChangeAspect="1"/>
          </p:cNvPicPr>
          <p:nvPr/>
        </p:nvPicPr>
        <p:blipFill>
          <a:blip r:embed="rId3"/>
          <a:stretch>
            <a:fillRect/>
          </a:stretch>
        </p:blipFill>
        <p:spPr>
          <a:xfrm>
            <a:off x="1681850" y="1737360"/>
            <a:ext cx="8827994" cy="1847088"/>
          </a:xfrm>
          <a:prstGeom prst="rect">
            <a:avLst/>
          </a:prstGeom>
        </p:spPr>
      </p:pic>
      <p:sp>
        <p:nvSpPr>
          <p:cNvPr id="16" name="Rounded Rectangle 15"/>
          <p:cNvSpPr/>
          <p:nvPr/>
        </p:nvSpPr>
        <p:spPr>
          <a:xfrm>
            <a:off x="841248" y="3657600"/>
            <a:ext cx="10509199" cy="1243584"/>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 y="3657600"/>
            <a:ext cx="54864" cy="1243584"/>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785615"/>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WHY LOW CHURN IS A PRODUCT FEATURE AND NOT LAZINESS</a:t>
            </a:r>
          </a:p>
        </p:txBody>
      </p:sp>
      <p:sp>
        <p:nvSpPr>
          <p:cNvPr id="19" name="TextBox 18"/>
          <p:cNvSpPr txBox="1"/>
          <p:nvPr/>
        </p:nvSpPr>
        <p:spPr>
          <a:xfrm>
            <a:off x="1042416" y="4059936"/>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Thirty-one slot changes across the six deployed categories in eight years is 3.9 a year, or an average holding near three years. That keeps gains in the long-term bracket and keeps the operational load on an advisory book small. Large &amp; Mid changed most, at seven; Small Cap changed three times in eight years.</a:t>
            </a:r>
          </a:p>
        </p:txBody>
      </p:sp>
      <p:sp>
        <p:nvSpPr>
          <p:cNvPr id="20" name="Rounded Rectangle 19"/>
          <p:cNvSpPr/>
          <p:nvPr/>
        </p:nvSpPr>
        <p:spPr>
          <a:xfrm>
            <a:off x="841248" y="4974336"/>
            <a:ext cx="10509199" cy="905256"/>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1248" y="4974336"/>
            <a:ext cx="54864" cy="905256"/>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2416" y="5102351"/>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AND THE BILL FOR IT, STATED ONCE MORE</a:t>
            </a:r>
          </a:p>
        </p:txBody>
      </p:sp>
      <p:sp>
        <p:nvSpPr>
          <p:cNvPr id="23" name="TextBox 22"/>
          <p:cNvSpPr txBox="1"/>
          <p:nvPr/>
        </p:nvSpPr>
        <p:spPr>
          <a:xfrm>
            <a:off x="1042416" y="5376672"/>
            <a:ext cx="10143439" cy="44805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same discipline absorbs most of the measured selection edge: +0.09%/yr held against +0.48% unconstrained. Low churn is being bought, not received free.</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Recomputed from qfra2_pac_prep/QFRA2_history_rebuilt.csv, 17 review periods, first period excluded as the book's start; independently reproduces qfra2_charts_ceo.py's own bar data (7/6/5/5/5/3). Chart: chart_qfra2_evidence.py. The previous pack's 2.6/yr is unsupported.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TRACK RECORD</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we tested and did not ship</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Nine rejections and one adoption, kept as a standing record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1463040"/>
            <a:ext cx="10509199" cy="219456"/>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We do not ship what we cannot validate. This log is the only evidence that the rule actually binds</a:t>
            </a:r>
          </a:p>
        </p:txBody>
      </p:sp>
      <p:sp>
        <p:nvSpPr>
          <p:cNvPr id="15" name="TextBox 14"/>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33</a:t>
            </a:r>
          </a:p>
        </p:txBody>
      </p:sp>
      <p:sp>
        <p:nvSpPr>
          <p:cNvPr id="16" name="TextBox 15"/>
          <p:cNvSpPr txBox="1"/>
          <p:nvPr/>
        </p:nvSpPr>
        <p:spPr>
          <a:xfrm>
            <a:off x="914400" y="1792224"/>
            <a:ext cx="287121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WAS TESTED</a:t>
            </a:r>
          </a:p>
        </p:txBody>
      </p:sp>
      <p:sp>
        <p:nvSpPr>
          <p:cNvPr id="17" name="TextBox 16"/>
          <p:cNvSpPr txBox="1"/>
          <p:nvPr/>
        </p:nvSpPr>
        <p:spPr>
          <a:xfrm>
            <a:off x="3931919" y="1792224"/>
            <a:ext cx="734537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WHY IT IS NOT IN THE MODEL</a:t>
            </a:r>
          </a:p>
        </p:txBody>
      </p:sp>
      <p:sp>
        <p:nvSpPr>
          <p:cNvPr id="18" name="Rectangle 17"/>
          <p:cNvSpPr/>
          <p:nvPr/>
        </p:nvSpPr>
        <p:spPr>
          <a:xfrm>
            <a:off x="841248" y="2048256"/>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093976"/>
            <a:ext cx="287121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Downside information-ratio slot</a:t>
            </a:r>
          </a:p>
        </p:txBody>
      </p:sp>
      <p:sp>
        <p:nvSpPr>
          <p:cNvPr id="20" name="TextBox 19"/>
          <p:cNvSpPr txBox="1"/>
          <p:nvPr/>
        </p:nvSpPr>
        <p:spPr>
          <a:xfrm>
            <a:off x="3931919" y="2093976"/>
            <a:ext cx="734537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Looked good on pooled medians, then failed the paired block bootstrap. Not adopted.</a:t>
            </a:r>
          </a:p>
        </p:txBody>
      </p:sp>
      <p:sp>
        <p:nvSpPr>
          <p:cNvPr id="21" name="Rectangle 20"/>
          <p:cNvSpPr/>
          <p:nvPr/>
        </p:nvSpPr>
        <p:spPr>
          <a:xfrm>
            <a:off x="841248" y="2441448"/>
            <a:ext cx="10509199" cy="36576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2459736"/>
            <a:ext cx="287121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Six-month tactical capture signals</a:t>
            </a:r>
          </a:p>
        </p:txBody>
      </p:sp>
      <p:sp>
        <p:nvSpPr>
          <p:cNvPr id="23" name="TextBox 22"/>
          <p:cNvSpPr txBox="1"/>
          <p:nvPr/>
        </p:nvSpPr>
        <p:spPr>
          <a:xfrm>
            <a:off x="3931919" y="2459736"/>
            <a:ext cx="734537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Strong at six months, but high turnover and short-term-gains heavy, which a three-to-five-year mandate cannot carry. Survives only as the frozen 0.30 capture weight.</a:t>
            </a:r>
          </a:p>
        </p:txBody>
      </p:sp>
      <p:sp>
        <p:nvSpPr>
          <p:cNvPr id="24" name="TextBox 23"/>
          <p:cNvSpPr txBox="1"/>
          <p:nvPr/>
        </p:nvSpPr>
        <p:spPr>
          <a:xfrm>
            <a:off x="914400" y="2825496"/>
            <a:ext cx="287121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Rolling-consistency targeting</a:t>
            </a:r>
          </a:p>
        </p:txBody>
      </p:sp>
      <p:sp>
        <p:nvSpPr>
          <p:cNvPr id="25" name="TextBox 24"/>
          <p:cNvSpPr txBox="1"/>
          <p:nvPr/>
        </p:nvSpPr>
        <p:spPr>
          <a:xfrm>
            <a:off x="3931919" y="2825496"/>
            <a:ext cx="734537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The worst of the four alternatives at three years in all eight categories.</a:t>
            </a:r>
          </a:p>
        </p:txBody>
      </p:sp>
      <p:sp>
        <p:nvSpPr>
          <p:cNvPr id="26" name="Rectangle 25"/>
          <p:cNvSpPr/>
          <p:nvPr/>
        </p:nvSpPr>
        <p:spPr>
          <a:xfrm>
            <a:off x="841248" y="3172968"/>
            <a:ext cx="10509199" cy="36576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191256"/>
            <a:ext cx="287121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Capture weight above 0.40</a:t>
            </a:r>
          </a:p>
        </p:txBody>
      </p:sp>
      <p:sp>
        <p:nvSpPr>
          <p:cNvPr id="28" name="TextBox 27"/>
          <p:cNvSpPr txBox="1"/>
          <p:nvPr/>
        </p:nvSpPr>
        <p:spPr>
          <a:xfrm>
            <a:off x="3931919" y="3191256"/>
            <a:ext cx="734537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Raising the weight bought no gain that survived validation. It ships at 0.30.</a:t>
            </a:r>
          </a:p>
        </p:txBody>
      </p:sp>
      <p:sp>
        <p:nvSpPr>
          <p:cNvPr id="29" name="TextBox 28"/>
          <p:cNvSpPr txBox="1"/>
          <p:nvPr/>
        </p:nvSpPr>
        <p:spPr>
          <a:xfrm>
            <a:off x="914400" y="3557015"/>
            <a:ext cx="287121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Bull and bear regime timing</a:t>
            </a:r>
          </a:p>
        </p:txBody>
      </p:sp>
      <p:sp>
        <p:nvSpPr>
          <p:cNvPr id="30" name="TextBox 29"/>
          <p:cNvSpPr txBox="1"/>
          <p:nvPr/>
        </p:nvSpPr>
        <p:spPr>
          <a:xfrm>
            <a:off x="3931919" y="3557015"/>
            <a:ext cx="734537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Mixed, unstable and era-dependent. Around 4% of dates are bear dates: too few to validate on.</a:t>
            </a:r>
          </a:p>
        </p:txBody>
      </p:sp>
      <p:sp>
        <p:nvSpPr>
          <p:cNvPr id="31" name="Rectangle 30"/>
          <p:cNvSpPr/>
          <p:nvPr/>
        </p:nvSpPr>
        <p:spPr>
          <a:xfrm>
            <a:off x="841248" y="3904488"/>
            <a:ext cx="10509199" cy="36576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922776"/>
            <a:ext cx="287121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 contrarian sleeve</a:t>
            </a:r>
          </a:p>
        </p:txBody>
      </p:sp>
      <p:sp>
        <p:nvSpPr>
          <p:cNvPr id="33" name="TextBox 32"/>
          <p:cNvSpPr txBox="1"/>
          <p:nvPr/>
        </p:nvSpPr>
        <p:spPr>
          <a:xfrm>
            <a:off x="3931919" y="3922776"/>
            <a:ext cx="734537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Helped only the mean-reverting categories, so SENTINEL is switched off for Mid and Value instead of adding a sleeve.</a:t>
            </a:r>
          </a:p>
        </p:txBody>
      </p:sp>
      <p:sp>
        <p:nvSpPr>
          <p:cNvPr id="34" name="TextBox 33"/>
          <p:cNvSpPr txBox="1"/>
          <p:nvPr/>
        </p:nvSpPr>
        <p:spPr>
          <a:xfrm>
            <a:off x="914400" y="4288536"/>
            <a:ext cx="287121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Machine learning on the cross-section</a:t>
            </a:r>
          </a:p>
        </p:txBody>
      </p:sp>
      <p:sp>
        <p:nvSpPr>
          <p:cNvPr id="35" name="TextBox 34"/>
          <p:cNvSpPr txBox="1"/>
          <p:nvPr/>
        </p:nvSpPr>
        <p:spPr>
          <a:xfrm>
            <a:off x="3931919" y="4288536"/>
            <a:ext cx="734537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Five to nine funds per category memorises one era. Rejected on our own evidence, well before the claim appeared on a slide.</a:t>
            </a:r>
          </a:p>
        </p:txBody>
      </p:sp>
      <p:sp>
        <p:nvSpPr>
          <p:cNvPr id="36" name="Rectangle 35"/>
          <p:cNvSpPr/>
          <p:nvPr/>
        </p:nvSpPr>
        <p:spPr>
          <a:xfrm>
            <a:off x="841248" y="4636008"/>
            <a:ext cx="10509199" cy="365760"/>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4654296"/>
            <a:ext cx="287121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Model retunes V1 to V5, IC-base, alpha persistence, cap split</a:t>
            </a:r>
          </a:p>
        </p:txBody>
      </p:sp>
      <p:sp>
        <p:nvSpPr>
          <p:cNvPr id="38" name="TextBox 37"/>
          <p:cNvSpPr txBox="1"/>
          <p:nvPr/>
        </p:nvSpPr>
        <p:spPr>
          <a:xfrm>
            <a:off x="3931919" y="4654296"/>
            <a:ext cx="734537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All rejected on out-of-sample significance.</a:t>
            </a:r>
          </a:p>
        </p:txBody>
      </p:sp>
      <p:sp>
        <p:nvSpPr>
          <p:cNvPr id="39" name="TextBox 38"/>
          <p:cNvSpPr txBox="1"/>
          <p:nvPr/>
        </p:nvSpPr>
        <p:spPr>
          <a:xfrm>
            <a:off x="914400" y="5020056"/>
            <a:ext cx="287121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Momentum smart beta for Mid  ·  ADOPTED</a:t>
            </a:r>
          </a:p>
        </p:txBody>
      </p:sp>
      <p:sp>
        <p:nvSpPr>
          <p:cNvPr id="40" name="TextBox 39"/>
          <p:cNvSpPr txBox="1"/>
          <p:nvPr/>
        </p:nvSpPr>
        <p:spPr>
          <a:xfrm>
            <a:off x="3931919" y="5020056"/>
            <a:ext cx="7345375"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The one enhancement that cleared the same out-of-sample bar the retunes failed.</a:t>
            </a:r>
          </a:p>
        </p:txBody>
      </p:sp>
      <p:sp>
        <p:nvSpPr>
          <p:cNvPr id="41" name="TextBox 4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QFRA2_HANDOFF.md section 7, the integrity log. Rolling-consistency claim verified category by category against outputs/backtest/strategy_comparison.csv; the previous pack's -1.44% / 32.7% for it does not reproduce from that file and is not repeated.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HOW WE TEST</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we test our own engines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400" b="1" i="0">
                <a:solidFill>
                  <a:srgbClr val="F2A93C"/>
                </a:solidFill>
                <a:latin typeface="Bahnschrift"/>
              </a:rPr>
              <a:t>Five stress-tests, run this cycle on the stock-scoring engine, shown for the discipline alone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34</a:t>
            </a:r>
          </a:p>
        </p:txBody>
      </p:sp>
      <p:sp>
        <p:nvSpPr>
          <p:cNvPr id="15" name="Rounded Rectangle 14"/>
          <p:cNvSpPr/>
          <p:nvPr/>
        </p:nvSpPr>
        <p:spPr>
          <a:xfrm>
            <a:off x="841248" y="1755648"/>
            <a:ext cx="10509199" cy="1074419"/>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755648"/>
            <a:ext cx="54864" cy="1074419"/>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1883664"/>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SCOPE, STATED BEFORE THE NUMBERS</a:t>
            </a:r>
          </a:p>
        </p:txBody>
      </p:sp>
      <p:sp>
        <p:nvSpPr>
          <p:cNvPr id="18" name="TextBox 17"/>
          <p:cNvSpPr txBox="1"/>
          <p:nvPr/>
        </p:nvSpPr>
        <p:spPr>
          <a:xfrm>
            <a:off x="1042416" y="2157984"/>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Every figure on the next two pages is from the 750-stock scorecard, a different model on a different asset class, run 2026-08-04 to 2026-08-05. None of it is QFRA-2 evidence. It is shown because a committee approving one model should see how the firm tries to break its models in general.</a:t>
            </a:r>
          </a:p>
        </p:txBody>
      </p:sp>
      <p:sp>
        <p:nvSpPr>
          <p:cNvPr id="19" name="TextBox 18"/>
          <p:cNvSpPr txBox="1"/>
          <p:nvPr/>
        </p:nvSpPr>
        <p:spPr>
          <a:xfrm>
            <a:off x="914400" y="2958084"/>
            <a:ext cx="259689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TEST</a:t>
            </a:r>
          </a:p>
        </p:txBody>
      </p:sp>
      <p:sp>
        <p:nvSpPr>
          <p:cNvPr id="20" name="TextBox 19"/>
          <p:cNvSpPr txBox="1"/>
          <p:nvPr/>
        </p:nvSpPr>
        <p:spPr>
          <a:xfrm>
            <a:off x="3657600" y="2958084"/>
            <a:ext cx="761969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IT CHECKS</a:t>
            </a:r>
          </a:p>
        </p:txBody>
      </p:sp>
      <p:sp>
        <p:nvSpPr>
          <p:cNvPr id="21" name="Rectangle 20"/>
          <p:cNvSpPr/>
          <p:nvPr/>
        </p:nvSpPr>
        <p:spPr>
          <a:xfrm>
            <a:off x="841248" y="3214115"/>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259836"/>
            <a:ext cx="2596896" cy="40233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Rolling deciles, pre- vs post-gate</a:t>
            </a:r>
          </a:p>
        </p:txBody>
      </p:sp>
      <p:sp>
        <p:nvSpPr>
          <p:cNvPr id="23" name="TextBox 22"/>
          <p:cNvSpPr txBox="1"/>
          <p:nvPr/>
        </p:nvSpPr>
        <p:spPr>
          <a:xfrm>
            <a:off x="3657600" y="3259836"/>
            <a:ext cx="7619695" cy="40233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Whether the balance-sheet gate, penalty and boost layer adds ranking power or costs it.</a:t>
            </a:r>
          </a:p>
        </p:txBody>
      </p:sp>
      <p:sp>
        <p:nvSpPr>
          <p:cNvPr id="24" name="Rectangle 23"/>
          <p:cNvSpPr/>
          <p:nvPr/>
        </p:nvSpPr>
        <p:spPr>
          <a:xfrm>
            <a:off x="841248" y="3643884"/>
            <a:ext cx="10509199" cy="402336"/>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662172"/>
            <a:ext cx="2596896" cy="40233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Regime and PSU split</a:t>
            </a:r>
          </a:p>
        </p:txBody>
      </p:sp>
      <p:sp>
        <p:nvSpPr>
          <p:cNvPr id="26" name="TextBox 25"/>
          <p:cNvSpPr txBox="1"/>
          <p:nvPr/>
        </p:nvSpPr>
        <p:spPr>
          <a:xfrm>
            <a:off x="3657600" y="3662172"/>
            <a:ext cx="7619695" cy="40233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Whether the decile edge is a bull market or a PSU rally rather than stock selection.</a:t>
            </a:r>
          </a:p>
        </p:txBody>
      </p:sp>
      <p:sp>
        <p:nvSpPr>
          <p:cNvPr id="27" name="TextBox 26"/>
          <p:cNvSpPr txBox="1"/>
          <p:nvPr/>
        </p:nvSpPr>
        <p:spPr>
          <a:xfrm>
            <a:off x="914400" y="4064508"/>
            <a:ext cx="2596896" cy="40233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PEG versus plain price-to-earnings</a:t>
            </a:r>
          </a:p>
        </p:txBody>
      </p:sp>
      <p:sp>
        <p:nvSpPr>
          <p:cNvPr id="28" name="TextBox 27"/>
          <p:cNvSpPr txBox="1"/>
          <p:nvPr/>
        </p:nvSpPr>
        <p:spPr>
          <a:xfrm>
            <a:off x="3657600" y="4064508"/>
            <a:ext cx="7619695" cy="40233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Whether the Value pillar marks down fast growers for looking expensive on an earnings multiple alone.</a:t>
            </a:r>
          </a:p>
        </p:txBody>
      </p:sp>
      <p:sp>
        <p:nvSpPr>
          <p:cNvPr id="29" name="Rectangle 28"/>
          <p:cNvSpPr/>
          <p:nvPr/>
        </p:nvSpPr>
        <p:spPr>
          <a:xfrm>
            <a:off x="841248" y="4448556"/>
            <a:ext cx="10509199" cy="402336"/>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466844"/>
            <a:ext cx="2596896" cy="40233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Size decomposition by decile</a:t>
            </a:r>
          </a:p>
        </p:txBody>
      </p:sp>
      <p:sp>
        <p:nvSpPr>
          <p:cNvPr id="31" name="TextBox 30"/>
          <p:cNvSpPr txBox="1"/>
          <p:nvPr/>
        </p:nvSpPr>
        <p:spPr>
          <a:xfrm>
            <a:off x="3657600" y="4466844"/>
            <a:ext cx="7619695" cy="40233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Whether a large, mid or small-cap tilt, not the score, is driving the decile spread.</a:t>
            </a:r>
          </a:p>
        </p:txBody>
      </p:sp>
      <p:sp>
        <p:nvSpPr>
          <p:cNvPr id="32" name="TextBox 31"/>
          <p:cNvSpPr txBox="1"/>
          <p:nvPr/>
        </p:nvSpPr>
        <p:spPr>
          <a:xfrm>
            <a:off x="914400" y="4869180"/>
            <a:ext cx="2596896" cy="40233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Point-in-time literal rescore</a:t>
            </a:r>
          </a:p>
        </p:txBody>
      </p:sp>
      <p:sp>
        <p:nvSpPr>
          <p:cNvPr id="33" name="TextBox 32"/>
          <p:cNvSpPr txBox="1"/>
          <p:nvPr/>
        </p:nvSpPr>
        <p:spPr>
          <a:xfrm>
            <a:off x="3657600" y="4869180"/>
            <a:ext cx="7619695" cy="40233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Whether a score built only from information available on the day still separates deciles.</a:t>
            </a:r>
          </a:p>
        </p:txBody>
      </p:sp>
      <p:sp>
        <p:nvSpPr>
          <p:cNvPr id="34" name="TextBox 3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bt_decile_rolling.py, bt_regime_psu_test.py, bt_peg_test.py, bt_size_by_decile.py, bt_decile_pit.py. Stock-score evidence, not QFRA-2.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HOW WE TEST</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those tests found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Two results, both from the stock score, neither one QFRA-2 evidence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35</a:t>
            </a:r>
          </a:p>
        </p:txBody>
      </p:sp>
      <p:sp>
        <p:nvSpPr>
          <p:cNvPr id="15" name="Rounded Rectangle 14"/>
          <p:cNvSpPr/>
          <p:nvPr/>
        </p:nvSpPr>
        <p:spPr>
          <a:xfrm>
            <a:off x="841248" y="1755648"/>
            <a:ext cx="10509199"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755648"/>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1883664"/>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THE GATE LAYER GIVES UP RANKING POWER</a:t>
            </a:r>
          </a:p>
        </p:txBody>
      </p:sp>
      <p:sp>
        <p:nvSpPr>
          <p:cNvPr id="18" name="TextBox 17"/>
          <p:cNvSpPr txBox="1"/>
          <p:nvPr/>
        </p:nvSpPr>
        <p:spPr>
          <a:xfrm>
            <a:off x="1042416" y="2157984"/>
            <a:ext cx="1014343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Across 35 rolling one-year formations on the stock score (pooled n=14,943), the composite score computed before the balance-sheet gate, penalty and boost layer separates deciles better than the deployed score computed after that layer: a top-minus-bottom spread of +9.4pp against +7.6pp, and a 94% per-formation hit rate against 86%. Windows overlap, so no t-statistic is quoted; the hit rate is the number built to survive that.</a:t>
            </a:r>
          </a:p>
        </p:txBody>
      </p:sp>
      <p:sp>
        <p:nvSpPr>
          <p:cNvPr id="19" name="Rounded Rectangle 18"/>
          <p:cNvSpPr/>
          <p:nvPr/>
        </p:nvSpPr>
        <p:spPr>
          <a:xfrm>
            <a:off x="841248" y="3278124"/>
            <a:ext cx="10509199" cy="1243584"/>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1248" y="3278124"/>
            <a:ext cx="54864" cy="1243584"/>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6" y="3406140"/>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A QUARTER OF THE TOP DECILE IS GOVERNMENT-OWNED</a:t>
            </a:r>
          </a:p>
        </p:txBody>
      </p:sp>
      <p:sp>
        <p:nvSpPr>
          <p:cNvPr id="22" name="TextBox 21"/>
          <p:cNvSpPr txBox="1"/>
          <p:nvPr/>
        </p:nvSpPr>
        <p:spPr>
          <a:xfrm>
            <a:off x="1042416" y="3680460"/>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PSU names are 8% of the bottom decile and 25% of the top one on the deployed, post-gate score. Remove them and the top-minus-bottom spread on that score falls from +7.6pp to +2.5pp: the edge does not disappear, but most of the concentration does. The PSU list used is hand-built and not exhaustive, which biases this toward understating the dependence, not overstating it.</a:t>
            </a:r>
          </a:p>
        </p:txBody>
      </p:sp>
      <p:sp>
        <p:nvSpPr>
          <p:cNvPr id="23" name="Rounded Rectangle 22"/>
          <p:cNvSpPr/>
          <p:nvPr/>
        </p:nvSpPr>
        <p:spPr>
          <a:xfrm>
            <a:off x="841248" y="4631436"/>
            <a:ext cx="10509199" cy="1243584"/>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4631436"/>
            <a:ext cx="54864" cy="1243584"/>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6" y="4759452"/>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NEITHER TEST CAN SAY</a:t>
            </a:r>
          </a:p>
        </p:txBody>
      </p:sp>
      <p:sp>
        <p:nvSpPr>
          <p:cNvPr id="26" name="TextBox 25"/>
          <p:cNvSpPr txBox="1"/>
          <p:nvPr/>
        </p:nvSpPr>
        <p:spPr>
          <a:xfrm>
            <a:off x="1042416" y="5033772"/>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panel behind both starts 2021-07-16; its worst 12-month forward window is about -6%. That is a flat market, not a full cycle, and the up-versus-down split is 29 formations against 7 that mostly overlap, closer to one down episode than seven. This is a stock-score limitation, and the fund-side version of it has its own page ahead.</a:t>
            </a:r>
          </a:p>
        </p:txBody>
      </p:sp>
      <p:sp>
        <p:nvSpPr>
          <p:cNvPr id="27" name="TextBox 2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DECILE_ROLLING_20260805/summary.json; REGIME_PSU_20260805/psu_test.csv. Stock-score evidence, not QFRA-2.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HOW WE TEST</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Where the calls actually sit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Stock-score evidence again, not QFRA-2: 751 names, scored 2026-08-05</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36</a:t>
            </a:r>
          </a:p>
        </p:txBody>
      </p:sp>
      <p:pic>
        <p:nvPicPr>
          <p:cNvPr id="15" name="Picture 14" descr="score_distribution.png"/>
          <p:cNvPicPr>
            <a:picLocks noChangeAspect="1"/>
          </p:cNvPicPr>
          <p:nvPr/>
        </p:nvPicPr>
        <p:blipFill>
          <a:blip r:embed="rId3"/>
          <a:stretch>
            <a:fillRect/>
          </a:stretch>
        </p:blipFill>
        <p:spPr>
          <a:xfrm>
            <a:off x="2727807" y="1700784"/>
            <a:ext cx="6736080" cy="2331720"/>
          </a:xfrm>
          <a:prstGeom prst="rect">
            <a:avLst/>
          </a:prstGeom>
        </p:spPr>
      </p:pic>
      <p:sp>
        <p:nvSpPr>
          <p:cNvPr id="16" name="Rounded Rectangle 15"/>
          <p:cNvSpPr/>
          <p:nvPr/>
        </p:nvSpPr>
        <p:spPr>
          <a:xfrm>
            <a:off x="841248" y="4142232"/>
            <a:ext cx="10509199"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 y="4142232"/>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27024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56% OF THE UNIVERSE SITS IN THE TWO MIDDLE BUCKETS</a:t>
            </a:r>
          </a:p>
        </p:txBody>
      </p:sp>
      <p:sp>
        <p:nvSpPr>
          <p:cNvPr id="19" name="TextBox 18"/>
          <p:cNvSpPr txBox="1"/>
          <p:nvPr/>
        </p:nvSpPr>
        <p:spPr>
          <a:xfrm>
            <a:off x="1042416" y="4544568"/>
            <a:ext cx="1014343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751 stocks, scored on the frozen stock methodology. 217 score 40 to 50 and 206 score 50 to 60 on the 3-year horizon: 56% of the universe sits in the two buckets on either side of the Hold line. 85 names sit within 2 points of the 40 sell bar and 92 within 2 points of the 50 Hold line, close enough that a small score revision flips the call. Stock-score evidence, not QFRA-2, and the clearest single case in the firm for why a model gets tested this hard before a committee sees it.</a:t>
            </a:r>
          </a:p>
        </p:txBody>
      </p:sp>
      <p:sp>
        <p:nvSpPr>
          <p:cNvPr id="20" name="TextBox 19"/>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chart_score_distribution.py output (pr_template/out/score_distribution.png), 751-row scored universe, run 2026-08-05. Stock-score evidence, not QFRA-2.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TRACK RECORD</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limits we accept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Stated up front, because the committee will find them anyway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37</a:t>
            </a:r>
          </a:p>
        </p:txBody>
      </p:sp>
      <p:sp>
        <p:nvSpPr>
          <p:cNvPr id="15" name="TextBox 14"/>
          <p:cNvSpPr txBox="1"/>
          <p:nvPr/>
        </p:nvSpPr>
        <p:spPr>
          <a:xfrm>
            <a:off x="841248" y="1755648"/>
            <a:ext cx="10509199" cy="256032"/>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The deployed edge is small</a:t>
            </a:r>
          </a:p>
        </p:txBody>
      </p:sp>
      <p:sp>
        <p:nvSpPr>
          <p:cNvPr id="16" name="TextBox 15"/>
          <p:cNvSpPr txBox="1"/>
          <p:nvPr/>
        </p:nvSpPr>
        <p:spPr>
          <a:xfrm>
            <a:off x="859536" y="2020824"/>
            <a:ext cx="10472623" cy="402336"/>
          </a:xfrm>
          <a:prstGeom prst="rect">
            <a:avLst/>
          </a:prstGeom>
          <a:noFill/>
        </p:spPr>
        <p:txBody>
          <a:bodyPr wrap="square" anchor="t" lIns="0" rIns="0" tIns="0" bIns="0">
            <a:spAutoFit/>
          </a:bodyPr>
          <a:lstStyle/>
          <a:p>
            <a:pPr algn="l">
              <a:spcBef>
                <a:spcPts val="0"/>
              </a:spcBef>
              <a:spcAft>
                <a:spcPts val="0"/>
              </a:spcAft>
            </a:pPr>
            <a:r>
              <a:rPr sz="980" b="0" i="0">
                <a:solidFill>
                  <a:srgbClr val="16233B"/>
                </a:solidFill>
                <a:latin typeface="Bahnschrift"/>
              </a:rPr>
              <a:t>+0.09% a year at three years on the held book, against +0.48% for the unconstrained ranking. This is the honest headline.</a:t>
            </a:r>
          </a:p>
        </p:txBody>
      </p:sp>
      <p:sp>
        <p:nvSpPr>
          <p:cNvPr id="17" name="TextBox 16"/>
          <p:cNvSpPr txBox="1"/>
          <p:nvPr/>
        </p:nvSpPr>
        <p:spPr>
          <a:xfrm>
            <a:off x="841248" y="2450591"/>
            <a:ext cx="10509199" cy="256032"/>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One era of validation</a:t>
            </a:r>
          </a:p>
        </p:txBody>
      </p:sp>
      <p:sp>
        <p:nvSpPr>
          <p:cNvPr id="18" name="TextBox 17"/>
          <p:cNvSpPr txBox="1"/>
          <p:nvPr/>
        </p:nvSpPr>
        <p:spPr>
          <a:xfrm>
            <a:off x="859536" y="2715768"/>
            <a:ext cx="10472623" cy="402336"/>
          </a:xfrm>
          <a:prstGeom prst="rect">
            <a:avLst/>
          </a:prstGeom>
          <a:noFill/>
        </p:spPr>
        <p:txBody>
          <a:bodyPr wrap="square" anchor="t" lIns="0" rIns="0" tIns="0" bIns="0">
            <a:spAutoFit/>
          </a:bodyPr>
          <a:lstStyle/>
          <a:p>
            <a:pPr algn="l">
              <a:spcBef>
                <a:spcPts val="0"/>
              </a:spcBef>
              <a:spcAft>
                <a:spcPts val="0"/>
              </a:spcAft>
            </a:pPr>
            <a:r>
              <a:rPr sz="980" b="0" i="0">
                <a:solidFill>
                  <a:srgbClr val="16233B"/>
                </a:solidFill>
                <a:latin typeface="Bahnschrift"/>
              </a:rPr>
              <a:t>Roughly 2014 to 2024, a single macro regime. The edge is regime-dependent and we cannot yet show it across a full cycle.</a:t>
            </a:r>
          </a:p>
        </p:txBody>
      </p:sp>
      <p:sp>
        <p:nvSpPr>
          <p:cNvPr id="19" name="TextBox 18"/>
          <p:cNvSpPr txBox="1"/>
          <p:nvPr/>
        </p:nvSpPr>
        <p:spPr>
          <a:xfrm>
            <a:off x="841248" y="3145535"/>
            <a:ext cx="10509199" cy="256032"/>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The universe is thin</a:t>
            </a:r>
          </a:p>
        </p:txBody>
      </p:sp>
      <p:sp>
        <p:nvSpPr>
          <p:cNvPr id="20" name="TextBox 19"/>
          <p:cNvSpPr txBox="1"/>
          <p:nvPr/>
        </p:nvSpPr>
        <p:spPr>
          <a:xfrm>
            <a:off x="859536" y="3410711"/>
            <a:ext cx="10472623" cy="402336"/>
          </a:xfrm>
          <a:prstGeom prst="rect">
            <a:avLst/>
          </a:prstGeom>
          <a:noFill/>
        </p:spPr>
        <p:txBody>
          <a:bodyPr wrap="square" anchor="t" lIns="0" rIns="0" tIns="0" bIns="0">
            <a:spAutoFit/>
          </a:bodyPr>
          <a:lstStyle/>
          <a:p>
            <a:pPr algn="l">
              <a:spcBef>
                <a:spcPts val="0"/>
              </a:spcBef>
              <a:spcAft>
                <a:spcPts val="0"/>
              </a:spcAft>
            </a:pPr>
            <a:r>
              <a:rPr sz="980" b="0" i="0">
                <a:solidFill>
                  <a:srgbClr val="16233B"/>
                </a:solidFill>
                <a:latin typeface="Bahnschrift"/>
              </a:rPr>
              <a:t>5 to 9 eligible funds per deployed category, not the 40 to 60 previously stated. A top-five shortlist is close to the whole field in four of six categories, and the binding constraint is NAV coverage, not the gates.</a:t>
            </a:r>
          </a:p>
        </p:txBody>
      </p:sp>
      <p:sp>
        <p:nvSpPr>
          <p:cNvPr id="21" name="TextBox 20"/>
          <p:cNvSpPr txBox="1"/>
          <p:nvPr/>
        </p:nvSpPr>
        <p:spPr>
          <a:xfrm>
            <a:off x="841248" y="3840479"/>
            <a:ext cx="10509199" cy="256032"/>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Scores do not compare across categories</a:t>
            </a:r>
          </a:p>
        </p:txBody>
      </p:sp>
      <p:sp>
        <p:nvSpPr>
          <p:cNvPr id="22" name="TextBox 21"/>
          <p:cNvSpPr txBox="1"/>
          <p:nvPr/>
        </p:nvSpPr>
        <p:spPr>
          <a:xfrm>
            <a:off x="859536" y="4105655"/>
            <a:ext cx="10472623" cy="402336"/>
          </a:xfrm>
          <a:prstGeom prst="rect">
            <a:avLst/>
          </a:prstGeom>
          <a:noFill/>
        </p:spPr>
        <p:txBody>
          <a:bodyPr wrap="square" anchor="t" lIns="0" rIns="0" tIns="0" bIns="0">
            <a:spAutoFit/>
          </a:bodyPr>
          <a:lstStyle/>
          <a:p>
            <a:pPr algn="l">
              <a:spcBef>
                <a:spcPts val="0"/>
              </a:spcBef>
              <a:spcAft>
                <a:spcPts val="0"/>
              </a:spcAft>
            </a:pPr>
            <a:r>
              <a:rPr sz="980" b="0" i="0">
                <a:solidFill>
                  <a:srgbClr val="16233B"/>
                </a:solidFill>
                <a:latin typeface="Bahnschrift"/>
              </a:rPr>
              <a:t>The score is a within-category rank. 80 out of 100 is second of five in Large and Mid; 88 is fourth of thirty-three in Focused.</a:t>
            </a:r>
          </a:p>
        </p:txBody>
      </p:sp>
      <p:sp>
        <p:nvSpPr>
          <p:cNvPr id="23" name="TextBox 22"/>
          <p:cNvSpPr txBox="1"/>
          <p:nvPr/>
        </p:nvSpPr>
        <p:spPr>
          <a:xfrm>
            <a:off x="841248" y="4535423"/>
            <a:ext cx="10509199" cy="256032"/>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The asset floor is unenforced where the feed is missing</a:t>
            </a:r>
          </a:p>
        </p:txBody>
      </p:sp>
      <p:sp>
        <p:nvSpPr>
          <p:cNvPr id="24" name="TextBox 23"/>
          <p:cNvSpPr txBox="1"/>
          <p:nvPr/>
        </p:nvSpPr>
        <p:spPr>
          <a:xfrm>
            <a:off x="859536" y="4800599"/>
            <a:ext cx="10472623" cy="402336"/>
          </a:xfrm>
          <a:prstGeom prst="rect">
            <a:avLst/>
          </a:prstGeom>
          <a:noFill/>
        </p:spPr>
        <p:txBody>
          <a:bodyPr wrap="square" anchor="t" lIns="0" rIns="0" tIns="0" bIns="0">
            <a:spAutoFit/>
          </a:bodyPr>
          <a:lstStyle/>
          <a:p>
            <a:pPr algn="l">
              <a:spcBef>
                <a:spcPts val="0"/>
              </a:spcBef>
              <a:spcAft>
                <a:spcPts val="0"/>
              </a:spcAft>
            </a:pPr>
            <a:r>
              <a:rPr sz="980" b="0" i="0">
                <a:solidFill>
                  <a:srgbClr val="16233B"/>
                </a:solidFill>
                <a:latin typeface="Bahnschrift"/>
              </a:rPr>
              <a:t>Twelve of the forty published rows carry no asset figure, so the capacity gate cannot bite there. This includes every Focused and Value row.</a:t>
            </a:r>
          </a:p>
        </p:txBody>
      </p:sp>
      <p:sp>
        <p:nvSpPr>
          <p:cNvPr id="25" name="TextBox 24"/>
          <p:cNvSpPr txBox="1"/>
          <p:nvPr/>
        </p:nvSpPr>
        <p:spPr>
          <a:xfrm>
            <a:off x="841248" y="5230367"/>
            <a:ext cx="10509199" cy="256032"/>
          </a:xfrm>
          <a:prstGeom prst="rect">
            <a:avLst/>
          </a:prstGeom>
          <a:noFill/>
        </p:spPr>
        <p:txBody>
          <a:bodyPr wrap="square" anchor="t" lIns="0" rIns="0" tIns="0" bIns="0">
            <a:spAutoFit/>
          </a:bodyPr>
          <a:lstStyle/>
          <a:p>
            <a:pPr algn="l">
              <a:spcBef>
                <a:spcPts val="0"/>
              </a:spcBef>
              <a:spcAft>
                <a:spcPts val="0"/>
              </a:spcAft>
            </a:pPr>
            <a:r>
              <a:rPr sz="1100" b="1" i="0">
                <a:solidFill>
                  <a:srgbClr val="1B27A3"/>
                </a:solidFill>
                <a:latin typeface="Bahnschrift"/>
              </a:rPr>
              <a:t>The scope decision and realised alpha disagree</a:t>
            </a:r>
          </a:p>
        </p:txBody>
      </p:sp>
      <p:sp>
        <p:nvSpPr>
          <p:cNvPr id="26" name="TextBox 25"/>
          <p:cNvSpPr txBox="1"/>
          <p:nvPr/>
        </p:nvSpPr>
        <p:spPr>
          <a:xfrm>
            <a:off x="859536" y="5495543"/>
            <a:ext cx="10472623" cy="402336"/>
          </a:xfrm>
          <a:prstGeom prst="rect">
            <a:avLst/>
          </a:prstGeom>
          <a:noFill/>
        </p:spPr>
        <p:txBody>
          <a:bodyPr wrap="square" anchor="t" lIns="0" rIns="0" tIns="0" bIns="0">
            <a:spAutoFit/>
          </a:bodyPr>
          <a:lstStyle/>
          <a:p>
            <a:pPr algn="l">
              <a:spcBef>
                <a:spcPts val="0"/>
              </a:spcBef>
              <a:spcAft>
                <a:spcPts val="0"/>
              </a:spcAft>
            </a:pPr>
            <a:r>
              <a:rPr sz="980" b="0" i="0">
                <a:solidFill>
                  <a:srgbClr val="16233B"/>
                </a:solidFill>
                <a:latin typeface="Bahnschrift"/>
              </a:rPr>
              <a:t>Focused and Value are excluded, yet they are two of only three categories whose held book was positive at three and five years. The exclusion rests on edge over a blind pick, not on realised alpha. The committee should know it is choosing between two defensible lenses.</a:t>
            </a:r>
          </a:p>
        </p:txBody>
      </p:sp>
      <p:sp>
        <p:nvSpPr>
          <p:cNvPr id="27" name="TextBox 2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Universe and scores verified 2026-08-04. Held-book alpha from the engine's own performance file.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TRACK RECORD</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400" b="1" i="0">
                <a:solidFill>
                  <a:srgbClr val="1B27A3"/>
                </a:solidFill>
                <a:latin typeface="Bahnschrift"/>
              </a:rPr>
              <a:t>The test we have not pointed at QFRA-2</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600" b="1" i="0">
                <a:solidFill>
                  <a:srgbClr val="F2A93C"/>
                </a:solidFill>
                <a:latin typeface="Bahnschrift"/>
              </a:rPr>
              <a:t>Built this cycle, run on the stock score. Not yet run on the fund engine itself</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38</a:t>
            </a:r>
          </a:p>
        </p:txBody>
      </p:sp>
      <p:sp>
        <p:nvSpPr>
          <p:cNvPr id="15" name="Rounded Rectangle 14"/>
          <p:cNvSpPr/>
          <p:nvPr/>
        </p:nvSpPr>
        <p:spPr>
          <a:xfrm>
            <a:off x="841248" y="1755648"/>
            <a:ext cx="10509199"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755648"/>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1883664"/>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WHAT WE KNOW, AND WHAT WE HAVE NOT CHECKED</a:t>
            </a:r>
          </a:p>
        </p:txBody>
      </p:sp>
      <p:sp>
        <p:nvSpPr>
          <p:cNvPr id="18" name="TextBox 17"/>
          <p:cNvSpPr txBox="1"/>
          <p:nvPr/>
        </p:nvSpPr>
        <p:spPr>
          <a:xfrm>
            <a:off x="1042416" y="2157984"/>
            <a:ext cx="1014343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QFRA-2's own validation runs one era, roughly 2014 to 2024 (previous page). Separately, this cycle a bull-versus-bear regime split was built and run on the stock score: on that panel the edge shrinks but survives a flat market. That method has not been run on QFRA-2's own fund-level returns. Until it is, "one era" should be read as "untested across a downturn", not simply "a shorter sample than we would like."</a:t>
            </a:r>
          </a:p>
        </p:txBody>
      </p:sp>
      <p:sp>
        <p:nvSpPr>
          <p:cNvPr id="19" name="Rounded Rectangle 18"/>
          <p:cNvSpPr/>
          <p:nvPr/>
        </p:nvSpPr>
        <p:spPr>
          <a:xfrm>
            <a:off x="841248" y="3278124"/>
            <a:ext cx="1050919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1248" y="3278124"/>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6" y="3406140"/>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WHY THIS IS NOT A SMALL GAP</a:t>
            </a:r>
          </a:p>
        </p:txBody>
      </p:sp>
      <p:sp>
        <p:nvSpPr>
          <p:cNvPr id="22" name="TextBox 21"/>
          <p:cNvSpPr txBox="1"/>
          <p:nvPr/>
        </p:nvSpPr>
        <p:spPr>
          <a:xfrm>
            <a:off x="1042416" y="3680460"/>
            <a:ext cx="1014343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QFRA-2's factor step and several of its signals, down-capture, Calmar, alpha stability, are exactly the kind of measure the stock-side quality challenge targets: that fundamentals stop discriminating in a rally. The same question applies to a fund ranked partly on down-capture and drawdown behaviour. The fix is mechanical, not conceptual: replay the eight years of category-level formations split by market regime, the design already used on the stock score.</a:t>
            </a:r>
          </a:p>
        </p:txBody>
      </p:sp>
      <p:sp>
        <p:nvSpPr>
          <p:cNvPr id="23" name="Rounded Rectangle 22"/>
          <p:cNvSpPr/>
          <p:nvPr/>
        </p:nvSpPr>
        <p:spPr>
          <a:xfrm>
            <a:off x="841248" y="4800600"/>
            <a:ext cx="10509199" cy="90525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4800600"/>
            <a:ext cx="54864" cy="90525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6" y="4928616"/>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NOT ASKED TO CLOSE TODAY</a:t>
            </a:r>
          </a:p>
        </p:txBody>
      </p:sp>
      <p:sp>
        <p:nvSpPr>
          <p:cNvPr id="26" name="TextBox 25"/>
          <p:cNvSpPr txBox="1"/>
          <p:nvPr/>
        </p:nvSpPr>
        <p:spPr>
          <a:xfrm>
            <a:off x="1042416" y="5202936"/>
            <a:ext cx="10143439" cy="44805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Point the regime-split method built for the stock score at QFRA-2's own category-level history. Flagged here as a gap, not answered here.</a:t>
            </a:r>
          </a:p>
        </p:txBody>
      </p:sp>
      <p:sp>
        <p:nvSpPr>
          <p:cNvPr id="27" name="TextBox 2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Limits from the previous page. Regime method: bt_regime_psu_test.py, REGIME_PSU_20260805/. Not yet applied to QFRA-2's own return history.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THE ASK</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decision sought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Approval to deploy, on the corrected numbers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QFRA 2.0  ·  39</a:t>
            </a:r>
          </a:p>
        </p:txBody>
      </p:sp>
      <p:sp>
        <p:nvSpPr>
          <p:cNvPr id="15" name="TextBox 14"/>
          <p:cNvSpPr txBox="1"/>
          <p:nvPr/>
        </p:nvSpPr>
        <p:spPr>
          <a:xfrm>
            <a:off x="841248"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6</a:t>
            </a:r>
          </a:p>
        </p:txBody>
      </p:sp>
      <p:sp>
        <p:nvSpPr>
          <p:cNvPr id="16" name="TextBox 15"/>
          <p:cNvSpPr txBox="1"/>
          <p:nvPr/>
        </p:nvSpPr>
        <p:spPr>
          <a:xfrm>
            <a:off x="841248"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CATEGORIES IN SCOPE</a:t>
            </a:r>
          </a:p>
        </p:txBody>
      </p:sp>
      <p:sp>
        <p:nvSpPr>
          <p:cNvPr id="17" name="TextBox 16"/>
          <p:cNvSpPr txBox="1"/>
          <p:nvPr/>
        </p:nvSpPr>
        <p:spPr>
          <a:xfrm>
            <a:off x="34685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6 months</a:t>
            </a:r>
          </a:p>
        </p:txBody>
      </p:sp>
      <p:sp>
        <p:nvSpPr>
          <p:cNvPr id="18" name="TextBox 17"/>
          <p:cNvSpPr txBox="1"/>
          <p:nvPr/>
        </p:nvSpPr>
        <p:spPr>
          <a:xfrm>
            <a:off x="34685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REVIEW CADENCE</a:t>
            </a:r>
          </a:p>
        </p:txBody>
      </p:sp>
      <p:sp>
        <p:nvSpPr>
          <p:cNvPr id="19" name="Rectangle 18"/>
          <p:cNvSpPr/>
          <p:nvPr/>
        </p:nvSpPr>
        <p:spPr>
          <a:xfrm>
            <a:off x="34136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frozen v2.0</a:t>
            </a:r>
          </a:p>
        </p:txBody>
      </p:sp>
      <p:sp>
        <p:nvSpPr>
          <p:cNvPr id="21" name="TextBox 20"/>
          <p:cNvSpPr txBox="1"/>
          <p:nvPr/>
        </p:nvSpPr>
        <p:spPr>
          <a:xfrm>
            <a:off x="60958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NO FURTHER TUNING</a:t>
            </a:r>
          </a:p>
        </p:txBody>
      </p:sp>
      <p:sp>
        <p:nvSpPr>
          <p:cNvPr id="22" name="Rectangle 21"/>
          <p:cNvSpPr/>
          <p:nvPr/>
        </p:nvSpPr>
        <p:spPr>
          <a:xfrm>
            <a:off x="60409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231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3.9 / yr</a:t>
            </a:r>
          </a:p>
        </p:txBody>
      </p:sp>
      <p:sp>
        <p:nvSpPr>
          <p:cNvPr id="24" name="TextBox 23"/>
          <p:cNvSpPr txBox="1"/>
          <p:nvPr/>
        </p:nvSpPr>
        <p:spPr>
          <a:xfrm>
            <a:off x="87231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EXPECTED BOOK CHANGES</a:t>
            </a:r>
          </a:p>
        </p:txBody>
      </p:sp>
      <p:sp>
        <p:nvSpPr>
          <p:cNvPr id="25" name="Rectangle 24"/>
          <p:cNvSpPr/>
          <p:nvPr/>
        </p:nvSpPr>
        <p:spPr>
          <a:xfrm>
            <a:off x="86682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41248" y="2578608"/>
            <a:ext cx="10509199" cy="1243584"/>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1248" y="2578608"/>
            <a:ext cx="54864" cy="1243584"/>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416" y="2706624"/>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APPROVE</a:t>
            </a:r>
          </a:p>
        </p:txBody>
      </p:sp>
      <p:sp>
        <p:nvSpPr>
          <p:cNvPr id="29" name="TextBox 28"/>
          <p:cNvSpPr txBox="1"/>
          <p:nvPr/>
        </p:nvSpPr>
        <p:spPr>
          <a:xfrm>
            <a:off x="1042416" y="2980944"/>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Deployment across the six categories: Large as an index core, Large and Mid, Mid as a momentum sleeve, Flexi, Multi and Small. Governance as described: a Direct-plan and total-return basis, the SENTINEL screen, a veto-or-trim-only discretionary gate, the churn rule, and a published record of recommendations and rejected ideas.</a:t>
            </a:r>
          </a:p>
        </p:txBody>
      </p:sp>
      <p:sp>
        <p:nvSpPr>
          <p:cNvPr id="30" name="Rounded Rectangle 29"/>
          <p:cNvSpPr/>
          <p:nvPr/>
        </p:nvSpPr>
        <p:spPr>
          <a:xfrm>
            <a:off x="841248" y="3895344"/>
            <a:ext cx="10509199" cy="1074419"/>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41248" y="3895344"/>
            <a:ext cx="54864" cy="1074419"/>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2416" y="4023359"/>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NOTE, ON THE RECORD</a:t>
            </a:r>
          </a:p>
        </p:txBody>
      </p:sp>
      <p:sp>
        <p:nvSpPr>
          <p:cNvPr id="33" name="TextBox 32"/>
          <p:cNvSpPr txBox="1"/>
          <p:nvPr/>
        </p:nvSpPr>
        <p:spPr>
          <a:xfrm>
            <a:off x="1042416" y="4297680"/>
            <a:ext cx="10143439" cy="6172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This deck corrects five of the nine headline figures in the previous pack, including a machine-learning claim the engine does not support and a client-facing probability that was never computed. The model is unchanged and remains frozen; what changed is what we say about it.</a:t>
            </a:r>
          </a:p>
        </p:txBody>
      </p:sp>
      <p:sp>
        <p:nvSpPr>
          <p:cNvPr id="34" name="Rounded Rectangle 33"/>
          <p:cNvSpPr/>
          <p:nvPr/>
        </p:nvSpPr>
        <p:spPr>
          <a:xfrm>
            <a:off x="841248" y="5042916"/>
            <a:ext cx="10509199" cy="90525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41248" y="5042916"/>
            <a:ext cx="54864" cy="90525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2416" y="5170931"/>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TWO ITEMS WE ARE NOT ASKING TO CLOSE TODAY</a:t>
            </a:r>
          </a:p>
        </p:txBody>
      </p:sp>
      <p:sp>
        <p:nvSpPr>
          <p:cNvPr id="37" name="TextBox 36"/>
          <p:cNvSpPr txBox="1"/>
          <p:nvPr/>
        </p:nvSpPr>
        <p:spPr>
          <a:xfrm>
            <a:off x="1042416" y="5445252"/>
            <a:ext cx="10143439" cy="44805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Whether Focused and Value should be re-scoped, given their held books were positive while two deployed categories were not; and the small-cap follow-up. Both need work first.</a:t>
            </a:r>
          </a:p>
        </p:txBody>
      </p:sp>
      <p:sp>
        <p:nvSpPr>
          <p:cNvPr id="38" name="TextBox 3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Corrections logged in 07_RISK_OFFICE/ADVERSARIAL_REVIEWS.md and 03_RESEARCH_DESK/qfra2_pac_prep/NUMBER_AUDIT.md.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2331720"/>
            <a:ext cx="9966960" cy="173736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Georgia"/>
              </a:rPr>
              <a:t>Measure it, validate it,</a:t>
            </a:r>
          </a:p>
          <a:p>
            <a:pPr algn="l">
              <a:spcBef>
                <a:spcPts val="0"/>
              </a:spcBef>
              <a:spcAft>
                <a:spcPts val="0"/>
              </a:spcAft>
            </a:pPr>
            <a:r>
              <a:rPr sz="3300" b="1" i="0">
                <a:solidFill>
                  <a:srgbClr val="FFFFFF"/>
                </a:solidFill>
                <a:latin typeface="Georgia"/>
              </a:rPr>
              <a:t>screen out the losers, and say</a:t>
            </a:r>
          </a:p>
          <a:p>
            <a:pPr algn="l">
              <a:spcBef>
                <a:spcPts val="0"/>
              </a:spcBef>
              <a:spcAft>
                <a:spcPts val="0"/>
              </a:spcAft>
            </a:pPr>
            <a:r>
              <a:rPr sz="3300" b="1" i="0">
                <a:solidFill>
                  <a:srgbClr val="F2A93C"/>
                </a:solidFill>
                <a:latin typeface="Georgia"/>
              </a:rPr>
              <a:t>where we cannot win.</a:t>
            </a:r>
          </a:p>
        </p:txBody>
      </p:sp>
      <p:sp>
        <p:nvSpPr>
          <p:cNvPr id="5" name="Rectangle 4"/>
          <p:cNvSpPr/>
          <p:nvPr/>
        </p:nvSpPr>
        <p:spPr>
          <a:xfrm>
            <a:off x="841248" y="4617720"/>
            <a:ext cx="3840480" cy="20116"/>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4882896"/>
            <a:ext cx="9692640" cy="731520"/>
          </a:xfrm>
          <a:prstGeom prst="rect">
            <a:avLst/>
          </a:prstGeom>
          <a:noFill/>
        </p:spPr>
        <p:txBody>
          <a:bodyPr wrap="square" anchor="t" lIns="0" rIns="0" tIns="0" bIns="0">
            <a:spAutoFit/>
          </a:bodyPr>
          <a:lstStyle/>
          <a:p>
            <a:pPr algn="l">
              <a:spcBef>
                <a:spcPts val="0"/>
              </a:spcBef>
              <a:spcAft>
                <a:spcPts val="0"/>
              </a:spcAft>
            </a:pPr>
            <a:r>
              <a:rPr sz="1150" b="0" i="0">
                <a:solidFill>
                  <a:srgbClr val="8C95DE"/>
                </a:solidFill>
                <a:latin typeface="Bahnschrift"/>
              </a:rPr>
              <a:t>QFRA 2.0  ·  Quantitative Fund Ranking Algorithm  ·  frozen v2.0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