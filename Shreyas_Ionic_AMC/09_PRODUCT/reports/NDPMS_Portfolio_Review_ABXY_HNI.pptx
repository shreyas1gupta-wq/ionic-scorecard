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39.xml"/><Relationship Id="rId5" Type="http://schemas.openxmlformats.org/officeDocument/2006/relationships/slide" Target="slide40.xml"/><Relationship Id="rId6" Type="http://schemas.openxmlformats.org/officeDocument/2006/relationships/slide" Target="slide41.xml"/><Relationship Id="rId7" Type="http://schemas.openxmlformats.org/officeDocument/2006/relationships/slide" Target="slide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 Id="rId7" Type="http://schemas.openxmlformats.org/officeDocument/2006/relationships/slide" Target="slide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3.xml"/><Relationship Id="rId4" Type="http://schemas.openxmlformats.org/officeDocument/2006/relationships/slide" Target="slide49.xml"/><Relationship Id="rId5" Type="http://schemas.openxmlformats.org/officeDocument/2006/relationships/slide" Target="slide50.xml"/><Relationship Id="rId6" Type="http://schemas.openxmlformats.org/officeDocument/2006/relationships/slide" Target="slide51.xml"/><Relationship Id="rId7" Type="http://schemas.openxmlformats.org/officeDocument/2006/relationships/slide" Target="slide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 Id="rId4" Type="http://schemas.openxmlformats.org/officeDocument/2006/relationships/slide" Target="slide9.xml"/><Relationship Id="rId5" Type="http://schemas.openxmlformats.org/officeDocument/2006/relationships/slide" Target="slide25.xml"/><Relationship Id="rId6" Type="http://schemas.openxmlformats.org/officeDocument/2006/relationships/slide" Target="slide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4.xml"/><Relationship Id="rId4" Type="http://schemas.openxmlformats.org/officeDocument/2006/relationships/slide" Target="slide39.xml"/><Relationship Id="rId5" Type="http://schemas.openxmlformats.org/officeDocument/2006/relationships/slide" Target="slide40.xml"/><Relationship Id="rId6" Type="http://schemas.openxmlformats.org/officeDocument/2006/relationships/slide" Target="slide45.xml"/><Relationship Id="rId7" Type="http://schemas.openxmlformats.org/officeDocument/2006/relationships/slide" Target="slide46.xml"/><Relationship Id="rId8" Type="http://schemas.openxmlformats.org/officeDocument/2006/relationships/slide" Target="slide47.xml"/><Relationship Id="rId9" Type="http://schemas.openxmlformats.org/officeDocument/2006/relationships/slide" Target="slide4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2.xml"/><Relationship Id="rId4" Type="http://schemas.openxmlformats.org/officeDocument/2006/relationships/slide" Target="slide5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art.png"/>
          <p:cNvPicPr>
            <a:picLocks noChangeAspect="1"/>
          </p:cNvPicPr>
          <p:nvPr/>
        </p:nvPicPr>
        <p:blipFill>
          <a:blip r:embed="rId2"/>
          <a:stretch>
            <a:fillRect/>
          </a:stretch>
        </p:blipFill>
        <p:spPr>
          <a:xfrm>
            <a:off x="7351775" y="91440"/>
            <a:ext cx="4846320" cy="6766560"/>
          </a:xfrm>
          <a:prstGeom prst="rect">
            <a:avLst/>
          </a:prstGeom>
        </p:spPr>
      </p:pic>
      <p:sp>
        <p:nvSpPr>
          <p:cNvPr id="4" name="Rectangle 3"/>
          <p:cNvSpPr/>
          <p:nvPr/>
        </p:nvSpPr>
        <p:spPr>
          <a:xfrm>
            <a:off x="0" y="0"/>
            <a:ext cx="12191695" cy="91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475488"/>
            <a:ext cx="4572000" cy="365760"/>
          </a:xfrm>
          <a:prstGeom prst="rect">
            <a:avLst/>
          </a:prstGeom>
          <a:noFill/>
        </p:spPr>
        <p:txBody>
          <a:bodyPr wrap="square" anchor="t" lIns="0" rIns="0" tIns="0" bIns="0">
            <a:spAutoFit/>
          </a:bodyPr>
          <a:lstStyle/>
          <a:p>
            <a:pPr algn="l">
              <a:spcBef>
                <a:spcPts val="0"/>
              </a:spcBef>
              <a:spcAft>
                <a:spcPts val="0"/>
              </a:spcAft>
            </a:pPr>
            <a:r>
              <a:rPr sz="1700" b="1" i="0" spc="100">
                <a:solidFill>
                  <a:srgbClr val="FFFFFF"/>
                </a:solidFill>
                <a:latin typeface="Bahnschrift"/>
              </a:rPr>
              <a:t>IONIC </a:t>
            </a:r>
            <a:r>
              <a:rPr sz="1700" b="0" i="0" spc="100">
                <a:solidFill>
                  <a:srgbClr val="C9CEF0"/>
                </a:solidFill>
                <a:latin typeface="Bahnschrift"/>
              </a:rPr>
              <a:t>WEALTH</a:t>
            </a:r>
          </a:p>
        </p:txBody>
      </p:sp>
      <p:sp>
        <p:nvSpPr>
          <p:cNvPr id="6" name="TextBox 5"/>
          <p:cNvSpPr txBox="1"/>
          <p:nvPr/>
        </p:nvSpPr>
        <p:spPr>
          <a:xfrm>
            <a:off x="841248" y="841248"/>
            <a:ext cx="4572000" cy="201168"/>
          </a:xfrm>
          <a:prstGeom prst="rect">
            <a:avLst/>
          </a:prstGeom>
          <a:noFill/>
        </p:spPr>
        <p:txBody>
          <a:bodyPr wrap="square" anchor="t" lIns="0" rIns="0" tIns="0" bIns="0">
            <a:spAutoFit/>
          </a:bodyPr>
          <a:lstStyle/>
          <a:p>
            <a:pPr algn="l">
              <a:spcBef>
                <a:spcPts val="0"/>
              </a:spcBef>
              <a:spcAft>
                <a:spcPts val="0"/>
              </a:spcAft>
            </a:pPr>
            <a:r>
              <a:rPr sz="750" b="1" i="0" spc="260">
                <a:solidFill>
                  <a:srgbClr val="F2A93C"/>
                </a:solidFill>
                <a:latin typeface="Bahnschrift"/>
              </a:rPr>
              <a:t>BY ANGEL ONE</a:t>
            </a:r>
          </a:p>
        </p:txBody>
      </p:sp>
      <p:sp>
        <p:nvSpPr>
          <p:cNvPr id="7" name="TextBox 6"/>
          <p:cNvSpPr txBox="1"/>
          <p:nvPr/>
        </p:nvSpPr>
        <p:spPr>
          <a:xfrm>
            <a:off x="841248" y="2103120"/>
            <a:ext cx="6400800" cy="77724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Bahnschrift"/>
              </a:rPr>
              <a:t>Portfolio </a:t>
            </a:r>
            <a:r>
              <a:rPr sz="4000" b="1" i="0">
                <a:solidFill>
                  <a:srgbClr val="F2A93C"/>
                </a:solidFill>
                <a:latin typeface="Bahnschrift"/>
              </a:rPr>
              <a:t>Review</a:t>
            </a:r>
          </a:p>
        </p:txBody>
      </p:sp>
      <p:sp>
        <p:nvSpPr>
          <p:cNvPr id="8" name="TextBox 7"/>
          <p:cNvSpPr txBox="1"/>
          <p:nvPr/>
        </p:nvSpPr>
        <p:spPr>
          <a:xfrm>
            <a:off x="841248" y="3127248"/>
            <a:ext cx="6400800" cy="274320"/>
          </a:xfrm>
          <a:prstGeom prst="rect">
            <a:avLst/>
          </a:prstGeom>
          <a:noFill/>
        </p:spPr>
        <p:txBody>
          <a:bodyPr wrap="square" anchor="t" lIns="0" rIns="0" tIns="0" bIns="0">
            <a:spAutoFit/>
          </a:bodyPr>
          <a:lstStyle/>
          <a:p>
            <a:pPr algn="l">
              <a:spcBef>
                <a:spcPts val="0"/>
              </a:spcBef>
              <a:spcAft>
                <a:spcPts val="0"/>
              </a:spcAft>
            </a:pPr>
            <a:r>
              <a:rPr sz="1000" b="1" i="0" spc="260">
                <a:solidFill>
                  <a:srgbClr val="8C95DE"/>
                </a:solidFill>
                <a:latin typeface="Bahnschrift"/>
              </a:rPr>
              <a:t>PREPARED FOR</a:t>
            </a:r>
          </a:p>
        </p:txBody>
      </p:sp>
      <p:sp>
        <p:nvSpPr>
          <p:cNvPr id="9" name="TextBox 8"/>
          <p:cNvSpPr txBox="1"/>
          <p:nvPr/>
        </p:nvSpPr>
        <p:spPr>
          <a:xfrm>
            <a:off x="841248" y="3419856"/>
            <a:ext cx="6400800" cy="594360"/>
          </a:xfrm>
          <a:prstGeom prst="rect">
            <a:avLst/>
          </a:prstGeom>
          <a:noFill/>
        </p:spPr>
        <p:txBody>
          <a:bodyPr wrap="square" anchor="t" lIns="0" rIns="0" tIns="0" bIns="0">
            <a:spAutoFit/>
          </a:bodyPr>
          <a:lstStyle/>
          <a:p>
            <a:pPr algn="l">
              <a:spcBef>
                <a:spcPts val="0"/>
              </a:spcBef>
              <a:spcAft>
                <a:spcPts val="0"/>
              </a:spcAft>
            </a:pPr>
            <a:r>
              <a:rPr sz="2800" b="1" i="0">
                <a:solidFill>
                  <a:srgbClr val="FFFFFF"/>
                </a:solidFill>
                <a:latin typeface="Bahnschrift"/>
              </a:rPr>
              <a:t>ABXY Family</a:t>
            </a:r>
          </a:p>
        </p:txBody>
      </p:sp>
      <p:sp>
        <p:nvSpPr>
          <p:cNvPr id="10" name="Rectangle 9"/>
          <p:cNvSpPr/>
          <p:nvPr/>
        </p:nvSpPr>
        <p:spPr>
          <a:xfrm>
            <a:off x="841248" y="4114800"/>
            <a:ext cx="3108960" cy="2743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315968"/>
            <a:ext cx="6400800" cy="365760"/>
          </a:xfrm>
          <a:prstGeom prst="rect">
            <a:avLst/>
          </a:prstGeom>
          <a:noFill/>
        </p:spPr>
        <p:txBody>
          <a:bodyPr wrap="square" anchor="t" lIns="0" rIns="0" tIns="0" bIns="0">
            <a:spAutoFit/>
          </a:bodyPr>
          <a:lstStyle/>
          <a:p>
            <a:pPr algn="l">
              <a:spcBef>
                <a:spcPts val="0"/>
              </a:spcBef>
              <a:spcAft>
                <a:spcPts val="0"/>
              </a:spcAft>
            </a:pPr>
            <a:r>
              <a:rPr sz="1250" b="0" i="1">
                <a:solidFill>
                  <a:srgbClr val="C9CEF0"/>
                </a:solidFill>
                <a:latin typeface="Georgia"/>
              </a:rPr>
              <a:t>NDPMS (Non-Discretionary)   ·   Aggressive   ·   Long term (7yr+)</a:t>
            </a:r>
          </a:p>
        </p:txBody>
      </p:sp>
      <p:sp>
        <p:nvSpPr>
          <p:cNvPr id="12" name="TextBox 11"/>
          <p:cNvSpPr txBox="1"/>
          <p:nvPr/>
        </p:nvSpPr>
        <p:spPr>
          <a:xfrm>
            <a:off x="841248" y="5897880"/>
            <a:ext cx="6400800" cy="274320"/>
          </a:xfrm>
          <a:prstGeom prst="rect">
            <a:avLst/>
          </a:prstGeom>
          <a:noFill/>
        </p:spPr>
        <p:txBody>
          <a:bodyPr wrap="square" anchor="t" lIns="0" rIns="0" tIns="0" bIns="0">
            <a:spAutoFit/>
          </a:bodyPr>
          <a:lstStyle/>
          <a:p>
            <a:pPr algn="l">
              <a:spcBef>
                <a:spcPts val="0"/>
              </a:spcBef>
              <a:spcAft>
                <a:spcPts val="0"/>
              </a:spcAft>
            </a:pPr>
            <a:r>
              <a:rPr sz="1200" b="0" i="1">
                <a:solidFill>
                  <a:srgbClr val="8C95DE"/>
                </a:solidFill>
                <a:latin typeface="Georgia"/>
              </a:rPr>
              <a:t>Co-founder in your journey of wealth creation</a:t>
            </a:r>
          </a:p>
        </p:txBody>
      </p:sp>
      <p:sp>
        <p:nvSpPr>
          <p:cNvPr id="13" name="TextBox 12"/>
          <p:cNvSpPr txBox="1"/>
          <p:nvPr/>
        </p:nvSpPr>
        <p:spPr>
          <a:xfrm>
            <a:off x="841248" y="6217920"/>
            <a:ext cx="6400800" cy="228600"/>
          </a:xfrm>
          <a:prstGeom prst="rect">
            <a:avLst/>
          </a:prstGeom>
          <a:noFill/>
        </p:spPr>
        <p:txBody>
          <a:bodyPr wrap="square" anchor="t" lIns="0" rIns="0" tIns="0" bIns="0">
            <a:spAutoFit/>
          </a:bodyPr>
          <a:lstStyle/>
          <a:p>
            <a:pPr algn="l">
              <a:spcBef>
                <a:spcPts val="0"/>
              </a:spcBef>
              <a:spcAft>
                <a:spcPts val="0"/>
              </a:spcAft>
            </a:pPr>
            <a:r>
              <a:rPr sz="850" b="0" i="0">
                <a:solidFill>
                  <a:srgbClr val="8C95DE"/>
                </a:solidFill>
                <a:latin typeface="Bahnschrift"/>
              </a:rPr>
              <a:t>As of 2026-07-25   ·   </a:t>
            </a:r>
            <a:r>
              <a:rPr sz="750" b="0" i="1">
                <a:solidFill>
                  <a:srgbClr val="8C95DE"/>
                </a:solidFill>
                <a:latin typeface="Bahnschrift"/>
              </a:rPr>
              <a:t>[ILLUSTRATIVE, synthetic demo client; not a real portfolio]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 read this review</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Contents · vocabulary · score legend</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02</a:t>
            </a:r>
          </a:p>
        </p:txBody>
      </p:sp>
      <p:sp>
        <p:nvSpPr>
          <p:cNvPr id="9" name="TextBox 8"/>
          <p:cNvSpPr txBox="1"/>
          <p:nvPr/>
        </p:nvSpPr>
        <p:spPr>
          <a:xfrm>
            <a:off x="841248" y="1645920"/>
            <a:ext cx="4754880"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SIX SECTIONS</a:t>
            </a:r>
          </a:p>
        </p:txBody>
      </p:sp>
      <p:sp>
        <p:nvSpPr>
          <p:cNvPr id="10" name="Oval 9"/>
          <p:cNvSpPr/>
          <p:nvPr/>
        </p:nvSpPr>
        <p:spPr>
          <a:xfrm>
            <a:off x="932688" y="2075688"/>
            <a:ext cx="137160" cy="137160"/>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196596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Understanding</a:t>
            </a:r>
          </a:p>
        </p:txBody>
      </p:sp>
      <p:sp>
        <p:nvSpPr>
          <p:cNvPr id="12" name="TextBox 11"/>
          <p:cNvSpPr txBox="1"/>
          <p:nvPr/>
        </p:nvSpPr>
        <p:spPr>
          <a:xfrm>
            <a:off x="1408176" y="22219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mandate, policy bands and the headline plan</a:t>
            </a:r>
          </a:p>
        </p:txBody>
      </p:sp>
      <p:sp>
        <p:nvSpPr>
          <p:cNvPr id="13" name="TextBox 12"/>
          <p:cNvSpPr txBox="1"/>
          <p:nvPr/>
        </p:nvSpPr>
        <p:spPr>
          <a:xfrm>
            <a:off x="841248" y="252374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01</a:t>
            </a:r>
          </a:p>
        </p:txBody>
      </p:sp>
      <p:sp>
        <p:nvSpPr>
          <p:cNvPr id="14" name="TextBox 13"/>
          <p:cNvSpPr txBox="1"/>
          <p:nvPr/>
        </p:nvSpPr>
        <p:spPr>
          <a:xfrm>
            <a:off x="1408176" y="251460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Portfolio X-ray</a:t>
            </a:r>
          </a:p>
        </p:txBody>
      </p:sp>
      <p:sp>
        <p:nvSpPr>
          <p:cNvPr id="15" name="TextBox 14"/>
          <p:cNvSpPr txBox="1"/>
          <p:nvPr/>
        </p:nvSpPr>
        <p:spPr>
          <a:xfrm>
            <a:off x="1408176" y="277063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Where the book stands today</a:t>
            </a:r>
          </a:p>
        </p:txBody>
      </p:sp>
      <p:sp>
        <p:nvSpPr>
          <p:cNvPr id="16" name="TextBox 15"/>
          <p:cNvSpPr txBox="1"/>
          <p:nvPr/>
        </p:nvSpPr>
        <p:spPr>
          <a:xfrm>
            <a:off x="841248" y="307238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02</a:t>
            </a:r>
          </a:p>
        </p:txBody>
      </p:sp>
      <p:sp>
        <p:nvSpPr>
          <p:cNvPr id="17" name="TextBox 16"/>
          <p:cNvSpPr txBox="1"/>
          <p:nvPr/>
        </p:nvSpPr>
        <p:spPr>
          <a:xfrm>
            <a:off x="1408176" y="306324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Equity Book</a:t>
            </a:r>
          </a:p>
        </p:txBody>
      </p:sp>
      <p:sp>
        <p:nvSpPr>
          <p:cNvPr id="18" name="TextBox 17"/>
          <p:cNvSpPr txBox="1"/>
          <p:nvPr/>
        </p:nvSpPr>
        <p:spPr>
          <a:xfrm>
            <a:off x="1408176" y="331927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Every direct holding, scored and read</a:t>
            </a:r>
          </a:p>
        </p:txBody>
      </p:sp>
      <p:sp>
        <p:nvSpPr>
          <p:cNvPr id="19" name="TextBox 18"/>
          <p:cNvSpPr txBox="1"/>
          <p:nvPr/>
        </p:nvSpPr>
        <p:spPr>
          <a:xfrm>
            <a:off x="841248" y="362102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03</a:t>
            </a:r>
          </a:p>
        </p:txBody>
      </p:sp>
      <p:sp>
        <p:nvSpPr>
          <p:cNvPr id="20" name="TextBox 19"/>
          <p:cNvSpPr txBox="1"/>
          <p:nvPr/>
        </p:nvSpPr>
        <p:spPr>
          <a:xfrm>
            <a:off x="1408176" y="361188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Fund Book</a:t>
            </a:r>
          </a:p>
        </p:txBody>
      </p:sp>
      <p:sp>
        <p:nvSpPr>
          <p:cNvPr id="21" name="TextBox 20"/>
          <p:cNvSpPr txBox="1"/>
          <p:nvPr/>
        </p:nvSpPr>
        <p:spPr>
          <a:xfrm>
            <a:off x="1408176" y="386791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funds, upside, downside, consistency</a:t>
            </a:r>
          </a:p>
        </p:txBody>
      </p:sp>
      <p:sp>
        <p:nvSpPr>
          <p:cNvPr id="22" name="TextBox 21"/>
          <p:cNvSpPr txBox="1"/>
          <p:nvPr/>
        </p:nvSpPr>
        <p:spPr>
          <a:xfrm>
            <a:off x="841248" y="416966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04</a:t>
            </a:r>
          </a:p>
        </p:txBody>
      </p:sp>
      <p:sp>
        <p:nvSpPr>
          <p:cNvPr id="23" name="TextBox 22"/>
          <p:cNvSpPr txBox="1"/>
          <p:nvPr/>
        </p:nvSpPr>
        <p:spPr>
          <a:xfrm>
            <a:off x="1408176" y="416052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Recommendations</a:t>
            </a:r>
          </a:p>
        </p:txBody>
      </p:sp>
      <p:sp>
        <p:nvSpPr>
          <p:cNvPr id="24" name="TextBox 23"/>
          <p:cNvSpPr txBox="1"/>
          <p:nvPr/>
        </p:nvSpPr>
        <p:spPr>
          <a:xfrm>
            <a:off x="1408176" y="441655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The plan, the cost, the tax and the sequence</a:t>
            </a:r>
          </a:p>
        </p:txBody>
      </p:sp>
      <p:sp>
        <p:nvSpPr>
          <p:cNvPr id="25" name="TextBox 24"/>
          <p:cNvSpPr txBox="1"/>
          <p:nvPr/>
        </p:nvSpPr>
        <p:spPr>
          <a:xfrm>
            <a:off x="841248" y="471830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05</a:t>
            </a:r>
          </a:p>
        </p:txBody>
      </p:sp>
      <p:sp>
        <p:nvSpPr>
          <p:cNvPr id="26" name="TextBox 25"/>
          <p:cNvSpPr txBox="1"/>
          <p:nvPr/>
        </p:nvSpPr>
        <p:spPr>
          <a:xfrm>
            <a:off x="1408176" y="4709159"/>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Annexure</a:t>
            </a:r>
          </a:p>
        </p:txBody>
      </p:sp>
      <p:sp>
        <p:nvSpPr>
          <p:cNvPr id="27" name="TextBox 26"/>
          <p:cNvSpPr txBox="1"/>
          <p:nvPr/>
        </p:nvSpPr>
        <p:spPr>
          <a:xfrm>
            <a:off x="1408176" y="49651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Supporting detail, on request</a:t>
            </a:r>
          </a:p>
        </p:txBody>
      </p:sp>
      <p:sp>
        <p:nvSpPr>
          <p:cNvPr id="28" name="Rectangle 27"/>
          <p:cNvSpPr/>
          <p:nvPr/>
        </p:nvSpPr>
        <p:spPr>
          <a:xfrm>
            <a:off x="5897880" y="1691640"/>
            <a:ext cx="9144" cy="397763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1645920"/>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WORDS WE USE</a:t>
            </a:r>
          </a:p>
        </p:txBody>
      </p:sp>
      <p:sp>
        <p:nvSpPr>
          <p:cNvPr id="30" name="TextBox 29"/>
          <p:cNvSpPr txBox="1"/>
          <p:nvPr/>
        </p:nvSpPr>
        <p:spPr>
          <a:xfrm>
            <a:off x="6126480" y="2011680"/>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EQUITY</a:t>
            </a:r>
          </a:p>
        </p:txBody>
      </p:sp>
      <p:sp>
        <p:nvSpPr>
          <p:cNvPr id="31" name="Rounded Rectangle 30"/>
          <p:cNvSpPr/>
          <p:nvPr/>
        </p:nvSpPr>
        <p:spPr>
          <a:xfrm>
            <a:off x="6995160" y="2002536"/>
            <a:ext cx="56692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Rounded Rectangle 32"/>
          <p:cNvSpPr/>
          <p:nvPr/>
        </p:nvSpPr>
        <p:spPr>
          <a:xfrm>
            <a:off x="7690104" y="2002536"/>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90104"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35" name="Rounded Rectangle 34"/>
          <p:cNvSpPr/>
          <p:nvPr/>
        </p:nvSpPr>
        <p:spPr>
          <a:xfrm>
            <a:off x="8385048" y="2002536"/>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85048"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7" name="TextBox 36"/>
          <p:cNvSpPr txBox="1"/>
          <p:nvPr/>
        </p:nvSpPr>
        <p:spPr>
          <a:xfrm>
            <a:off x="6126480" y="2359152"/>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FUNDS</a:t>
            </a:r>
          </a:p>
        </p:txBody>
      </p:sp>
      <p:sp>
        <p:nvSpPr>
          <p:cNvPr id="38" name="Rounded Rectangle 37"/>
          <p:cNvSpPr/>
          <p:nvPr/>
        </p:nvSpPr>
        <p:spPr>
          <a:xfrm>
            <a:off x="6995160" y="2350008"/>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5160"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0" name="Rounded Rectangle 39"/>
          <p:cNvSpPr/>
          <p:nvPr/>
        </p:nvSpPr>
        <p:spPr>
          <a:xfrm>
            <a:off x="7690104" y="2350008"/>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90104"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2" name="Rounded Rectangle 41"/>
          <p:cNvSpPr/>
          <p:nvPr/>
        </p:nvSpPr>
        <p:spPr>
          <a:xfrm>
            <a:off x="8385048" y="2350008"/>
            <a:ext cx="65836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85048" y="2344521"/>
            <a:ext cx="65836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4" name="Rounded Rectangle 43"/>
          <p:cNvSpPr/>
          <p:nvPr/>
        </p:nvSpPr>
        <p:spPr>
          <a:xfrm>
            <a:off x="9171432" y="2350008"/>
            <a:ext cx="13716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71432" y="2344521"/>
            <a:ext cx="13716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REDEEM-TO-DIRECT</a:t>
            </a:r>
          </a:p>
        </p:txBody>
      </p:sp>
      <p:sp>
        <p:nvSpPr>
          <p:cNvPr id="46" name="Rounded Rectangle 45"/>
          <p:cNvSpPr/>
          <p:nvPr/>
        </p:nvSpPr>
        <p:spPr>
          <a:xfrm>
            <a:off x="10671048" y="2350008"/>
            <a:ext cx="5486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671048" y="2344521"/>
            <a:ext cx="5486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8" name="TextBox 47"/>
          <p:cNvSpPr txBox="1"/>
          <p:nvPr/>
        </p:nvSpPr>
        <p:spPr>
          <a:xfrm>
            <a:off x="6126480" y="2724912"/>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A review of the holdings you already own; every call here applies to existing positions.</a:t>
            </a:r>
          </a:p>
        </p:txBody>
      </p:sp>
      <p:sp>
        <p:nvSpPr>
          <p:cNvPr id="49" name="Rectangle 48"/>
          <p:cNvSpPr/>
          <p:nvPr/>
        </p:nvSpPr>
        <p:spPr>
          <a:xfrm>
            <a:off x="6126480" y="3200400"/>
            <a:ext cx="5223967"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3310128"/>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IONIC SCORE, POSITIONED</a:t>
            </a:r>
          </a:p>
        </p:txBody>
      </p:sp>
      <p:sp>
        <p:nvSpPr>
          <p:cNvPr id="51" name="Rounded Rectangle 50"/>
          <p:cNvSpPr/>
          <p:nvPr/>
        </p:nvSpPr>
        <p:spPr>
          <a:xfrm>
            <a:off x="6126480" y="3639312"/>
            <a:ext cx="292608" cy="182880"/>
          </a:xfrm>
          <a:prstGeom prst="roundRect">
            <a:avLst>
              <a:gd name="adj" fmla="val 40000"/>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47104" y="3602736"/>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Below 40  ·  Sell candidate</a:t>
            </a:r>
          </a:p>
        </p:txBody>
      </p:sp>
      <p:sp>
        <p:nvSpPr>
          <p:cNvPr id="53" name="Rounded Rectangle 52"/>
          <p:cNvSpPr/>
          <p:nvPr/>
        </p:nvSpPr>
        <p:spPr>
          <a:xfrm>
            <a:off x="6126480" y="3941063"/>
            <a:ext cx="292608" cy="182880"/>
          </a:xfrm>
          <a:prstGeom prst="roundRect">
            <a:avLst>
              <a:gd name="adj" fmla="val 4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47104" y="3904487"/>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40 to 50  ·  watch zone; Trim only with a concentration or risk flag</a:t>
            </a:r>
          </a:p>
        </p:txBody>
      </p:sp>
      <p:sp>
        <p:nvSpPr>
          <p:cNvPr id="55" name="Rounded Rectangle 54"/>
          <p:cNvSpPr/>
          <p:nvPr/>
        </p:nvSpPr>
        <p:spPr>
          <a:xfrm>
            <a:off x="6126480" y="4242816"/>
            <a:ext cx="292608" cy="182880"/>
          </a:xfrm>
          <a:prstGeom prst="roundRect">
            <a:avLst>
              <a:gd name="adj" fmla="val 4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47104" y="4206240"/>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50 and above  ·  Hold</a:t>
            </a:r>
          </a:p>
        </p:txBody>
      </p:sp>
      <p:sp>
        <p:nvSpPr>
          <p:cNvPr id="57" name="TextBox 56"/>
          <p:cNvSpPr txBox="1"/>
          <p:nvPr/>
        </p:nvSpPr>
        <p:spPr>
          <a:xfrm>
            <a:off x="6126480" y="4590288"/>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6B7280"/>
                </a:solidFill>
                <a:latin typeface="Georgia"/>
              </a:rPr>
              <a:t>The Ionic Score flags candidates; the Portfolio Review team confirms every call.</a:t>
            </a:r>
          </a:p>
        </p:txBody>
      </p:sp>
      <p:sp>
        <p:nvSpPr>
          <p:cNvPr id="58" name="Rectangle 57"/>
          <p:cNvSpPr/>
          <p:nvPr/>
        </p:nvSpPr>
        <p:spPr>
          <a:xfrm>
            <a:off x="841248" y="5394960"/>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841248" y="5559552"/>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5522976"/>
            <a:ext cx="10234879" cy="502920"/>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THIS BUILD   </a:t>
            </a:r>
            <a:r>
              <a:rPr sz="950" b="0" i="1">
                <a:solidFill>
                  <a:srgbClr val="1B27A3"/>
                </a:solidFill>
                <a:latin typeface="Georgia"/>
              </a:rPr>
              <a:t>Annexure attached this cycle:   Opportunity set   ·   Quality vs price   ·   Factor profile   ·   Growth projection   ·   Spotlight holdings   ·   Holdings detail   ·   Sell cards   ·   Scheme overlap   ·   Scheme scorecards   ·   Appendix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Investment Policy Statement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mandate we manage to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03</a:t>
            </a:r>
          </a:p>
        </p:txBody>
      </p:sp>
      <p:sp>
        <p:nvSpPr>
          <p:cNvPr id="15" name="TextBox 14"/>
          <p:cNvSpPr txBox="1"/>
          <p:nvPr/>
        </p:nvSpPr>
        <p:spPr>
          <a:xfrm>
            <a:off x="8241487" y="1481328"/>
            <a:ext cx="3108960" cy="182880"/>
          </a:xfrm>
          <a:prstGeom prst="rect">
            <a:avLst/>
          </a:prstGeom>
          <a:noFill/>
        </p:spPr>
        <p:txBody>
          <a:bodyPr wrap="square" anchor="t" lIns="0" rIns="0" tIns="0" bIns="0">
            <a:spAutoFit/>
          </a:bodyPr>
          <a:lstStyle/>
          <a:p>
            <a:pPr algn="r">
              <a:spcBef>
                <a:spcPts val="0"/>
              </a:spcBef>
              <a:spcAft>
                <a:spcPts val="0"/>
              </a:spcAft>
            </a:pPr>
            <a:r>
              <a:rPr sz="800" b="1" i="1">
                <a:solidFill>
                  <a:srgbClr val="F2A93C"/>
                </a:solidFill>
                <a:latin typeface="Bahnschrift"/>
              </a:rPr>
              <a:t>[ILLUSTRATIVE, demo IPS]</a:t>
            </a:r>
          </a:p>
        </p:txBody>
      </p:sp>
      <p:sp>
        <p:nvSpPr>
          <p:cNvPr id="16" name="TextBox 15"/>
          <p:cNvSpPr txBox="1"/>
          <p:nvPr/>
        </p:nvSpPr>
        <p:spPr>
          <a:xfrm>
            <a:off x="841248" y="1645920"/>
            <a:ext cx="1645920"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RISK TIER</a:t>
            </a:r>
          </a:p>
        </p:txBody>
      </p:sp>
      <p:sp>
        <p:nvSpPr>
          <p:cNvPr id="17" name="Rounded Rectangle 16"/>
          <p:cNvSpPr/>
          <p:nvPr/>
        </p:nvSpPr>
        <p:spPr>
          <a:xfrm>
            <a:off x="841248" y="1847088"/>
            <a:ext cx="1737360" cy="512064"/>
          </a:xfrm>
          <a:prstGeom prst="roundRect">
            <a:avLst>
              <a:gd name="adj" fmla="val 12000"/>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1847088"/>
            <a:ext cx="1737360" cy="512064"/>
          </a:xfrm>
          <a:prstGeom prst="rect">
            <a:avLst/>
          </a:prstGeom>
          <a:noFill/>
        </p:spPr>
        <p:txBody>
          <a:bodyPr wrap="square" anchor="ctr" lIns="0" rIns="0" tIns="0" bIns="0">
            <a:spAutoFit/>
          </a:bodyPr>
          <a:lstStyle/>
          <a:p>
            <a:pPr algn="ctr">
              <a:spcBef>
                <a:spcPts val="0"/>
              </a:spcBef>
              <a:spcAft>
                <a:spcPts val="0"/>
              </a:spcAft>
            </a:pPr>
            <a:r>
              <a:rPr sz="1500" b="1" i="0" spc="40">
                <a:solidFill>
                  <a:srgbClr val="FFFFFF"/>
                </a:solidFill>
                <a:latin typeface="Bahnschrift"/>
              </a:rPr>
              <a:t>AGGRESSIVE</a:t>
            </a:r>
          </a:p>
        </p:txBody>
      </p:sp>
      <p:sp>
        <p:nvSpPr>
          <p:cNvPr id="19" name="TextBox 18"/>
          <p:cNvSpPr txBox="1"/>
          <p:nvPr/>
        </p:nvSpPr>
        <p:spPr>
          <a:xfrm>
            <a:off x="2852928" y="1645920"/>
            <a:ext cx="8497519"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OBJECTIVE</a:t>
            </a:r>
          </a:p>
        </p:txBody>
      </p:sp>
      <p:sp>
        <p:nvSpPr>
          <p:cNvPr id="20" name="TextBox 19"/>
          <p:cNvSpPr txBox="1"/>
          <p:nvPr/>
        </p:nvSpPr>
        <p:spPr>
          <a:xfrm>
            <a:off x="2852928" y="1865376"/>
            <a:ext cx="8497519" cy="640080"/>
          </a:xfrm>
          <a:prstGeom prst="rect">
            <a:avLst/>
          </a:prstGeom>
          <a:noFill/>
        </p:spPr>
        <p:txBody>
          <a:bodyPr wrap="square" anchor="t" lIns="0" rIns="0" tIns="0" bIns="0">
            <a:spAutoFit/>
          </a:bodyPr>
          <a:lstStyle/>
          <a:p>
            <a:pPr algn="l">
              <a:lnSpc>
                <a:spcPct val="110000"/>
              </a:lnSpc>
              <a:spcBef>
                <a:spcPts val="0"/>
              </a:spcBef>
              <a:spcAft>
                <a:spcPts val="0"/>
              </a:spcAft>
            </a:pPr>
            <a:r>
              <a:rPr sz="1150" b="0" i="1">
                <a:solidFill>
                  <a:srgbClr val="16233B"/>
                </a:solidFill>
                <a:latin typeface="Georgia"/>
              </a:rPr>
              <a:t>Long-term capital growth with a quality bias; tolerates interim drawdowns for higher compounding.</a:t>
            </a:r>
          </a:p>
        </p:txBody>
      </p:sp>
      <p:sp>
        <p:nvSpPr>
          <p:cNvPr id="21" name="Rectangle 20"/>
          <p:cNvSpPr/>
          <p:nvPr/>
        </p:nvSpPr>
        <p:spPr>
          <a:xfrm>
            <a:off x="841248" y="2670048"/>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2798064"/>
            <a:ext cx="3931920"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TARGETS &amp; LIMITS</a:t>
            </a:r>
          </a:p>
        </p:txBody>
      </p:sp>
      <p:sp>
        <p:nvSpPr>
          <p:cNvPr id="23" name="TextBox 22"/>
          <p:cNvSpPr txBox="1"/>
          <p:nvPr/>
        </p:nvSpPr>
        <p:spPr>
          <a:xfrm>
            <a:off x="841248" y="3127248"/>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Time horizon</a:t>
            </a:r>
          </a:p>
        </p:txBody>
      </p:sp>
      <p:sp>
        <p:nvSpPr>
          <p:cNvPr id="24" name="TextBox 23"/>
          <p:cNvSpPr txBox="1"/>
          <p:nvPr/>
        </p:nvSpPr>
        <p:spPr>
          <a:xfrm>
            <a:off x="3310127" y="3127248"/>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7 yr+</a:t>
            </a:r>
          </a:p>
        </p:txBody>
      </p:sp>
      <p:sp>
        <p:nvSpPr>
          <p:cNvPr id="25" name="Rectangle 24"/>
          <p:cNvSpPr/>
          <p:nvPr/>
        </p:nvSpPr>
        <p:spPr>
          <a:xfrm>
            <a:off x="841248" y="3474720"/>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529584"/>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Single-name cap</a:t>
            </a:r>
          </a:p>
        </p:txBody>
      </p:sp>
      <p:sp>
        <p:nvSpPr>
          <p:cNvPr id="27" name="TextBox 26"/>
          <p:cNvSpPr txBox="1"/>
          <p:nvPr/>
        </p:nvSpPr>
        <p:spPr>
          <a:xfrm>
            <a:off x="3310127" y="3529584"/>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max 8%  of the book</a:t>
            </a:r>
          </a:p>
        </p:txBody>
      </p:sp>
      <p:sp>
        <p:nvSpPr>
          <p:cNvPr id="28" name="Rectangle 27"/>
          <p:cNvSpPr/>
          <p:nvPr/>
        </p:nvSpPr>
        <p:spPr>
          <a:xfrm>
            <a:off x="841248" y="3877056"/>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3931920"/>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Foreign / global equity</a:t>
            </a:r>
          </a:p>
        </p:txBody>
      </p:sp>
      <p:sp>
        <p:nvSpPr>
          <p:cNvPr id="30" name="TextBox 29"/>
          <p:cNvSpPr txBox="1"/>
          <p:nvPr/>
        </p:nvSpPr>
        <p:spPr>
          <a:xfrm>
            <a:off x="3310127" y="3931920"/>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15%  target of equity</a:t>
            </a:r>
          </a:p>
        </p:txBody>
      </p:sp>
      <p:sp>
        <p:nvSpPr>
          <p:cNvPr id="31" name="Rectangle 30"/>
          <p:cNvSpPr/>
          <p:nvPr/>
        </p:nvSpPr>
        <p:spPr>
          <a:xfrm>
            <a:off x="841248" y="4279392"/>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4334256"/>
            <a:ext cx="2560320" cy="274320"/>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Gold &amp; silver sleeve</a:t>
            </a:r>
          </a:p>
        </p:txBody>
      </p:sp>
      <p:sp>
        <p:nvSpPr>
          <p:cNvPr id="33" name="TextBox 32"/>
          <p:cNvSpPr txBox="1"/>
          <p:nvPr/>
        </p:nvSpPr>
        <p:spPr>
          <a:xfrm>
            <a:off x="3310127" y="4334256"/>
            <a:ext cx="1463040" cy="274320"/>
          </a:xfrm>
          <a:prstGeom prst="rect">
            <a:avLst/>
          </a:prstGeom>
          <a:noFill/>
        </p:spPr>
        <p:txBody>
          <a:bodyPr wrap="square" anchor="ctr" lIns="0" rIns="0" tIns="0" bIns="0">
            <a:spAutoFit/>
          </a:bodyPr>
          <a:lstStyle/>
          <a:p>
            <a:pPr algn="r">
              <a:spcBef>
                <a:spcPts val="0"/>
              </a:spcBef>
              <a:spcAft>
                <a:spcPts val="0"/>
              </a:spcAft>
            </a:pPr>
            <a:r>
              <a:rPr sz="1050" b="1" i="0">
                <a:solidFill>
                  <a:srgbClr val="1B27A3"/>
                </a:solidFill>
                <a:latin typeface="Bahnschrift"/>
              </a:rPr>
              <a:t>5%  target</a:t>
            </a:r>
          </a:p>
        </p:txBody>
      </p:sp>
      <p:sp>
        <p:nvSpPr>
          <p:cNvPr id="34" name="Rectangle 33"/>
          <p:cNvSpPr/>
          <p:nvPr/>
        </p:nvSpPr>
        <p:spPr>
          <a:xfrm>
            <a:off x="841248" y="4681728"/>
            <a:ext cx="393192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98064"/>
            <a:ext cx="3890826"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STRATEGIC ALLOCATION BANDS</a:t>
            </a:r>
          </a:p>
        </p:txBody>
      </p:sp>
      <p:sp>
        <p:nvSpPr>
          <p:cNvPr id="36" name="TextBox 35"/>
          <p:cNvSpPr txBox="1"/>
          <p:nvPr/>
        </p:nvSpPr>
        <p:spPr>
          <a:xfrm>
            <a:off x="8965746" y="2798064"/>
            <a:ext cx="2384700" cy="182880"/>
          </a:xfrm>
          <a:prstGeom prst="rect">
            <a:avLst/>
          </a:prstGeom>
          <a:noFill/>
        </p:spPr>
        <p:txBody>
          <a:bodyPr wrap="square" anchor="t" lIns="0" rIns="0" tIns="0" bIns="0">
            <a:spAutoFit/>
          </a:bodyPr>
          <a:lstStyle/>
          <a:p>
            <a:pPr algn="r">
              <a:spcBef>
                <a:spcPts val="0"/>
              </a:spcBef>
              <a:spcAft>
                <a:spcPts val="0"/>
              </a:spcAft>
            </a:pPr>
            <a:r>
              <a:rPr sz="800" b="0" i="1">
                <a:solidFill>
                  <a:srgbClr val="6B7280"/>
                </a:solidFill>
                <a:latin typeface="Bahnschrift"/>
              </a:rPr>
              <a:t>min, target, max</a:t>
            </a:r>
          </a:p>
        </p:txBody>
      </p:sp>
      <p:sp>
        <p:nvSpPr>
          <p:cNvPr id="37" name="TextBox 36"/>
          <p:cNvSpPr txBox="1"/>
          <p:nvPr/>
        </p:nvSpPr>
        <p:spPr>
          <a:xfrm>
            <a:off x="6309359"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0</a:t>
            </a:r>
          </a:p>
        </p:txBody>
      </p:sp>
      <p:sp>
        <p:nvSpPr>
          <p:cNvPr id="38" name="TextBox 37"/>
          <p:cNvSpPr txBox="1"/>
          <p:nvPr/>
        </p:nvSpPr>
        <p:spPr>
          <a:xfrm>
            <a:off x="7840980"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50</a:t>
            </a:r>
          </a:p>
        </p:txBody>
      </p:sp>
      <p:sp>
        <p:nvSpPr>
          <p:cNvPr id="39" name="TextBox 38"/>
          <p:cNvSpPr txBox="1"/>
          <p:nvPr/>
        </p:nvSpPr>
        <p:spPr>
          <a:xfrm>
            <a:off x="9372600" y="3017520"/>
            <a:ext cx="365760" cy="146304"/>
          </a:xfrm>
          <a:prstGeom prst="rect">
            <a:avLst/>
          </a:prstGeom>
          <a:noFill/>
        </p:spPr>
        <p:txBody>
          <a:bodyPr wrap="square" anchor="t" lIns="0" rIns="0" tIns="0" bIns="0">
            <a:spAutoFit/>
          </a:bodyPr>
          <a:lstStyle/>
          <a:p>
            <a:pPr algn="ctr">
              <a:spcBef>
                <a:spcPts val="0"/>
              </a:spcBef>
              <a:spcAft>
                <a:spcPts val="0"/>
              </a:spcAft>
            </a:pPr>
            <a:r>
              <a:rPr sz="650" b="0" i="0">
                <a:solidFill>
                  <a:srgbClr val="6B7280"/>
                </a:solidFill>
                <a:latin typeface="Bahnschrift"/>
              </a:rPr>
              <a:t>100</a:t>
            </a:r>
          </a:p>
        </p:txBody>
      </p:sp>
      <p:sp>
        <p:nvSpPr>
          <p:cNvPr id="40" name="TextBox 39"/>
          <p:cNvSpPr txBox="1"/>
          <p:nvPr/>
        </p:nvSpPr>
        <p:spPr>
          <a:xfrm>
            <a:off x="5074920" y="32552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Equity</a:t>
            </a:r>
          </a:p>
        </p:txBody>
      </p:sp>
      <p:sp>
        <p:nvSpPr>
          <p:cNvPr id="41" name="Rectangle 40"/>
          <p:cNvSpPr/>
          <p:nvPr/>
        </p:nvSpPr>
        <p:spPr>
          <a:xfrm>
            <a:off x="6492240" y="33649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83346" y="3328416"/>
            <a:ext cx="612648"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74252" y="33009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6919" y="32552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65–85%</a:t>
            </a:r>
            <a:r>
              <a:rPr sz="900" b="0" i="0">
                <a:solidFill>
                  <a:srgbClr val="6B7280"/>
                </a:solidFill>
                <a:latin typeface="Bahnschrift"/>
              </a:rPr>
              <a:t>   tgt 78</a:t>
            </a:r>
          </a:p>
        </p:txBody>
      </p:sp>
      <p:sp>
        <p:nvSpPr>
          <p:cNvPr id="45" name="TextBox 44"/>
          <p:cNvSpPr txBox="1"/>
          <p:nvPr/>
        </p:nvSpPr>
        <p:spPr>
          <a:xfrm>
            <a:off x="5074920" y="37124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Hybrid/Debt</a:t>
            </a:r>
          </a:p>
        </p:txBody>
      </p:sp>
      <p:sp>
        <p:nvSpPr>
          <p:cNvPr id="46" name="Rectangle 45"/>
          <p:cNvSpPr/>
          <p:nvPr/>
        </p:nvSpPr>
        <p:spPr>
          <a:xfrm>
            <a:off x="6492240" y="3822191"/>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645402" y="3785615"/>
            <a:ext cx="612648"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52513" y="37581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46919" y="37124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5–25%</a:t>
            </a:r>
            <a:r>
              <a:rPr sz="900" b="0" i="0">
                <a:solidFill>
                  <a:srgbClr val="6B7280"/>
                </a:solidFill>
                <a:latin typeface="Bahnschrift"/>
              </a:rPr>
              <a:t>   tgt 12</a:t>
            </a:r>
          </a:p>
        </p:txBody>
      </p:sp>
      <p:sp>
        <p:nvSpPr>
          <p:cNvPr id="50" name="TextBox 49"/>
          <p:cNvSpPr txBox="1"/>
          <p:nvPr/>
        </p:nvSpPr>
        <p:spPr>
          <a:xfrm>
            <a:off x="5074920" y="41696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Alternatives/Gold</a:t>
            </a:r>
          </a:p>
        </p:txBody>
      </p:sp>
      <p:sp>
        <p:nvSpPr>
          <p:cNvPr id="51" name="Rectangle 50"/>
          <p:cNvSpPr/>
          <p:nvPr/>
        </p:nvSpPr>
        <p:spPr>
          <a:xfrm>
            <a:off x="6492240" y="42793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92240" y="4242816"/>
            <a:ext cx="306324"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638086" y="42153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46919" y="41696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0–10%</a:t>
            </a:r>
            <a:r>
              <a:rPr sz="900" b="0" i="0">
                <a:solidFill>
                  <a:srgbClr val="6B7280"/>
                </a:solidFill>
                <a:latin typeface="Bahnschrift"/>
              </a:rPr>
              <a:t>   tgt 5</a:t>
            </a:r>
          </a:p>
        </p:txBody>
      </p:sp>
      <p:sp>
        <p:nvSpPr>
          <p:cNvPr id="55" name="TextBox 54"/>
          <p:cNvSpPr txBox="1"/>
          <p:nvPr/>
        </p:nvSpPr>
        <p:spPr>
          <a:xfrm>
            <a:off x="5074920" y="4626864"/>
            <a:ext cx="1325880" cy="27432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Cash</a:t>
            </a:r>
          </a:p>
        </p:txBody>
      </p:sp>
      <p:sp>
        <p:nvSpPr>
          <p:cNvPr id="56" name="Rectangle 55"/>
          <p:cNvSpPr/>
          <p:nvPr/>
        </p:nvSpPr>
        <p:spPr>
          <a:xfrm>
            <a:off x="6492240" y="4736592"/>
            <a:ext cx="3063240" cy="82296"/>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92240" y="4700016"/>
            <a:ext cx="459485" cy="155448"/>
          </a:xfrm>
          <a:prstGeom prst="rect">
            <a:avLst/>
          </a:prstGeom>
          <a:solidFill>
            <a:srgbClr val="C9C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638086" y="4672584"/>
            <a:ext cx="14630" cy="2103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646919" y="4626864"/>
            <a:ext cx="1703527" cy="274320"/>
          </a:xfrm>
          <a:prstGeom prst="rect">
            <a:avLst/>
          </a:prstGeom>
          <a:noFill/>
        </p:spPr>
        <p:txBody>
          <a:bodyPr wrap="square" anchor="ctr" lIns="0" rIns="0" tIns="0" bIns="0">
            <a:spAutoFit/>
          </a:bodyPr>
          <a:lstStyle/>
          <a:p>
            <a:pPr algn="l">
              <a:spcBef>
                <a:spcPts val="0"/>
              </a:spcBef>
              <a:spcAft>
                <a:spcPts val="0"/>
              </a:spcAft>
            </a:pPr>
            <a:r>
              <a:rPr sz="950" b="1" i="0">
                <a:solidFill>
                  <a:srgbClr val="1B27A3"/>
                </a:solidFill>
                <a:latin typeface="Bahnschrift"/>
              </a:rPr>
              <a:t>0–15%</a:t>
            </a:r>
            <a:r>
              <a:rPr sz="900" b="0" i="0">
                <a:solidFill>
                  <a:srgbClr val="6B7280"/>
                </a:solidFill>
                <a:latin typeface="Bahnschrift"/>
              </a:rPr>
              <a:t>   tgt 5</a:t>
            </a:r>
          </a:p>
        </p:txBody>
      </p:sp>
      <p:sp>
        <p:nvSpPr>
          <p:cNvPr id="60" name="Rectangle 59"/>
          <p:cNvSpPr/>
          <p:nvPr/>
        </p:nvSpPr>
        <p:spPr>
          <a:xfrm>
            <a:off x="841248" y="5029200"/>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8" y="5138928"/>
            <a:ext cx="10509199"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CONSTRAINTS</a:t>
            </a:r>
          </a:p>
        </p:txBody>
      </p:sp>
      <p:sp>
        <p:nvSpPr>
          <p:cNvPr id="62" name="Oval 61"/>
          <p:cNvSpPr/>
          <p:nvPr/>
        </p:nvSpPr>
        <p:spPr>
          <a:xfrm>
            <a:off x="841248" y="5468112"/>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4128" y="5394960"/>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 single stock above 8% of the book</a:t>
            </a:r>
          </a:p>
        </p:txBody>
      </p:sp>
      <p:sp>
        <p:nvSpPr>
          <p:cNvPr id="64" name="Oval 63"/>
          <p:cNvSpPr/>
          <p:nvPr/>
        </p:nvSpPr>
        <p:spPr>
          <a:xfrm>
            <a:off x="6095847" y="5468112"/>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78727" y="5394960"/>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Min 15% of equity in foreign/global by target</a:t>
            </a:r>
          </a:p>
        </p:txBody>
      </p:sp>
      <p:sp>
        <p:nvSpPr>
          <p:cNvPr id="66" name="Oval 65"/>
          <p:cNvSpPr/>
          <p:nvPr/>
        </p:nvSpPr>
        <p:spPr>
          <a:xfrm>
            <a:off x="841248" y="5779007"/>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4128" y="5705856"/>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No unrated / F&amp;O / leveraged positions</a:t>
            </a:r>
          </a:p>
        </p:txBody>
      </p:sp>
      <p:sp>
        <p:nvSpPr>
          <p:cNvPr id="68" name="Oval 67"/>
          <p:cNvSpPr/>
          <p:nvPr/>
        </p:nvSpPr>
        <p:spPr>
          <a:xfrm>
            <a:off x="6095847" y="5779007"/>
            <a:ext cx="82296" cy="82296"/>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78727" y="5705856"/>
            <a:ext cx="4934559" cy="292608"/>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ESG: no tobacco primary-producer adds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Executive summary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book differs from your policy, and what we'd do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04</a:t>
            </a:r>
          </a:p>
        </p:txBody>
      </p:sp>
      <p:sp>
        <p:nvSpPr>
          <p:cNvPr id="15" name="TextBox 14"/>
          <p:cNvSpPr txBox="1"/>
          <p:nvPr/>
        </p:nvSpPr>
        <p:spPr>
          <a:xfrm>
            <a:off x="841248"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6.8 Cr</a:t>
            </a:r>
          </a:p>
        </p:txBody>
      </p:sp>
      <p:sp>
        <p:nvSpPr>
          <p:cNvPr id="16" name="TextBox 15"/>
          <p:cNvSpPr txBox="1"/>
          <p:nvPr/>
        </p:nvSpPr>
        <p:spPr>
          <a:xfrm>
            <a:off x="841248"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PORTFOLIO VALUE</a:t>
            </a:r>
          </a:p>
        </p:txBody>
      </p:sp>
      <p:sp>
        <p:nvSpPr>
          <p:cNvPr id="17" name="TextBox 16"/>
          <p:cNvSpPr txBox="1"/>
          <p:nvPr/>
        </p:nvSpPr>
        <p:spPr>
          <a:xfrm>
            <a:off x="294308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47 / 9</a:t>
            </a:r>
          </a:p>
        </p:txBody>
      </p:sp>
      <p:sp>
        <p:nvSpPr>
          <p:cNvPr id="18" name="TextBox 17"/>
          <p:cNvSpPr txBox="1"/>
          <p:nvPr/>
        </p:nvSpPr>
        <p:spPr>
          <a:xfrm>
            <a:off x="294308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STOCKS / FUNDS</a:t>
            </a:r>
          </a:p>
        </p:txBody>
      </p:sp>
      <p:sp>
        <p:nvSpPr>
          <p:cNvPr id="19" name="Rectangle 18"/>
          <p:cNvSpPr/>
          <p:nvPr/>
        </p:nvSpPr>
        <p:spPr>
          <a:xfrm>
            <a:off x="288822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492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1" name="TextBox 20"/>
          <p:cNvSpPr txBox="1"/>
          <p:nvPr/>
        </p:nvSpPr>
        <p:spPr>
          <a:xfrm>
            <a:off x="504492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TOP-10 WEIGHT</a:t>
            </a:r>
          </a:p>
        </p:txBody>
      </p:sp>
      <p:sp>
        <p:nvSpPr>
          <p:cNvPr id="22" name="Rectangle 21"/>
          <p:cNvSpPr/>
          <p:nvPr/>
        </p:nvSpPr>
        <p:spPr>
          <a:xfrm>
            <a:off x="499006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4676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10</a:t>
            </a:r>
          </a:p>
        </p:txBody>
      </p:sp>
      <p:sp>
        <p:nvSpPr>
          <p:cNvPr id="24" name="TextBox 23"/>
          <p:cNvSpPr txBox="1"/>
          <p:nvPr/>
        </p:nvSpPr>
        <p:spPr>
          <a:xfrm>
            <a:off x="714676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EQUITY SELLS</a:t>
            </a:r>
          </a:p>
        </p:txBody>
      </p:sp>
      <p:sp>
        <p:nvSpPr>
          <p:cNvPr id="25" name="Rectangle 24"/>
          <p:cNvSpPr/>
          <p:nvPr/>
        </p:nvSpPr>
        <p:spPr>
          <a:xfrm>
            <a:off x="709190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4860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6</a:t>
            </a:r>
          </a:p>
        </p:txBody>
      </p:sp>
      <p:sp>
        <p:nvSpPr>
          <p:cNvPr id="27" name="TextBox 26"/>
          <p:cNvSpPr txBox="1"/>
          <p:nvPr/>
        </p:nvSpPr>
        <p:spPr>
          <a:xfrm>
            <a:off x="924860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8" name="Rectangle 27"/>
          <p:cNvSpPr/>
          <p:nvPr/>
        </p:nvSpPr>
        <p:spPr>
          <a:xfrm>
            <a:off x="919374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670048"/>
            <a:ext cx="10509199" cy="237744"/>
          </a:xfrm>
          <a:prstGeom prst="rect">
            <a:avLst/>
          </a:prstGeom>
          <a:noFill/>
        </p:spPr>
        <p:txBody>
          <a:bodyPr wrap="square" anchor="t" lIns="0" rIns="0" tIns="0" bIns="0">
            <a:spAutoFit/>
          </a:bodyPr>
          <a:lstStyle/>
          <a:p>
            <a:pPr algn="l">
              <a:spcBef>
                <a:spcPts val="0"/>
              </a:spcBef>
              <a:spcAft>
                <a:spcPts val="0"/>
              </a:spcAft>
            </a:pPr>
            <a:r>
              <a:rPr sz="1150" b="0" i="1">
                <a:solidFill>
                  <a:srgbClr val="16233B"/>
                </a:solidFill>
                <a:latin typeface="Georgia"/>
              </a:rPr>
              <a:t>Each gap below has one action, and where to read the detail.</a:t>
            </a:r>
          </a:p>
        </p:txBody>
      </p:sp>
      <p:sp>
        <p:nvSpPr>
          <p:cNvPr id="30" name="TextBox 29"/>
          <p:cNvSpPr txBox="1"/>
          <p:nvPr/>
        </p:nvSpPr>
        <p:spPr>
          <a:xfrm>
            <a:off x="914400" y="303580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31" name="TextBox 30"/>
          <p:cNvSpPr txBox="1"/>
          <p:nvPr/>
        </p:nvSpPr>
        <p:spPr>
          <a:xfrm>
            <a:off x="3016239" y="3035808"/>
            <a:ext cx="363700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GAP VS POLICY</a:t>
            </a:r>
          </a:p>
        </p:txBody>
      </p:sp>
      <p:sp>
        <p:nvSpPr>
          <p:cNvPr id="32" name="TextBox 31"/>
          <p:cNvSpPr txBox="1"/>
          <p:nvPr/>
        </p:nvSpPr>
        <p:spPr>
          <a:xfrm>
            <a:off x="6799551" y="3035808"/>
            <a:ext cx="342682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WE WOULD DO</a:t>
            </a:r>
          </a:p>
        </p:txBody>
      </p:sp>
      <p:sp>
        <p:nvSpPr>
          <p:cNvPr id="33" name="TextBox 32"/>
          <p:cNvSpPr txBox="1"/>
          <p:nvPr/>
        </p:nvSpPr>
        <p:spPr>
          <a:xfrm>
            <a:off x="10372679" y="3035808"/>
            <a:ext cx="90461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SEE</a:t>
            </a:r>
          </a:p>
        </p:txBody>
      </p:sp>
      <p:sp>
        <p:nvSpPr>
          <p:cNvPr id="34" name="Rectangle 33"/>
          <p:cNvSpPr/>
          <p:nvPr/>
        </p:nvSpPr>
        <p:spPr>
          <a:xfrm>
            <a:off x="841248" y="3291839"/>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3337560"/>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Concentration</a:t>
            </a:r>
          </a:p>
        </p:txBody>
      </p:sp>
      <p:sp>
        <p:nvSpPr>
          <p:cNvPr id="36" name="TextBox 35"/>
          <p:cNvSpPr txBox="1"/>
          <p:nvPr/>
        </p:nvSpPr>
        <p:spPr>
          <a:xfrm>
            <a:off x="3016239" y="3337560"/>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Top-2 names each &gt;11%; policy caps a single name at 8%.</a:t>
            </a:r>
          </a:p>
        </p:txBody>
      </p:sp>
      <p:sp>
        <p:nvSpPr>
          <p:cNvPr id="37" name="TextBox 36"/>
          <p:cNvSpPr txBox="1"/>
          <p:nvPr/>
        </p:nvSpPr>
        <p:spPr>
          <a:xfrm>
            <a:off x="6799551" y="3337560"/>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One exits via the sell programme; the other trims toward the cap.</a:t>
            </a:r>
          </a:p>
        </p:txBody>
      </p:sp>
      <p:sp>
        <p:nvSpPr>
          <p:cNvPr id="38" name="TextBox 37"/>
          <p:cNvSpPr txBox="1"/>
          <p:nvPr/>
        </p:nvSpPr>
        <p:spPr>
          <a:xfrm>
            <a:off x="10372679" y="3337560"/>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01 · X-ray</a:t>
            </a:r>
          </a:p>
        </p:txBody>
      </p:sp>
      <p:sp>
        <p:nvSpPr>
          <p:cNvPr id="39" name="Rectangle 38"/>
          <p:cNvSpPr/>
          <p:nvPr/>
        </p:nvSpPr>
        <p:spPr>
          <a:xfrm>
            <a:off x="841248" y="3831336"/>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849624"/>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Sell programme</a:t>
            </a:r>
          </a:p>
        </p:txBody>
      </p:sp>
      <p:sp>
        <p:nvSpPr>
          <p:cNvPr id="41" name="TextBox 40"/>
          <p:cNvSpPr txBox="1"/>
          <p:nvPr/>
        </p:nvSpPr>
        <p:spPr>
          <a:xfrm>
            <a:off x="3016239" y="3849624"/>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10 direct holdings score in the Sell band (&lt;40).</a:t>
            </a:r>
          </a:p>
        </p:txBody>
      </p:sp>
      <p:sp>
        <p:nvSpPr>
          <p:cNvPr id="42" name="TextBox 41"/>
          <p:cNvSpPr txBox="1"/>
          <p:nvPr/>
        </p:nvSpPr>
        <p:spPr>
          <a:xfrm>
            <a:off x="6799551" y="3849624"/>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Exit all 10, sliced by liquidity.</a:t>
            </a:r>
          </a:p>
        </p:txBody>
      </p:sp>
      <p:sp>
        <p:nvSpPr>
          <p:cNvPr id="43" name="TextBox 42"/>
          <p:cNvSpPr txBox="1"/>
          <p:nvPr/>
        </p:nvSpPr>
        <p:spPr>
          <a:xfrm>
            <a:off x="10372679" y="3849624"/>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02 · Equity</a:t>
            </a:r>
          </a:p>
        </p:txBody>
      </p:sp>
      <p:sp>
        <p:nvSpPr>
          <p:cNvPr id="44" name="TextBox 43"/>
          <p:cNvSpPr txBox="1"/>
          <p:nvPr/>
        </p:nvSpPr>
        <p:spPr>
          <a:xfrm>
            <a:off x="914400" y="4361688"/>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Foreign under-allocation</a:t>
            </a:r>
          </a:p>
        </p:txBody>
      </p:sp>
      <p:sp>
        <p:nvSpPr>
          <p:cNvPr id="45" name="TextBox 44"/>
          <p:cNvSpPr txBox="1"/>
          <p:nvPr/>
        </p:nvSpPr>
        <p:spPr>
          <a:xfrm>
            <a:off x="3016239" y="4361688"/>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~12 pts below the 15% foreign-equity target.</a:t>
            </a:r>
          </a:p>
        </p:txBody>
      </p:sp>
      <p:sp>
        <p:nvSpPr>
          <p:cNvPr id="46" name="TextBox 45"/>
          <p:cNvSpPr txBox="1"/>
          <p:nvPr/>
        </p:nvSpPr>
        <p:spPr>
          <a:xfrm>
            <a:off x="6799551" y="4361688"/>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Plan a foreign sleeve at deployment (annexure framework).</a:t>
            </a:r>
          </a:p>
        </p:txBody>
      </p:sp>
      <p:sp>
        <p:nvSpPr>
          <p:cNvPr id="47" name="TextBox 46"/>
          <p:cNvSpPr txBox="1"/>
          <p:nvPr/>
        </p:nvSpPr>
        <p:spPr>
          <a:xfrm>
            <a:off x="10372679" y="4361688"/>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04 · Plan</a:t>
            </a:r>
          </a:p>
        </p:txBody>
      </p:sp>
      <p:sp>
        <p:nvSpPr>
          <p:cNvPr id="48" name="Rectangle 47"/>
          <p:cNvSpPr/>
          <p:nvPr/>
        </p:nvSpPr>
        <p:spPr>
          <a:xfrm>
            <a:off x="841248" y="4855464"/>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4873752"/>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Regular-plan cost</a:t>
            </a:r>
          </a:p>
        </p:txBody>
      </p:sp>
      <p:sp>
        <p:nvSpPr>
          <p:cNvPr id="50" name="TextBox 49"/>
          <p:cNvSpPr txBox="1"/>
          <p:nvPr/>
        </p:nvSpPr>
        <p:spPr>
          <a:xfrm>
            <a:off x="3016239" y="4873752"/>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~Rs 53k/yr avoidable trail on Regular-plan funds.</a:t>
            </a:r>
          </a:p>
        </p:txBody>
      </p:sp>
      <p:sp>
        <p:nvSpPr>
          <p:cNvPr id="51" name="TextBox 50"/>
          <p:cNvSpPr txBox="1"/>
          <p:nvPr/>
        </p:nvSpPr>
        <p:spPr>
          <a:xfrm>
            <a:off x="6799551" y="4873752"/>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Redeem-to-Direct where the same scheme exists Direct.</a:t>
            </a:r>
          </a:p>
        </p:txBody>
      </p:sp>
      <p:sp>
        <p:nvSpPr>
          <p:cNvPr id="52" name="TextBox 51"/>
          <p:cNvSpPr txBox="1"/>
          <p:nvPr/>
        </p:nvSpPr>
        <p:spPr>
          <a:xfrm>
            <a:off x="10372679" y="4873752"/>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04 · Plan</a:t>
            </a:r>
          </a:p>
        </p:txBody>
      </p:sp>
      <p:sp>
        <p:nvSpPr>
          <p:cNvPr id="53" name="TextBox 52"/>
          <p:cNvSpPr txBox="1"/>
          <p:nvPr/>
        </p:nvSpPr>
        <p:spPr>
          <a:xfrm>
            <a:off x="914400" y="5385816"/>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Fund structure</a:t>
            </a:r>
          </a:p>
        </p:txBody>
      </p:sp>
      <p:sp>
        <p:nvSpPr>
          <p:cNvPr id="54" name="TextBox 53"/>
          <p:cNvSpPr txBox="1"/>
          <p:nvPr/>
        </p:nvSpPr>
        <p:spPr>
          <a:xfrm>
            <a:off x="3016239" y="5385816"/>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3 schemes: index-trailing / weak consistency / rigid mandate.</a:t>
            </a:r>
          </a:p>
        </p:txBody>
      </p:sp>
      <p:sp>
        <p:nvSpPr>
          <p:cNvPr id="55" name="TextBox 54"/>
          <p:cNvSpPr txBox="1"/>
          <p:nvPr/>
        </p:nvSpPr>
        <p:spPr>
          <a:xfrm>
            <a:off x="6799551" y="5385816"/>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Switch to passive-LC / factor + a Flexi-Cap.</a:t>
            </a:r>
          </a:p>
        </p:txBody>
      </p:sp>
      <p:sp>
        <p:nvSpPr>
          <p:cNvPr id="56" name="TextBox 55"/>
          <p:cNvSpPr txBox="1"/>
          <p:nvPr/>
        </p:nvSpPr>
        <p:spPr>
          <a:xfrm>
            <a:off x="10372679" y="5385816"/>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03 · Funds</a:t>
            </a:r>
          </a:p>
        </p:txBody>
      </p:sp>
      <p:sp>
        <p:nvSpPr>
          <p:cNvPr id="57" name="TextBox 56"/>
          <p:cNvSpPr txBox="1"/>
          <p:nvPr/>
        </p:nvSpPr>
        <p:spPr>
          <a:xfrm>
            <a:off x="841248" y="5870448"/>
            <a:ext cx="10509199"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Bahnschrift"/>
              </a:rPr>
              <a:t>Counts (sells, fund actions) match the scored books exactly; ‘See’ points to the section with the detail.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Our understanding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Mandate, construction and benchmark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05</a:t>
            </a:r>
          </a:p>
        </p:txBody>
      </p:sp>
      <p:sp>
        <p:nvSpPr>
          <p:cNvPr id="15" name="TextBox 14"/>
          <p:cNvSpPr txBox="1"/>
          <p:nvPr/>
        </p:nvSpPr>
        <p:spPr>
          <a:xfrm>
            <a:off x="841248" y="1645920"/>
            <a:ext cx="5532120"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OUR UNDERSTANDING</a:t>
            </a:r>
          </a:p>
        </p:txBody>
      </p:sp>
      <p:sp>
        <p:nvSpPr>
          <p:cNvPr id="16" name="TextBox 15"/>
          <p:cNvSpPr txBox="1"/>
          <p:nvPr/>
        </p:nvSpPr>
        <p:spPr>
          <a:xfrm>
            <a:off x="841248" y="1883664"/>
            <a:ext cx="5532120" cy="1737360"/>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16233B"/>
                </a:solidFill>
                <a:latin typeface="Georgia"/>
              </a:rPr>
              <a:t>The ABXY Family portfolio is managed under a NDPMS (Non-Discretionary) mandate, we advise, you authorise every trade. The stated objective is long-term capital growth with a quality bias over a 7-year-plus horizon, built core–satellite. The book today runs ~60% direct equity, 34% funds and 6% cash, across 47 stocks and 9 schemes.</a:t>
            </a:r>
          </a:p>
        </p:txBody>
      </p:sp>
      <p:sp>
        <p:nvSpPr>
          <p:cNvPr id="17" name="Rounded Rectangle 16"/>
          <p:cNvSpPr/>
          <p:nvPr/>
        </p:nvSpPr>
        <p:spPr>
          <a:xfrm>
            <a:off x="841248" y="3794760"/>
            <a:ext cx="5532120"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379476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3922776"/>
            <a:ext cx="51663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NON-DISCRETIONARY, YOU AUTHORISE EVERY TRADE</a:t>
            </a:r>
          </a:p>
        </p:txBody>
      </p:sp>
      <p:sp>
        <p:nvSpPr>
          <p:cNvPr id="20" name="TextBox 19"/>
          <p:cNvSpPr txBox="1"/>
          <p:nvPr/>
        </p:nvSpPr>
        <p:spPr>
          <a:xfrm>
            <a:off x="1042416" y="4197096"/>
            <a:ext cx="5166359"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Nothing in this review is executed until you authorise it. Every recommendation is Sell, Trim or Hold on a holding you already own · never a solicitation to buy.</a:t>
            </a:r>
          </a:p>
        </p:txBody>
      </p:sp>
      <p:sp>
        <p:nvSpPr>
          <p:cNvPr id="21" name="Rounded Rectangle 20"/>
          <p:cNvSpPr/>
          <p:nvPr/>
        </p:nvSpPr>
        <p:spPr>
          <a:xfrm>
            <a:off x="6675120" y="1572768"/>
            <a:ext cx="4675327"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1572768"/>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700784"/>
            <a:ext cx="430956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IS CORE–SATELLITE?</a:t>
            </a:r>
          </a:p>
        </p:txBody>
      </p:sp>
      <p:sp>
        <p:nvSpPr>
          <p:cNvPr id="24" name="TextBox 23"/>
          <p:cNvSpPr txBox="1"/>
          <p:nvPr/>
        </p:nvSpPr>
        <p:spPr>
          <a:xfrm>
            <a:off x="6876288" y="1975104"/>
            <a:ext cx="4309567"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stable core of quality businesses does the compounding; smaller satellite positions around it aim to add return without disturbing the core. Steady at the centre, selective at the edges.</a:t>
            </a:r>
          </a:p>
        </p:txBody>
      </p:sp>
      <p:sp>
        <p:nvSpPr>
          <p:cNvPr id="25" name="Rounded Rectangle 24"/>
          <p:cNvSpPr/>
          <p:nvPr/>
        </p:nvSpPr>
        <p:spPr>
          <a:xfrm>
            <a:off x="6675120" y="3657600"/>
            <a:ext cx="4675327" cy="15544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75120" y="3657600"/>
            <a:ext cx="54864" cy="15544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785615"/>
            <a:ext cx="4309567" cy="219456"/>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WE MEASURE PROGRESS</a:t>
            </a:r>
          </a:p>
        </p:txBody>
      </p:sp>
      <p:sp>
        <p:nvSpPr>
          <p:cNvPr id="28" name="TextBox 27"/>
          <p:cNvSpPr txBox="1"/>
          <p:nvPr/>
        </p:nvSpPr>
        <p:spPr>
          <a:xfrm>
            <a:off x="6858000" y="4041648"/>
            <a:ext cx="4309567" cy="219456"/>
          </a:xfrm>
          <a:prstGeom prst="rect">
            <a:avLst/>
          </a:prstGeom>
          <a:noFill/>
        </p:spPr>
        <p:txBody>
          <a:bodyPr wrap="square" anchor="t" lIns="0" rIns="0" tIns="0" bIns="0">
            <a:spAutoFit/>
          </a:bodyPr>
          <a:lstStyle/>
          <a:p>
            <a:pPr algn="l">
              <a:spcBef>
                <a:spcPts val="0"/>
              </a:spcBef>
              <a:spcAft>
                <a:spcPts val="0"/>
              </a:spcAft>
            </a:pPr>
            <a:r>
              <a:rPr sz="950" b="0" i="1">
                <a:solidFill>
                  <a:srgbClr val="16233B"/>
                </a:solidFill>
                <a:latin typeface="Georgia"/>
              </a:rPr>
              <a:t>Against our house-view mix of markets, not a single index:</a:t>
            </a:r>
          </a:p>
        </p:txBody>
      </p:sp>
      <p:sp>
        <p:nvSpPr>
          <p:cNvPr id="29" name="TextBox 28"/>
          <p:cNvSpPr txBox="1"/>
          <p:nvPr/>
        </p:nvSpPr>
        <p:spPr>
          <a:xfrm>
            <a:off x="6858000" y="4315968"/>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Foreign equity, ~15% target, under-owned</a:t>
            </a:r>
          </a:p>
        </p:txBody>
      </p:sp>
      <p:sp>
        <p:nvSpPr>
          <p:cNvPr id="30" name="TextBox 29"/>
          <p:cNvSpPr txBox="1"/>
          <p:nvPr/>
        </p:nvSpPr>
        <p:spPr>
          <a:xfrm>
            <a:off x="6858000" y="4517136"/>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Gold &amp; silver, Positive, 75:25</a:t>
            </a:r>
          </a:p>
        </p:txBody>
      </p:sp>
      <p:sp>
        <p:nvSpPr>
          <p:cNvPr id="31" name="TextBox 30"/>
          <p:cNvSpPr txBox="1"/>
          <p:nvPr/>
        </p:nvSpPr>
        <p:spPr>
          <a:xfrm>
            <a:off x="6858000" y="4718304"/>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Low-vol / value favoured; momentum on hold</a:t>
            </a:r>
          </a:p>
        </p:txBody>
      </p:sp>
      <p:sp>
        <p:nvSpPr>
          <p:cNvPr id="32" name="TextBox 31"/>
          <p:cNvSpPr txBox="1"/>
          <p:nvPr/>
        </p:nvSpPr>
        <p:spPr>
          <a:xfrm>
            <a:off x="6858000" y="4956048"/>
            <a:ext cx="4309567" cy="219456"/>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A formal named benchmark will be agreed with you.</a:t>
            </a:r>
          </a:p>
        </p:txBody>
      </p:sp>
      <p:sp>
        <p:nvSpPr>
          <p:cNvPr id="33" name="Rectangle 32"/>
          <p:cNvSpPr/>
          <p:nvPr/>
        </p:nvSpPr>
        <p:spPr>
          <a:xfrm>
            <a:off x="841248" y="5413248"/>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04688"/>
            <a:ext cx="10509199"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HOW EVERY HOLDING IS SCORED</a:t>
            </a:r>
          </a:p>
        </p:txBody>
      </p:sp>
      <p:sp>
        <p:nvSpPr>
          <p:cNvPr id="35" name="TextBox 34"/>
          <p:cNvSpPr txBox="1"/>
          <p:nvPr/>
        </p:nvSpPr>
        <p:spPr>
          <a:xfrm>
            <a:off x="841248" y="5742432"/>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Every holding earns an Ionic Score out of 100, blending the long-term health of the business with how the market is treating it now, with built-in safety checks on debt and liquidity. The score flags; our team decides. Full method in Section 02.</a:t>
            </a:r>
          </a:p>
        </p:txBody>
      </p:sp>
      <p:sp>
        <p:nvSpPr>
          <p:cNvPr id="36" name="TextBox 35"/>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1.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01</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01</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Portfolio X-ray</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Where the book stands today</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Portfolio snapshot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Allocation vs house view</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Concentration risk</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Sector exposure</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Market-cap positioning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Portfolio snapshot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Asset mix and the concentration that drives risk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07</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₹6.80 Cr</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TOTAL AUM</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47</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DIRECT EQUITY NAMES</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MUTUAL-FUND SCHEMES</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IN THE TOP 10 HOLDINGS</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2670048"/>
            <a:ext cx="10509199"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zby_snapshot_donut.png"/>
          <p:cNvPicPr>
            <a:picLocks noChangeAspect="1"/>
          </p:cNvPicPr>
          <p:nvPr/>
        </p:nvPicPr>
        <p:blipFill>
          <a:blip r:embed="rId3"/>
          <a:stretch>
            <a:fillRect/>
          </a:stretch>
        </p:blipFill>
        <p:spPr>
          <a:xfrm>
            <a:off x="841248" y="2893183"/>
            <a:ext cx="3977639" cy="2854713"/>
          </a:xfrm>
          <a:prstGeom prst="rect">
            <a:avLst/>
          </a:prstGeom>
        </p:spPr>
      </p:pic>
      <p:sp>
        <p:nvSpPr>
          <p:cNvPr id="28" name="Rounded Rectangle 27"/>
          <p:cNvSpPr/>
          <p:nvPr/>
        </p:nvSpPr>
        <p:spPr>
          <a:xfrm>
            <a:off x="5276088" y="2880360"/>
            <a:ext cx="6074359"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76088" y="288036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77255" y="3008376"/>
            <a:ext cx="5708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31" name="TextBox 30"/>
          <p:cNvSpPr txBox="1"/>
          <p:nvPr/>
        </p:nvSpPr>
        <p:spPr>
          <a:xfrm>
            <a:off x="5477255" y="3282696"/>
            <a:ext cx="570859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mix itself is healthy: 60% direct equity doing the compounding, 34% in funds for breadth, 6% in cash. What deserves attention sits inside the equity sleeve: the ten largest names carry 40% of the book against an 8% single-name guideline. This review deals with that first, then the funds, then the costs.</a:t>
            </a:r>
          </a:p>
        </p:txBody>
      </p:sp>
      <p:sp>
        <p:nvSpPr>
          <p:cNvPr id="32" name="TextBox 3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custody statement as of 2026-07-25; Ionic Wealth Portfolio Review. Percentages of total AUM.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Allocation vs house view</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Book positioning against house-view allocation targets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08</a:t>
            </a:r>
          </a:p>
        </p:txBody>
      </p:sp>
      <p:pic>
        <p:nvPicPr>
          <p:cNvPr id="15" name="Picture 14" descr="azby_alloc_gap.png"/>
          <p:cNvPicPr>
            <a:picLocks noChangeAspect="1"/>
          </p:cNvPicPr>
          <p:nvPr/>
        </p:nvPicPr>
        <p:blipFill>
          <a:blip r:embed="rId3"/>
          <a:stretch>
            <a:fillRect/>
          </a:stretch>
        </p:blipFill>
        <p:spPr>
          <a:xfrm>
            <a:off x="841248" y="1828800"/>
            <a:ext cx="6126480" cy="3006820"/>
          </a:xfrm>
          <a:prstGeom prst="rect">
            <a:avLst/>
          </a:prstGeom>
        </p:spPr>
      </p:pic>
      <p:sp>
        <p:nvSpPr>
          <p:cNvPr id="16" name="TextBox 15"/>
          <p:cNvSpPr txBox="1"/>
          <p:nvPr/>
        </p:nvSpPr>
        <p:spPr>
          <a:xfrm>
            <a:off x="7196328" y="1783080"/>
            <a:ext cx="4154119" cy="219456"/>
          </a:xfrm>
          <a:prstGeom prst="rect">
            <a:avLst/>
          </a:prstGeom>
          <a:noFill/>
        </p:spPr>
        <p:txBody>
          <a:bodyPr wrap="square" anchor="t" lIns="0" rIns="0" tIns="0" bIns="0">
            <a:spAutoFit/>
          </a:bodyPr>
          <a:lstStyle/>
          <a:p>
            <a:pPr algn="l">
              <a:spcBef>
                <a:spcPts val="0"/>
              </a:spcBef>
              <a:spcAft>
                <a:spcPts val="0"/>
              </a:spcAft>
            </a:pPr>
            <a:r>
              <a:rPr sz="900" b="1" i="0" spc="120">
                <a:solidFill>
                  <a:srgbClr val="6B7280"/>
                </a:solidFill>
                <a:latin typeface="Bahnschrift"/>
              </a:rPr>
              <a:t>HOUSE-VIEW STANCE</a:t>
            </a:r>
          </a:p>
        </p:txBody>
      </p:sp>
      <p:sp>
        <p:nvSpPr>
          <p:cNvPr id="17" name="TextBox 16"/>
          <p:cNvSpPr txBox="1"/>
          <p:nvPr/>
        </p:nvSpPr>
        <p:spPr>
          <a:xfrm>
            <a:off x="7269480" y="2084831"/>
            <a:ext cx="159842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8" name="TextBox 17"/>
          <p:cNvSpPr txBox="1"/>
          <p:nvPr/>
        </p:nvSpPr>
        <p:spPr>
          <a:xfrm>
            <a:off x="9014210" y="2084831"/>
            <a:ext cx="226308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OUR STANCE</a:t>
            </a:r>
          </a:p>
        </p:txBody>
      </p:sp>
      <p:sp>
        <p:nvSpPr>
          <p:cNvPr id="19" name="Rectangle 18"/>
          <p:cNvSpPr/>
          <p:nvPr/>
        </p:nvSpPr>
        <p:spPr>
          <a:xfrm>
            <a:off x="7196328" y="2340863"/>
            <a:ext cx="415411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386584"/>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Domestic equity</a:t>
            </a:r>
          </a:p>
        </p:txBody>
      </p:sp>
      <p:sp>
        <p:nvSpPr>
          <p:cNvPr id="21" name="TextBox 20"/>
          <p:cNvSpPr txBox="1"/>
          <p:nvPr/>
        </p:nvSpPr>
        <p:spPr>
          <a:xfrm>
            <a:off x="9014210" y="2386584"/>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Incrementally positive</a:t>
            </a:r>
          </a:p>
        </p:txBody>
      </p:sp>
      <p:sp>
        <p:nvSpPr>
          <p:cNvPr id="22" name="Rectangle 21"/>
          <p:cNvSpPr/>
          <p:nvPr/>
        </p:nvSpPr>
        <p:spPr>
          <a:xfrm>
            <a:off x="7196328" y="2880360"/>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898648"/>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Foreign equity</a:t>
            </a:r>
          </a:p>
        </p:txBody>
      </p:sp>
      <p:sp>
        <p:nvSpPr>
          <p:cNvPr id="24" name="TextBox 23"/>
          <p:cNvSpPr txBox="1"/>
          <p:nvPr/>
        </p:nvSpPr>
        <p:spPr>
          <a:xfrm>
            <a:off x="9014210" y="2898648"/>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~15% target, under-owned</a:t>
            </a:r>
          </a:p>
        </p:txBody>
      </p:sp>
      <p:sp>
        <p:nvSpPr>
          <p:cNvPr id="25" name="TextBox 24"/>
          <p:cNvSpPr txBox="1"/>
          <p:nvPr/>
        </p:nvSpPr>
        <p:spPr>
          <a:xfrm>
            <a:off x="7269480" y="3410712"/>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Gold &amp; silver</a:t>
            </a:r>
          </a:p>
        </p:txBody>
      </p:sp>
      <p:sp>
        <p:nvSpPr>
          <p:cNvPr id="26" name="TextBox 25"/>
          <p:cNvSpPr txBox="1"/>
          <p:nvPr/>
        </p:nvSpPr>
        <p:spPr>
          <a:xfrm>
            <a:off x="9014210" y="3410712"/>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Positive, 75:25</a:t>
            </a:r>
          </a:p>
        </p:txBody>
      </p:sp>
      <p:sp>
        <p:nvSpPr>
          <p:cNvPr id="27" name="Rectangle 26"/>
          <p:cNvSpPr/>
          <p:nvPr/>
        </p:nvSpPr>
        <p:spPr>
          <a:xfrm>
            <a:off x="7196328" y="3904488"/>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3922776"/>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Momentum</a:t>
            </a:r>
          </a:p>
        </p:txBody>
      </p:sp>
      <p:sp>
        <p:nvSpPr>
          <p:cNvPr id="29" name="TextBox 28"/>
          <p:cNvSpPr txBox="1"/>
          <p:nvPr/>
        </p:nvSpPr>
        <p:spPr>
          <a:xfrm>
            <a:off x="9014210" y="3922776"/>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On hold</a:t>
            </a:r>
          </a:p>
        </p:txBody>
      </p:sp>
      <p:sp>
        <p:nvSpPr>
          <p:cNvPr id="30" name="TextBox 29"/>
          <p:cNvSpPr txBox="1"/>
          <p:nvPr/>
        </p:nvSpPr>
        <p:spPr>
          <a:xfrm>
            <a:off x="7269480" y="4434840"/>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Low-vol / value</a:t>
            </a:r>
          </a:p>
        </p:txBody>
      </p:sp>
      <p:sp>
        <p:nvSpPr>
          <p:cNvPr id="31" name="TextBox 30"/>
          <p:cNvSpPr txBox="1"/>
          <p:nvPr/>
        </p:nvSpPr>
        <p:spPr>
          <a:xfrm>
            <a:off x="9014210" y="4434840"/>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Favoured</a:t>
            </a:r>
          </a:p>
        </p:txBody>
      </p:sp>
      <p:sp>
        <p:nvSpPr>
          <p:cNvPr id="32" name="Rounded Rectangle 31"/>
          <p:cNvSpPr/>
          <p:nvPr/>
        </p:nvSpPr>
        <p:spPr>
          <a:xfrm>
            <a:off x="841248" y="5257800"/>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5257800"/>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538581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IT MEANS</a:t>
            </a:r>
          </a:p>
        </p:txBody>
      </p:sp>
      <p:sp>
        <p:nvSpPr>
          <p:cNvPr id="35" name="TextBox 34"/>
          <p:cNvSpPr txBox="1"/>
          <p:nvPr/>
        </p:nvSpPr>
        <p:spPr>
          <a:xfrm>
            <a:off x="1042416" y="5660136"/>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Pronounced large-cap domestic tilt (+8.5 vs target); foreign ~12pts and gold ~4pts light. Closing these gaps is planned at deployment (transition framework, annexure), on your authorisation.</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House-view allocation bands are illustrative for this demo. Gap = current book minus house-view target, in percentage points.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Concentration risk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Single-name concentration against the IPS cap</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conc_tree.png"/>
          <p:cNvPicPr>
            <a:picLocks noChangeAspect="1"/>
          </p:cNvPicPr>
          <p:nvPr/>
        </p:nvPicPr>
        <p:blipFill>
          <a:blip r:embed="rId3"/>
          <a:stretch>
            <a:fillRect/>
          </a:stretch>
        </p:blipFill>
        <p:spPr>
          <a:xfrm>
            <a:off x="841248" y="1874519"/>
            <a:ext cx="6903720" cy="2781547"/>
          </a:xfrm>
          <a:prstGeom prst="rect">
            <a:avLst/>
          </a:prstGeom>
        </p:spPr>
      </p:pic>
      <p:sp>
        <p:nvSpPr>
          <p:cNvPr id="18" name="Rounded Rectangle 17"/>
          <p:cNvSpPr/>
          <p:nvPr/>
        </p:nvSpPr>
        <p:spPr>
          <a:xfrm>
            <a:off x="7973568" y="1874519"/>
            <a:ext cx="3376879" cy="192024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74519"/>
            <a:ext cx="54864" cy="192024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02536"/>
            <a:ext cx="30111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SINGLE-NAME CAP</a:t>
            </a:r>
          </a:p>
        </p:txBody>
      </p:sp>
      <p:sp>
        <p:nvSpPr>
          <p:cNvPr id="21" name="TextBox 20"/>
          <p:cNvSpPr txBox="1"/>
          <p:nvPr/>
        </p:nvSpPr>
        <p:spPr>
          <a:xfrm>
            <a:off x="8174736" y="2276856"/>
            <a:ext cx="301111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2 names sit above the 8% IPS single-name guideline: RELIANCE (12.4%), TITAN (11.3%), together 23.7% of the book. RELIANCE exits via the sell programme. TITAN is trimmed toward 8% into strength, sliced across days, never in one print.</a:t>
            </a:r>
          </a:p>
        </p:txBody>
      </p:sp>
      <p:sp>
        <p:nvSpPr>
          <p:cNvPr id="22" name="TextBox 21"/>
          <p:cNvSpPr txBox="1"/>
          <p:nvPr/>
        </p:nvSpPr>
        <p:spPr>
          <a:xfrm>
            <a:off x="841248"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23.7%</a:t>
            </a:r>
          </a:p>
        </p:txBody>
      </p:sp>
      <p:sp>
        <p:nvSpPr>
          <p:cNvPr id="23" name="TextBox 22"/>
          <p:cNvSpPr txBox="1"/>
          <p:nvPr/>
        </p:nvSpPr>
        <p:spPr>
          <a:xfrm>
            <a:off x="841248"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2 NAMES</a:t>
            </a:r>
          </a:p>
        </p:txBody>
      </p:sp>
      <p:sp>
        <p:nvSpPr>
          <p:cNvPr id="24" name="TextBox 23"/>
          <p:cNvSpPr txBox="1"/>
          <p:nvPr/>
        </p:nvSpPr>
        <p:spPr>
          <a:xfrm>
            <a:off x="34685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25" name="TextBox 24"/>
          <p:cNvSpPr txBox="1"/>
          <p:nvPr/>
        </p:nvSpPr>
        <p:spPr>
          <a:xfrm>
            <a:off x="34685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10 NAMES</a:t>
            </a:r>
          </a:p>
        </p:txBody>
      </p:sp>
      <p:sp>
        <p:nvSpPr>
          <p:cNvPr id="26" name="Rectangle 25"/>
          <p:cNvSpPr/>
          <p:nvPr/>
        </p:nvSpPr>
        <p:spPr>
          <a:xfrm>
            <a:off x="34136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58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a:t>
            </a:r>
          </a:p>
        </p:txBody>
      </p:sp>
      <p:sp>
        <p:nvSpPr>
          <p:cNvPr id="28" name="TextBox 27"/>
          <p:cNvSpPr txBox="1"/>
          <p:nvPr/>
        </p:nvSpPr>
        <p:spPr>
          <a:xfrm>
            <a:off x="60958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IPS SINGLE-NAME CAP</a:t>
            </a:r>
          </a:p>
        </p:txBody>
      </p:sp>
      <p:sp>
        <p:nvSpPr>
          <p:cNvPr id="29" name="Rectangle 28"/>
          <p:cNvSpPr/>
          <p:nvPr/>
        </p:nvSpPr>
        <p:spPr>
          <a:xfrm>
            <a:off x="60409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231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2</a:t>
            </a:r>
          </a:p>
        </p:txBody>
      </p:sp>
      <p:sp>
        <p:nvSpPr>
          <p:cNvPr id="31" name="TextBox 30"/>
          <p:cNvSpPr txBox="1"/>
          <p:nvPr/>
        </p:nvSpPr>
        <p:spPr>
          <a:xfrm>
            <a:off x="87231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NAMES OVER THE CAP</a:t>
            </a:r>
          </a:p>
        </p:txBody>
      </p:sp>
      <p:sp>
        <p:nvSpPr>
          <p:cNvPr id="32" name="Rectangle 31"/>
          <p:cNvSpPr/>
          <p:nvPr/>
        </p:nvSpPr>
        <p:spPr>
          <a:xfrm>
            <a:off x="86682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total AUM; IPS single-name guideline per the Investment Policy Statement.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Group concentration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One promoter group is more than a fifth of the equity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sleeve · promoter-group mapping · threshold 20% of the sleeve · as of 2026-07-25</a:t>
            </a:r>
          </a:p>
        </p:txBody>
      </p:sp>
      <p:sp>
        <p:nvSpPr>
          <p:cNvPr id="17" name="TextBox 16"/>
          <p:cNvSpPr txBox="1"/>
          <p:nvPr/>
        </p:nvSpPr>
        <p:spPr>
          <a:xfrm>
            <a:off x="841248" y="1737360"/>
            <a:ext cx="51174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26.5%</a:t>
            </a:r>
          </a:p>
        </p:txBody>
      </p:sp>
      <p:sp>
        <p:nvSpPr>
          <p:cNvPr id="18" name="TextBox 17"/>
          <p:cNvSpPr txBox="1"/>
          <p:nvPr/>
        </p:nvSpPr>
        <p:spPr>
          <a:xfrm>
            <a:off x="841248" y="2212848"/>
            <a:ext cx="51174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TATA GROUP</a:t>
            </a:r>
          </a:p>
        </p:txBody>
      </p:sp>
      <p:sp>
        <p:nvSpPr>
          <p:cNvPr id="19" name="TextBox 18"/>
          <p:cNvSpPr txBox="1"/>
          <p:nvPr/>
        </p:nvSpPr>
        <p:spPr>
          <a:xfrm>
            <a:off x="841248" y="2395728"/>
            <a:ext cx="51174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5 holdings</a:t>
            </a:r>
          </a:p>
        </p:txBody>
      </p:sp>
      <p:sp>
        <p:nvSpPr>
          <p:cNvPr id="20" name="TextBox 19"/>
          <p:cNvSpPr txBox="1"/>
          <p:nvPr/>
        </p:nvSpPr>
        <p:spPr>
          <a:xfrm>
            <a:off x="6095847" y="1737360"/>
            <a:ext cx="511743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22.2%</a:t>
            </a:r>
          </a:p>
        </p:txBody>
      </p:sp>
      <p:sp>
        <p:nvSpPr>
          <p:cNvPr id="21" name="TextBox 20"/>
          <p:cNvSpPr txBox="1"/>
          <p:nvPr/>
        </p:nvSpPr>
        <p:spPr>
          <a:xfrm>
            <a:off x="6095847" y="2212848"/>
            <a:ext cx="51174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RELIANCE GROUP</a:t>
            </a:r>
          </a:p>
        </p:txBody>
      </p:sp>
      <p:sp>
        <p:nvSpPr>
          <p:cNvPr id="22" name="TextBox 21"/>
          <p:cNvSpPr txBox="1"/>
          <p:nvPr/>
        </p:nvSpPr>
        <p:spPr>
          <a:xfrm>
            <a:off x="6095847" y="2395728"/>
            <a:ext cx="5117439"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2 holdings</a:t>
            </a:r>
          </a:p>
        </p:txBody>
      </p:sp>
      <p:sp>
        <p:nvSpPr>
          <p:cNvPr id="23" name="Rectangle 22"/>
          <p:cNvSpPr/>
          <p:nvPr/>
        </p:nvSpPr>
        <p:spPr>
          <a:xfrm>
            <a:off x="6040983"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788920"/>
            <a:ext cx="206105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5" name="TextBox 24"/>
          <p:cNvSpPr txBox="1"/>
          <p:nvPr/>
        </p:nvSpPr>
        <p:spPr>
          <a:xfrm>
            <a:off x="3121761" y="2788920"/>
            <a:ext cx="1281988"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 OF EQUITY SLEEVE</a:t>
            </a:r>
          </a:p>
        </p:txBody>
      </p:sp>
      <p:sp>
        <p:nvSpPr>
          <p:cNvPr id="26" name="TextBox 25"/>
          <p:cNvSpPr txBox="1"/>
          <p:nvPr/>
        </p:nvSpPr>
        <p:spPr>
          <a:xfrm>
            <a:off x="4550054" y="2788920"/>
            <a:ext cx="1281988"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7" name="TextBox 26"/>
          <p:cNvSpPr txBox="1"/>
          <p:nvPr/>
        </p:nvSpPr>
        <p:spPr>
          <a:xfrm>
            <a:off x="5978347" y="2788920"/>
            <a:ext cx="1281988"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8" name="Rectangle 27"/>
          <p:cNvSpPr/>
          <p:nvPr/>
        </p:nvSpPr>
        <p:spPr>
          <a:xfrm>
            <a:off x="841248" y="3044952"/>
            <a:ext cx="6492240"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090672"/>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Titan Company Ltd.</a:t>
            </a:r>
          </a:p>
        </p:txBody>
      </p:sp>
      <p:sp>
        <p:nvSpPr>
          <p:cNvPr id="30" name="TextBox 29"/>
          <p:cNvSpPr txBox="1"/>
          <p:nvPr/>
        </p:nvSpPr>
        <p:spPr>
          <a:xfrm>
            <a:off x="3121761" y="3090672"/>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18.8</a:t>
            </a:r>
          </a:p>
        </p:txBody>
      </p:sp>
      <p:sp>
        <p:nvSpPr>
          <p:cNvPr id="31" name="Rectangle 30"/>
          <p:cNvSpPr/>
          <p:nvPr/>
        </p:nvSpPr>
        <p:spPr>
          <a:xfrm>
            <a:off x="4550054" y="32186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50054" y="3218688"/>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6086" y="31912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54142" y="31409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35" name="Rounded Rectangle 34"/>
          <p:cNvSpPr/>
          <p:nvPr/>
        </p:nvSpPr>
        <p:spPr>
          <a:xfrm>
            <a:off x="5978347" y="311810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8347" y="31126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7" name="Rectangle 36"/>
          <p:cNvSpPr/>
          <p:nvPr/>
        </p:nvSpPr>
        <p:spPr>
          <a:xfrm>
            <a:off x="841248" y="3364991"/>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3383279"/>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Power Co. Ltd.</a:t>
            </a:r>
          </a:p>
        </p:txBody>
      </p:sp>
      <p:sp>
        <p:nvSpPr>
          <p:cNvPr id="39" name="TextBox 38"/>
          <p:cNvSpPr txBox="1"/>
          <p:nvPr/>
        </p:nvSpPr>
        <p:spPr>
          <a:xfrm>
            <a:off x="3121761" y="3383279"/>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3.2</a:t>
            </a:r>
          </a:p>
        </p:txBody>
      </p:sp>
      <p:sp>
        <p:nvSpPr>
          <p:cNvPr id="40" name="Rectangle 39"/>
          <p:cNvSpPr/>
          <p:nvPr/>
        </p:nvSpPr>
        <p:spPr>
          <a:xfrm>
            <a:off x="4550054" y="35112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50054" y="3511296"/>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806086" y="34838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54142" y="34335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44" name="Rounded Rectangle 43"/>
          <p:cNvSpPr/>
          <p:nvPr/>
        </p:nvSpPr>
        <p:spPr>
          <a:xfrm>
            <a:off x="5978347" y="34107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8347" y="34052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6" name="Rectangle 45"/>
          <p:cNvSpPr/>
          <p:nvPr/>
        </p:nvSpPr>
        <p:spPr>
          <a:xfrm>
            <a:off x="841248" y="3657599"/>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675887"/>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Consultancy Services Ltd.</a:t>
            </a:r>
          </a:p>
        </p:txBody>
      </p:sp>
      <p:sp>
        <p:nvSpPr>
          <p:cNvPr id="48" name="TextBox 47"/>
          <p:cNvSpPr txBox="1"/>
          <p:nvPr/>
        </p:nvSpPr>
        <p:spPr>
          <a:xfrm>
            <a:off x="3121761" y="3675887"/>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2.0</a:t>
            </a:r>
          </a:p>
        </p:txBody>
      </p:sp>
      <p:sp>
        <p:nvSpPr>
          <p:cNvPr id="49" name="Rectangle 48"/>
          <p:cNvSpPr/>
          <p:nvPr/>
        </p:nvSpPr>
        <p:spPr>
          <a:xfrm>
            <a:off x="4550054" y="3803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50054" y="3803904"/>
            <a:ext cx="26435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806086" y="3776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54142" y="3726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41</a:t>
            </a:r>
          </a:p>
        </p:txBody>
      </p:sp>
      <p:sp>
        <p:nvSpPr>
          <p:cNvPr id="53" name="Rounded Rectangle 52"/>
          <p:cNvSpPr/>
          <p:nvPr/>
        </p:nvSpPr>
        <p:spPr>
          <a:xfrm>
            <a:off x="5978347" y="370332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78347" y="369783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5" name="Rectangle 54"/>
          <p:cNvSpPr/>
          <p:nvPr/>
        </p:nvSpPr>
        <p:spPr>
          <a:xfrm>
            <a:off x="841248" y="3950208"/>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3968496"/>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Steel Ltd.</a:t>
            </a:r>
          </a:p>
        </p:txBody>
      </p:sp>
      <p:sp>
        <p:nvSpPr>
          <p:cNvPr id="57" name="TextBox 56"/>
          <p:cNvSpPr txBox="1"/>
          <p:nvPr/>
        </p:nvSpPr>
        <p:spPr>
          <a:xfrm>
            <a:off x="3121761" y="3968496"/>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1.9</a:t>
            </a:r>
          </a:p>
        </p:txBody>
      </p:sp>
      <p:sp>
        <p:nvSpPr>
          <p:cNvPr id="58" name="Rectangle 57"/>
          <p:cNvSpPr/>
          <p:nvPr/>
        </p:nvSpPr>
        <p:spPr>
          <a:xfrm>
            <a:off x="4550054" y="40965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50054" y="4096512"/>
            <a:ext cx="30851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806086" y="40690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254142" y="40187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62" name="Rounded Rectangle 61"/>
          <p:cNvSpPr/>
          <p:nvPr/>
        </p:nvSpPr>
        <p:spPr>
          <a:xfrm>
            <a:off x="5978347" y="399592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78347" y="39904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Rectangle 63"/>
          <p:cNvSpPr/>
          <p:nvPr/>
        </p:nvSpPr>
        <p:spPr>
          <a:xfrm>
            <a:off x="841248" y="4242816"/>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4261104"/>
            <a:ext cx="2061057" cy="29260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Technologies Ltd.</a:t>
            </a:r>
          </a:p>
        </p:txBody>
      </p:sp>
      <p:sp>
        <p:nvSpPr>
          <p:cNvPr id="66" name="TextBox 65"/>
          <p:cNvSpPr txBox="1"/>
          <p:nvPr/>
        </p:nvSpPr>
        <p:spPr>
          <a:xfrm>
            <a:off x="3121761" y="4261104"/>
            <a:ext cx="1281988" cy="29260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0.6</a:t>
            </a:r>
          </a:p>
        </p:txBody>
      </p:sp>
      <p:sp>
        <p:nvSpPr>
          <p:cNvPr id="67" name="Rectangle 66"/>
          <p:cNvSpPr/>
          <p:nvPr/>
        </p:nvSpPr>
        <p:spPr>
          <a:xfrm>
            <a:off x="4550054" y="43891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50054" y="4389120"/>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806086" y="43616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254142" y="43113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71" name="Rounded Rectangle 70"/>
          <p:cNvSpPr/>
          <p:nvPr/>
        </p:nvSpPr>
        <p:spPr>
          <a:xfrm>
            <a:off x="5978347" y="42885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78347" y="42830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3" name="Rectangle 72"/>
          <p:cNvSpPr/>
          <p:nvPr/>
        </p:nvSpPr>
        <p:spPr>
          <a:xfrm>
            <a:off x="841248" y="4535424"/>
            <a:ext cx="649224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562088" y="2788920"/>
            <a:ext cx="3788359" cy="19202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562088" y="2788920"/>
            <a:ext cx="54864" cy="19202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63256" y="2916936"/>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WE TREAT THE TATA GROUP</a:t>
            </a:r>
          </a:p>
        </p:txBody>
      </p:sp>
      <p:sp>
        <p:nvSpPr>
          <p:cNvPr id="77" name="TextBox 76"/>
          <p:cNvSpPr txBox="1"/>
          <p:nvPr/>
        </p:nvSpPr>
        <p:spPr>
          <a:xfrm>
            <a:off x="7763256" y="3191256"/>
            <a:ext cx="342259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promoter group is one balance sheet, one management culture and one event risk. The sell calls already on the table take Tata from 26.5% to ~23% of the sleeve; we would cap any single group near 20% and not add Tata-group names until it is back inside the line.</a:t>
            </a:r>
          </a:p>
        </p:txBody>
      </p:sp>
      <p:sp>
        <p:nvSpPr>
          <p:cNvPr id="78" name="TextBox 7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Group mapping = promoter affiliation of listed holdings; share measured on the direct-equity sleeve. This page appears only when a group crosses the threshold.</a:t>
            </a:r>
          </a:p>
        </p:txBody>
      </p:sp>
      <p:sp>
        <p:nvSpPr>
          <p:cNvPr id="79" name="TextBox 7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Sector exposure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sector weights (sleeve basis)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sector.png"/>
          <p:cNvPicPr>
            <a:picLocks noChangeAspect="1"/>
          </p:cNvPicPr>
          <p:nvPr/>
        </p:nvPicPr>
        <p:blipFill>
          <a:blip r:embed="rId3"/>
          <a:stretch>
            <a:fillRect/>
          </a:stretch>
        </p:blipFill>
        <p:spPr>
          <a:xfrm>
            <a:off x="841248" y="1828800"/>
            <a:ext cx="6172200" cy="2589392"/>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SCOPE, MF NOT LOOKED THROUGH</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This chart covers direct equity only (60% of AUM). The mutual-fund sleeve (34% of AUM) is not looked through, your true sector exposure, funds included, is higher than shown.</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Sleeve tilts to Oil Gas &amp; Consumable Fuels (22%) and Consumer Durables (19%); top-3 sectors are 58% of the direct book. Sector risk compounds with the single-name concentration flagged earlier · sized together, not in isolation.</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the direct-equity sleeve; mutual-fund look-through not included.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Market-cap positioning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market-cap distribution vs the house view</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zby_mcap.png"/>
          <p:cNvPicPr>
            <a:picLocks noChangeAspect="1"/>
          </p:cNvPicPr>
          <p:nvPr/>
        </p:nvPicPr>
        <p:blipFill>
          <a:blip r:embed="rId3"/>
          <a:stretch>
            <a:fillRect/>
          </a:stretch>
        </p:blipFill>
        <p:spPr>
          <a:xfrm>
            <a:off x="841248" y="1828800"/>
            <a:ext cx="6172200" cy="3436203"/>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SEBI MARKET-CAP CUTOFFS</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SEBI / AMFI classify by full-market-cap rank: Large-cap = top 100 listed companies, Mid-cap = 101st–250th, Small-cap = 251st onward. 'Micro' is a sub-bucket we track below the small-cap line.</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MID / SMALL VIEW</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House view: mid-caps modestly over-owned (+3.0 vs target), small-caps a touch light (-1.5). With momentum on hold we favour low-vol / value over adding small-cap beta into stretched valuations.</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2026-07-25. Weights as % of the direct-equity sleeve; bands per SEBI/AMFI classification. No micro-cap exposure.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2.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02</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02</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Equity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Every direct holding, scored and read</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How we score every stock</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scored</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at a glance</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we would sell</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stays, and why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we score every stock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horizons, seven pillars, and one human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14</a:t>
            </a:r>
          </a:p>
        </p:txBody>
      </p:sp>
      <p:sp>
        <p:nvSpPr>
          <p:cNvPr id="15" name="Rounded Rectangle 14"/>
          <p:cNvSpPr/>
          <p:nvPr/>
        </p:nvSpPr>
        <p:spPr>
          <a:xfrm>
            <a:off x="841248"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3-YEAR VIEW</a:t>
            </a:r>
          </a:p>
        </p:txBody>
      </p:sp>
      <p:sp>
        <p:nvSpPr>
          <p:cNvPr id="18" name="TextBox 17"/>
          <p:cNvSpPr txBox="1"/>
          <p:nvPr/>
        </p:nvSpPr>
        <p:spPr>
          <a:xfrm>
            <a:off x="1024128"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Fundamentals-led</a:t>
            </a:r>
          </a:p>
        </p:txBody>
      </p:sp>
      <p:sp>
        <p:nvSpPr>
          <p:cNvPr id="19" name="Rounded Rectangle 18"/>
          <p:cNvSpPr/>
          <p:nvPr/>
        </p:nvSpPr>
        <p:spPr>
          <a:xfrm>
            <a:off x="4472330"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72330"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5210"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1-YEAR VIEW</a:t>
            </a:r>
          </a:p>
        </p:txBody>
      </p:sp>
      <p:sp>
        <p:nvSpPr>
          <p:cNvPr id="22" name="TextBox 21"/>
          <p:cNvSpPr txBox="1"/>
          <p:nvPr/>
        </p:nvSpPr>
        <p:spPr>
          <a:xfrm>
            <a:off x="4655210"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Market-behaviour-led</a:t>
            </a:r>
          </a:p>
        </p:txBody>
      </p:sp>
      <p:sp>
        <p:nvSpPr>
          <p:cNvPr id="23" name="Rounded Rectangle 22"/>
          <p:cNvSpPr/>
          <p:nvPr/>
        </p:nvSpPr>
        <p:spPr>
          <a:xfrm>
            <a:off x="8103412" y="1664208"/>
            <a:ext cx="3247034" cy="603504"/>
          </a:xfrm>
          <a:prstGeom prst="roundRect">
            <a:avLst>
              <a:gd name="adj" fmla="val 6000"/>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6292"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FFFFFF"/>
                </a:solidFill>
                <a:latin typeface="Bahnschrift"/>
              </a:rPr>
              <a:t>IONIC SCORE</a:t>
            </a:r>
          </a:p>
        </p:txBody>
      </p:sp>
      <p:sp>
        <p:nvSpPr>
          <p:cNvPr id="25" name="TextBox 24"/>
          <p:cNvSpPr txBox="1"/>
          <p:nvPr/>
        </p:nvSpPr>
        <p:spPr>
          <a:xfrm>
            <a:off x="8286292"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C9CEF0"/>
                </a:solidFill>
                <a:latin typeface="Georgia"/>
              </a:rPr>
              <a:t>One number, 0 to 100</a:t>
            </a:r>
          </a:p>
        </p:txBody>
      </p:sp>
      <p:sp>
        <p:nvSpPr>
          <p:cNvPr id="26" name="TextBox 25"/>
          <p:cNvSpPr txBox="1"/>
          <p:nvPr/>
        </p:nvSpPr>
        <p:spPr>
          <a:xfrm>
            <a:off x="4088282"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7" name="TextBox 26"/>
          <p:cNvSpPr txBox="1"/>
          <p:nvPr/>
        </p:nvSpPr>
        <p:spPr>
          <a:xfrm>
            <a:off x="7719364"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8" name="Rounded Rectangle 27"/>
          <p:cNvSpPr/>
          <p:nvPr/>
        </p:nvSpPr>
        <p:spPr>
          <a:xfrm>
            <a:off x="84124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1248" y="2432304"/>
            <a:ext cx="3332378" cy="8229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QUALITY &amp; GROWTH</a:t>
            </a:r>
          </a:p>
        </p:txBody>
      </p:sp>
      <p:sp>
        <p:nvSpPr>
          <p:cNvPr id="31" name="TextBox 30"/>
          <p:cNvSpPr txBox="1"/>
          <p:nvPr/>
        </p:nvSpPr>
        <p:spPr>
          <a:xfrm>
            <a:off x="100584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business earns, and how fast it grows.</a:t>
            </a:r>
          </a:p>
        </p:txBody>
      </p:sp>
      <p:sp>
        <p:nvSpPr>
          <p:cNvPr id="32" name="TextBox 31"/>
          <p:cNvSpPr txBox="1"/>
          <p:nvPr/>
        </p:nvSpPr>
        <p:spPr>
          <a:xfrm>
            <a:off x="100584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Quality</a:t>
            </a:r>
            <a:r>
              <a:rPr sz="800" b="0" i="1">
                <a:solidFill>
                  <a:srgbClr val="6B7280"/>
                </a:solidFill>
                <a:latin typeface="Georgia"/>
              </a:rPr>
              <a:t> · ROE &amp; ROCE vs peers</a:t>
            </a:r>
          </a:p>
        </p:txBody>
      </p:sp>
      <p:sp>
        <p:nvSpPr>
          <p:cNvPr id="33" name="TextBox 32"/>
          <p:cNvSpPr txBox="1"/>
          <p:nvPr/>
        </p:nvSpPr>
        <p:spPr>
          <a:xfrm>
            <a:off x="100584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Growth</a:t>
            </a:r>
            <a:r>
              <a:rPr sz="800" b="0" i="1">
                <a:solidFill>
                  <a:srgbClr val="6B7280"/>
                </a:solidFill>
                <a:latin typeface="Georgia"/>
              </a:rPr>
              <a:t> · revenue growth, 3y &amp; 1y</a:t>
            </a:r>
          </a:p>
        </p:txBody>
      </p:sp>
      <p:sp>
        <p:nvSpPr>
          <p:cNvPr id="34" name="Rounded Rectangle 33"/>
          <p:cNvSpPr/>
          <p:nvPr/>
        </p:nvSpPr>
        <p:spPr>
          <a:xfrm>
            <a:off x="442965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9658" y="2432304"/>
            <a:ext cx="3332378" cy="8229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425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VALUE</a:t>
            </a:r>
          </a:p>
        </p:txBody>
      </p:sp>
      <p:sp>
        <p:nvSpPr>
          <p:cNvPr id="37" name="TextBox 36"/>
          <p:cNvSpPr txBox="1"/>
          <p:nvPr/>
        </p:nvSpPr>
        <p:spPr>
          <a:xfrm>
            <a:off x="459425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you pay for those earnings.</a:t>
            </a:r>
          </a:p>
        </p:txBody>
      </p:sp>
      <p:sp>
        <p:nvSpPr>
          <p:cNvPr id="38" name="TextBox 37"/>
          <p:cNvSpPr txBox="1"/>
          <p:nvPr/>
        </p:nvSpPr>
        <p:spPr>
          <a:xfrm>
            <a:off x="459425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00" b="1" i="0">
                <a:solidFill>
                  <a:srgbClr val="16233B"/>
                </a:solidFill>
                <a:latin typeface="Bahnschrift"/>
              </a:rPr>
              <a:t>Value</a:t>
            </a:r>
            <a:r>
              <a:rPr sz="800" b="0" i="1">
                <a:solidFill>
                  <a:srgbClr val="6B7280"/>
                </a:solidFill>
                <a:latin typeface="Georgia"/>
              </a:rPr>
              <a:t> · P/E, P/B &amp; FCF yield vs sector</a:t>
            </a:r>
          </a:p>
        </p:txBody>
      </p:sp>
      <p:sp>
        <p:nvSpPr>
          <p:cNvPr id="39" name="Rounded Rectangle 38"/>
          <p:cNvSpPr/>
          <p:nvPr/>
        </p:nvSpPr>
        <p:spPr>
          <a:xfrm>
            <a:off x="801806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18068" y="2432304"/>
            <a:ext cx="3332378" cy="82296"/>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266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TREND &amp; FLOW</a:t>
            </a:r>
          </a:p>
        </p:txBody>
      </p:sp>
      <p:sp>
        <p:nvSpPr>
          <p:cNvPr id="42" name="TextBox 41"/>
          <p:cNvSpPr txBox="1"/>
          <p:nvPr/>
        </p:nvSpPr>
        <p:spPr>
          <a:xfrm>
            <a:off x="818266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price and the big investors are actually doing.</a:t>
            </a:r>
          </a:p>
        </p:txBody>
      </p:sp>
      <p:sp>
        <p:nvSpPr>
          <p:cNvPr id="43" name="TextBox 42"/>
          <p:cNvSpPr txBox="1"/>
          <p:nvPr/>
        </p:nvSpPr>
        <p:spPr>
          <a:xfrm>
            <a:off x="818266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Stage / Technical</a:t>
            </a:r>
            <a:r>
              <a:rPr sz="800" b="0" i="1">
                <a:solidFill>
                  <a:srgbClr val="6B7280"/>
                </a:solidFill>
                <a:latin typeface="Georgia"/>
              </a:rPr>
              <a:t> · price trend</a:t>
            </a:r>
          </a:p>
        </p:txBody>
      </p:sp>
      <p:sp>
        <p:nvSpPr>
          <p:cNvPr id="44" name="TextBox 43"/>
          <p:cNvSpPr txBox="1"/>
          <p:nvPr/>
        </p:nvSpPr>
        <p:spPr>
          <a:xfrm>
            <a:off x="818266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Sector &amp; Macro</a:t>
            </a:r>
            <a:r>
              <a:rPr sz="800" b="0" i="1">
                <a:solidFill>
                  <a:srgbClr val="6B7280"/>
                </a:solidFill>
                <a:latin typeface="Georgia"/>
              </a:rPr>
              <a:t> · regime fit</a:t>
            </a:r>
          </a:p>
        </p:txBody>
      </p:sp>
      <p:sp>
        <p:nvSpPr>
          <p:cNvPr id="45" name="TextBox 44"/>
          <p:cNvSpPr txBox="1"/>
          <p:nvPr/>
        </p:nvSpPr>
        <p:spPr>
          <a:xfrm>
            <a:off x="8182660" y="3611879"/>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Ownership Flow</a:t>
            </a:r>
            <a:r>
              <a:rPr sz="800" b="0" i="1">
                <a:solidFill>
                  <a:srgbClr val="6B7280"/>
                </a:solidFill>
                <a:latin typeface="Georgia"/>
              </a:rPr>
              <a:t> · FII / DII flows</a:t>
            </a:r>
          </a:p>
        </p:txBody>
      </p:sp>
      <p:sp>
        <p:nvSpPr>
          <p:cNvPr id="46" name="TextBox 45"/>
          <p:cNvSpPr txBox="1"/>
          <p:nvPr/>
        </p:nvSpPr>
        <p:spPr>
          <a:xfrm>
            <a:off x="8182660" y="3808476"/>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Accumulation</a:t>
            </a:r>
            <a:r>
              <a:rPr sz="800" b="0" i="1">
                <a:solidFill>
                  <a:srgbClr val="6B7280"/>
                </a:solidFill>
                <a:latin typeface="Georgia"/>
              </a:rPr>
              <a:t> · smart-money volume trend</a:t>
            </a:r>
          </a:p>
        </p:txBody>
      </p:sp>
      <p:sp>
        <p:nvSpPr>
          <p:cNvPr id="47" name="TextBox 46"/>
          <p:cNvSpPr txBox="1"/>
          <p:nvPr/>
        </p:nvSpPr>
        <p:spPr>
          <a:xfrm>
            <a:off x="841248" y="4279392"/>
            <a:ext cx="10509199" cy="274320"/>
          </a:xfrm>
          <a:prstGeom prst="rect">
            <a:avLst/>
          </a:prstGeom>
          <a:noFill/>
        </p:spPr>
        <p:txBody>
          <a:bodyPr wrap="square" anchor="ctr" lIns="0" rIns="0" tIns="0" bIns="0">
            <a:spAutoFit/>
          </a:bodyPr>
          <a:lstStyle/>
          <a:p>
            <a:pPr algn="l">
              <a:spcBef>
                <a:spcPts val="0"/>
              </a:spcBef>
              <a:spcAft>
                <a:spcPts val="0"/>
              </a:spcAft>
            </a:pPr>
            <a:r>
              <a:rPr sz="900" b="1" i="0" spc="40">
                <a:solidFill>
                  <a:srgbClr val="E0402F"/>
                </a:solidFill>
                <a:latin typeface="Bahnschrift"/>
              </a:rPr>
              <a:t>SAFETY GATES   </a:t>
            </a:r>
            <a:r>
              <a:rPr sz="1000" b="0" i="0">
                <a:solidFill>
                  <a:srgbClr val="16233B"/>
                </a:solidFill>
                <a:latin typeface="Georgia"/>
              </a:rPr>
              <a:t>A weak balance sheet or thin liquidity caps the score at 40. The debt bar is judged in context: by industry norms (utilities and lenders run levered), sovereign or group backing, and access to capital, not one fixed ratio.</a:t>
            </a:r>
          </a:p>
        </p:txBody>
      </p:sp>
      <p:sp>
        <p:nvSpPr>
          <p:cNvPr id="48" name="Rounded Rectangle 47"/>
          <p:cNvSpPr/>
          <p:nvPr/>
        </p:nvSpPr>
        <p:spPr>
          <a:xfrm>
            <a:off x="841248" y="4645152"/>
            <a:ext cx="10509199" cy="93268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 y="4645152"/>
            <a:ext cx="54864" cy="9326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2416" y="47731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HUMAN READ</a:t>
            </a:r>
          </a:p>
        </p:txBody>
      </p:sp>
      <p:sp>
        <p:nvSpPr>
          <p:cNvPr id="51" name="TextBox 50"/>
          <p:cNvSpPr txBox="1"/>
          <p:nvPr/>
        </p:nvSpPr>
        <p:spPr>
          <a:xfrm>
            <a:off x="1042416" y="5047488"/>
            <a:ext cx="10143439"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Ionic Score ranks and flags candidates; it is the INPUT, not the verdict. Every Sell, Trim and Hold that follows is confirmed by the Portfolio Review team, who override the number when the business case demands it · a low score on a durable franchise can still be a Hold, and vice-versa.</a:t>
            </a:r>
          </a:p>
        </p:txBody>
      </p:sp>
      <p:sp>
        <p:nvSpPr>
          <p:cNvPr id="52" name="Rounded Rectangle 51"/>
          <p:cNvSpPr/>
          <p:nvPr/>
        </p:nvSpPr>
        <p:spPr>
          <a:xfrm>
            <a:off x="841248" y="5687568"/>
            <a:ext cx="3368954" cy="402336"/>
          </a:xfrm>
          <a:prstGeom prst="roundRect">
            <a:avLst>
              <a:gd name="adj" fmla="val 8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Below 40, either horizon</a:t>
            </a:r>
          </a:p>
        </p:txBody>
      </p:sp>
      <p:sp>
        <p:nvSpPr>
          <p:cNvPr id="54" name="Rounded Rectangle 53"/>
          <p:cNvSpPr/>
          <p:nvPr/>
        </p:nvSpPr>
        <p:spPr>
          <a:xfrm>
            <a:off x="3460394" y="5779008"/>
            <a:ext cx="621792"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60394"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6" name="Rounded Rectangle 55"/>
          <p:cNvSpPr/>
          <p:nvPr/>
        </p:nvSpPr>
        <p:spPr>
          <a:xfrm>
            <a:off x="4411370" y="5687568"/>
            <a:ext cx="3368954" cy="402336"/>
          </a:xfrm>
          <a:prstGeom prst="roundRect">
            <a:avLst>
              <a:gd name="adj" fmla="val 8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39386"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40–50, only with a concentration / risk flag</a:t>
            </a:r>
          </a:p>
        </p:txBody>
      </p:sp>
      <p:sp>
        <p:nvSpPr>
          <p:cNvPr id="58" name="Rounded Rectangle 57"/>
          <p:cNvSpPr/>
          <p:nvPr/>
        </p:nvSpPr>
        <p:spPr>
          <a:xfrm>
            <a:off x="7030516" y="5779008"/>
            <a:ext cx="621792"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30516"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60" name="Rounded Rectangle 59"/>
          <p:cNvSpPr/>
          <p:nvPr/>
        </p:nvSpPr>
        <p:spPr>
          <a:xfrm>
            <a:off x="7981492" y="5687568"/>
            <a:ext cx="3368954" cy="402336"/>
          </a:xfrm>
          <a:prstGeom prst="roundRect">
            <a:avLst>
              <a:gd name="adj" fmla="val 8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09508"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50 and above</a:t>
            </a:r>
          </a:p>
        </p:txBody>
      </p:sp>
      <p:sp>
        <p:nvSpPr>
          <p:cNvPr id="62" name="Rounded Rectangle 61"/>
          <p:cNvSpPr/>
          <p:nvPr/>
        </p:nvSpPr>
        <p:spPr>
          <a:xfrm>
            <a:off x="10600639" y="5779008"/>
            <a:ext cx="621792"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00639"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TextBox 6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scoring methodology (proprietary, held by the desk) · a 40-50 score alone is a watch signal; Trim needs a concentration or risk flag · every call reviewed by the desk.</a:t>
            </a:r>
          </a:p>
        </p:txBody>
      </p:sp>
      <p:sp>
        <p:nvSpPr>
          <p:cNvPr id="65" name="TextBox 6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largest positions, with the analyst's one-line read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E0402F"/>
                </a:solidFill>
                <a:latin typeface="Bahnschrift"/>
              </a:rPr>
              <a:t>10</a:t>
            </a:r>
          </a:p>
        </p:txBody>
      </p:sp>
      <p:sp>
        <p:nvSpPr>
          <p:cNvPr id="18" name="TextBox 17"/>
          <p:cNvSpPr txBox="1"/>
          <p:nvPr/>
        </p:nvSpPr>
        <p:spPr>
          <a:xfrm>
            <a:off x="84124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SELL</a:t>
            </a:r>
          </a:p>
        </p:txBody>
      </p:sp>
      <p:sp>
        <p:nvSpPr>
          <p:cNvPr id="19" name="TextBox 18"/>
          <p:cNvSpPr txBox="1"/>
          <p:nvPr/>
        </p:nvSpPr>
        <p:spPr>
          <a:xfrm>
            <a:off x="299008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E9E6A"/>
                </a:solidFill>
                <a:latin typeface="Bahnschrift"/>
              </a:rPr>
              <a:t>37</a:t>
            </a:r>
          </a:p>
        </p:txBody>
      </p:sp>
      <p:sp>
        <p:nvSpPr>
          <p:cNvPr id="20" name="TextBox 19"/>
          <p:cNvSpPr txBox="1"/>
          <p:nvPr/>
        </p:nvSpPr>
        <p:spPr>
          <a:xfrm>
            <a:off x="299008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a:t>
            </a:r>
          </a:p>
        </p:txBody>
      </p:sp>
      <p:sp>
        <p:nvSpPr>
          <p:cNvPr id="21" name="Rectangle 20"/>
          <p:cNvSpPr/>
          <p:nvPr/>
        </p:nvSpPr>
        <p:spPr>
          <a:xfrm>
            <a:off x="297180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892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6233B"/>
                </a:solidFill>
                <a:latin typeface="Bahnschrift"/>
              </a:rPr>
              <a:t>47</a:t>
            </a:r>
          </a:p>
        </p:txBody>
      </p:sp>
      <p:sp>
        <p:nvSpPr>
          <p:cNvPr id="23" name="TextBox 22"/>
          <p:cNvSpPr txBox="1"/>
          <p:nvPr/>
        </p:nvSpPr>
        <p:spPr>
          <a:xfrm>
            <a:off x="513892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HOLDINGS</a:t>
            </a:r>
          </a:p>
        </p:txBody>
      </p:sp>
      <p:sp>
        <p:nvSpPr>
          <p:cNvPr id="24" name="Rectangle 23"/>
          <p:cNvSpPr/>
          <p:nvPr/>
        </p:nvSpPr>
        <p:spPr>
          <a:xfrm>
            <a:off x="512064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724912"/>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6" name="TextBox 25"/>
          <p:cNvSpPr txBox="1"/>
          <p:nvPr/>
        </p:nvSpPr>
        <p:spPr>
          <a:xfrm>
            <a:off x="3226423" y="2724912"/>
            <a:ext cx="58933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7" name="TextBox 26"/>
          <p:cNvSpPr txBox="1"/>
          <p:nvPr/>
        </p:nvSpPr>
        <p:spPr>
          <a:xfrm>
            <a:off x="3962067" y="2724912"/>
            <a:ext cx="14300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8" name="TextBox 27"/>
          <p:cNvSpPr txBox="1"/>
          <p:nvPr/>
        </p:nvSpPr>
        <p:spPr>
          <a:xfrm>
            <a:off x="5538447" y="2724912"/>
            <a:ext cx="90461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9" name="TextBox 28"/>
          <p:cNvSpPr txBox="1"/>
          <p:nvPr/>
        </p:nvSpPr>
        <p:spPr>
          <a:xfrm>
            <a:off x="6589367" y="2724912"/>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ANALYST READ</a:t>
            </a:r>
          </a:p>
        </p:txBody>
      </p:sp>
      <p:sp>
        <p:nvSpPr>
          <p:cNvPr id="30" name="Rectangle 29"/>
          <p:cNvSpPr/>
          <p:nvPr/>
        </p:nvSpPr>
        <p:spPr>
          <a:xfrm>
            <a:off x="841248" y="2980944"/>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02666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Reliance Industries Ltd.</a:t>
            </a:r>
          </a:p>
        </p:txBody>
      </p:sp>
      <p:sp>
        <p:nvSpPr>
          <p:cNvPr id="32" name="TextBox 31"/>
          <p:cNvSpPr txBox="1"/>
          <p:nvPr/>
        </p:nvSpPr>
        <p:spPr>
          <a:xfrm>
            <a:off x="3226423" y="302666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12.4</a:t>
            </a:r>
          </a:p>
        </p:txBody>
      </p:sp>
      <p:sp>
        <p:nvSpPr>
          <p:cNvPr id="33" name="Rectangle 32"/>
          <p:cNvSpPr/>
          <p:nvPr/>
        </p:nvSpPr>
        <p:spPr>
          <a:xfrm>
            <a:off x="3962067" y="313639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962067" y="3136392"/>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218099" y="310896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6155" y="305866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7" name="Rounded Rectangle 36"/>
          <p:cNvSpPr/>
          <p:nvPr/>
        </p:nvSpPr>
        <p:spPr>
          <a:xfrm>
            <a:off x="5538447" y="303580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38447" y="303032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9" name="TextBox 38"/>
          <p:cNvSpPr txBox="1"/>
          <p:nvPr/>
        </p:nvSpPr>
        <p:spPr>
          <a:xfrm>
            <a:off x="6589367" y="302666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At 21.7x trailing earnings for bottom-quartile quality…</a:t>
            </a:r>
          </a:p>
        </p:txBody>
      </p:sp>
      <p:sp>
        <p:nvSpPr>
          <p:cNvPr id="40" name="Rectangle 39"/>
          <p:cNvSpPr/>
          <p:nvPr/>
        </p:nvSpPr>
        <p:spPr>
          <a:xfrm>
            <a:off x="841248" y="326440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328269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Titan Company Ltd.</a:t>
            </a:r>
          </a:p>
        </p:txBody>
      </p:sp>
      <p:sp>
        <p:nvSpPr>
          <p:cNvPr id="42" name="TextBox 41"/>
          <p:cNvSpPr txBox="1"/>
          <p:nvPr/>
        </p:nvSpPr>
        <p:spPr>
          <a:xfrm>
            <a:off x="3226423" y="328269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11.3</a:t>
            </a:r>
          </a:p>
        </p:txBody>
      </p:sp>
      <p:sp>
        <p:nvSpPr>
          <p:cNvPr id="43" name="Rectangle 42"/>
          <p:cNvSpPr/>
          <p:nvPr/>
        </p:nvSpPr>
        <p:spPr>
          <a:xfrm>
            <a:off x="3962067"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62067" y="3392424"/>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218099"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66155"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7" name="Rounded Rectangle 46"/>
          <p:cNvSpPr/>
          <p:nvPr/>
        </p:nvSpPr>
        <p:spPr>
          <a:xfrm>
            <a:off x="5538447" y="3291840"/>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38447" y="328635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9" name="TextBox 48"/>
          <p:cNvSpPr txBox="1"/>
          <p:nvPr/>
        </p:nvSpPr>
        <p:spPr>
          <a:xfrm>
            <a:off x="6589367" y="328269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Titan's FY26 headline growth…</a:t>
            </a:r>
          </a:p>
        </p:txBody>
      </p:sp>
      <p:sp>
        <p:nvSpPr>
          <p:cNvPr id="50" name="Rectangle 49"/>
          <p:cNvSpPr/>
          <p:nvPr/>
        </p:nvSpPr>
        <p:spPr>
          <a:xfrm>
            <a:off x="841248" y="35204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 y="353872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Bajaj Finance Ltd.</a:t>
            </a:r>
          </a:p>
        </p:txBody>
      </p:sp>
      <p:sp>
        <p:nvSpPr>
          <p:cNvPr id="52" name="TextBox 51"/>
          <p:cNvSpPr txBox="1"/>
          <p:nvPr/>
        </p:nvSpPr>
        <p:spPr>
          <a:xfrm>
            <a:off x="3226423" y="353872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3.0</a:t>
            </a:r>
          </a:p>
        </p:txBody>
      </p:sp>
      <p:sp>
        <p:nvSpPr>
          <p:cNvPr id="53" name="Rectangle 52"/>
          <p:cNvSpPr/>
          <p:nvPr/>
        </p:nvSpPr>
        <p:spPr>
          <a:xfrm>
            <a:off x="3962067" y="36484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962067" y="3648456"/>
            <a:ext cx="3565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18099" y="36210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66155" y="35707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7" name="Rounded Rectangle 56"/>
          <p:cNvSpPr/>
          <p:nvPr/>
        </p:nvSpPr>
        <p:spPr>
          <a:xfrm>
            <a:off x="5538447" y="354787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538447" y="354238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9" name="TextBox 58"/>
          <p:cNvSpPr txBox="1"/>
          <p:nvPr/>
        </p:nvSpPr>
        <p:spPr>
          <a:xfrm>
            <a:off x="6589367" y="353872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Bajaj Finance remains India's best-capitalised…</a:t>
            </a:r>
          </a:p>
        </p:txBody>
      </p:sp>
      <p:sp>
        <p:nvSpPr>
          <p:cNvPr id="60" name="Rectangle 59"/>
          <p:cNvSpPr/>
          <p:nvPr/>
        </p:nvSpPr>
        <p:spPr>
          <a:xfrm>
            <a:off x="841248" y="3776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379476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HDFC Bank Ltd.</a:t>
            </a:r>
          </a:p>
        </p:txBody>
      </p:sp>
      <p:sp>
        <p:nvSpPr>
          <p:cNvPr id="62" name="TextBox 61"/>
          <p:cNvSpPr txBox="1"/>
          <p:nvPr/>
        </p:nvSpPr>
        <p:spPr>
          <a:xfrm>
            <a:off x="3226423" y="379476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2.6</a:t>
            </a:r>
          </a:p>
        </p:txBody>
      </p:sp>
      <p:sp>
        <p:nvSpPr>
          <p:cNvPr id="63" name="Rectangle 62"/>
          <p:cNvSpPr/>
          <p:nvPr/>
        </p:nvSpPr>
        <p:spPr>
          <a:xfrm>
            <a:off x="3962067" y="39044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62067" y="3904488"/>
            <a:ext cx="3187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218099" y="38770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666155" y="38267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7" name="Rounded Rectangle 66"/>
          <p:cNvSpPr/>
          <p:nvPr/>
        </p:nvSpPr>
        <p:spPr>
          <a:xfrm>
            <a:off x="5538447" y="3803904"/>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538447" y="379841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9" name="TextBox 68"/>
          <p:cNvSpPr txBox="1"/>
          <p:nvPr/>
        </p:nvSpPr>
        <p:spPr>
          <a:xfrm>
            <a:off x="6589367" y="379476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HDFC Bank's post-merger repair is real but slower than…</a:t>
            </a:r>
          </a:p>
        </p:txBody>
      </p:sp>
      <p:sp>
        <p:nvSpPr>
          <p:cNvPr id="70" name="Rectangle 69"/>
          <p:cNvSpPr/>
          <p:nvPr/>
        </p:nvSpPr>
        <p:spPr>
          <a:xfrm>
            <a:off x="841248" y="40325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405079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ICICI Bank Ltd.</a:t>
            </a:r>
          </a:p>
        </p:txBody>
      </p:sp>
      <p:sp>
        <p:nvSpPr>
          <p:cNvPr id="72" name="TextBox 71"/>
          <p:cNvSpPr txBox="1"/>
          <p:nvPr/>
        </p:nvSpPr>
        <p:spPr>
          <a:xfrm>
            <a:off x="3226423" y="405079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2.3</a:t>
            </a:r>
          </a:p>
        </p:txBody>
      </p:sp>
      <p:sp>
        <p:nvSpPr>
          <p:cNvPr id="73" name="Rectangle 72"/>
          <p:cNvSpPr/>
          <p:nvPr/>
        </p:nvSpPr>
        <p:spPr>
          <a:xfrm>
            <a:off x="3962067" y="41605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962067" y="4160520"/>
            <a:ext cx="388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218099" y="41330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66155" y="40827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77" name="Rounded Rectangle 76"/>
          <p:cNvSpPr/>
          <p:nvPr/>
        </p:nvSpPr>
        <p:spPr>
          <a:xfrm>
            <a:off x="5538447" y="405993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538447" y="405444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9" name="TextBox 78"/>
          <p:cNvSpPr txBox="1"/>
          <p:nvPr/>
        </p:nvSpPr>
        <p:spPr>
          <a:xfrm>
            <a:off x="6589367" y="405079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ICICI Bank's asset quality keeps setting new lows…</a:t>
            </a:r>
          </a:p>
        </p:txBody>
      </p:sp>
      <p:sp>
        <p:nvSpPr>
          <p:cNvPr id="80" name="Rectangle 79"/>
          <p:cNvSpPr/>
          <p:nvPr/>
        </p:nvSpPr>
        <p:spPr>
          <a:xfrm>
            <a:off x="841248" y="42885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14400" y="430682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Tata Power Co. Ltd.</a:t>
            </a:r>
          </a:p>
        </p:txBody>
      </p:sp>
      <p:sp>
        <p:nvSpPr>
          <p:cNvPr id="82" name="TextBox 81"/>
          <p:cNvSpPr txBox="1"/>
          <p:nvPr/>
        </p:nvSpPr>
        <p:spPr>
          <a:xfrm>
            <a:off x="3226423" y="430682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1.9</a:t>
            </a:r>
          </a:p>
        </p:txBody>
      </p:sp>
      <p:sp>
        <p:nvSpPr>
          <p:cNvPr id="83" name="Rectangle 82"/>
          <p:cNvSpPr/>
          <p:nvPr/>
        </p:nvSpPr>
        <p:spPr>
          <a:xfrm>
            <a:off x="3962067" y="4416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962067" y="4416552"/>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218099" y="4389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666155" y="4338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87" name="Rounded Rectangle 86"/>
          <p:cNvSpPr/>
          <p:nvPr/>
        </p:nvSpPr>
        <p:spPr>
          <a:xfrm>
            <a:off x="5538447" y="431596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538447" y="431048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9" name="TextBox 88"/>
          <p:cNvSpPr txBox="1"/>
          <p:nvPr/>
        </p:nvSpPr>
        <p:spPr>
          <a:xfrm>
            <a:off x="6589367" y="430682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Tata Power's -4.7% FY26 revenue decline is confirmed in…</a:t>
            </a:r>
          </a:p>
        </p:txBody>
      </p:sp>
      <p:sp>
        <p:nvSpPr>
          <p:cNvPr id="90" name="Rectangle 89"/>
          <p:cNvSpPr/>
          <p:nvPr/>
        </p:nvSpPr>
        <p:spPr>
          <a:xfrm>
            <a:off x="841248" y="45445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4400" y="456285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State Bank of India</a:t>
            </a:r>
          </a:p>
        </p:txBody>
      </p:sp>
      <p:sp>
        <p:nvSpPr>
          <p:cNvPr id="92" name="TextBox 91"/>
          <p:cNvSpPr txBox="1"/>
          <p:nvPr/>
        </p:nvSpPr>
        <p:spPr>
          <a:xfrm>
            <a:off x="3226423" y="456285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1.8</a:t>
            </a:r>
          </a:p>
        </p:txBody>
      </p:sp>
      <p:sp>
        <p:nvSpPr>
          <p:cNvPr id="93" name="Rectangle 92"/>
          <p:cNvSpPr/>
          <p:nvPr/>
        </p:nvSpPr>
        <p:spPr>
          <a:xfrm>
            <a:off x="3962067" y="46725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3962067" y="4672584"/>
            <a:ext cx="3770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4218099" y="46451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666155" y="45948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97" name="Rounded Rectangle 96"/>
          <p:cNvSpPr/>
          <p:nvPr/>
        </p:nvSpPr>
        <p:spPr>
          <a:xfrm>
            <a:off x="5538447" y="4572000"/>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538447" y="456651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9" name="TextBox 98"/>
          <p:cNvSpPr txBox="1"/>
          <p:nvPr/>
        </p:nvSpPr>
        <p:spPr>
          <a:xfrm>
            <a:off x="6589367" y="456285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SBI's FY26 numbers show a bank in clearly strong health…</a:t>
            </a:r>
          </a:p>
        </p:txBody>
      </p:sp>
      <p:sp>
        <p:nvSpPr>
          <p:cNvPr id="100" name="Rectangle 99"/>
          <p:cNvSpPr/>
          <p:nvPr/>
        </p:nvSpPr>
        <p:spPr>
          <a:xfrm>
            <a:off x="841248" y="480060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14400" y="481888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Sun Pharmaceutical Industries Ltd.</a:t>
            </a:r>
          </a:p>
        </p:txBody>
      </p:sp>
      <p:sp>
        <p:nvSpPr>
          <p:cNvPr id="102" name="TextBox 101"/>
          <p:cNvSpPr txBox="1"/>
          <p:nvPr/>
        </p:nvSpPr>
        <p:spPr>
          <a:xfrm>
            <a:off x="3226423" y="481888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1.6</a:t>
            </a:r>
          </a:p>
        </p:txBody>
      </p:sp>
      <p:sp>
        <p:nvSpPr>
          <p:cNvPr id="103" name="Rectangle 102"/>
          <p:cNvSpPr/>
          <p:nvPr/>
        </p:nvSpPr>
        <p:spPr>
          <a:xfrm>
            <a:off x="3962067" y="492861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3962067" y="4928616"/>
            <a:ext cx="34692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218099" y="490118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666155" y="485089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107" name="Rounded Rectangle 106"/>
          <p:cNvSpPr/>
          <p:nvPr/>
        </p:nvSpPr>
        <p:spPr>
          <a:xfrm>
            <a:off x="5538447" y="482803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538447" y="482254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9" name="TextBox 108"/>
          <p:cNvSpPr txBox="1"/>
          <p:nvPr/>
        </p:nvSpPr>
        <p:spPr>
          <a:xfrm>
            <a:off x="6589367" y="481888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Sun Pharma's FY26 print masks a decelerating Q4…</a:t>
            </a:r>
          </a:p>
        </p:txBody>
      </p:sp>
      <p:sp>
        <p:nvSpPr>
          <p:cNvPr id="110" name="Rectangle 109"/>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14400" y="507492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Bharti Airtel Ltd.</a:t>
            </a:r>
          </a:p>
        </p:txBody>
      </p:sp>
      <p:sp>
        <p:nvSpPr>
          <p:cNvPr id="112" name="TextBox 111"/>
          <p:cNvSpPr txBox="1"/>
          <p:nvPr/>
        </p:nvSpPr>
        <p:spPr>
          <a:xfrm>
            <a:off x="3226423" y="507492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1.5</a:t>
            </a:r>
          </a:p>
        </p:txBody>
      </p:sp>
      <p:sp>
        <p:nvSpPr>
          <p:cNvPr id="113" name="Rectangle 112"/>
          <p:cNvSpPr/>
          <p:nvPr/>
        </p:nvSpPr>
        <p:spPr>
          <a:xfrm>
            <a:off x="3962067" y="518464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3962067" y="5184648"/>
            <a:ext cx="3232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4218099" y="515721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666155" y="510692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17" name="Rounded Rectangle 116"/>
          <p:cNvSpPr/>
          <p:nvPr/>
        </p:nvSpPr>
        <p:spPr>
          <a:xfrm>
            <a:off x="5538447" y="5084064"/>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5538447" y="507857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19" name="TextBox 118"/>
          <p:cNvSpPr txBox="1"/>
          <p:nvPr/>
        </p:nvSpPr>
        <p:spPr>
          <a:xfrm>
            <a:off x="6589367" y="507492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Bharti Airtel's FY26 results show real structural…</a:t>
            </a:r>
          </a:p>
        </p:txBody>
      </p:sp>
      <p:sp>
        <p:nvSpPr>
          <p:cNvPr id="120" name="Rectangle 119"/>
          <p:cNvSpPr/>
          <p:nvPr/>
        </p:nvSpPr>
        <p:spPr>
          <a:xfrm>
            <a:off x="841248" y="53126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533095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Mahindra &amp; Mahindra Ltd.</a:t>
            </a:r>
          </a:p>
        </p:txBody>
      </p:sp>
      <p:sp>
        <p:nvSpPr>
          <p:cNvPr id="122" name="TextBox 121"/>
          <p:cNvSpPr txBox="1"/>
          <p:nvPr/>
        </p:nvSpPr>
        <p:spPr>
          <a:xfrm>
            <a:off x="3226423" y="533095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1.4</a:t>
            </a:r>
          </a:p>
        </p:txBody>
      </p:sp>
      <p:sp>
        <p:nvSpPr>
          <p:cNvPr id="123" name="Rectangle 122"/>
          <p:cNvSpPr/>
          <p:nvPr/>
        </p:nvSpPr>
        <p:spPr>
          <a:xfrm>
            <a:off x="3962067" y="5440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3962067" y="5440680"/>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4218099" y="5413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666155" y="5362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27" name="Rounded Rectangle 126"/>
          <p:cNvSpPr/>
          <p:nvPr/>
        </p:nvSpPr>
        <p:spPr>
          <a:xfrm>
            <a:off x="5538447" y="534009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5538447" y="533460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9" name="TextBox 128"/>
          <p:cNvSpPr txBox="1"/>
          <p:nvPr/>
        </p:nvSpPr>
        <p:spPr>
          <a:xfrm>
            <a:off x="6589367" y="533095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M&amp;M is compounding volumes and share on both engines of…</a:t>
            </a:r>
          </a:p>
        </p:txBody>
      </p:sp>
      <p:sp>
        <p:nvSpPr>
          <p:cNvPr id="130" name="Rectangle 129"/>
          <p:cNvSpPr/>
          <p:nvPr/>
        </p:nvSpPr>
        <p:spPr>
          <a:xfrm>
            <a:off x="841248" y="55686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14400" y="558698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ITC Ltd.</a:t>
            </a:r>
          </a:p>
        </p:txBody>
      </p:sp>
      <p:sp>
        <p:nvSpPr>
          <p:cNvPr id="132" name="TextBox 131"/>
          <p:cNvSpPr txBox="1"/>
          <p:nvPr/>
        </p:nvSpPr>
        <p:spPr>
          <a:xfrm>
            <a:off x="3226423" y="558698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1.4</a:t>
            </a:r>
          </a:p>
        </p:txBody>
      </p:sp>
      <p:sp>
        <p:nvSpPr>
          <p:cNvPr id="133" name="Rectangle 132"/>
          <p:cNvSpPr/>
          <p:nvPr/>
        </p:nvSpPr>
        <p:spPr>
          <a:xfrm>
            <a:off x="3962067" y="56967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3962067" y="5696712"/>
            <a:ext cx="2918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4218099" y="56692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666155" y="56189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37" name="Rounded Rectangle 136"/>
          <p:cNvSpPr/>
          <p:nvPr/>
        </p:nvSpPr>
        <p:spPr>
          <a:xfrm>
            <a:off x="5538447" y="5596128"/>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538447" y="559064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9" name="TextBox 138"/>
          <p:cNvSpPr txBox="1"/>
          <p:nvPr/>
        </p:nvSpPr>
        <p:spPr>
          <a:xfrm>
            <a:off x="6589367" y="558698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ITC's -30.1% ret_12m is real, not a demerger artifact…</a:t>
            </a:r>
          </a:p>
        </p:txBody>
      </p:sp>
      <p:sp>
        <p:nvSpPr>
          <p:cNvPr id="140" name="Rectangle 139"/>
          <p:cNvSpPr/>
          <p:nvPr/>
        </p:nvSpPr>
        <p:spPr>
          <a:xfrm>
            <a:off x="841248" y="58247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a:hlinkClick action="ppaction://hlinksldjump" r:id="rId3"/>
          </p:cNvPr>
          <p:cNvSpPr/>
          <p:nvPr/>
        </p:nvSpPr>
        <p:spPr>
          <a:xfrm>
            <a:off x="841248" y="300837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a:hlinkClick action="ppaction://hlinksldjump" r:id="rId4"/>
          </p:cNvPr>
          <p:cNvSpPr/>
          <p:nvPr/>
        </p:nvSpPr>
        <p:spPr>
          <a:xfrm>
            <a:off x="841248" y="326440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a:hlinkClick action="ppaction://hlinksldjump" r:id="rId5"/>
          </p:cNvPr>
          <p:cNvSpPr/>
          <p:nvPr/>
        </p:nvSpPr>
        <p:spPr>
          <a:xfrm>
            <a:off x="841248" y="352044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a:hlinkClick action="ppaction://hlinksldjump" r:id="rId6"/>
          </p:cNvPr>
          <p:cNvSpPr/>
          <p:nvPr/>
        </p:nvSpPr>
        <p:spPr>
          <a:xfrm>
            <a:off x="841248" y="377647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a:hlinkClick action="ppaction://hlinksldjump" r:id="rId6"/>
          </p:cNvPr>
          <p:cNvSpPr/>
          <p:nvPr/>
        </p:nvSpPr>
        <p:spPr>
          <a:xfrm>
            <a:off x="841248" y="403250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a:hlinkClick action="ppaction://hlinksldjump" r:id="rId7"/>
          </p:cNvPr>
          <p:cNvSpPr/>
          <p:nvPr/>
        </p:nvSpPr>
        <p:spPr>
          <a:xfrm>
            <a:off x="841248" y="428853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a:hlinkClick action="ppaction://hlinksldjump" r:id="rId6"/>
          </p:cNvPr>
          <p:cNvSpPr/>
          <p:nvPr/>
        </p:nvSpPr>
        <p:spPr>
          <a:xfrm>
            <a:off x="841248" y="454456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a:hlinkClick action="ppaction://hlinksldjump" r:id="rId6"/>
          </p:cNvPr>
          <p:cNvSpPr/>
          <p:nvPr/>
        </p:nvSpPr>
        <p:spPr>
          <a:xfrm>
            <a:off x="841248" y="480060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a:hlinkClick action="ppaction://hlinksldjump" r:id="rId6"/>
          </p:cNvPr>
          <p:cNvSpPr/>
          <p:nvPr/>
        </p:nvSpPr>
        <p:spPr>
          <a:xfrm>
            <a:off x="841248" y="505663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a:hlinkClick action="ppaction://hlinksldjump" r:id="rId6"/>
          </p:cNvPr>
          <p:cNvSpPr/>
          <p:nvPr/>
        </p:nvSpPr>
        <p:spPr>
          <a:xfrm>
            <a:off x="841248" y="531266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a:hlinkClick action="ppaction://hlinksldjump" r:id="rId6"/>
          </p:cNvPr>
          <p:cNvSpPr/>
          <p:nvPr/>
        </p:nvSpPr>
        <p:spPr>
          <a:xfrm>
            <a:off x="841248" y="556869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All 47 holdings are scored; the remaining 36 sit in the annexure. Rows link to each name's page there. Ionic Score: two-horizon composite with safety gates, reviewed by the desk · illustrative synthetic book.</a:t>
            </a:r>
          </a:p>
        </p:txBody>
      </p:sp>
      <p:sp>
        <p:nvSpPr>
          <p:cNvPr id="153" name="TextBox 152"/>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at a glance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equity book at a glance, weight against conviction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45920"/>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50" b="0" i="1">
                <a:solidFill>
                  <a:srgbClr val="6B7280"/>
                </a:solidFill>
                <a:latin typeface="Georgia"/>
              </a:rPr>
              <a:t>Each dot is a holding: how much of the book it is (across) against its Ionic Score (up). Dot size is rupee value. Anything in the shaded band scores below the Sell line; the far right, low-scoring dots are the concentration to watch.</a:t>
            </a:r>
          </a:p>
        </p:txBody>
      </p:sp>
      <p:pic>
        <p:nvPicPr>
          <p:cNvPr id="18" name="Picture 17" descr="equity_book_bubble.png"/>
          <p:cNvPicPr>
            <a:picLocks noChangeAspect="1"/>
          </p:cNvPicPr>
          <p:nvPr/>
        </p:nvPicPr>
        <p:blipFill>
          <a:blip r:embed="rId3"/>
          <a:stretch>
            <a:fillRect/>
          </a:stretch>
        </p:blipFill>
        <p:spPr>
          <a:xfrm>
            <a:off x="2526435" y="2240280"/>
            <a:ext cx="7138824" cy="3246120"/>
          </a:xfrm>
          <a:prstGeom prst="rect">
            <a:avLst/>
          </a:prstGeom>
        </p:spPr>
      </p:pic>
      <p:sp>
        <p:nvSpPr>
          <p:cNvPr id="19" name="Oval 18"/>
          <p:cNvSpPr/>
          <p:nvPr/>
        </p:nvSpPr>
        <p:spPr>
          <a:xfrm>
            <a:off x="841248" y="5641848"/>
            <a:ext cx="118872" cy="118872"/>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Sell</a:t>
            </a:r>
          </a:p>
        </p:txBody>
      </p:sp>
      <p:sp>
        <p:nvSpPr>
          <p:cNvPr id="21" name="Oval 20"/>
          <p:cNvSpPr/>
          <p:nvPr/>
        </p:nvSpPr>
        <p:spPr>
          <a:xfrm>
            <a:off x="1801368" y="5641848"/>
            <a:ext cx="118872" cy="118872"/>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8424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Hold</a:t>
            </a:r>
          </a:p>
        </p:txBody>
      </p:sp>
      <p:sp>
        <p:nvSpPr>
          <p:cNvPr id="23" name="TextBox 22"/>
          <p:cNvSpPr txBox="1"/>
          <p:nvPr/>
        </p:nvSpPr>
        <p:spPr>
          <a:xfrm>
            <a:off x="2898648" y="5596128"/>
            <a:ext cx="8406079" cy="219456"/>
          </a:xfrm>
          <a:prstGeom prst="rect">
            <a:avLst/>
          </a:prstGeom>
          <a:noFill/>
        </p:spPr>
        <p:txBody>
          <a:bodyPr wrap="square" anchor="ctr" lIns="0" rIns="0" tIns="0" bIns="0">
            <a:spAutoFit/>
          </a:bodyPr>
          <a:lstStyle/>
          <a:p>
            <a:pPr algn="l">
              <a:spcBef>
                <a:spcPts val="0"/>
              </a:spcBef>
              <a:spcAft>
                <a:spcPts val="0"/>
              </a:spcAft>
            </a:pPr>
            <a:r>
              <a:rPr sz="900" b="0" i="1">
                <a:solidFill>
                  <a:srgbClr val="6B7280"/>
                </a:solidFill>
                <a:latin typeface="Georgia"/>
              </a:rPr>
              <a:t>dot size = rupee value held · gold line = Sell threshold (40) · a red dot above the line is an exceptional, documented call</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 = share of direct-equity book · Ionic Score reflects our full review process, forward-growth adjusted · illustrative synthetic book.</a:t>
            </a:r>
          </a:p>
        </p:txBody>
      </p:sp>
      <p:sp>
        <p:nvSpPr>
          <p:cNvPr id="25" name="TextBox 2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(1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17</a:t>
            </a:r>
          </a:p>
        </p:txBody>
      </p:sp>
      <p:sp>
        <p:nvSpPr>
          <p:cNvPr id="15" name="Rounded Rectangle 14"/>
          <p:cNvSpPr/>
          <p:nvPr/>
        </p:nvSpPr>
        <p:spPr>
          <a:xfrm>
            <a:off x="10104120" y="1298448"/>
            <a:ext cx="1243584"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04120" y="1292961"/>
            <a:ext cx="1243584"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 ×10</a:t>
            </a:r>
          </a:p>
        </p:txBody>
      </p:sp>
      <p:sp>
        <p:nvSpPr>
          <p:cNvPr id="17" name="Rounded Rectangle 16"/>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9" name="TextBox 18"/>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20" name="TextBox 19"/>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1" name="TextBox 20"/>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2" name="TextBox 21"/>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3" name="TextBox 22"/>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4" name="TextBox 23"/>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5" name="TextBox 24"/>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6" name="Rectangle 25"/>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Reliance Industries Ltd.</a:t>
            </a:r>
          </a:p>
        </p:txBody>
      </p:sp>
      <p:sp>
        <p:nvSpPr>
          <p:cNvPr id="28" name="TextBox 27"/>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12.4</a:t>
            </a:r>
          </a:p>
        </p:txBody>
      </p:sp>
      <p:sp>
        <p:nvSpPr>
          <p:cNvPr id="29" name="Rectangle 28"/>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46791" y="2596896"/>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3" name="Rounded Rectangle 32"/>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5" name="TextBox 34"/>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6" name="TextBox 35"/>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7" name="Rectangle 36"/>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Tata Power Co. Ltd.</a:t>
            </a:r>
          </a:p>
        </p:txBody>
      </p:sp>
      <p:sp>
        <p:nvSpPr>
          <p:cNvPr id="39" name="TextBox 38"/>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1.9</a:t>
            </a:r>
          </a:p>
        </p:txBody>
      </p:sp>
      <p:sp>
        <p:nvSpPr>
          <p:cNvPr id="40" name="Rectangle 39"/>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46791" y="3163824"/>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44" name="Rounded Rectangle 43"/>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6" name="TextBox 45"/>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7" name="TextBox 46"/>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8" name="Rectangle 47"/>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Larsen &amp; Toubro Ltd.</a:t>
            </a:r>
          </a:p>
        </p:txBody>
      </p:sp>
      <p:sp>
        <p:nvSpPr>
          <p:cNvPr id="50" name="TextBox 49"/>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1.2</a:t>
            </a:r>
          </a:p>
        </p:txBody>
      </p:sp>
      <p:sp>
        <p:nvSpPr>
          <p:cNvPr id="51" name="Rectangle 50"/>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46791" y="3730752"/>
            <a:ext cx="25283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55" name="Rounded Rectangle 54"/>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7" name="TextBox 56"/>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8" name="TextBox 57"/>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9" name="Rectangle 58"/>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Jio Financial Services Ltd.</a:t>
            </a:r>
          </a:p>
        </p:txBody>
      </p:sp>
      <p:sp>
        <p:nvSpPr>
          <p:cNvPr id="61" name="TextBox 60"/>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0.9</a:t>
            </a:r>
          </a:p>
        </p:txBody>
      </p:sp>
      <p:sp>
        <p:nvSpPr>
          <p:cNvPr id="62" name="Rectangle 61"/>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46791" y="4297680"/>
            <a:ext cx="2374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66" name="Rounded Rectangle 65"/>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8" name="TextBox 67"/>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9" name="TextBox 68"/>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0" name="Rectangle 69"/>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Deepak Nitrite Ltd.</a:t>
            </a:r>
          </a:p>
        </p:txBody>
      </p:sp>
      <p:sp>
        <p:nvSpPr>
          <p:cNvPr id="72" name="TextBox 71"/>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0.8</a:t>
            </a:r>
          </a:p>
        </p:txBody>
      </p:sp>
      <p:sp>
        <p:nvSpPr>
          <p:cNvPr id="73" name="Rectangle 72"/>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646791" y="4864608"/>
            <a:ext cx="2502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77" name="Rounded Rectangle 76"/>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9" name="TextBox 78"/>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80" name="TextBox 79"/>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81" name="Rectangle 80"/>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Bottom-quartile on quality and value with negative momentum; our own sum-of-the-parts sits at today's price, no bargain.</a:t>
            </a:r>
          </a:p>
        </p:txBody>
      </p:sp>
      <p:sp>
        <p:nvSpPr>
          <p:cNvPr id="83" name="TextBox 82">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p.44</a:t>
            </a:r>
          </a:p>
        </p:txBody>
      </p:sp>
      <p:sp>
        <p:nvSpPr>
          <p:cNvPr id="84" name="Rectangle 83">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Borrowings rose Rs 17,500 cr in FY26 to fund a capex plan that has already slipped; leverage is rising while returns stay thin.</a:t>
            </a:r>
          </a:p>
        </p:txBody>
      </p:sp>
      <p:sp>
        <p:nvSpPr>
          <p:cNvPr id="86" name="TextBox 85">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p.45</a:t>
            </a:r>
          </a:p>
        </p:txBody>
      </p:sp>
      <p:sp>
        <p:nvSpPr>
          <p:cNvPr id="87" name="Rectangle 86">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FY27 guidance has been cut and H1 execution guided soft; at ~32x trailing earnings there is little cushion, so we sell into strength.</a:t>
            </a:r>
          </a:p>
        </p:txBody>
      </p:sp>
      <p:sp>
        <p:nvSpPr>
          <p:cNvPr id="89" name="TextBox 88">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p.46</a:t>
            </a:r>
          </a:p>
        </p:txBody>
      </p:sp>
      <p:sp>
        <p:nvSpPr>
          <p:cNvPr id="90" name="Rectangle 89">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Rs 1.4-lakh-crore valuation still resting mostly on treasury income; the operating businesses are too young to carry the price.</a:t>
            </a:r>
          </a:p>
        </p:txBody>
      </p:sp>
      <p:sp>
        <p:nvSpPr>
          <p:cNvPr id="92" name="TextBox 91">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p.47</a:t>
            </a:r>
          </a:p>
        </p:txBody>
      </p:sp>
      <p:sp>
        <p:nvSpPr>
          <p:cNvPr id="93" name="Rectangle 92">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commodity downcycle name: FY22's peak margins have halved and the price still assumes the cycle returns quickly.</a:t>
            </a:r>
          </a:p>
        </p:txBody>
      </p:sp>
      <p:sp>
        <p:nvSpPr>
          <p:cNvPr id="95" name="TextBox 94">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p.48</a:t>
            </a:r>
          </a:p>
        </p:txBody>
      </p:sp>
      <p:sp>
        <p:nvSpPr>
          <p:cNvPr id="96" name="Rectangle 95">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 Illustrative synthetic book.</a:t>
            </a:r>
          </a:p>
        </p:txBody>
      </p:sp>
      <p:sp>
        <p:nvSpPr>
          <p:cNvPr id="98" name="TextBox 9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(2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18" name="TextBox 17"/>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19" name="TextBox 18"/>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0" name="TextBox 19"/>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1" name="TextBox 20"/>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2" name="TextBox 21"/>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3" name="TextBox 22"/>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4" name="Rectangle 23"/>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Hindustan Unilever Ltd.</a:t>
            </a:r>
          </a:p>
        </p:txBody>
      </p:sp>
      <p:sp>
        <p:nvSpPr>
          <p:cNvPr id="26" name="TextBox 25"/>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0.8</a:t>
            </a:r>
          </a:p>
        </p:txBody>
      </p:sp>
      <p:sp>
        <p:nvSpPr>
          <p:cNvPr id="27" name="Rectangle 26"/>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46791" y="2596896"/>
            <a:ext cx="24323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31" name="Rounded Rectangle 30"/>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TextBox 32"/>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4" name="TextBox 33"/>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5" name="Rectangle 34"/>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GAIL (India) Ltd.</a:t>
            </a:r>
          </a:p>
        </p:txBody>
      </p:sp>
      <p:sp>
        <p:nvSpPr>
          <p:cNvPr id="37" name="TextBox 36"/>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0.5</a:t>
            </a:r>
          </a:p>
        </p:txBody>
      </p:sp>
      <p:sp>
        <p:nvSpPr>
          <p:cNvPr id="38" name="Rectangle 37"/>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46791" y="3163824"/>
            <a:ext cx="21698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42" name="Rounded Rectangle 41"/>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4" name="TextBox 43"/>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5" name="TextBox 44"/>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6" name="Rectangle 45"/>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Hindustan Copper Ltd.</a:t>
            </a:r>
          </a:p>
        </p:txBody>
      </p:sp>
      <p:sp>
        <p:nvSpPr>
          <p:cNvPr id="48" name="TextBox 47"/>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0.3</a:t>
            </a:r>
          </a:p>
        </p:txBody>
      </p:sp>
      <p:sp>
        <p:nvSpPr>
          <p:cNvPr id="49" name="Rectangle 48"/>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46791" y="3730752"/>
            <a:ext cx="3046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53" name="Rounded Rectangle 52"/>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5" name="TextBox 54"/>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6" name="TextBox 55"/>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7" name="Rectangle 56"/>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UltraTech Cement Ltd.</a:t>
            </a:r>
          </a:p>
        </p:txBody>
      </p:sp>
      <p:sp>
        <p:nvSpPr>
          <p:cNvPr id="59" name="TextBox 58"/>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0.2</a:t>
            </a:r>
          </a:p>
        </p:txBody>
      </p:sp>
      <p:sp>
        <p:nvSpPr>
          <p:cNvPr id="60" name="Rectangle 59"/>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46791" y="4297680"/>
            <a:ext cx="2336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64" name="Rounded Rectangle 63"/>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6" name="TextBox 65"/>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7" name="TextBox 66"/>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68" name="Rectangle 67"/>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ITC Hotels Ltd.</a:t>
            </a:r>
          </a:p>
        </p:txBody>
      </p:sp>
      <p:sp>
        <p:nvSpPr>
          <p:cNvPr id="70" name="TextBox 69"/>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71" name="Rectangle 70"/>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646791" y="4864608"/>
            <a:ext cx="2534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75" name="Rounded Rectangle 74"/>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7" name="TextBox 76"/>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78" name="TextBox 77"/>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9" name="Rectangle 78"/>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Headline profit is demerger-inflated (organic growth ~4%); three-year revenue growth of 2% does not support the price.</a:t>
            </a:r>
          </a:p>
        </p:txBody>
      </p:sp>
      <p:sp>
        <p:nvSpPr>
          <p:cNvPr id="81" name="TextBox 80">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p.53</a:t>
            </a:r>
          </a:p>
        </p:txBody>
      </p:sp>
      <p:sp>
        <p:nvSpPr>
          <p:cNvPr id="82" name="Rectangle 81">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Marketing margins are in a structural reset: five straight quarters of profit decline, and the dividend now exceeds free cash flow.</a:t>
            </a:r>
          </a:p>
        </p:txBody>
      </p:sp>
      <p:sp>
        <p:nvSpPr>
          <p:cNvPr id="84" name="TextBox 83">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p.49</a:t>
            </a:r>
          </a:p>
        </p:txBody>
      </p:sp>
      <p:sp>
        <p:nvSpPr>
          <p:cNvPr id="85" name="Rectangle 84">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FY26's profit boom is copper price, not mining volume; the capacity ramp is delayed and a PSU stake-sale overhang sits at a peak multiple.</a:t>
            </a:r>
          </a:p>
        </p:txBody>
      </p:sp>
      <p:sp>
        <p:nvSpPr>
          <p:cNvPr id="87" name="TextBox 86">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p.50</a:t>
            </a:r>
          </a:p>
        </p:txBody>
      </p:sp>
      <p:sp>
        <p:nvSpPr>
          <p:cNvPr id="88" name="Rectangle 87">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646791" y="3831336"/>
            <a:ext cx="1274755" cy="146304"/>
          </a:xfrm>
          <a:prstGeom prst="rect">
            <a:avLst/>
          </a:prstGeom>
          <a:noFill/>
        </p:spPr>
        <p:txBody>
          <a:bodyPr wrap="square" anchor="t" lIns="0" rIns="0" tIns="0" bIns="0">
            <a:spAutoFit/>
          </a:bodyPr>
          <a:lstStyle/>
          <a:p>
            <a:pPr algn="l">
              <a:spcBef>
                <a:spcPts val="0"/>
              </a:spcBef>
              <a:spcAft>
                <a:spcPts val="0"/>
              </a:spcAft>
            </a:pPr>
            <a:r>
              <a:rPr sz="650" b="1" i="0" spc="80">
                <a:solidFill>
                  <a:srgbClr val="92400E"/>
                </a:solidFill>
                <a:latin typeface="Bahnschrift"/>
              </a:rPr>
              <a:t>EXCEPTIONAL</a:t>
            </a:r>
          </a:p>
        </p:txBody>
      </p:sp>
      <p:sp>
        <p:nvSpPr>
          <p:cNvPr id="90" name="TextBox 89"/>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Priced at 42-46x earnings for a 10.7% ROE while cement pricing stays soft; no dated catalyst offsets it.</a:t>
            </a:r>
          </a:p>
        </p:txBody>
      </p:sp>
      <p:sp>
        <p:nvSpPr>
          <p:cNvPr id="91" name="TextBox 90">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p.51</a:t>
            </a:r>
          </a:p>
        </p:txBody>
      </p:sp>
      <p:sp>
        <p:nvSpPr>
          <p:cNvPr id="92" name="Rectangle 91">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44-46x trailing earnings on a 7% ROE with a promoter-stake overhang; one strong quarter does not yet earn the multiple.</a:t>
            </a:r>
          </a:p>
        </p:txBody>
      </p:sp>
      <p:sp>
        <p:nvSpPr>
          <p:cNvPr id="94" name="TextBox 93">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p.52</a:t>
            </a:r>
          </a:p>
        </p:txBody>
      </p:sp>
      <p:sp>
        <p:nvSpPr>
          <p:cNvPr id="95" name="Rectangle 94">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41248" y="5239512"/>
            <a:ext cx="10509199"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Names selling above the 40 score line are exceptional, high-conviction calls; the linked page documents each case in full.</a:t>
            </a:r>
          </a:p>
        </p:txBody>
      </p:sp>
      <p:sp>
        <p:nvSpPr>
          <p:cNvPr id="97" name="TextBox 9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 Illustrative synthetic book.</a:t>
            </a:r>
          </a:p>
        </p:txBody>
      </p:sp>
      <p:sp>
        <p:nvSpPr>
          <p:cNvPr id="98" name="TextBox 9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stays, and why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stays, and why, core conviction versus watch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841248" y="1645920"/>
            <a:ext cx="10509199" cy="237744"/>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Our Holds, grouped by conviction. Each name pairs its Ionic Score with a one-line read.</a:t>
            </a:r>
          </a:p>
        </p:txBody>
      </p:sp>
      <p:sp>
        <p:nvSpPr>
          <p:cNvPr id="18" name="Rectangle 17"/>
          <p:cNvSpPr/>
          <p:nvPr/>
        </p:nvSpPr>
        <p:spPr>
          <a:xfrm>
            <a:off x="6095847" y="2048256"/>
            <a:ext cx="7315" cy="37947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2048256"/>
            <a:ext cx="109728" cy="182880"/>
          </a:xfrm>
          <a:prstGeom prst="roundRect">
            <a:avLst>
              <a:gd name="adj" fmla="val 2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1E9E6A"/>
                </a:solidFill>
                <a:latin typeface="Bahnschrift"/>
              </a:rPr>
              <a:t>CORE, high conviction</a:t>
            </a:r>
          </a:p>
        </p:txBody>
      </p:sp>
      <p:sp>
        <p:nvSpPr>
          <p:cNvPr id="21" name="TextBox 20"/>
          <p:cNvSpPr txBox="1"/>
          <p:nvPr/>
        </p:nvSpPr>
        <p:spPr>
          <a:xfrm>
            <a:off x="841248"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2</a:t>
            </a:r>
          </a:p>
        </p:txBody>
      </p:sp>
      <p:sp>
        <p:nvSpPr>
          <p:cNvPr id="22" name="TextBox 21"/>
          <p:cNvSpPr txBox="1"/>
          <p:nvPr/>
        </p:nvSpPr>
        <p:spPr>
          <a:xfrm>
            <a:off x="841248"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ICICI Bank Ltd.</a:t>
            </a:r>
            <a:r>
              <a:rPr sz="900" b="0" i="0">
                <a:solidFill>
                  <a:srgbClr val="6B7280"/>
                </a:solidFill>
                <a:latin typeface="Bahnschrift"/>
              </a:rPr>
              <a:t>   2.33%</a:t>
            </a:r>
          </a:p>
        </p:txBody>
      </p:sp>
      <p:sp>
        <p:nvSpPr>
          <p:cNvPr id="23" name="Rectangle 22"/>
          <p:cNvSpPr/>
          <p:nvPr/>
        </p:nvSpPr>
        <p:spPr>
          <a:xfrm>
            <a:off x="46785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78527" y="2423160"/>
            <a:ext cx="4162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528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3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27" name="TextBox 26"/>
          <p:cNvSpPr txBox="1"/>
          <p:nvPr/>
        </p:nvSpPr>
        <p:spPr>
          <a:xfrm>
            <a:off x="841248"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ICICI Bank's asset quality keeps setting new lows…</a:t>
            </a:r>
          </a:p>
        </p:txBody>
      </p:sp>
      <p:sp>
        <p:nvSpPr>
          <p:cNvPr id="28" name="Rectangle 27"/>
          <p:cNvSpPr/>
          <p:nvPr/>
        </p:nvSpPr>
        <p:spPr>
          <a:xfrm>
            <a:off x="841248"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State Bank of India</a:t>
            </a:r>
            <a:r>
              <a:rPr sz="900" b="0" i="0">
                <a:solidFill>
                  <a:srgbClr val="6B7280"/>
                </a:solidFill>
                <a:latin typeface="Bahnschrift"/>
              </a:rPr>
              <a:t>   1.76%</a:t>
            </a:r>
          </a:p>
        </p:txBody>
      </p:sp>
      <p:sp>
        <p:nvSpPr>
          <p:cNvPr id="30" name="Rectangle 29"/>
          <p:cNvSpPr/>
          <p:nvPr/>
        </p:nvSpPr>
        <p:spPr>
          <a:xfrm>
            <a:off x="46785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78527" y="2926080"/>
            <a:ext cx="40393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528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283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34" name="TextBox 33"/>
          <p:cNvSpPr txBox="1"/>
          <p:nvPr/>
        </p:nvSpPr>
        <p:spPr>
          <a:xfrm>
            <a:off x="841248"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SBI's FY26 numbers show a bank in clearly strong health wearing a…</a:t>
            </a:r>
          </a:p>
        </p:txBody>
      </p:sp>
      <p:sp>
        <p:nvSpPr>
          <p:cNvPr id="35" name="Rectangle 34"/>
          <p:cNvSpPr/>
          <p:nvPr/>
        </p:nvSpPr>
        <p:spPr>
          <a:xfrm>
            <a:off x="841248"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24447" y="2048256"/>
            <a:ext cx="109728" cy="182880"/>
          </a:xfrm>
          <a:prstGeom prst="roundRect">
            <a:avLst>
              <a:gd name="adj" fmla="val 2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07327"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6B7280"/>
                </a:solidFill>
                <a:latin typeface="Bahnschrift"/>
              </a:rPr>
              <a:t>WATCH, held, monitoring</a:t>
            </a:r>
          </a:p>
        </p:txBody>
      </p:sp>
      <p:sp>
        <p:nvSpPr>
          <p:cNvPr id="38" name="TextBox 37"/>
          <p:cNvSpPr txBox="1"/>
          <p:nvPr/>
        </p:nvSpPr>
        <p:spPr>
          <a:xfrm>
            <a:off x="6324447"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7</a:t>
            </a:r>
          </a:p>
        </p:txBody>
      </p:sp>
      <p:sp>
        <p:nvSpPr>
          <p:cNvPr id="39" name="TextBox 38"/>
          <p:cNvSpPr txBox="1"/>
          <p:nvPr/>
        </p:nvSpPr>
        <p:spPr>
          <a:xfrm>
            <a:off x="6324447"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Titan Company Ltd.</a:t>
            </a:r>
            <a:r>
              <a:rPr sz="900" b="0" i="0">
                <a:solidFill>
                  <a:srgbClr val="6B7280"/>
                </a:solidFill>
                <a:latin typeface="Bahnschrift"/>
              </a:rPr>
              <a:t>   11.30%</a:t>
            </a:r>
          </a:p>
        </p:txBody>
      </p:sp>
      <p:sp>
        <p:nvSpPr>
          <p:cNvPr id="40" name="Rectangle 39"/>
          <p:cNvSpPr/>
          <p:nvPr/>
        </p:nvSpPr>
        <p:spPr>
          <a:xfrm>
            <a:off x="101617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61727" y="2423160"/>
            <a:ext cx="3044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4360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115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4" name="TextBox 43"/>
          <p:cNvSpPr txBox="1"/>
          <p:nvPr/>
        </p:nvSpPr>
        <p:spPr>
          <a:xfrm>
            <a:off x="6324447"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Titan's FY26 headline growth (33% full-year revenue, 46-50% in Q4)…</a:t>
            </a:r>
          </a:p>
        </p:txBody>
      </p:sp>
      <p:sp>
        <p:nvSpPr>
          <p:cNvPr id="45" name="Rectangle 44"/>
          <p:cNvSpPr/>
          <p:nvPr/>
        </p:nvSpPr>
        <p:spPr>
          <a:xfrm>
            <a:off x="6324447"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24447"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Bajaj Finance Ltd.</a:t>
            </a:r>
            <a:r>
              <a:rPr sz="900" b="0" i="0">
                <a:solidFill>
                  <a:srgbClr val="6B7280"/>
                </a:solidFill>
                <a:latin typeface="Bahnschrift"/>
              </a:rPr>
              <a:t>   2.96%</a:t>
            </a:r>
          </a:p>
        </p:txBody>
      </p:sp>
      <p:sp>
        <p:nvSpPr>
          <p:cNvPr id="47" name="Rectangle 46"/>
          <p:cNvSpPr/>
          <p:nvPr/>
        </p:nvSpPr>
        <p:spPr>
          <a:xfrm>
            <a:off x="101617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61727" y="2926080"/>
            <a:ext cx="38199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4360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9115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1" name="TextBox 50"/>
          <p:cNvSpPr txBox="1"/>
          <p:nvPr/>
        </p:nvSpPr>
        <p:spPr>
          <a:xfrm>
            <a:off x="6324447"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Bajaj Finance remains India's best-capitalised, best-asset-quality…</a:t>
            </a:r>
          </a:p>
        </p:txBody>
      </p:sp>
      <p:sp>
        <p:nvSpPr>
          <p:cNvPr id="52" name="Rectangle 51"/>
          <p:cNvSpPr/>
          <p:nvPr/>
        </p:nvSpPr>
        <p:spPr>
          <a:xfrm>
            <a:off x="6324447"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24447" y="338328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HDFC Bank Ltd.</a:t>
            </a:r>
            <a:r>
              <a:rPr sz="900" b="0" i="0">
                <a:solidFill>
                  <a:srgbClr val="6B7280"/>
                </a:solidFill>
                <a:latin typeface="Bahnschrift"/>
              </a:rPr>
              <a:t>   2.62%</a:t>
            </a:r>
          </a:p>
        </p:txBody>
      </p:sp>
      <p:sp>
        <p:nvSpPr>
          <p:cNvPr id="54" name="Rectangle 53"/>
          <p:cNvSpPr/>
          <p:nvPr/>
        </p:nvSpPr>
        <p:spPr>
          <a:xfrm>
            <a:off x="10161727" y="342900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61727" y="3429000"/>
            <a:ext cx="341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36047" y="34015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11535" y="33512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58" name="TextBox 57"/>
          <p:cNvSpPr txBox="1"/>
          <p:nvPr/>
        </p:nvSpPr>
        <p:spPr>
          <a:xfrm>
            <a:off x="6324447" y="360730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HDFC Bank's post-merger repair is real but slower than originally…</a:t>
            </a:r>
          </a:p>
        </p:txBody>
      </p:sp>
      <p:sp>
        <p:nvSpPr>
          <p:cNvPr id="59" name="Rectangle 58"/>
          <p:cNvSpPr/>
          <p:nvPr/>
        </p:nvSpPr>
        <p:spPr>
          <a:xfrm>
            <a:off x="6324447" y="381762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24447" y="388620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Sun Pharmaceutical Industries Ltd.</a:t>
            </a:r>
            <a:r>
              <a:rPr sz="900" b="0" i="0">
                <a:solidFill>
                  <a:srgbClr val="6B7280"/>
                </a:solidFill>
                <a:latin typeface="Bahnschrift"/>
              </a:rPr>
              <a:t>   1.59%</a:t>
            </a:r>
          </a:p>
        </p:txBody>
      </p:sp>
      <p:sp>
        <p:nvSpPr>
          <p:cNvPr id="61" name="Rectangle 60"/>
          <p:cNvSpPr/>
          <p:nvPr/>
        </p:nvSpPr>
        <p:spPr>
          <a:xfrm>
            <a:off x="10161727" y="393192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61727" y="3931920"/>
            <a:ext cx="37170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436047" y="390448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11535"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65" name="TextBox 64"/>
          <p:cNvSpPr txBox="1"/>
          <p:nvPr/>
        </p:nvSpPr>
        <p:spPr>
          <a:xfrm>
            <a:off x="6324447" y="411022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Sun Pharma's FY26 print masks a decelerating Q4…</a:t>
            </a:r>
          </a:p>
        </p:txBody>
      </p:sp>
      <p:sp>
        <p:nvSpPr>
          <p:cNvPr id="66" name="Rectangle 65"/>
          <p:cNvSpPr/>
          <p:nvPr/>
        </p:nvSpPr>
        <p:spPr>
          <a:xfrm>
            <a:off x="6324447" y="432054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447" y="438912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Bharti Airtel Ltd.</a:t>
            </a:r>
            <a:r>
              <a:rPr sz="900" b="0" i="0">
                <a:solidFill>
                  <a:srgbClr val="6B7280"/>
                </a:solidFill>
                <a:latin typeface="Bahnschrift"/>
              </a:rPr>
              <a:t>   1.54%</a:t>
            </a:r>
          </a:p>
        </p:txBody>
      </p:sp>
      <p:sp>
        <p:nvSpPr>
          <p:cNvPr id="68" name="Rectangle 67"/>
          <p:cNvSpPr/>
          <p:nvPr/>
        </p:nvSpPr>
        <p:spPr>
          <a:xfrm>
            <a:off x="10161727" y="443484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161727" y="4434840"/>
            <a:ext cx="3463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36047" y="440740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911535" y="43571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72" name="TextBox 71"/>
          <p:cNvSpPr txBox="1"/>
          <p:nvPr/>
        </p:nvSpPr>
        <p:spPr>
          <a:xfrm>
            <a:off x="6324447" y="461314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Bharti Airtel's FY26 results show real structural improvement…</a:t>
            </a:r>
          </a:p>
        </p:txBody>
      </p:sp>
      <p:sp>
        <p:nvSpPr>
          <p:cNvPr id="73" name="Rectangle 72"/>
          <p:cNvSpPr/>
          <p:nvPr/>
        </p:nvSpPr>
        <p:spPr>
          <a:xfrm>
            <a:off x="6324447" y="482345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24447" y="48920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Mahindra &amp; Mahindra Ltd.</a:t>
            </a:r>
            <a:r>
              <a:rPr sz="900" b="0" i="0">
                <a:solidFill>
                  <a:srgbClr val="6B7280"/>
                </a:solidFill>
                <a:latin typeface="Bahnschrift"/>
              </a:rPr>
              <a:t>   1.42%</a:t>
            </a:r>
          </a:p>
        </p:txBody>
      </p:sp>
      <p:sp>
        <p:nvSpPr>
          <p:cNvPr id="75" name="Rectangle 74"/>
          <p:cNvSpPr/>
          <p:nvPr/>
        </p:nvSpPr>
        <p:spPr>
          <a:xfrm>
            <a:off x="10161727" y="493775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161727" y="4937759"/>
            <a:ext cx="3408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436047" y="491032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911535" y="48600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79" name="TextBox 78"/>
          <p:cNvSpPr txBox="1"/>
          <p:nvPr/>
        </p:nvSpPr>
        <p:spPr>
          <a:xfrm>
            <a:off x="6324447" y="51160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M&amp;M is compounding volumes and share on both engines of its…</a:t>
            </a:r>
          </a:p>
        </p:txBody>
      </p:sp>
      <p:sp>
        <p:nvSpPr>
          <p:cNvPr id="80" name="Rectangle 79"/>
          <p:cNvSpPr/>
          <p:nvPr/>
        </p:nvSpPr>
        <p:spPr>
          <a:xfrm>
            <a:off x="6324447" y="532637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4447" y="5394959"/>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ITC Ltd.</a:t>
            </a:r>
            <a:r>
              <a:rPr sz="900" b="0" i="0">
                <a:solidFill>
                  <a:srgbClr val="6B7280"/>
                </a:solidFill>
                <a:latin typeface="Bahnschrift"/>
              </a:rPr>
              <a:t>   1.37%</a:t>
            </a:r>
          </a:p>
        </p:txBody>
      </p:sp>
      <p:sp>
        <p:nvSpPr>
          <p:cNvPr id="82" name="Rectangle 81"/>
          <p:cNvSpPr/>
          <p:nvPr/>
        </p:nvSpPr>
        <p:spPr>
          <a:xfrm>
            <a:off x="10161727" y="544067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161727" y="5440679"/>
            <a:ext cx="3127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436047" y="541324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911535" y="5362955"/>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86" name="TextBox 85"/>
          <p:cNvSpPr txBox="1"/>
          <p:nvPr/>
        </p:nvSpPr>
        <p:spPr>
          <a:xfrm>
            <a:off x="6324447" y="56189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ITC's -30.1% ret_12m is real, not a demerger artifact - the ITC…</a:t>
            </a:r>
          </a:p>
        </p:txBody>
      </p:sp>
      <p:sp>
        <p:nvSpPr>
          <p:cNvPr id="87" name="Rectangle 86"/>
          <p:cNvSpPr/>
          <p:nvPr/>
        </p:nvSpPr>
        <p:spPr>
          <a:xfrm>
            <a:off x="6324447" y="582929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28 further Holds scored and read in the annexure · Conviction tier from Ionic Score × position size · reads are the analyst summary · illustrative synthetic book.</a:t>
            </a:r>
          </a:p>
        </p:txBody>
      </p:sp>
      <p:sp>
        <p:nvSpPr>
          <p:cNvPr id="89" name="TextBox 8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3.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03</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03</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Fund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Upside, downside and consistency, not just returns</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fund book, scored</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Equity funds vs benchmark</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Hybrid funds</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Category &amp; structure rules</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Fund actions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A 0-100 quality score on every scheme · the score is the input, the desk sets the verdict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Direct-plan NAV vs total-return benchmark · as of 2026-07-25</a:t>
            </a:r>
          </a:p>
        </p:txBody>
      </p:sp>
      <p:sp>
        <p:nvSpPr>
          <p:cNvPr id="17" name="TextBox 16"/>
          <p:cNvSpPr txBox="1"/>
          <p:nvPr/>
        </p:nvSpPr>
        <p:spPr>
          <a:xfrm>
            <a:off x="914400" y="1828800"/>
            <a:ext cx="230244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363145" y="1828800"/>
            <a:ext cx="874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9" name="TextBox 18"/>
          <p:cNvSpPr txBox="1"/>
          <p:nvPr/>
        </p:nvSpPr>
        <p:spPr>
          <a:xfrm>
            <a:off x="4383456"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PLAN</a:t>
            </a:r>
          </a:p>
        </p:txBody>
      </p:sp>
      <p:sp>
        <p:nvSpPr>
          <p:cNvPr id="20" name="TextBox 19"/>
          <p:cNvSpPr txBox="1"/>
          <p:nvPr/>
        </p:nvSpPr>
        <p:spPr>
          <a:xfrm>
            <a:off x="5097673" y="1828800"/>
            <a:ext cx="465882"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1" name="TextBox 20"/>
          <p:cNvSpPr txBox="1"/>
          <p:nvPr/>
        </p:nvSpPr>
        <p:spPr>
          <a:xfrm>
            <a:off x="5709859" y="1828800"/>
            <a:ext cx="1180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FUND SCORE /100</a:t>
            </a:r>
          </a:p>
        </p:txBody>
      </p:sp>
      <p:sp>
        <p:nvSpPr>
          <p:cNvPr id="22" name="TextBox 21"/>
          <p:cNvSpPr txBox="1"/>
          <p:nvPr/>
        </p:nvSpPr>
        <p:spPr>
          <a:xfrm>
            <a:off x="7036263"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GRADE</a:t>
            </a:r>
          </a:p>
        </p:txBody>
      </p:sp>
      <p:sp>
        <p:nvSpPr>
          <p:cNvPr id="23" name="TextBox 22"/>
          <p:cNvSpPr txBox="1"/>
          <p:nvPr/>
        </p:nvSpPr>
        <p:spPr>
          <a:xfrm>
            <a:off x="7750481" y="1828800"/>
            <a:ext cx="220041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WATCH-OUTS</a:t>
            </a:r>
          </a:p>
        </p:txBody>
      </p:sp>
      <p:sp>
        <p:nvSpPr>
          <p:cNvPr id="24" name="TextBox 23"/>
          <p:cNvSpPr txBox="1"/>
          <p:nvPr/>
        </p:nvSpPr>
        <p:spPr>
          <a:xfrm>
            <a:off x="10097195" y="1828800"/>
            <a:ext cx="1180099"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208483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1305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Large Cap</a:t>
            </a:r>
          </a:p>
        </p:txBody>
      </p:sp>
      <p:sp>
        <p:nvSpPr>
          <p:cNvPr id="27" name="TextBox 26"/>
          <p:cNvSpPr txBox="1"/>
          <p:nvPr/>
        </p:nvSpPr>
        <p:spPr>
          <a:xfrm>
            <a:off x="3363145" y="21305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28" name="TextBox 27"/>
          <p:cNvSpPr txBox="1"/>
          <p:nvPr/>
        </p:nvSpPr>
        <p:spPr>
          <a:xfrm>
            <a:off x="4383456" y="21305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29" name="TextBox 28"/>
          <p:cNvSpPr txBox="1"/>
          <p:nvPr/>
        </p:nvSpPr>
        <p:spPr>
          <a:xfrm>
            <a:off x="5097673" y="21305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5.6</a:t>
            </a:r>
          </a:p>
        </p:txBody>
      </p:sp>
      <p:sp>
        <p:nvSpPr>
          <p:cNvPr id="30" name="Rectangle 29"/>
          <p:cNvSpPr/>
          <p:nvPr/>
        </p:nvSpPr>
        <p:spPr>
          <a:xfrm>
            <a:off x="5709859" y="22951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09859" y="2295144"/>
            <a:ext cx="17922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65891" y="22677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3947" y="22174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28</a:t>
            </a:r>
          </a:p>
        </p:txBody>
      </p:sp>
      <p:sp>
        <p:nvSpPr>
          <p:cNvPr id="34" name="TextBox 33"/>
          <p:cNvSpPr txBox="1"/>
          <p:nvPr/>
        </p:nvSpPr>
        <p:spPr>
          <a:xfrm>
            <a:off x="7036263" y="21305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35" name="Rounded Rectangle 34"/>
          <p:cNvSpPr/>
          <p:nvPr/>
        </p:nvSpPr>
        <p:spPr>
          <a:xfrm>
            <a:off x="7750481" y="219456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50481" y="21890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7" name="Rounded Rectangle 36"/>
          <p:cNvSpPr/>
          <p:nvPr/>
        </p:nvSpPr>
        <p:spPr>
          <a:xfrm>
            <a:off x="8555153" y="21945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55153" y="21890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DOWNSIDE</a:t>
            </a:r>
          </a:p>
        </p:txBody>
      </p:sp>
      <p:sp>
        <p:nvSpPr>
          <p:cNvPr id="39" name="Rounded Rectangle 38"/>
          <p:cNvSpPr/>
          <p:nvPr/>
        </p:nvSpPr>
        <p:spPr>
          <a:xfrm>
            <a:off x="10097195" y="219456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7195" y="21890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1" name="Rectangle 40"/>
          <p:cNvSpPr/>
          <p:nvPr/>
        </p:nvSpPr>
        <p:spPr>
          <a:xfrm>
            <a:off x="841248" y="24780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24963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Flexi Cap</a:t>
            </a:r>
          </a:p>
        </p:txBody>
      </p:sp>
      <p:sp>
        <p:nvSpPr>
          <p:cNvPr id="43" name="TextBox 42"/>
          <p:cNvSpPr txBox="1"/>
          <p:nvPr/>
        </p:nvSpPr>
        <p:spPr>
          <a:xfrm>
            <a:off x="3363145" y="24963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44" name="TextBox 43"/>
          <p:cNvSpPr txBox="1"/>
          <p:nvPr/>
        </p:nvSpPr>
        <p:spPr>
          <a:xfrm>
            <a:off x="4383456" y="24963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45" name="TextBox 44"/>
          <p:cNvSpPr txBox="1"/>
          <p:nvPr/>
        </p:nvSpPr>
        <p:spPr>
          <a:xfrm>
            <a:off x="5097673" y="24963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4.2</a:t>
            </a:r>
          </a:p>
        </p:txBody>
      </p:sp>
      <p:sp>
        <p:nvSpPr>
          <p:cNvPr id="46" name="Rectangle 45"/>
          <p:cNvSpPr/>
          <p:nvPr/>
        </p:nvSpPr>
        <p:spPr>
          <a:xfrm>
            <a:off x="5709859" y="2660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709859" y="2660904"/>
            <a:ext cx="2048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965891" y="2633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13947" y="2583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50" name="TextBox 49"/>
          <p:cNvSpPr txBox="1"/>
          <p:nvPr/>
        </p:nvSpPr>
        <p:spPr>
          <a:xfrm>
            <a:off x="7036263" y="24963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51" name="Rounded Rectangle 50"/>
          <p:cNvSpPr/>
          <p:nvPr/>
        </p:nvSpPr>
        <p:spPr>
          <a:xfrm>
            <a:off x="7750481" y="256032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50481" y="255483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53" name="Rounded Rectangle 52"/>
          <p:cNvSpPr/>
          <p:nvPr/>
        </p:nvSpPr>
        <p:spPr>
          <a:xfrm>
            <a:off x="8555153" y="256032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55153" y="255483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WEAK 3-YR</a:t>
            </a:r>
          </a:p>
        </p:txBody>
      </p:sp>
      <p:sp>
        <p:nvSpPr>
          <p:cNvPr id="55" name="Rounded Rectangle 54"/>
          <p:cNvSpPr/>
          <p:nvPr/>
        </p:nvSpPr>
        <p:spPr>
          <a:xfrm>
            <a:off x="10097195" y="256032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097195" y="25548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57" name="Rectangle 56"/>
          <p:cNvSpPr/>
          <p:nvPr/>
        </p:nvSpPr>
        <p:spPr>
          <a:xfrm>
            <a:off x="841248" y="28437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28620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Multi Cap</a:t>
            </a:r>
          </a:p>
        </p:txBody>
      </p:sp>
      <p:sp>
        <p:nvSpPr>
          <p:cNvPr id="59" name="TextBox 58"/>
          <p:cNvSpPr txBox="1"/>
          <p:nvPr/>
        </p:nvSpPr>
        <p:spPr>
          <a:xfrm>
            <a:off x="3363145" y="28620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60" name="TextBox 59"/>
          <p:cNvSpPr txBox="1"/>
          <p:nvPr/>
        </p:nvSpPr>
        <p:spPr>
          <a:xfrm>
            <a:off x="4383456" y="28620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61" name="TextBox 60"/>
          <p:cNvSpPr txBox="1"/>
          <p:nvPr/>
        </p:nvSpPr>
        <p:spPr>
          <a:xfrm>
            <a:off x="5097673" y="28620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3.3</a:t>
            </a:r>
          </a:p>
        </p:txBody>
      </p:sp>
      <p:sp>
        <p:nvSpPr>
          <p:cNvPr id="62" name="Rectangle 61"/>
          <p:cNvSpPr/>
          <p:nvPr/>
        </p:nvSpPr>
        <p:spPr>
          <a:xfrm>
            <a:off x="5709859" y="30266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709859" y="3026664"/>
            <a:ext cx="37764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5965891" y="2999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413947" y="2948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66" name="TextBox 65"/>
          <p:cNvSpPr txBox="1"/>
          <p:nvPr/>
        </p:nvSpPr>
        <p:spPr>
          <a:xfrm>
            <a:off x="7036263" y="28620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67" name="Rounded Rectangle 66"/>
          <p:cNvSpPr/>
          <p:nvPr/>
        </p:nvSpPr>
        <p:spPr>
          <a:xfrm>
            <a:off x="7750481" y="292608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750481" y="292059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RIGID</a:t>
            </a:r>
          </a:p>
        </p:txBody>
      </p:sp>
      <p:sp>
        <p:nvSpPr>
          <p:cNvPr id="69" name="Rounded Rectangle 68"/>
          <p:cNvSpPr/>
          <p:nvPr/>
        </p:nvSpPr>
        <p:spPr>
          <a:xfrm>
            <a:off x="10097195" y="292608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97195" y="29205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71" name="Rectangle 70"/>
          <p:cNvSpPr/>
          <p:nvPr/>
        </p:nvSpPr>
        <p:spPr>
          <a:xfrm>
            <a:off x="841248" y="32095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32278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 Multi-Asset (Reg)</a:t>
            </a:r>
          </a:p>
        </p:txBody>
      </p:sp>
      <p:sp>
        <p:nvSpPr>
          <p:cNvPr id="73" name="TextBox 72"/>
          <p:cNvSpPr txBox="1"/>
          <p:nvPr/>
        </p:nvSpPr>
        <p:spPr>
          <a:xfrm>
            <a:off x="3363145" y="32278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74" name="TextBox 73"/>
          <p:cNvSpPr txBox="1"/>
          <p:nvPr/>
        </p:nvSpPr>
        <p:spPr>
          <a:xfrm>
            <a:off x="4383456" y="32278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75" name="TextBox 74"/>
          <p:cNvSpPr txBox="1"/>
          <p:nvPr/>
        </p:nvSpPr>
        <p:spPr>
          <a:xfrm>
            <a:off x="5097673" y="32278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3.7</a:t>
            </a:r>
          </a:p>
        </p:txBody>
      </p:sp>
      <p:sp>
        <p:nvSpPr>
          <p:cNvPr id="76" name="Rectangle 75"/>
          <p:cNvSpPr/>
          <p:nvPr/>
        </p:nvSpPr>
        <p:spPr>
          <a:xfrm>
            <a:off x="5709859"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709859" y="3392424"/>
            <a:ext cx="4672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5965891"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413947"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73</a:t>
            </a:r>
          </a:p>
        </p:txBody>
      </p:sp>
      <p:sp>
        <p:nvSpPr>
          <p:cNvPr id="80" name="TextBox 79"/>
          <p:cNvSpPr txBox="1"/>
          <p:nvPr/>
        </p:nvSpPr>
        <p:spPr>
          <a:xfrm>
            <a:off x="7036263" y="32278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81" name="Rounded Rectangle 80"/>
          <p:cNvSpPr/>
          <p:nvPr/>
        </p:nvSpPr>
        <p:spPr>
          <a:xfrm>
            <a:off x="7750481" y="329184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750481" y="328635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83" name="Rounded Rectangle 82"/>
          <p:cNvSpPr/>
          <p:nvPr/>
        </p:nvSpPr>
        <p:spPr>
          <a:xfrm>
            <a:off x="10097195" y="329184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097195" y="32863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TO-DIRECT</a:t>
            </a:r>
          </a:p>
        </p:txBody>
      </p:sp>
      <p:sp>
        <p:nvSpPr>
          <p:cNvPr id="85" name="Rectangle 84"/>
          <p:cNvSpPr/>
          <p:nvPr/>
        </p:nvSpPr>
        <p:spPr>
          <a:xfrm>
            <a:off x="841248" y="3575303"/>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14400" y="3593591"/>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PGIM India Small Cap</a:t>
            </a:r>
          </a:p>
        </p:txBody>
      </p:sp>
      <p:sp>
        <p:nvSpPr>
          <p:cNvPr id="87" name="TextBox 86"/>
          <p:cNvSpPr txBox="1"/>
          <p:nvPr/>
        </p:nvSpPr>
        <p:spPr>
          <a:xfrm>
            <a:off x="3363145" y="3593591"/>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88" name="TextBox 87"/>
          <p:cNvSpPr txBox="1"/>
          <p:nvPr/>
        </p:nvSpPr>
        <p:spPr>
          <a:xfrm>
            <a:off x="4383456" y="3593591"/>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89" name="TextBox 88"/>
          <p:cNvSpPr txBox="1"/>
          <p:nvPr/>
        </p:nvSpPr>
        <p:spPr>
          <a:xfrm>
            <a:off x="5097673" y="3593591"/>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0.4</a:t>
            </a:r>
          </a:p>
        </p:txBody>
      </p:sp>
      <p:sp>
        <p:nvSpPr>
          <p:cNvPr id="90" name="Rectangle 89"/>
          <p:cNvSpPr/>
          <p:nvPr/>
        </p:nvSpPr>
        <p:spPr>
          <a:xfrm>
            <a:off x="5709859" y="3758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5709859" y="3758184"/>
            <a:ext cx="5120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965891" y="3730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413947" y="3680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8</a:t>
            </a:r>
          </a:p>
        </p:txBody>
      </p:sp>
      <p:sp>
        <p:nvSpPr>
          <p:cNvPr id="94" name="TextBox 93"/>
          <p:cNvSpPr txBox="1"/>
          <p:nvPr/>
        </p:nvSpPr>
        <p:spPr>
          <a:xfrm>
            <a:off x="7036263" y="3593591"/>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95" name="Rounded Rectangle 94"/>
          <p:cNvSpPr/>
          <p:nvPr/>
        </p:nvSpPr>
        <p:spPr>
          <a:xfrm>
            <a:off x="7750481" y="365760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750481"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DEEP FALL</a:t>
            </a:r>
          </a:p>
        </p:txBody>
      </p:sp>
      <p:sp>
        <p:nvSpPr>
          <p:cNvPr id="97" name="Rounded Rectangle 96"/>
          <p:cNvSpPr/>
          <p:nvPr/>
        </p:nvSpPr>
        <p:spPr>
          <a:xfrm>
            <a:off x="8555153" y="3657600"/>
            <a:ext cx="7498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555153"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99" name="Rounded Rectangle 98"/>
          <p:cNvSpPr/>
          <p:nvPr/>
        </p:nvSpPr>
        <p:spPr>
          <a:xfrm>
            <a:off x="9359825" y="365760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359825" y="365211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OVERSIZED</a:t>
            </a:r>
          </a:p>
        </p:txBody>
      </p:sp>
      <p:sp>
        <p:nvSpPr>
          <p:cNvPr id="101" name="Rounded Rectangle 100"/>
          <p:cNvSpPr/>
          <p:nvPr/>
        </p:nvSpPr>
        <p:spPr>
          <a:xfrm>
            <a:off x="10097195" y="365760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97195" y="365211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103" name="Rectangle 102"/>
          <p:cNvSpPr/>
          <p:nvPr/>
        </p:nvSpPr>
        <p:spPr>
          <a:xfrm>
            <a:off x="841248" y="39410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4400" y="39593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105" name="TextBox 104"/>
          <p:cNvSpPr txBox="1"/>
          <p:nvPr/>
        </p:nvSpPr>
        <p:spPr>
          <a:xfrm>
            <a:off x="3363145" y="39593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106" name="TextBox 105"/>
          <p:cNvSpPr txBox="1"/>
          <p:nvPr/>
        </p:nvSpPr>
        <p:spPr>
          <a:xfrm>
            <a:off x="4383456" y="39593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Reg</a:t>
            </a:r>
          </a:p>
        </p:txBody>
      </p:sp>
      <p:sp>
        <p:nvSpPr>
          <p:cNvPr id="107" name="TextBox 106"/>
          <p:cNvSpPr txBox="1"/>
          <p:nvPr/>
        </p:nvSpPr>
        <p:spPr>
          <a:xfrm>
            <a:off x="5097673" y="39593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2.8</a:t>
            </a:r>
          </a:p>
        </p:txBody>
      </p:sp>
      <p:sp>
        <p:nvSpPr>
          <p:cNvPr id="108" name="Rectangle 107"/>
          <p:cNvSpPr/>
          <p:nvPr/>
        </p:nvSpPr>
        <p:spPr>
          <a:xfrm>
            <a:off x="5709859" y="41239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709859" y="4123944"/>
            <a:ext cx="35204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965891" y="40965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413947" y="40462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55</a:t>
            </a:r>
          </a:p>
        </p:txBody>
      </p:sp>
      <p:sp>
        <p:nvSpPr>
          <p:cNvPr id="112" name="TextBox 111"/>
          <p:cNvSpPr txBox="1"/>
          <p:nvPr/>
        </p:nvSpPr>
        <p:spPr>
          <a:xfrm>
            <a:off x="7036263" y="39593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13" name="Rounded Rectangle 112"/>
          <p:cNvSpPr/>
          <p:nvPr/>
        </p:nvSpPr>
        <p:spPr>
          <a:xfrm>
            <a:off x="7750481"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750481"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TINY FUND</a:t>
            </a:r>
          </a:p>
        </p:txBody>
      </p:sp>
      <p:sp>
        <p:nvSpPr>
          <p:cNvPr id="115" name="Rounded Rectangle 114"/>
          <p:cNvSpPr/>
          <p:nvPr/>
        </p:nvSpPr>
        <p:spPr>
          <a:xfrm>
            <a:off x="8555153"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555153"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NEW FUND</a:t>
            </a:r>
          </a:p>
        </p:txBody>
      </p:sp>
      <p:sp>
        <p:nvSpPr>
          <p:cNvPr id="117" name="Rounded Rectangle 116"/>
          <p:cNvSpPr/>
          <p:nvPr/>
        </p:nvSpPr>
        <p:spPr>
          <a:xfrm>
            <a:off x="9359825" y="4023360"/>
            <a:ext cx="7498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359825" y="4017873"/>
            <a:ext cx="7498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119" name="Rounded Rectangle 118"/>
          <p:cNvSpPr/>
          <p:nvPr/>
        </p:nvSpPr>
        <p:spPr>
          <a:xfrm>
            <a:off x="10097195" y="4023360"/>
            <a:ext cx="1180099"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10097195" y="40178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121" name="Rectangle 120"/>
          <p:cNvSpPr/>
          <p:nvPr/>
        </p:nvSpPr>
        <p:spPr>
          <a:xfrm>
            <a:off x="841248" y="4306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14400" y="43251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Parag Parikh Flexi Cap</a:t>
            </a:r>
          </a:p>
        </p:txBody>
      </p:sp>
      <p:sp>
        <p:nvSpPr>
          <p:cNvPr id="123" name="TextBox 122"/>
          <p:cNvSpPr txBox="1"/>
          <p:nvPr/>
        </p:nvSpPr>
        <p:spPr>
          <a:xfrm>
            <a:off x="3363145" y="43251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Equity</a:t>
            </a:r>
          </a:p>
        </p:txBody>
      </p:sp>
      <p:sp>
        <p:nvSpPr>
          <p:cNvPr id="124" name="TextBox 123"/>
          <p:cNvSpPr txBox="1"/>
          <p:nvPr/>
        </p:nvSpPr>
        <p:spPr>
          <a:xfrm>
            <a:off x="4383456" y="43251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25" name="TextBox 124"/>
          <p:cNvSpPr txBox="1"/>
          <p:nvPr/>
        </p:nvSpPr>
        <p:spPr>
          <a:xfrm>
            <a:off x="5097673" y="43251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7.0</a:t>
            </a:r>
          </a:p>
        </p:txBody>
      </p:sp>
      <p:sp>
        <p:nvSpPr>
          <p:cNvPr id="126" name="Rectangle 125"/>
          <p:cNvSpPr/>
          <p:nvPr/>
        </p:nvSpPr>
        <p:spPr>
          <a:xfrm>
            <a:off x="5709859" y="44897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5709859" y="4489704"/>
            <a:ext cx="46085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965891" y="44622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413947" y="44119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72</a:t>
            </a:r>
          </a:p>
        </p:txBody>
      </p:sp>
      <p:sp>
        <p:nvSpPr>
          <p:cNvPr id="130" name="TextBox 129"/>
          <p:cNvSpPr txBox="1"/>
          <p:nvPr/>
        </p:nvSpPr>
        <p:spPr>
          <a:xfrm>
            <a:off x="7036263" y="43251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131" name="TextBox 130"/>
          <p:cNvSpPr txBox="1"/>
          <p:nvPr/>
        </p:nvSpPr>
        <p:spPr>
          <a:xfrm>
            <a:off x="7750481" y="43251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32" name="Rounded Rectangle 131"/>
          <p:cNvSpPr/>
          <p:nvPr/>
        </p:nvSpPr>
        <p:spPr>
          <a:xfrm>
            <a:off x="10097195" y="438912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0097195" y="43836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4" name="Rectangle 133"/>
          <p:cNvSpPr/>
          <p:nvPr/>
        </p:nvSpPr>
        <p:spPr>
          <a:xfrm>
            <a:off x="841248" y="46725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14400" y="46908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Nippon India Nifty 50 Index</a:t>
            </a:r>
          </a:p>
        </p:txBody>
      </p:sp>
      <p:sp>
        <p:nvSpPr>
          <p:cNvPr id="136" name="TextBox 135"/>
          <p:cNvSpPr txBox="1"/>
          <p:nvPr/>
        </p:nvSpPr>
        <p:spPr>
          <a:xfrm>
            <a:off x="3363145" y="46908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Passive</a:t>
            </a:r>
          </a:p>
        </p:txBody>
      </p:sp>
      <p:sp>
        <p:nvSpPr>
          <p:cNvPr id="137" name="TextBox 136"/>
          <p:cNvSpPr txBox="1"/>
          <p:nvPr/>
        </p:nvSpPr>
        <p:spPr>
          <a:xfrm>
            <a:off x="4383456" y="46908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38" name="TextBox 137"/>
          <p:cNvSpPr txBox="1"/>
          <p:nvPr/>
        </p:nvSpPr>
        <p:spPr>
          <a:xfrm>
            <a:off x="5097673" y="46908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3.7</a:t>
            </a:r>
          </a:p>
        </p:txBody>
      </p:sp>
      <p:sp>
        <p:nvSpPr>
          <p:cNvPr id="139" name="Rectangle 138"/>
          <p:cNvSpPr/>
          <p:nvPr/>
        </p:nvSpPr>
        <p:spPr>
          <a:xfrm>
            <a:off x="5709859" y="4855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709859" y="4855464"/>
            <a:ext cx="35844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5965891" y="4828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413947" y="4777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143" name="TextBox 142"/>
          <p:cNvSpPr txBox="1"/>
          <p:nvPr/>
        </p:nvSpPr>
        <p:spPr>
          <a:xfrm>
            <a:off x="7036263" y="46908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44" name="TextBox 143"/>
          <p:cNvSpPr txBox="1"/>
          <p:nvPr/>
        </p:nvSpPr>
        <p:spPr>
          <a:xfrm>
            <a:off x="7750481" y="46908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45" name="Rounded Rectangle 144"/>
          <p:cNvSpPr/>
          <p:nvPr/>
        </p:nvSpPr>
        <p:spPr>
          <a:xfrm>
            <a:off x="10097195" y="475488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0097195" y="47493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7" name="Rectangle 146"/>
          <p:cNvSpPr/>
          <p:nvPr/>
        </p:nvSpPr>
        <p:spPr>
          <a:xfrm>
            <a:off x="841248" y="50383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914400" y="50566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Balanced Advantage</a:t>
            </a:r>
          </a:p>
        </p:txBody>
      </p:sp>
      <p:sp>
        <p:nvSpPr>
          <p:cNvPr id="149" name="TextBox 148"/>
          <p:cNvSpPr txBox="1"/>
          <p:nvPr/>
        </p:nvSpPr>
        <p:spPr>
          <a:xfrm>
            <a:off x="3363145" y="50566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150" name="TextBox 149"/>
          <p:cNvSpPr txBox="1"/>
          <p:nvPr/>
        </p:nvSpPr>
        <p:spPr>
          <a:xfrm>
            <a:off x="4383456" y="50566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51" name="TextBox 150"/>
          <p:cNvSpPr txBox="1"/>
          <p:nvPr/>
        </p:nvSpPr>
        <p:spPr>
          <a:xfrm>
            <a:off x="5097673" y="50566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3.3</a:t>
            </a:r>
          </a:p>
        </p:txBody>
      </p:sp>
      <p:sp>
        <p:nvSpPr>
          <p:cNvPr id="152" name="Rectangle 151"/>
          <p:cNvSpPr/>
          <p:nvPr/>
        </p:nvSpPr>
        <p:spPr>
          <a:xfrm>
            <a:off x="5709859" y="52212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5709859" y="5221224"/>
            <a:ext cx="51206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5965891" y="51937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413947" y="51435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80</a:t>
            </a:r>
          </a:p>
        </p:txBody>
      </p:sp>
      <p:sp>
        <p:nvSpPr>
          <p:cNvPr id="156" name="TextBox 155"/>
          <p:cNvSpPr txBox="1"/>
          <p:nvPr/>
        </p:nvSpPr>
        <p:spPr>
          <a:xfrm>
            <a:off x="7036263" y="50566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157" name="TextBox 156"/>
          <p:cNvSpPr txBox="1"/>
          <p:nvPr/>
        </p:nvSpPr>
        <p:spPr>
          <a:xfrm>
            <a:off x="7750481" y="50566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58" name="Rounded Rectangle 157"/>
          <p:cNvSpPr/>
          <p:nvPr/>
        </p:nvSpPr>
        <p:spPr>
          <a:xfrm>
            <a:off x="10097195" y="51206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10097195" y="51151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60" name="Rectangle 159"/>
          <p:cNvSpPr/>
          <p:nvPr/>
        </p:nvSpPr>
        <p:spPr>
          <a:xfrm>
            <a:off x="841248" y="5404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841248" y="5504688"/>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16233B"/>
                </a:solidFill>
                <a:latin typeface="Georgia"/>
              </a:rPr>
              <a:t>The desk read: the fund score ranks the scheme; the Portfolio Review team sets the verdict. 6 of 9 schemes carry an action, mostly on cost and structure (plan, mandate rigidity, scale, consistency) rather than performance alone; 3 are Holds on merit.</a:t>
            </a:r>
          </a:p>
        </p:txBody>
      </p:sp>
      <p:sp>
        <p:nvSpPr>
          <p:cNvPr id="162" name="TextBox 16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fund-quality framework · Direct-plan NAV vs total-return benchmark · structural watch-outs flagged per scheme. Illustrative synthetic funds.</a:t>
            </a:r>
          </a:p>
        </p:txBody>
      </p:sp>
      <p:sp>
        <p:nvSpPr>
          <p:cNvPr id="163" name="TextBox 162"/>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Equity funds vs benchmark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Three-year record against the index, and the desk's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 equity &amp; index schemes · Direct-plan NAV vs total-return benchmark · as of 2026-07-25</a:t>
            </a:r>
          </a:p>
        </p:txBody>
      </p:sp>
      <p:sp>
        <p:nvSpPr>
          <p:cNvPr id="17" name="TextBox 16"/>
          <p:cNvSpPr txBox="1"/>
          <p:nvPr/>
        </p:nvSpPr>
        <p:spPr>
          <a:xfrm>
            <a:off x="841248" y="181051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LONG-TERM TEST · 3-YEAR RECORD VS INDEX</a:t>
            </a:r>
          </a:p>
        </p:txBody>
      </p:sp>
      <p:pic>
        <p:nvPicPr>
          <p:cNvPr id="18" name="Picture 17" descr="fe_vs_bm.png"/>
          <p:cNvPicPr>
            <a:picLocks noChangeAspect="1"/>
          </p:cNvPicPr>
          <p:nvPr/>
        </p:nvPicPr>
        <p:blipFill>
          <a:blip r:embed="rId3"/>
          <a:stretch>
            <a:fillRect/>
          </a:stretch>
        </p:blipFill>
        <p:spPr>
          <a:xfrm>
            <a:off x="1737136" y="2011680"/>
            <a:ext cx="4151822" cy="1783080"/>
          </a:xfrm>
          <a:prstGeom prst="rect">
            <a:avLst/>
          </a:prstGeom>
        </p:spPr>
      </p:pic>
      <p:sp>
        <p:nvSpPr>
          <p:cNvPr id="19" name="TextBox 18"/>
          <p:cNvSpPr txBox="1"/>
          <p:nvPr/>
        </p:nvSpPr>
        <p:spPr>
          <a:xfrm>
            <a:off x="841248" y="400507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SHORT-HORIZON TEST · PARTICIPATION IN FALLS VS THE CUTOFF</a:t>
            </a:r>
          </a:p>
        </p:txBody>
      </p:sp>
      <p:pic>
        <p:nvPicPr>
          <p:cNvPr id="20" name="Picture 19" descr="fe_dcap.png"/>
          <p:cNvPicPr>
            <a:picLocks noChangeAspect="1"/>
          </p:cNvPicPr>
          <p:nvPr/>
        </p:nvPicPr>
        <p:blipFill>
          <a:blip r:embed="rId4"/>
          <a:stretch>
            <a:fillRect/>
          </a:stretch>
        </p:blipFill>
        <p:spPr>
          <a:xfrm>
            <a:off x="1843593" y="4206240"/>
            <a:ext cx="3938908" cy="1691640"/>
          </a:xfrm>
          <a:prstGeom prst="rect">
            <a:avLst/>
          </a:prstGeom>
        </p:spPr>
      </p:pic>
      <p:sp>
        <p:nvSpPr>
          <p:cNvPr id="21" name="TextBox 20"/>
          <p:cNvSpPr txBox="1"/>
          <p:nvPr/>
        </p:nvSpPr>
        <p:spPr>
          <a:xfrm>
            <a:off x="841248" y="5870448"/>
            <a:ext cx="5943600" cy="164592"/>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Georgia"/>
              </a:rPr>
              <a:t>Navy = fund, light = the framework's line · below the line passes</a:t>
            </a:r>
          </a:p>
        </p:txBody>
      </p:sp>
      <p:sp>
        <p:nvSpPr>
          <p:cNvPr id="22" name="TextBox 21"/>
          <p:cNvSpPr txBox="1"/>
          <p:nvPr/>
        </p:nvSpPr>
        <p:spPr>
          <a:xfrm>
            <a:off x="7068312" y="1828800"/>
            <a:ext cx="1595810"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SCHEME</a:t>
            </a:r>
          </a:p>
        </p:txBody>
      </p:sp>
      <p:sp>
        <p:nvSpPr>
          <p:cNvPr id="23" name="TextBox 22"/>
          <p:cNvSpPr txBox="1"/>
          <p:nvPr/>
        </p:nvSpPr>
        <p:spPr>
          <a:xfrm>
            <a:off x="8810426" y="1828800"/>
            <a:ext cx="637647"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 CAGR</a:t>
            </a:r>
          </a:p>
        </p:txBody>
      </p:sp>
      <p:sp>
        <p:nvSpPr>
          <p:cNvPr id="24" name="TextBox 23"/>
          <p:cNvSpPr txBox="1"/>
          <p:nvPr/>
        </p:nvSpPr>
        <p:spPr>
          <a:xfrm>
            <a:off x="9594378" y="1828800"/>
            <a:ext cx="550541"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VS BM</a:t>
            </a:r>
          </a:p>
        </p:txBody>
      </p:sp>
      <p:sp>
        <p:nvSpPr>
          <p:cNvPr id="25" name="TextBox 24"/>
          <p:cNvSpPr txBox="1"/>
          <p:nvPr/>
        </p:nvSpPr>
        <p:spPr>
          <a:xfrm>
            <a:off x="10291224" y="1828800"/>
            <a:ext cx="986070"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DESK CALL</a:t>
            </a:r>
          </a:p>
        </p:txBody>
      </p:sp>
      <p:sp>
        <p:nvSpPr>
          <p:cNvPr id="26" name="Rectangle 25"/>
          <p:cNvSpPr/>
          <p:nvPr/>
        </p:nvSpPr>
        <p:spPr>
          <a:xfrm>
            <a:off x="6995160" y="2084832"/>
            <a:ext cx="435528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68312" y="213055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LIC MF Large Cap</a:t>
            </a:r>
          </a:p>
        </p:txBody>
      </p:sp>
      <p:sp>
        <p:nvSpPr>
          <p:cNvPr id="28" name="TextBox 27"/>
          <p:cNvSpPr txBox="1"/>
          <p:nvPr/>
        </p:nvSpPr>
        <p:spPr>
          <a:xfrm>
            <a:off x="8810426" y="213055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3.0%</a:t>
            </a:r>
          </a:p>
        </p:txBody>
      </p:sp>
      <p:sp>
        <p:nvSpPr>
          <p:cNvPr id="29" name="TextBox 28"/>
          <p:cNvSpPr txBox="1"/>
          <p:nvPr/>
        </p:nvSpPr>
        <p:spPr>
          <a:xfrm>
            <a:off x="9594378" y="213055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-9.7</a:t>
            </a:r>
          </a:p>
        </p:txBody>
      </p:sp>
      <p:sp>
        <p:nvSpPr>
          <p:cNvPr id="30" name="Rounded Rectangle 29"/>
          <p:cNvSpPr/>
          <p:nvPr/>
        </p:nvSpPr>
        <p:spPr>
          <a:xfrm>
            <a:off x="10291224" y="2194560"/>
            <a:ext cx="98607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291224" y="218907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32" name="Rectangle 31"/>
          <p:cNvSpPr/>
          <p:nvPr/>
        </p:nvSpPr>
        <p:spPr>
          <a:xfrm>
            <a:off x="6995160" y="247802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68312" y="249631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LIC MF Flexi Cap</a:t>
            </a:r>
          </a:p>
        </p:txBody>
      </p:sp>
      <p:sp>
        <p:nvSpPr>
          <p:cNvPr id="34" name="TextBox 33"/>
          <p:cNvSpPr txBox="1"/>
          <p:nvPr/>
        </p:nvSpPr>
        <p:spPr>
          <a:xfrm>
            <a:off x="8810426" y="249631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7.9%</a:t>
            </a:r>
          </a:p>
        </p:txBody>
      </p:sp>
      <p:sp>
        <p:nvSpPr>
          <p:cNvPr id="35" name="TextBox 34"/>
          <p:cNvSpPr txBox="1"/>
          <p:nvPr/>
        </p:nvSpPr>
        <p:spPr>
          <a:xfrm>
            <a:off x="9594378" y="249631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-4.8</a:t>
            </a:r>
          </a:p>
        </p:txBody>
      </p:sp>
      <p:sp>
        <p:nvSpPr>
          <p:cNvPr id="36" name="Rounded Rectangle 35"/>
          <p:cNvSpPr/>
          <p:nvPr/>
        </p:nvSpPr>
        <p:spPr>
          <a:xfrm>
            <a:off x="10291224" y="2560320"/>
            <a:ext cx="98607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91224" y="255483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38" name="Rectangle 37"/>
          <p:cNvSpPr/>
          <p:nvPr/>
        </p:nvSpPr>
        <p:spPr>
          <a:xfrm>
            <a:off x="6995160" y="284378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68312" y="286207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LIC MF Multi Cap</a:t>
            </a:r>
          </a:p>
        </p:txBody>
      </p:sp>
      <p:sp>
        <p:nvSpPr>
          <p:cNvPr id="40" name="TextBox 39"/>
          <p:cNvSpPr txBox="1"/>
          <p:nvPr/>
        </p:nvSpPr>
        <p:spPr>
          <a:xfrm>
            <a:off x="8810426" y="286207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16.7%</a:t>
            </a:r>
          </a:p>
        </p:txBody>
      </p:sp>
      <p:sp>
        <p:nvSpPr>
          <p:cNvPr id="41" name="TextBox 40"/>
          <p:cNvSpPr txBox="1"/>
          <p:nvPr/>
        </p:nvSpPr>
        <p:spPr>
          <a:xfrm>
            <a:off x="9594378" y="286207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1E9E6A"/>
                </a:solidFill>
                <a:latin typeface="Bahnschrift"/>
              </a:rPr>
              <a:t>+4.0</a:t>
            </a:r>
          </a:p>
        </p:txBody>
      </p:sp>
      <p:sp>
        <p:nvSpPr>
          <p:cNvPr id="42" name="Rounded Rectangle 41"/>
          <p:cNvSpPr/>
          <p:nvPr/>
        </p:nvSpPr>
        <p:spPr>
          <a:xfrm>
            <a:off x="10291224" y="2926080"/>
            <a:ext cx="98607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91224" y="292059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4" name="Rectangle 43"/>
          <p:cNvSpPr/>
          <p:nvPr/>
        </p:nvSpPr>
        <p:spPr>
          <a:xfrm>
            <a:off x="6995160" y="320954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68312" y="322783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PGIM India Small</a:t>
            </a:r>
          </a:p>
        </p:txBody>
      </p:sp>
      <p:sp>
        <p:nvSpPr>
          <p:cNvPr id="46" name="TextBox 45"/>
          <p:cNvSpPr txBox="1"/>
          <p:nvPr/>
        </p:nvSpPr>
        <p:spPr>
          <a:xfrm>
            <a:off x="8810426" y="322783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-0.9%</a:t>
            </a:r>
          </a:p>
        </p:txBody>
      </p:sp>
      <p:sp>
        <p:nvSpPr>
          <p:cNvPr id="47" name="TextBox 46"/>
          <p:cNvSpPr txBox="1"/>
          <p:nvPr/>
        </p:nvSpPr>
        <p:spPr>
          <a:xfrm>
            <a:off x="9594378" y="322783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-13.6</a:t>
            </a:r>
          </a:p>
        </p:txBody>
      </p:sp>
      <p:sp>
        <p:nvSpPr>
          <p:cNvPr id="48" name="Rounded Rectangle 47"/>
          <p:cNvSpPr/>
          <p:nvPr/>
        </p:nvSpPr>
        <p:spPr>
          <a:xfrm>
            <a:off x="10291224" y="3291840"/>
            <a:ext cx="98607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91224" y="328635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50" name="Rectangle 49"/>
          <p:cNvSpPr/>
          <p:nvPr/>
        </p:nvSpPr>
        <p:spPr>
          <a:xfrm>
            <a:off x="6995160" y="3575303"/>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68312" y="3593591"/>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Parag Parikh Flexi</a:t>
            </a:r>
          </a:p>
        </p:txBody>
      </p:sp>
      <p:sp>
        <p:nvSpPr>
          <p:cNvPr id="52" name="TextBox 51"/>
          <p:cNvSpPr txBox="1"/>
          <p:nvPr/>
        </p:nvSpPr>
        <p:spPr>
          <a:xfrm>
            <a:off x="8810426" y="3593591"/>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21.5%</a:t>
            </a:r>
          </a:p>
        </p:txBody>
      </p:sp>
      <p:sp>
        <p:nvSpPr>
          <p:cNvPr id="53" name="TextBox 52"/>
          <p:cNvSpPr txBox="1"/>
          <p:nvPr/>
        </p:nvSpPr>
        <p:spPr>
          <a:xfrm>
            <a:off x="9594378" y="3593591"/>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1E9E6A"/>
                </a:solidFill>
                <a:latin typeface="Bahnschrift"/>
              </a:rPr>
              <a:t>+8.8</a:t>
            </a:r>
          </a:p>
        </p:txBody>
      </p:sp>
      <p:sp>
        <p:nvSpPr>
          <p:cNvPr id="54" name="Rounded Rectangle 53"/>
          <p:cNvSpPr/>
          <p:nvPr/>
        </p:nvSpPr>
        <p:spPr>
          <a:xfrm>
            <a:off x="10291224" y="3657600"/>
            <a:ext cx="98607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291224" y="365211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6" name="Rectangle 55"/>
          <p:cNvSpPr/>
          <p:nvPr/>
        </p:nvSpPr>
        <p:spPr>
          <a:xfrm>
            <a:off x="6995160" y="394106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068312" y="395935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Nippon India Nifty</a:t>
            </a:r>
          </a:p>
        </p:txBody>
      </p:sp>
      <p:sp>
        <p:nvSpPr>
          <p:cNvPr id="58" name="TextBox 57"/>
          <p:cNvSpPr txBox="1"/>
          <p:nvPr/>
        </p:nvSpPr>
        <p:spPr>
          <a:xfrm>
            <a:off x="8810426" y="395935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12.4%</a:t>
            </a:r>
          </a:p>
        </p:txBody>
      </p:sp>
      <p:sp>
        <p:nvSpPr>
          <p:cNvPr id="59" name="TextBox 58"/>
          <p:cNvSpPr txBox="1"/>
          <p:nvPr/>
        </p:nvSpPr>
        <p:spPr>
          <a:xfrm>
            <a:off x="9594378" y="3959352"/>
            <a:ext cx="550541" cy="365760"/>
          </a:xfrm>
          <a:prstGeom prst="rect">
            <a:avLst/>
          </a:prstGeom>
          <a:noFill/>
        </p:spPr>
        <p:txBody>
          <a:bodyPr wrap="square" anchor="ctr" lIns="0" rIns="0" tIns="0" bIns="0">
            <a:spAutoFit/>
          </a:bodyPr>
          <a:lstStyle/>
          <a:p>
            <a:pPr algn="r">
              <a:spcBef>
                <a:spcPts val="0"/>
              </a:spcBef>
              <a:spcAft>
                <a:spcPts val="0"/>
              </a:spcAft>
            </a:pPr>
            <a:r>
              <a:rPr sz="900" b="1" i="0">
                <a:solidFill>
                  <a:srgbClr val="E0402F"/>
                </a:solidFill>
                <a:latin typeface="Bahnschrift"/>
              </a:rPr>
              <a:t>-0.3</a:t>
            </a:r>
          </a:p>
        </p:txBody>
      </p:sp>
      <p:sp>
        <p:nvSpPr>
          <p:cNvPr id="60" name="Rounded Rectangle 59"/>
          <p:cNvSpPr/>
          <p:nvPr/>
        </p:nvSpPr>
        <p:spPr>
          <a:xfrm>
            <a:off x="10291224" y="4023360"/>
            <a:ext cx="98607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291224" y="401787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2" name="Rectangle 61"/>
          <p:cNvSpPr/>
          <p:nvPr/>
        </p:nvSpPr>
        <p:spPr>
          <a:xfrm>
            <a:off x="6995160" y="430682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6995160" y="4489704"/>
            <a:ext cx="4355287" cy="12344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995160" y="4489704"/>
            <a:ext cx="54864" cy="12344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96328" y="4617720"/>
            <a:ext cx="39895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CALLS COME FROM</a:t>
            </a:r>
          </a:p>
        </p:txBody>
      </p:sp>
      <p:sp>
        <p:nvSpPr>
          <p:cNvPr id="66" name="TextBox 65"/>
          <p:cNvSpPr txBox="1"/>
          <p:nvPr/>
        </p:nvSpPr>
        <p:spPr>
          <a:xfrm>
            <a:off x="7196328" y="4892040"/>
            <a:ext cx="398952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 calls follow our fund-quality frameworks, a long-term view and a short-horizon overlay, refreshed regularly. This review applies those calls to your holdings; it does not re-score the funds.</a:t>
            </a:r>
          </a:p>
        </p:txBody>
      </p:sp>
      <p:sp>
        <p:nvSpPr>
          <p:cNvPr id="67" name="TextBox 6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3y CAGR vs total-return benchmark, Direct-plan NAV · fund recommendations per the Ionic MF desk (long-term + short-term frameworks) · illustrative synthetic funds.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800" b="1" i="0">
                <a:solidFill>
                  <a:srgbClr val="1B27A3"/>
                </a:solidFill>
                <a:latin typeface="Bahnschrift"/>
              </a:rPr>
              <a:t>Hybrid funds · return-for-risk, drawdown, worst year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hybrid earns its keep in the bad year, not the good one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hybrid schemes · Direct-plan NAV vs TR benchmark · as of 2026-07-25</a:t>
            </a:r>
          </a:p>
        </p:txBody>
      </p:sp>
      <p:sp>
        <p:nvSpPr>
          <p:cNvPr id="17" name="TextBox 16"/>
          <p:cNvSpPr txBox="1"/>
          <p:nvPr/>
        </p:nvSpPr>
        <p:spPr>
          <a:xfrm>
            <a:off x="914400" y="1737360"/>
            <a:ext cx="237590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436607" y="1737360"/>
            <a:ext cx="100970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SORTINO</a:t>
            </a:r>
          </a:p>
        </p:txBody>
      </p:sp>
      <p:sp>
        <p:nvSpPr>
          <p:cNvPr id="19" name="TextBox 18"/>
          <p:cNvSpPr txBox="1"/>
          <p:nvPr/>
        </p:nvSpPr>
        <p:spPr>
          <a:xfrm>
            <a:off x="4592619" y="1737360"/>
            <a:ext cx="100970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CALMAR</a:t>
            </a:r>
          </a:p>
        </p:txBody>
      </p:sp>
      <p:sp>
        <p:nvSpPr>
          <p:cNvPr id="20" name="TextBox 19"/>
          <p:cNvSpPr txBox="1"/>
          <p:nvPr/>
        </p:nvSpPr>
        <p:spPr>
          <a:xfrm>
            <a:off x="5748631"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MAX DD</a:t>
            </a:r>
          </a:p>
        </p:txBody>
      </p:sp>
      <p:sp>
        <p:nvSpPr>
          <p:cNvPr id="21" name="TextBox 20"/>
          <p:cNvSpPr txBox="1"/>
          <p:nvPr/>
        </p:nvSpPr>
        <p:spPr>
          <a:xfrm>
            <a:off x="7009735" y="1737360"/>
            <a:ext cx="1219891"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WORST 1-YR</a:t>
            </a:r>
          </a:p>
        </p:txBody>
      </p:sp>
      <p:sp>
        <p:nvSpPr>
          <p:cNvPr id="22" name="TextBox 21"/>
          <p:cNvSpPr txBox="1"/>
          <p:nvPr/>
        </p:nvSpPr>
        <p:spPr>
          <a:xfrm>
            <a:off x="8375931" y="1737360"/>
            <a:ext cx="1219891"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DOWN-CAP</a:t>
            </a:r>
          </a:p>
        </p:txBody>
      </p:sp>
      <p:sp>
        <p:nvSpPr>
          <p:cNvPr id="23" name="TextBox 22"/>
          <p:cNvSpPr txBox="1"/>
          <p:nvPr/>
        </p:nvSpPr>
        <p:spPr>
          <a:xfrm>
            <a:off x="9742127" y="1737360"/>
            <a:ext cx="1535167"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4" name="Rectangle 23"/>
          <p:cNvSpPr/>
          <p:nvPr/>
        </p:nvSpPr>
        <p:spPr>
          <a:xfrm>
            <a:off x="841248" y="1993391"/>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39112"/>
            <a:ext cx="2375903"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 Multi-Asset (Reg)</a:t>
            </a:r>
          </a:p>
        </p:txBody>
      </p:sp>
      <p:sp>
        <p:nvSpPr>
          <p:cNvPr id="26" name="TextBox 25"/>
          <p:cNvSpPr txBox="1"/>
          <p:nvPr/>
        </p:nvSpPr>
        <p:spPr>
          <a:xfrm>
            <a:off x="3436607" y="2039112"/>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3.75</a:t>
            </a:r>
          </a:p>
        </p:txBody>
      </p:sp>
      <p:sp>
        <p:nvSpPr>
          <p:cNvPr id="27" name="TextBox 26"/>
          <p:cNvSpPr txBox="1"/>
          <p:nvPr/>
        </p:nvSpPr>
        <p:spPr>
          <a:xfrm>
            <a:off x="4592619" y="2039112"/>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2.59</a:t>
            </a:r>
          </a:p>
        </p:txBody>
      </p:sp>
      <p:sp>
        <p:nvSpPr>
          <p:cNvPr id="28" name="TextBox 27"/>
          <p:cNvSpPr txBox="1"/>
          <p:nvPr/>
        </p:nvSpPr>
        <p:spPr>
          <a:xfrm>
            <a:off x="5748631"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-11.0%</a:t>
            </a:r>
          </a:p>
        </p:txBody>
      </p:sp>
      <p:sp>
        <p:nvSpPr>
          <p:cNvPr id="29" name="TextBox 28"/>
          <p:cNvSpPr txBox="1"/>
          <p:nvPr/>
        </p:nvSpPr>
        <p:spPr>
          <a:xfrm>
            <a:off x="7009735" y="2039112"/>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+8.2%</a:t>
            </a:r>
          </a:p>
        </p:txBody>
      </p:sp>
      <p:sp>
        <p:nvSpPr>
          <p:cNvPr id="30" name="TextBox 29"/>
          <p:cNvSpPr txBox="1"/>
          <p:nvPr/>
        </p:nvSpPr>
        <p:spPr>
          <a:xfrm>
            <a:off x="8375931" y="2039112"/>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71%</a:t>
            </a:r>
          </a:p>
        </p:txBody>
      </p:sp>
      <p:sp>
        <p:nvSpPr>
          <p:cNvPr id="31" name="Rounded Rectangle 30"/>
          <p:cNvSpPr/>
          <p:nvPr/>
        </p:nvSpPr>
        <p:spPr>
          <a:xfrm>
            <a:off x="9742127" y="2075688"/>
            <a:ext cx="128016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42127"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TO-DIRECT</a:t>
            </a:r>
          </a:p>
        </p:txBody>
      </p:sp>
      <p:sp>
        <p:nvSpPr>
          <p:cNvPr id="33" name="Rectangle 32"/>
          <p:cNvSpPr/>
          <p:nvPr/>
        </p:nvSpPr>
        <p:spPr>
          <a:xfrm>
            <a:off x="841248" y="23317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2350008"/>
            <a:ext cx="2375903"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35" name="TextBox 34"/>
          <p:cNvSpPr txBox="1"/>
          <p:nvPr/>
        </p:nvSpPr>
        <p:spPr>
          <a:xfrm>
            <a:off x="3436607" y="2350008"/>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1.93</a:t>
            </a:r>
          </a:p>
        </p:txBody>
      </p:sp>
      <p:sp>
        <p:nvSpPr>
          <p:cNvPr id="36" name="TextBox 35"/>
          <p:cNvSpPr txBox="1"/>
          <p:nvPr/>
        </p:nvSpPr>
        <p:spPr>
          <a:xfrm>
            <a:off x="4592619" y="2350008"/>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0.89</a:t>
            </a:r>
          </a:p>
        </p:txBody>
      </p:sp>
      <p:sp>
        <p:nvSpPr>
          <p:cNvPr id="37" name="TextBox 36"/>
          <p:cNvSpPr txBox="1"/>
          <p:nvPr/>
        </p:nvSpPr>
        <p:spPr>
          <a:xfrm>
            <a:off x="5748631"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92400E"/>
                </a:solidFill>
                <a:latin typeface="Bahnschrift"/>
              </a:rPr>
              <a:t>-15.7%</a:t>
            </a:r>
          </a:p>
        </p:txBody>
      </p:sp>
      <p:sp>
        <p:nvSpPr>
          <p:cNvPr id="38" name="TextBox 37"/>
          <p:cNvSpPr txBox="1"/>
          <p:nvPr/>
        </p:nvSpPr>
        <p:spPr>
          <a:xfrm>
            <a:off x="7009735" y="2350008"/>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-3.3%</a:t>
            </a:r>
          </a:p>
        </p:txBody>
      </p:sp>
      <p:sp>
        <p:nvSpPr>
          <p:cNvPr id="39" name="TextBox 38"/>
          <p:cNvSpPr txBox="1"/>
          <p:nvPr/>
        </p:nvSpPr>
        <p:spPr>
          <a:xfrm>
            <a:off x="8375931" y="2350008"/>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92400E"/>
                </a:solidFill>
                <a:latin typeface="Bahnschrift"/>
              </a:rPr>
              <a:t>79%</a:t>
            </a:r>
          </a:p>
        </p:txBody>
      </p:sp>
      <p:sp>
        <p:nvSpPr>
          <p:cNvPr id="40" name="Rounded Rectangle 39"/>
          <p:cNvSpPr/>
          <p:nvPr/>
        </p:nvSpPr>
        <p:spPr>
          <a:xfrm>
            <a:off x="9742127" y="2386584"/>
            <a:ext cx="128016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742127" y="23810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2" name="Rectangle 41"/>
          <p:cNvSpPr/>
          <p:nvPr/>
        </p:nvSpPr>
        <p:spPr>
          <a:xfrm>
            <a:off x="841248" y="2642615"/>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2660903"/>
            <a:ext cx="2375903"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Balanced Advantage</a:t>
            </a:r>
          </a:p>
        </p:txBody>
      </p:sp>
      <p:sp>
        <p:nvSpPr>
          <p:cNvPr id="44" name="TextBox 43"/>
          <p:cNvSpPr txBox="1"/>
          <p:nvPr/>
        </p:nvSpPr>
        <p:spPr>
          <a:xfrm>
            <a:off x="3436607" y="2660903"/>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5.57</a:t>
            </a:r>
          </a:p>
        </p:txBody>
      </p:sp>
      <p:sp>
        <p:nvSpPr>
          <p:cNvPr id="45" name="TextBox 44"/>
          <p:cNvSpPr txBox="1"/>
          <p:nvPr/>
        </p:nvSpPr>
        <p:spPr>
          <a:xfrm>
            <a:off x="4592619" y="2660903"/>
            <a:ext cx="1009707"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4.18</a:t>
            </a:r>
          </a:p>
        </p:txBody>
      </p:sp>
      <p:sp>
        <p:nvSpPr>
          <p:cNvPr id="46" name="TextBox 45"/>
          <p:cNvSpPr txBox="1"/>
          <p:nvPr/>
        </p:nvSpPr>
        <p:spPr>
          <a:xfrm>
            <a:off x="5748631"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-8.4%</a:t>
            </a:r>
          </a:p>
        </p:txBody>
      </p:sp>
      <p:sp>
        <p:nvSpPr>
          <p:cNvPr id="47" name="TextBox 46"/>
          <p:cNvSpPr txBox="1"/>
          <p:nvPr/>
        </p:nvSpPr>
        <p:spPr>
          <a:xfrm>
            <a:off x="7009735" y="2660903"/>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+15.8%</a:t>
            </a:r>
          </a:p>
        </p:txBody>
      </p:sp>
      <p:sp>
        <p:nvSpPr>
          <p:cNvPr id="48" name="TextBox 47"/>
          <p:cNvSpPr txBox="1"/>
          <p:nvPr/>
        </p:nvSpPr>
        <p:spPr>
          <a:xfrm>
            <a:off x="8375931" y="2660903"/>
            <a:ext cx="1219891"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57%</a:t>
            </a:r>
          </a:p>
        </p:txBody>
      </p:sp>
      <p:sp>
        <p:nvSpPr>
          <p:cNvPr id="49" name="Rounded Rectangle 48"/>
          <p:cNvSpPr/>
          <p:nvPr/>
        </p:nvSpPr>
        <p:spPr>
          <a:xfrm>
            <a:off x="9742127" y="2697479"/>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42127" y="26919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1" name="Rectangle 50"/>
          <p:cNvSpPr/>
          <p:nvPr/>
        </p:nvSpPr>
        <p:spPr>
          <a:xfrm>
            <a:off x="841248" y="2953511"/>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1248" y="3081527"/>
            <a:ext cx="10509199" cy="182880"/>
          </a:xfrm>
          <a:prstGeom prst="rect">
            <a:avLst/>
          </a:prstGeom>
          <a:noFill/>
        </p:spPr>
        <p:txBody>
          <a:bodyPr wrap="square" anchor="t" lIns="0" rIns="0" tIns="0" bIns="0">
            <a:spAutoFit/>
          </a:bodyPr>
          <a:lstStyle/>
          <a:p>
            <a:pPr algn="l">
              <a:spcBef>
                <a:spcPts val="0"/>
              </a:spcBef>
              <a:spcAft>
                <a:spcPts val="0"/>
              </a:spcAft>
            </a:pPr>
            <a:r>
              <a:rPr sz="850" b="1" i="0" spc="60">
                <a:solidFill>
                  <a:srgbClr val="1B27A3"/>
                </a:solidFill>
                <a:latin typeface="Bahnschrift"/>
              </a:rPr>
              <a:t>OUR BIAS, FUND BY FUND   </a:t>
            </a:r>
            <a:r>
              <a:rPr sz="900" b="0" i="1">
                <a:solidFill>
                  <a:srgbClr val="6B7280"/>
                </a:solidFill>
                <a:latin typeface="Georgia"/>
              </a:rPr>
              <a:t>why each verdict stands</a:t>
            </a:r>
          </a:p>
        </p:txBody>
      </p:sp>
      <p:sp>
        <p:nvSpPr>
          <p:cNvPr id="53" name="Rounded Rectangle 52"/>
          <p:cNvSpPr/>
          <p:nvPr/>
        </p:nvSpPr>
        <p:spPr>
          <a:xfrm>
            <a:off x="841248" y="3355847"/>
            <a:ext cx="3411626"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41248" y="3355847"/>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42416"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LIC MF BALANCED ADVANTAGE · TRIM</a:t>
            </a:r>
          </a:p>
        </p:txBody>
      </p:sp>
      <p:sp>
        <p:nvSpPr>
          <p:cNvPr id="56" name="TextBox 55"/>
          <p:cNvSpPr txBox="1"/>
          <p:nvPr/>
        </p:nvSpPr>
        <p:spPr>
          <a:xfrm>
            <a:off x="1042416"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bias is Trim, on scale and record, not results. Under four years old, sub-scale, 79% down-capture so far is fine; it cannot yet carry a full allocation next to the proven core.</a:t>
            </a:r>
          </a:p>
        </p:txBody>
      </p:sp>
      <p:sp>
        <p:nvSpPr>
          <p:cNvPr id="57" name="Rounded Rectangle 56"/>
          <p:cNvSpPr/>
          <p:nvPr/>
        </p:nvSpPr>
        <p:spPr>
          <a:xfrm>
            <a:off x="4390034" y="3355847"/>
            <a:ext cx="3411626" cy="178308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390034" y="3355847"/>
            <a:ext cx="54864" cy="178308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91202"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ICICI PRU MULTI-ASSET · TO-DIRECT</a:t>
            </a:r>
          </a:p>
        </p:txBody>
      </p:sp>
      <p:sp>
        <p:nvSpPr>
          <p:cNvPr id="60" name="TextBox 59"/>
          <p:cNvSpPr txBox="1"/>
          <p:nvPr/>
        </p:nvSpPr>
        <p:spPr>
          <a:xfrm>
            <a:off x="4591202"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To-Direct, not a quality call. The fund passes the bad-year test: +8.2% worst year, 71% down-capture, Sortino 3.75. The identical fund is available Direct; the Regular-plan trail is pure avoidable cost. We keep the exposure and change the plan.</a:t>
            </a:r>
          </a:p>
        </p:txBody>
      </p:sp>
      <p:sp>
        <p:nvSpPr>
          <p:cNvPr id="61" name="Rounded Rectangle 60"/>
          <p:cNvSpPr/>
          <p:nvPr/>
        </p:nvSpPr>
        <p:spPr>
          <a:xfrm>
            <a:off x="7938820" y="3355847"/>
            <a:ext cx="3411626" cy="178308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938820" y="3355847"/>
            <a:ext cx="54864" cy="178308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139988"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HDFC BALANCED ADVANTAGE · HOLD</a:t>
            </a:r>
          </a:p>
        </p:txBody>
      </p:sp>
      <p:sp>
        <p:nvSpPr>
          <p:cNvPr id="64" name="TextBox 63"/>
          <p:cNvSpPr txBox="1"/>
          <p:nvPr/>
        </p:nvSpPr>
        <p:spPr>
          <a:xfrm>
            <a:off x="8139988"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Stays a Hold. A +15.8% worst year at 57% down-capture (Sortino 5.57) means it gives up some upside and buys back the bad year, which is exactly the trade a hybrid is hired for. The book's benchmark for the category.</a:t>
            </a:r>
          </a:p>
        </p:txBody>
      </p:sp>
      <p:sp>
        <p:nvSpPr>
          <p:cNvPr id="65" name="TextBox 6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Sortino / Calmar, max drawdown, worst 1-yr rolling return &amp; down-capture vs total-return benchmark; Direct-plan NAV. Illustrative synthetic funds.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400" b="1" i="0">
                <a:solidFill>
                  <a:srgbClr val="1B27A3"/>
                </a:solidFill>
                <a:latin typeface="Bahnschrift"/>
              </a:rPr>
              <a:t>Category &amp; structure · preference rules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rules that decide the vehicle, before performance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24</a:t>
            </a:r>
          </a:p>
        </p:txBody>
      </p:sp>
      <p:sp>
        <p:nvSpPr>
          <p:cNvPr id="15" name="Rounded Rectangle 14"/>
          <p:cNvSpPr/>
          <p:nvPr/>
        </p:nvSpPr>
        <p:spPr>
          <a:xfrm>
            <a:off x="841248" y="1783080"/>
            <a:ext cx="5117439" cy="3200400"/>
          </a:xfrm>
          <a:prstGeom prst="roundRect">
            <a:avLst>
              <a:gd name="adj" fmla="val 3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83080"/>
            <a:ext cx="54864" cy="3200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1929384"/>
            <a:ext cx="4715103" cy="182880"/>
          </a:xfrm>
          <a:prstGeom prst="rect">
            <a:avLst/>
          </a:prstGeom>
          <a:noFill/>
        </p:spPr>
        <p:txBody>
          <a:bodyPr wrap="square" anchor="t" lIns="0" rIns="0" tIns="0" bIns="0">
            <a:spAutoFit/>
          </a:bodyPr>
          <a:lstStyle/>
          <a:p>
            <a:pPr algn="l">
              <a:spcBef>
                <a:spcPts val="0"/>
              </a:spcBef>
              <a:spcAft>
                <a:spcPts val="0"/>
              </a:spcAft>
            </a:pPr>
            <a:r>
              <a:rPr sz="900" b="1" i="0" spc="120">
                <a:solidFill>
                  <a:srgbClr val="F2A93C"/>
                </a:solidFill>
                <a:latin typeface="Bahnschrift"/>
              </a:rPr>
              <a:t>RULE 1</a:t>
            </a:r>
          </a:p>
        </p:txBody>
      </p:sp>
      <p:sp>
        <p:nvSpPr>
          <p:cNvPr id="18" name="TextBox 17"/>
          <p:cNvSpPr txBox="1"/>
          <p:nvPr/>
        </p:nvSpPr>
        <p:spPr>
          <a:xfrm>
            <a:off x="1060704" y="2148840"/>
            <a:ext cx="4715103" cy="45720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B27A3"/>
                </a:solidFill>
                <a:latin typeface="Bahnschrift"/>
              </a:rPr>
              <a:t>Flexi-Cap  &gt;  Multi-Cap</a:t>
            </a:r>
          </a:p>
        </p:txBody>
      </p:sp>
      <p:sp>
        <p:nvSpPr>
          <p:cNvPr id="19" name="Rectangle 18"/>
          <p:cNvSpPr/>
          <p:nvPr/>
        </p:nvSpPr>
        <p:spPr>
          <a:xfrm>
            <a:off x="1060704" y="2642615"/>
            <a:ext cx="4715103"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0704" y="2734056"/>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WHY</a:t>
            </a:r>
          </a:p>
        </p:txBody>
      </p:sp>
      <p:sp>
        <p:nvSpPr>
          <p:cNvPr id="21" name="TextBox 20"/>
          <p:cNvSpPr txBox="1"/>
          <p:nvPr/>
        </p:nvSpPr>
        <p:spPr>
          <a:xfrm>
            <a:off x="1060704" y="2935224"/>
            <a:ext cx="4715103" cy="914400"/>
          </a:xfrm>
          <a:prstGeom prst="rect">
            <a:avLst/>
          </a:prstGeom>
          <a:noFill/>
        </p:spPr>
        <p:txBody>
          <a:bodyPr wrap="square" anchor="t" lIns="0" rIns="0" tIns="0" bIns="0">
            <a:spAutoFit/>
          </a:bodyPr>
          <a:lstStyle/>
          <a:p>
            <a:pPr algn="l">
              <a:lnSpc>
                <a:spcPct val="108000"/>
              </a:lnSpc>
              <a:spcBef>
                <a:spcPts val="0"/>
              </a:spcBef>
              <a:spcAft>
                <a:spcPts val="0"/>
              </a:spcAft>
            </a:pPr>
            <a:r>
              <a:rPr sz="1000" b="0" i="0">
                <a:solidFill>
                  <a:srgbClr val="16233B"/>
                </a:solidFill>
                <a:latin typeface="Georgia"/>
              </a:rPr>
              <a:t>Multi-Cap carries a SEBI 25/25/25 floor, a hard minimum in large, mid and small caps, so it can't shift with the cycle. A Flexi-Cap runs the same brief with full cap freedom at a similar fee. We'd rather size mid/small ourselves than pay for a locked mandate.</a:t>
            </a:r>
          </a:p>
        </p:txBody>
      </p:sp>
      <p:sp>
        <p:nvSpPr>
          <p:cNvPr id="22" name="TextBox 21"/>
          <p:cNvSpPr txBox="1"/>
          <p:nvPr/>
        </p:nvSpPr>
        <p:spPr>
          <a:xfrm>
            <a:off x="1060704" y="4050791"/>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IN THIS BOOK</a:t>
            </a:r>
          </a:p>
        </p:txBody>
      </p:sp>
      <p:sp>
        <p:nvSpPr>
          <p:cNvPr id="23" name="TextBox 22"/>
          <p:cNvSpPr txBox="1"/>
          <p:nvPr/>
        </p:nvSpPr>
        <p:spPr>
          <a:xfrm>
            <a:off x="1060704" y="4242816"/>
            <a:ext cx="4715103" cy="36576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E0402F"/>
                </a:solidFill>
                <a:latin typeface="Bahnschrift"/>
              </a:rPr>
              <a:t>LIC MF Multi Cap</a:t>
            </a:r>
          </a:p>
        </p:txBody>
      </p:sp>
      <p:sp>
        <p:nvSpPr>
          <p:cNvPr id="24" name="Rounded Rectangle 23"/>
          <p:cNvSpPr/>
          <p:nvPr/>
        </p:nvSpPr>
        <p:spPr>
          <a:xfrm>
            <a:off x="1060704" y="4599432"/>
            <a:ext cx="22860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 y="4593945"/>
            <a:ext cx="22860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 TO FLEXI</a:t>
            </a:r>
          </a:p>
        </p:txBody>
      </p:sp>
      <p:sp>
        <p:nvSpPr>
          <p:cNvPr id="26" name="Rounded Rectangle 25"/>
          <p:cNvSpPr/>
          <p:nvPr/>
        </p:nvSpPr>
        <p:spPr>
          <a:xfrm>
            <a:off x="6233007" y="1783080"/>
            <a:ext cx="5117439" cy="3200400"/>
          </a:xfrm>
          <a:prstGeom prst="roundRect">
            <a:avLst>
              <a:gd name="adj" fmla="val 3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3007" y="1783080"/>
            <a:ext cx="54864" cy="3200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2463" y="1929384"/>
            <a:ext cx="4715103" cy="182880"/>
          </a:xfrm>
          <a:prstGeom prst="rect">
            <a:avLst/>
          </a:prstGeom>
          <a:noFill/>
        </p:spPr>
        <p:txBody>
          <a:bodyPr wrap="square" anchor="t" lIns="0" rIns="0" tIns="0" bIns="0">
            <a:spAutoFit/>
          </a:bodyPr>
          <a:lstStyle/>
          <a:p>
            <a:pPr algn="l">
              <a:spcBef>
                <a:spcPts val="0"/>
              </a:spcBef>
              <a:spcAft>
                <a:spcPts val="0"/>
              </a:spcAft>
            </a:pPr>
            <a:r>
              <a:rPr sz="900" b="1" i="0" spc="120">
                <a:solidFill>
                  <a:srgbClr val="F2A93C"/>
                </a:solidFill>
                <a:latin typeface="Bahnschrift"/>
              </a:rPr>
              <a:t>RULE 2</a:t>
            </a:r>
          </a:p>
        </p:txBody>
      </p:sp>
      <p:sp>
        <p:nvSpPr>
          <p:cNvPr id="29" name="TextBox 28"/>
          <p:cNvSpPr txBox="1"/>
          <p:nvPr/>
        </p:nvSpPr>
        <p:spPr>
          <a:xfrm>
            <a:off x="6452463" y="2148840"/>
            <a:ext cx="4715103" cy="457200"/>
          </a:xfrm>
          <a:prstGeom prst="rect">
            <a:avLst/>
          </a:prstGeom>
          <a:noFill/>
        </p:spPr>
        <p:txBody>
          <a:bodyPr wrap="square" anchor="t" lIns="0" rIns="0" tIns="0" bIns="0">
            <a:spAutoFit/>
          </a:bodyPr>
          <a:lstStyle/>
          <a:p>
            <a:pPr algn="l">
              <a:lnSpc>
                <a:spcPct val="100000"/>
              </a:lnSpc>
              <a:spcBef>
                <a:spcPts val="0"/>
              </a:spcBef>
              <a:spcAft>
                <a:spcPts val="0"/>
              </a:spcAft>
            </a:pPr>
            <a:r>
              <a:rPr sz="1250" b="1" i="0">
                <a:solidFill>
                  <a:srgbClr val="1B27A3"/>
                </a:solidFill>
                <a:latin typeface="Bahnschrift"/>
              </a:rPr>
              <a:t>Factor / Passive  &gt;  Active Large-Cap</a:t>
            </a:r>
          </a:p>
        </p:txBody>
      </p:sp>
      <p:sp>
        <p:nvSpPr>
          <p:cNvPr id="30" name="Rectangle 29"/>
          <p:cNvSpPr/>
          <p:nvPr/>
        </p:nvSpPr>
        <p:spPr>
          <a:xfrm>
            <a:off x="6452463" y="2642615"/>
            <a:ext cx="4715103"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2463" y="2734056"/>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WHY</a:t>
            </a:r>
          </a:p>
        </p:txBody>
      </p:sp>
      <p:sp>
        <p:nvSpPr>
          <p:cNvPr id="32" name="TextBox 31"/>
          <p:cNvSpPr txBox="1"/>
          <p:nvPr/>
        </p:nvSpPr>
        <p:spPr>
          <a:xfrm>
            <a:off x="6452463" y="2935224"/>
            <a:ext cx="4715103" cy="914400"/>
          </a:xfrm>
          <a:prstGeom prst="rect">
            <a:avLst/>
          </a:prstGeom>
          <a:noFill/>
        </p:spPr>
        <p:txBody>
          <a:bodyPr wrap="square" anchor="t" lIns="0" rIns="0" tIns="0" bIns="0">
            <a:spAutoFit/>
          </a:bodyPr>
          <a:lstStyle/>
          <a:p>
            <a:pPr algn="l">
              <a:lnSpc>
                <a:spcPct val="108000"/>
              </a:lnSpc>
              <a:spcBef>
                <a:spcPts val="0"/>
              </a:spcBef>
              <a:spcAft>
                <a:spcPts val="0"/>
              </a:spcAft>
            </a:pPr>
            <a:r>
              <a:rPr sz="1000" b="0" i="0">
                <a:solidFill>
                  <a:srgbClr val="16233B"/>
                </a:solidFill>
                <a:latin typeface="Georgia"/>
              </a:rPr>
              <a:t>Net-of-fee alpha in active Large-Cap is thin and inconsistent, and the held scheme has trailed its index over both 3 and 5 years. A low-cost passive or factor Large-Cap secures the same beta and frees the fee budget for categories where active management can pay.</a:t>
            </a:r>
          </a:p>
        </p:txBody>
      </p:sp>
      <p:sp>
        <p:nvSpPr>
          <p:cNvPr id="33" name="TextBox 32"/>
          <p:cNvSpPr txBox="1"/>
          <p:nvPr/>
        </p:nvSpPr>
        <p:spPr>
          <a:xfrm>
            <a:off x="6452463" y="4050791"/>
            <a:ext cx="4715103" cy="182880"/>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IN THIS BOOK</a:t>
            </a:r>
          </a:p>
        </p:txBody>
      </p:sp>
      <p:sp>
        <p:nvSpPr>
          <p:cNvPr id="34" name="TextBox 33"/>
          <p:cNvSpPr txBox="1"/>
          <p:nvPr/>
        </p:nvSpPr>
        <p:spPr>
          <a:xfrm>
            <a:off x="6452463" y="4242816"/>
            <a:ext cx="4715103" cy="365760"/>
          </a:xfrm>
          <a:prstGeom prst="rect">
            <a:avLst/>
          </a:prstGeom>
          <a:noFill/>
        </p:spPr>
        <p:txBody>
          <a:bodyPr wrap="square" anchor="t" lIns="0" rIns="0" tIns="0" bIns="0">
            <a:spAutoFit/>
          </a:bodyPr>
          <a:lstStyle/>
          <a:p>
            <a:pPr algn="l">
              <a:lnSpc>
                <a:spcPct val="100000"/>
              </a:lnSpc>
              <a:spcBef>
                <a:spcPts val="0"/>
              </a:spcBef>
              <a:spcAft>
                <a:spcPts val="0"/>
              </a:spcAft>
            </a:pPr>
            <a:r>
              <a:rPr sz="950" b="1" i="0">
                <a:solidFill>
                  <a:srgbClr val="E0402F"/>
                </a:solidFill>
                <a:latin typeface="Bahnschrift"/>
              </a:rPr>
              <a:t>LIC MF Large Cap</a:t>
            </a:r>
          </a:p>
        </p:txBody>
      </p:sp>
      <p:sp>
        <p:nvSpPr>
          <p:cNvPr id="35" name="Rounded Rectangle 34"/>
          <p:cNvSpPr/>
          <p:nvPr/>
        </p:nvSpPr>
        <p:spPr>
          <a:xfrm>
            <a:off x="6452463" y="4599432"/>
            <a:ext cx="228600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52463" y="4593945"/>
            <a:ext cx="228600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 TO PASSIVE/FACTOR</a:t>
            </a:r>
          </a:p>
        </p:txBody>
      </p:sp>
      <p:sp>
        <p:nvSpPr>
          <p:cNvPr id="37" name="Rounded Rectangle 36"/>
          <p:cNvSpPr/>
          <p:nvPr/>
        </p:nvSpPr>
        <p:spPr>
          <a:xfrm>
            <a:off x="841248" y="5230368"/>
            <a:ext cx="10509199" cy="77724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 y="5230368"/>
            <a:ext cx="54864" cy="77724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6" y="535838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AMC CONCENTRATION</a:t>
            </a:r>
          </a:p>
        </p:txBody>
      </p:sp>
      <p:sp>
        <p:nvSpPr>
          <p:cNvPr id="40" name="TextBox 39"/>
          <p:cNvSpPr txBox="1"/>
          <p:nvPr/>
        </p:nvSpPr>
        <p:spPr>
          <a:xfrm>
            <a:off x="1042416" y="5632704"/>
            <a:ext cx="10143439" cy="320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4 of your 9 schemes (~15.9% of the book) sit with a single AMC, LIC MF. That concentrates house-style and single-manager risk; diversifying the switch targets across fund houses is part of the fix.</a:t>
            </a:r>
          </a:p>
        </p:txBody>
      </p:sp>
      <p:sp>
        <p:nvSpPr>
          <p:cNvPr id="41" name="TextBox 4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SEBI category framework (25/25/25 multi-cap floor) · net-of-fee alpha and r² measured vs total-return benchmark. Rules applied to the held schemes. Illustrative synthetic funds.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Fund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action is structural, never a performance sale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25</a:t>
            </a:r>
          </a:p>
        </p:txBody>
      </p:sp>
      <p:sp>
        <p:nvSpPr>
          <p:cNvPr id="15" name="TextBox 14"/>
          <p:cNvSpPr txBox="1"/>
          <p:nvPr/>
        </p:nvSpPr>
        <p:spPr>
          <a:xfrm>
            <a:off x="841248" y="1481328"/>
            <a:ext cx="10509199" cy="365760"/>
          </a:xfrm>
          <a:prstGeom prst="rect">
            <a:avLst/>
          </a:prstGeom>
          <a:noFill/>
        </p:spPr>
        <p:txBody>
          <a:bodyPr wrap="square" anchor="t" lIns="0" rIns="0" tIns="0" bIns="0">
            <a:spAutoFit/>
          </a:bodyPr>
          <a:lstStyle/>
          <a:p>
            <a:pPr algn="l">
              <a:lnSpc>
                <a:spcPct val="104000"/>
              </a:lnSpc>
              <a:spcBef>
                <a:spcPts val="0"/>
              </a:spcBef>
              <a:spcAft>
                <a:spcPts val="0"/>
              </a:spcAft>
            </a:pPr>
            <a:r>
              <a:rPr sz="1000" b="0" i="1">
                <a:solidFill>
                  <a:srgbClr val="6B7280"/>
                </a:solidFill>
                <a:latin typeface="Georgia"/>
              </a:rPr>
              <a:t>No fund here is sold on performance alone. Each action is structural: mandate, cost, scale or consistency. Where a scheme mostly re-buys index names you already hold directly, the cleaner replacement is a low-cost index sleeve (Nifty 50 / Nifty 500 class) rather than paying an active fee twice.</a:t>
            </a:r>
          </a:p>
        </p:txBody>
      </p:sp>
      <p:sp>
        <p:nvSpPr>
          <p:cNvPr id="16" name="Rounded Rectangle 15"/>
          <p:cNvSpPr/>
          <p:nvPr/>
        </p:nvSpPr>
        <p:spPr>
          <a:xfrm>
            <a:off x="841248" y="1920240"/>
            <a:ext cx="5117439"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192024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204825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0" name="TextBox 19"/>
          <p:cNvSpPr txBox="1"/>
          <p:nvPr/>
        </p:nvSpPr>
        <p:spPr>
          <a:xfrm>
            <a:off x="2322576" y="203911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Large Cap</a:t>
            </a:r>
          </a:p>
        </p:txBody>
      </p:sp>
      <p:sp>
        <p:nvSpPr>
          <p:cNvPr id="21" name="TextBox 20"/>
          <p:cNvSpPr txBox="1"/>
          <p:nvPr/>
        </p:nvSpPr>
        <p:spPr>
          <a:xfrm>
            <a:off x="1005840" y="234086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NEG_ALPHA  ·  DOWN_CAP_HI  ·  HELD ~9Y, COSTLIER TO SWITCH</a:t>
            </a:r>
          </a:p>
        </p:txBody>
      </p:sp>
      <p:sp>
        <p:nvSpPr>
          <p:cNvPr id="22" name="TextBox 21"/>
          <p:cNvSpPr txBox="1"/>
          <p:nvPr/>
        </p:nvSpPr>
        <p:spPr>
          <a:xfrm>
            <a:off x="1005840" y="254203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Trails the large-cap index by 4-5pp a year over 3 and 5 years; active fees for below-index outcomes.</a:t>
            </a:r>
          </a:p>
        </p:txBody>
      </p:sp>
      <p:sp>
        <p:nvSpPr>
          <p:cNvPr id="23" name="TextBox 22"/>
          <p:cNvSpPr txBox="1"/>
          <p:nvPr/>
        </p:nvSpPr>
        <p:spPr>
          <a:xfrm>
            <a:off x="1005840" y="290169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a low-cost Large-Cap Index / Factor fund</a:t>
            </a:r>
          </a:p>
        </p:txBody>
      </p:sp>
      <p:sp>
        <p:nvSpPr>
          <p:cNvPr id="24" name="Rounded Rectangle 23"/>
          <p:cNvSpPr/>
          <p:nvPr/>
        </p:nvSpPr>
        <p:spPr>
          <a:xfrm>
            <a:off x="841248" y="3230880"/>
            <a:ext cx="5117439"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323088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335889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35340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8" name="TextBox 27"/>
          <p:cNvSpPr txBox="1"/>
          <p:nvPr/>
        </p:nvSpPr>
        <p:spPr>
          <a:xfrm>
            <a:off x="2322576" y="334975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Flexi Cap</a:t>
            </a:r>
          </a:p>
        </p:txBody>
      </p:sp>
      <p:sp>
        <p:nvSpPr>
          <p:cNvPr id="29" name="TextBox 28"/>
          <p:cNvSpPr txBox="1"/>
          <p:nvPr/>
        </p:nvSpPr>
        <p:spPr>
          <a:xfrm>
            <a:off x="1005840" y="365150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NEG_ALPHA  ·  WEAK_CONSIST</a:t>
            </a:r>
          </a:p>
        </p:txBody>
      </p:sp>
      <p:sp>
        <p:nvSpPr>
          <p:cNvPr id="30" name="TextBox 29"/>
          <p:cNvSpPr txBox="1"/>
          <p:nvPr/>
        </p:nvSpPr>
        <p:spPr>
          <a:xfrm>
            <a:off x="1005840" y="385267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Trails the broad market by ~4pp a year over five years; the record misses our consistency bar.</a:t>
            </a:r>
          </a:p>
        </p:txBody>
      </p:sp>
      <p:sp>
        <p:nvSpPr>
          <p:cNvPr id="31" name="TextBox 30"/>
          <p:cNvSpPr txBox="1"/>
          <p:nvPr/>
        </p:nvSpPr>
        <p:spPr>
          <a:xfrm>
            <a:off x="1005840" y="421233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a top-quartile Flexi-Cap from the approved list</a:t>
            </a:r>
          </a:p>
        </p:txBody>
      </p:sp>
      <p:sp>
        <p:nvSpPr>
          <p:cNvPr id="32" name="Rounded Rectangle 31"/>
          <p:cNvSpPr/>
          <p:nvPr/>
        </p:nvSpPr>
        <p:spPr>
          <a:xfrm>
            <a:off x="841248" y="4541520"/>
            <a:ext cx="5117439"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54152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05840" y="466953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466404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36" name="TextBox 35"/>
          <p:cNvSpPr txBox="1"/>
          <p:nvPr/>
        </p:nvSpPr>
        <p:spPr>
          <a:xfrm>
            <a:off x="2322576" y="466039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Multi Cap</a:t>
            </a:r>
          </a:p>
        </p:txBody>
      </p:sp>
      <p:sp>
        <p:nvSpPr>
          <p:cNvPr id="37" name="TextBox 36"/>
          <p:cNvSpPr txBox="1"/>
          <p:nvPr/>
        </p:nvSpPr>
        <p:spPr>
          <a:xfrm>
            <a:off x="1005840" y="496214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MANDATE_RIGIDITY</a:t>
            </a:r>
          </a:p>
        </p:txBody>
      </p:sp>
      <p:sp>
        <p:nvSpPr>
          <p:cNvPr id="38" name="TextBox 37"/>
          <p:cNvSpPr txBox="1"/>
          <p:nvPr/>
        </p:nvSpPr>
        <p:spPr>
          <a:xfrm>
            <a:off x="1005840" y="516331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Multi-cap's SEBI 25/25/25 floor forces small/mid we prefer to size ourselves, structural, not performance.</a:t>
            </a:r>
          </a:p>
        </p:txBody>
      </p:sp>
      <p:sp>
        <p:nvSpPr>
          <p:cNvPr id="39" name="TextBox 38"/>
          <p:cNvSpPr txBox="1"/>
          <p:nvPr/>
        </p:nvSpPr>
        <p:spPr>
          <a:xfrm>
            <a:off x="1005840" y="552297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a Flexi-Cap (manager-flexible cap mix)</a:t>
            </a:r>
          </a:p>
        </p:txBody>
      </p:sp>
      <p:sp>
        <p:nvSpPr>
          <p:cNvPr id="40" name="Rounded Rectangle 39"/>
          <p:cNvSpPr/>
          <p:nvPr/>
        </p:nvSpPr>
        <p:spPr>
          <a:xfrm>
            <a:off x="6233007" y="1920240"/>
            <a:ext cx="5117439"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33007" y="192024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97599" y="204825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7599"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REDEEM TO DIRECT</a:t>
            </a:r>
          </a:p>
        </p:txBody>
      </p:sp>
      <p:sp>
        <p:nvSpPr>
          <p:cNvPr id="44" name="TextBox 43"/>
          <p:cNvSpPr txBox="1"/>
          <p:nvPr/>
        </p:nvSpPr>
        <p:spPr>
          <a:xfrm>
            <a:off x="7714335" y="203911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ICICI Pru Multi-Asset (Reg)</a:t>
            </a:r>
          </a:p>
        </p:txBody>
      </p:sp>
      <p:sp>
        <p:nvSpPr>
          <p:cNvPr id="45" name="TextBox 44"/>
          <p:cNvSpPr txBox="1"/>
          <p:nvPr/>
        </p:nvSpPr>
        <p:spPr>
          <a:xfrm>
            <a:off x="6397599" y="234086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REG_PLAN_DRAG  ·  HELD ~6Y, COSTLIER TO SWITCH</a:t>
            </a:r>
          </a:p>
        </p:txBody>
      </p:sp>
      <p:sp>
        <p:nvSpPr>
          <p:cNvPr id="46" name="TextBox 45"/>
          <p:cNvSpPr txBox="1"/>
          <p:nvPr/>
        </p:nvSpPr>
        <p:spPr>
          <a:xfrm>
            <a:off x="6397599" y="254203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The identical fund is available Direct; the Regular-plan trail is pure avoidable cost.</a:t>
            </a:r>
          </a:p>
        </p:txBody>
      </p:sp>
      <p:sp>
        <p:nvSpPr>
          <p:cNvPr id="47" name="TextBox 46"/>
          <p:cNvSpPr txBox="1"/>
          <p:nvPr/>
        </p:nvSpPr>
        <p:spPr>
          <a:xfrm>
            <a:off x="6397599" y="290169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the same fund's Direct plan</a:t>
            </a:r>
          </a:p>
        </p:txBody>
      </p:sp>
      <p:sp>
        <p:nvSpPr>
          <p:cNvPr id="48" name="Rounded Rectangle 47"/>
          <p:cNvSpPr/>
          <p:nvPr/>
        </p:nvSpPr>
        <p:spPr>
          <a:xfrm>
            <a:off x="6233007" y="3230880"/>
            <a:ext cx="5117439" cy="1200912"/>
          </a:xfrm>
          <a:prstGeom prst="roundRect">
            <a:avLst>
              <a:gd name="adj" fmla="val 5000"/>
            </a:avLst>
          </a:prstGeom>
          <a:solidFill>
            <a:srgbClr val="F5F6FC"/>
          </a:solidFill>
          <a:ln w="12700">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233007" y="3230880"/>
            <a:ext cx="54864" cy="1200912"/>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397599" y="335889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97599" y="335340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52" name="TextBox 51"/>
          <p:cNvSpPr txBox="1"/>
          <p:nvPr/>
        </p:nvSpPr>
        <p:spPr>
          <a:xfrm>
            <a:off x="7714335" y="334975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PGIM India Small Cap</a:t>
            </a:r>
          </a:p>
        </p:txBody>
      </p:sp>
      <p:sp>
        <p:nvSpPr>
          <p:cNvPr id="53" name="TextBox 52"/>
          <p:cNvSpPr txBox="1"/>
          <p:nvPr/>
        </p:nvSpPr>
        <p:spPr>
          <a:xfrm>
            <a:off x="6397599" y="365150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E0402F"/>
                </a:solidFill>
                <a:latin typeface="Bahnschrift"/>
              </a:rPr>
              <a:t>DEEP_DD  ·  NEG_ALPHA  ·  OVER_ALLOC</a:t>
            </a:r>
          </a:p>
        </p:txBody>
      </p:sp>
      <p:sp>
        <p:nvSpPr>
          <p:cNvPr id="54" name="TextBox 53"/>
          <p:cNvSpPr txBox="1"/>
          <p:nvPr/>
        </p:nvSpPr>
        <p:spPr>
          <a:xfrm>
            <a:off x="6397599" y="385267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Sub-scale ~3L beside a larger small-cap fund; persistent underperformance and duplication, structural exit.</a:t>
            </a:r>
          </a:p>
        </p:txBody>
      </p:sp>
      <p:sp>
        <p:nvSpPr>
          <p:cNvPr id="55" name="TextBox 54"/>
          <p:cNvSpPr txBox="1"/>
          <p:nvPr/>
        </p:nvSpPr>
        <p:spPr>
          <a:xfrm>
            <a:off x="6397599" y="421233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the primary small-cap sleeve already held</a:t>
            </a:r>
          </a:p>
        </p:txBody>
      </p:sp>
      <p:sp>
        <p:nvSpPr>
          <p:cNvPr id="56" name="Rounded Rectangle 55"/>
          <p:cNvSpPr/>
          <p:nvPr/>
        </p:nvSpPr>
        <p:spPr>
          <a:xfrm>
            <a:off x="6233007" y="4541520"/>
            <a:ext cx="5117439"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33007" y="454152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397599" y="4669536"/>
            <a:ext cx="123444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97599" y="466404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60" name="TextBox 59"/>
          <p:cNvSpPr txBox="1"/>
          <p:nvPr/>
        </p:nvSpPr>
        <p:spPr>
          <a:xfrm>
            <a:off x="7714335" y="4660392"/>
            <a:ext cx="3517239"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LIC MF Balanced Advantage</a:t>
            </a:r>
          </a:p>
        </p:txBody>
      </p:sp>
      <p:sp>
        <p:nvSpPr>
          <p:cNvPr id="61" name="TextBox 60"/>
          <p:cNvSpPr txBox="1"/>
          <p:nvPr/>
        </p:nvSpPr>
        <p:spPr>
          <a:xfrm>
            <a:off x="6397599" y="4962144"/>
            <a:ext cx="4843119"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SUB_SCALE  ·  SHORT_RECORD  ·  REG_PLAN_DRAG</a:t>
            </a:r>
          </a:p>
        </p:txBody>
      </p:sp>
      <p:sp>
        <p:nvSpPr>
          <p:cNvPr id="62" name="TextBox 61"/>
          <p:cNvSpPr txBox="1"/>
          <p:nvPr/>
        </p:nvSpPr>
        <p:spPr>
          <a:xfrm>
            <a:off x="6397599" y="5163312"/>
            <a:ext cx="4806543"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Under four years of record, sub-scale, Regular plan; we fold the sleeve into the proven hybrid held.</a:t>
            </a:r>
          </a:p>
        </p:txBody>
      </p:sp>
      <p:sp>
        <p:nvSpPr>
          <p:cNvPr id="63" name="TextBox 62"/>
          <p:cNvSpPr txBox="1"/>
          <p:nvPr/>
        </p:nvSpPr>
        <p:spPr>
          <a:xfrm>
            <a:off x="6397599" y="5522976"/>
            <a:ext cx="4806543"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Measured against </a:t>
            </a:r>
            <a:r>
              <a:rPr sz="850" b="0" i="1">
                <a:solidFill>
                  <a:srgbClr val="1B27A3"/>
                </a:solidFill>
                <a:latin typeface="Georgia"/>
              </a:rPr>
              <a:t>the hybrid core already held (HDFC BAF, Direct)</a:t>
            </a:r>
          </a:p>
        </p:txBody>
      </p:sp>
      <p:sp>
        <p:nvSpPr>
          <p:cNvPr id="64" name="TextBox 6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Category exemplar = the fund our quality framework ranks best in the category, used as the measuring stick, not a recommendation to buy it. Whether a replacement is named is a compliance decision. Synthetic demo funds.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4.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04</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04</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What We Would Do</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calls, the cost and the tax</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House-view fit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you're paying today</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Tax impact</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Your priority actions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House-view fit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plan aligns with Ionic's positioning · and where a gap stays open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27</a:t>
            </a:r>
          </a:p>
        </p:txBody>
      </p:sp>
      <p:sp>
        <p:nvSpPr>
          <p:cNvPr id="15" name="TextBox 14"/>
          <p:cNvSpPr txBox="1"/>
          <p:nvPr/>
        </p:nvSpPr>
        <p:spPr>
          <a:xfrm>
            <a:off x="841248" y="1572768"/>
            <a:ext cx="10509199" cy="274320"/>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Each recommendation, checked against how Ionic is currently positioned.</a:t>
            </a:r>
          </a:p>
        </p:txBody>
      </p:sp>
      <p:sp>
        <p:nvSpPr>
          <p:cNvPr id="16" name="TextBox 15"/>
          <p:cNvSpPr txBox="1"/>
          <p:nvPr/>
        </p:nvSpPr>
        <p:spPr>
          <a:xfrm>
            <a:off x="914400" y="1938528"/>
            <a:ext cx="185044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7" name="TextBox 16"/>
          <p:cNvSpPr txBox="1"/>
          <p:nvPr/>
        </p:nvSpPr>
        <p:spPr>
          <a:xfrm>
            <a:off x="2911147" y="1938528"/>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HOUSE VIEW</a:t>
            </a:r>
          </a:p>
        </p:txBody>
      </p:sp>
      <p:sp>
        <p:nvSpPr>
          <p:cNvPr id="18" name="TextBox 17"/>
          <p:cNvSpPr txBox="1"/>
          <p:nvPr/>
        </p:nvSpPr>
        <p:spPr>
          <a:xfrm>
            <a:off x="5223171" y="1938528"/>
            <a:ext cx="45828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THE PLAN DOES</a:t>
            </a:r>
          </a:p>
        </p:txBody>
      </p:sp>
      <p:sp>
        <p:nvSpPr>
          <p:cNvPr id="19" name="TextBox 18"/>
          <p:cNvSpPr txBox="1"/>
          <p:nvPr/>
        </p:nvSpPr>
        <p:spPr>
          <a:xfrm>
            <a:off x="9952311" y="1938528"/>
            <a:ext cx="132498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FIT</a:t>
            </a:r>
          </a:p>
        </p:txBody>
      </p:sp>
      <p:sp>
        <p:nvSpPr>
          <p:cNvPr id="20" name="Rectangle 19"/>
          <p:cNvSpPr/>
          <p:nvPr/>
        </p:nvSpPr>
        <p:spPr>
          <a:xfrm>
            <a:off x="841248" y="219456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240280"/>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Domestic equity</a:t>
            </a:r>
          </a:p>
        </p:txBody>
      </p:sp>
      <p:sp>
        <p:nvSpPr>
          <p:cNvPr id="22" name="TextBox 21"/>
          <p:cNvSpPr txBox="1"/>
          <p:nvPr/>
        </p:nvSpPr>
        <p:spPr>
          <a:xfrm>
            <a:off x="2911147" y="2240280"/>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Incrementally positive</a:t>
            </a:r>
          </a:p>
        </p:txBody>
      </p:sp>
      <p:sp>
        <p:nvSpPr>
          <p:cNvPr id="23" name="TextBox 22"/>
          <p:cNvSpPr txBox="1"/>
          <p:nvPr/>
        </p:nvSpPr>
        <p:spPr>
          <a:xfrm>
            <a:off x="5223171" y="2240280"/>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Core book kept; only sub-gate names sold and the two &gt;11% positions trimmed toward guideline.</a:t>
            </a:r>
          </a:p>
        </p:txBody>
      </p:sp>
      <p:sp>
        <p:nvSpPr>
          <p:cNvPr id="24" name="Rounded Rectangle 23"/>
          <p:cNvSpPr/>
          <p:nvPr/>
        </p:nvSpPr>
        <p:spPr>
          <a:xfrm>
            <a:off x="9952311" y="24048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52311" y="23993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26" name="Rectangle 25"/>
          <p:cNvSpPr/>
          <p:nvPr/>
        </p:nvSpPr>
        <p:spPr>
          <a:xfrm>
            <a:off x="841248" y="27889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807208"/>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Foreign equity</a:t>
            </a:r>
          </a:p>
        </p:txBody>
      </p:sp>
      <p:sp>
        <p:nvSpPr>
          <p:cNvPr id="28" name="TextBox 27"/>
          <p:cNvSpPr txBox="1"/>
          <p:nvPr/>
        </p:nvSpPr>
        <p:spPr>
          <a:xfrm>
            <a:off x="2911147" y="2807208"/>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~15% target, under-owned</a:t>
            </a:r>
          </a:p>
        </p:txBody>
      </p:sp>
      <p:sp>
        <p:nvSpPr>
          <p:cNvPr id="29" name="TextBox 28"/>
          <p:cNvSpPr txBox="1"/>
          <p:nvPr/>
        </p:nvSpPr>
        <p:spPr>
          <a:xfrm>
            <a:off x="5223171" y="2807208"/>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~28% of net proceeds seeds a global sleeve, a first step; the full ~15% target is phased over cycles.</a:t>
            </a:r>
          </a:p>
        </p:txBody>
      </p:sp>
      <p:sp>
        <p:nvSpPr>
          <p:cNvPr id="30" name="Rounded Rectangle 29"/>
          <p:cNvSpPr/>
          <p:nvPr/>
        </p:nvSpPr>
        <p:spPr>
          <a:xfrm>
            <a:off x="9952311" y="297180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52311" y="29663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2" name="Rectangle 31"/>
          <p:cNvSpPr/>
          <p:nvPr/>
        </p:nvSpPr>
        <p:spPr>
          <a:xfrm>
            <a:off x="841248" y="33558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3374136"/>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Gold &amp; silver</a:t>
            </a:r>
          </a:p>
        </p:txBody>
      </p:sp>
      <p:sp>
        <p:nvSpPr>
          <p:cNvPr id="34" name="TextBox 33"/>
          <p:cNvSpPr txBox="1"/>
          <p:nvPr/>
        </p:nvSpPr>
        <p:spPr>
          <a:xfrm>
            <a:off x="2911147" y="3374136"/>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Positive, 75:25</a:t>
            </a:r>
          </a:p>
        </p:txBody>
      </p:sp>
      <p:sp>
        <p:nvSpPr>
          <p:cNvPr id="35" name="TextBox 34"/>
          <p:cNvSpPr txBox="1"/>
          <p:nvPr/>
        </p:nvSpPr>
        <p:spPr>
          <a:xfrm>
            <a:off x="5223171" y="3374136"/>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New gold–silver sleeve (75:25) added from proceeds; still building toward the ~5% target.</a:t>
            </a:r>
          </a:p>
        </p:txBody>
      </p:sp>
      <p:sp>
        <p:nvSpPr>
          <p:cNvPr id="36" name="Rounded Rectangle 35"/>
          <p:cNvSpPr/>
          <p:nvPr/>
        </p:nvSpPr>
        <p:spPr>
          <a:xfrm>
            <a:off x="9952311" y="353872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52311" y="35332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8" name="Rectangle 37"/>
          <p:cNvSpPr/>
          <p:nvPr/>
        </p:nvSpPr>
        <p:spPr>
          <a:xfrm>
            <a:off x="841248" y="39227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3941064"/>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Momentum</a:t>
            </a:r>
          </a:p>
        </p:txBody>
      </p:sp>
      <p:sp>
        <p:nvSpPr>
          <p:cNvPr id="40" name="TextBox 39"/>
          <p:cNvSpPr txBox="1"/>
          <p:nvPr/>
        </p:nvSpPr>
        <p:spPr>
          <a:xfrm>
            <a:off x="2911147" y="3941064"/>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On hold</a:t>
            </a:r>
          </a:p>
        </p:txBody>
      </p:sp>
      <p:sp>
        <p:nvSpPr>
          <p:cNvPr id="41" name="TextBox 40"/>
          <p:cNvSpPr txBox="1"/>
          <p:nvPr/>
        </p:nvSpPr>
        <p:spPr>
          <a:xfrm>
            <a:off x="5223171" y="3941064"/>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momentum chase, every sell is fundamentals-driven, not a price-trend call.</a:t>
            </a:r>
          </a:p>
        </p:txBody>
      </p:sp>
      <p:sp>
        <p:nvSpPr>
          <p:cNvPr id="42" name="Rounded Rectangle 41"/>
          <p:cNvSpPr/>
          <p:nvPr/>
        </p:nvSpPr>
        <p:spPr>
          <a:xfrm>
            <a:off x="9952311" y="41056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52311" y="41001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44" name="Rectangle 43"/>
          <p:cNvSpPr/>
          <p:nvPr/>
        </p:nvSpPr>
        <p:spPr>
          <a:xfrm>
            <a:off x="841248" y="44897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4507992"/>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Low-vol / value</a:t>
            </a:r>
          </a:p>
        </p:txBody>
      </p:sp>
      <p:sp>
        <p:nvSpPr>
          <p:cNvPr id="46" name="TextBox 45"/>
          <p:cNvSpPr txBox="1"/>
          <p:nvPr/>
        </p:nvSpPr>
        <p:spPr>
          <a:xfrm>
            <a:off x="2911147" y="4507992"/>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Favoured</a:t>
            </a:r>
          </a:p>
        </p:txBody>
      </p:sp>
      <p:sp>
        <p:nvSpPr>
          <p:cNvPr id="47" name="TextBox 46"/>
          <p:cNvSpPr txBox="1"/>
          <p:nvPr/>
        </p:nvSpPr>
        <p:spPr>
          <a:xfrm>
            <a:off x="5223171" y="4507992"/>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Largest redeployment sleeve is a low-vol / value core, the closest-substitute risk profile.</a:t>
            </a:r>
          </a:p>
        </p:txBody>
      </p:sp>
      <p:sp>
        <p:nvSpPr>
          <p:cNvPr id="48" name="Rounded Rectangle 47"/>
          <p:cNvSpPr/>
          <p:nvPr/>
        </p:nvSpPr>
        <p:spPr>
          <a:xfrm>
            <a:off x="9952311" y="467258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52311" y="46670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50" name="Rectangle 49"/>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41248" y="5193792"/>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5193792"/>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532180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READ</a:t>
            </a:r>
          </a:p>
        </p:txBody>
      </p:sp>
      <p:sp>
        <p:nvSpPr>
          <p:cNvPr id="54" name="TextBox 53"/>
          <p:cNvSpPr txBox="1"/>
          <p:nvPr/>
        </p:nvSpPr>
        <p:spPr>
          <a:xfrm>
            <a:off x="1042416" y="5596128"/>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plan pulls the book toward the house view where it is off. Two gaps stay open by design, foreign and gold are built in steps, not funded in a single cycle.</a:t>
            </a:r>
          </a:p>
        </p:txBody>
      </p:sp>
      <p:sp>
        <p:nvSpPr>
          <p:cNvPr id="55" name="TextBox 5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house view · illustrative for this demo · as of 2026-07-25.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you're paying today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Fund-level cost of ownership · what each scheme charges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28</a:t>
            </a:r>
          </a:p>
        </p:txBody>
      </p:sp>
      <p:sp>
        <p:nvSpPr>
          <p:cNvPr id="15" name="TextBox 14"/>
          <p:cNvSpPr txBox="1"/>
          <p:nvPr/>
        </p:nvSpPr>
        <p:spPr>
          <a:xfrm>
            <a:off x="841248"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2.2 L</a:t>
            </a:r>
          </a:p>
        </p:txBody>
      </p:sp>
      <p:sp>
        <p:nvSpPr>
          <p:cNvPr id="16" name="TextBox 15"/>
          <p:cNvSpPr txBox="1"/>
          <p:nvPr/>
        </p:nvSpPr>
        <p:spPr>
          <a:xfrm>
            <a:off x="841248"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FEES, A YEAR</a:t>
            </a:r>
          </a:p>
        </p:txBody>
      </p:sp>
      <p:sp>
        <p:nvSpPr>
          <p:cNvPr id="17" name="TextBox 16"/>
          <p:cNvSpPr txBox="1"/>
          <p:nvPr/>
        </p:nvSpPr>
        <p:spPr>
          <a:xfrm>
            <a:off x="841248"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97 bps blended</a:t>
            </a:r>
          </a:p>
        </p:txBody>
      </p:sp>
      <p:sp>
        <p:nvSpPr>
          <p:cNvPr id="18" name="TextBox 17"/>
          <p:cNvSpPr txBox="1"/>
          <p:nvPr/>
        </p:nvSpPr>
        <p:spPr>
          <a:xfrm>
            <a:off x="4344314"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97 bps</a:t>
            </a:r>
          </a:p>
        </p:txBody>
      </p:sp>
      <p:sp>
        <p:nvSpPr>
          <p:cNvPr id="19" name="TextBox 18"/>
          <p:cNvSpPr txBox="1"/>
          <p:nvPr/>
        </p:nvSpPr>
        <p:spPr>
          <a:xfrm>
            <a:off x="4344314"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BLENDED FUND TER</a:t>
            </a:r>
          </a:p>
        </p:txBody>
      </p:sp>
      <p:sp>
        <p:nvSpPr>
          <p:cNvPr id="20" name="TextBox 19"/>
          <p:cNvSpPr txBox="1"/>
          <p:nvPr/>
        </p:nvSpPr>
        <p:spPr>
          <a:xfrm>
            <a:off x="4344314"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value-weighted, current plan</a:t>
            </a:r>
          </a:p>
        </p:txBody>
      </p:sp>
      <p:sp>
        <p:nvSpPr>
          <p:cNvPr id="21" name="Rectangle 20"/>
          <p:cNvSpPr/>
          <p:nvPr/>
        </p:nvSpPr>
        <p:spPr>
          <a:xfrm>
            <a:off x="4289450"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664208"/>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8C95DE"/>
                </a:solidFill>
                <a:latin typeface="Bahnschrift"/>
              </a:rPr>
              <a:t>20–135 bps</a:t>
            </a:r>
          </a:p>
        </p:txBody>
      </p:sp>
      <p:sp>
        <p:nvSpPr>
          <p:cNvPr id="23" name="TextBox 22"/>
          <p:cNvSpPr txBox="1"/>
          <p:nvPr/>
        </p:nvSpPr>
        <p:spPr>
          <a:xfrm>
            <a:off x="7847380" y="2139696"/>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COST SPREAD</a:t>
            </a:r>
          </a:p>
        </p:txBody>
      </p:sp>
      <p:sp>
        <p:nvSpPr>
          <p:cNvPr id="24" name="TextBox 23"/>
          <p:cNvSpPr txBox="1"/>
          <p:nvPr/>
        </p:nvSpPr>
        <p:spPr>
          <a:xfrm>
            <a:off x="7847380" y="2322576"/>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cheapest to priciest holding</a:t>
            </a:r>
          </a:p>
        </p:txBody>
      </p:sp>
      <p:sp>
        <p:nvSpPr>
          <p:cNvPr id="25" name="Rectangle 24"/>
          <p:cNvSpPr/>
          <p:nvPr/>
        </p:nvSpPr>
        <p:spPr>
          <a:xfrm>
            <a:off x="7792516"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azby_ter_bars.png"/>
          <p:cNvPicPr>
            <a:picLocks noChangeAspect="1"/>
          </p:cNvPicPr>
          <p:nvPr/>
        </p:nvPicPr>
        <p:blipFill>
          <a:blip r:embed="rId3"/>
          <a:stretch>
            <a:fillRect/>
          </a:stretch>
        </p:blipFill>
        <p:spPr>
          <a:xfrm>
            <a:off x="2120036" y="2670048"/>
            <a:ext cx="7951622" cy="2907792"/>
          </a:xfrm>
          <a:prstGeom prst="rect">
            <a:avLst/>
          </a:prstGeom>
        </p:spPr>
      </p:pic>
      <p:sp>
        <p:nvSpPr>
          <p:cNvPr id="27" name="Rounded Rectangle 26"/>
          <p:cNvSpPr/>
          <p:nvPr/>
        </p:nvSpPr>
        <p:spPr>
          <a:xfrm>
            <a:off x="841248" y="5632704"/>
            <a:ext cx="91440" cy="219456"/>
          </a:xfrm>
          <a:prstGeom prst="roundRect">
            <a:avLst>
              <a:gd name="adj" fmla="val 40000"/>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5614416"/>
            <a:ext cx="10308031" cy="256032"/>
          </a:xfrm>
          <a:prstGeom prst="rect">
            <a:avLst/>
          </a:prstGeom>
          <a:noFill/>
        </p:spPr>
        <p:txBody>
          <a:bodyPr wrap="square" anchor="ctr" lIns="0" rIns="0" tIns="0" bIns="0">
            <a:spAutoFit/>
          </a:bodyPr>
          <a:lstStyle/>
          <a:p>
            <a:pPr algn="l">
              <a:spcBef>
                <a:spcPts val="0"/>
              </a:spcBef>
              <a:spcAft>
                <a:spcPts val="0"/>
              </a:spcAft>
            </a:pPr>
            <a:r>
              <a:rPr sz="800" b="1" i="0" spc="60">
                <a:solidFill>
                  <a:srgbClr val="92400E"/>
                </a:solidFill>
                <a:latin typeface="Bahnschrift"/>
              </a:rPr>
              <a:t>NEXT STEP   </a:t>
            </a:r>
            <a:r>
              <a:rPr sz="1000" b="0" i="1">
                <a:solidFill>
                  <a:srgbClr val="6B7280"/>
                </a:solidFill>
                <a:latin typeface="Georgia"/>
              </a:rPr>
              <a:t>A full fee-optimisation run across alternatives is available on request.</a:t>
            </a:r>
          </a:p>
        </p:txBody>
      </p:sp>
      <p:sp>
        <p:nvSpPr>
          <p:cNvPr id="29" name="TextBox 2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Basis: scheme Total Expense Ratio (current plan) from scheme documents, weighted by holding value. Illustrative for the ABXY demo.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Tax impact of this plan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recommended moves trigger · before you authorise anything</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29</a:t>
            </a:r>
          </a:p>
        </p:txBody>
      </p:sp>
      <p:sp>
        <p:nvSpPr>
          <p:cNvPr id="15" name="TextBox 14"/>
          <p:cNvSpPr txBox="1"/>
          <p:nvPr/>
        </p:nvSpPr>
        <p:spPr>
          <a:xfrm>
            <a:off x="841248" y="1572768"/>
            <a:ext cx="6355080" cy="219456"/>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MUTUAL-FUND ACTIONS · EST. TAX CHARACTER PER MOVE</a:t>
            </a:r>
          </a:p>
        </p:txBody>
      </p:sp>
      <p:sp>
        <p:nvSpPr>
          <p:cNvPr id="16" name="TextBox 15"/>
          <p:cNvSpPr txBox="1"/>
          <p:nvPr/>
        </p:nvSpPr>
        <p:spPr>
          <a:xfrm>
            <a:off x="914400" y="1847088"/>
            <a:ext cx="870508"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ACTION</a:t>
            </a:r>
          </a:p>
        </p:txBody>
      </p:sp>
      <p:sp>
        <p:nvSpPr>
          <p:cNvPr id="17" name="TextBox 16"/>
          <p:cNvSpPr txBox="1"/>
          <p:nvPr/>
        </p:nvSpPr>
        <p:spPr>
          <a:xfrm>
            <a:off x="1931212" y="1847088"/>
            <a:ext cx="264993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4727448" y="1847088"/>
            <a:ext cx="997610"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AMOUNT</a:t>
            </a:r>
          </a:p>
        </p:txBody>
      </p:sp>
      <p:sp>
        <p:nvSpPr>
          <p:cNvPr id="19" name="TextBox 18"/>
          <p:cNvSpPr txBox="1"/>
          <p:nvPr/>
        </p:nvSpPr>
        <p:spPr>
          <a:xfrm>
            <a:off x="5871362" y="1847088"/>
            <a:ext cx="125181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TAX CHARACTER</a:t>
            </a:r>
          </a:p>
        </p:txBody>
      </p:sp>
      <p:sp>
        <p:nvSpPr>
          <p:cNvPr id="20" name="Rectangle 19"/>
          <p:cNvSpPr/>
          <p:nvPr/>
        </p:nvSpPr>
        <p:spPr>
          <a:xfrm>
            <a:off x="841248" y="2103120"/>
            <a:ext cx="6355080"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2221992"/>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216505"/>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3" name="TextBox 22"/>
          <p:cNvSpPr txBox="1"/>
          <p:nvPr/>
        </p:nvSpPr>
        <p:spPr>
          <a:xfrm>
            <a:off x="1931212" y="2148840"/>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Large Cap</a:t>
            </a:r>
          </a:p>
        </p:txBody>
      </p:sp>
      <p:sp>
        <p:nvSpPr>
          <p:cNvPr id="24" name="TextBox 23"/>
          <p:cNvSpPr txBox="1"/>
          <p:nvPr/>
        </p:nvSpPr>
        <p:spPr>
          <a:xfrm>
            <a:off x="4727448" y="2148840"/>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38.1 L</a:t>
            </a:r>
          </a:p>
        </p:txBody>
      </p:sp>
      <p:sp>
        <p:nvSpPr>
          <p:cNvPr id="25" name="TextBox 24"/>
          <p:cNvSpPr txBox="1"/>
          <p:nvPr/>
        </p:nvSpPr>
        <p:spPr>
          <a:xfrm>
            <a:off x="5871362" y="2148840"/>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26" name="Rectangle 25"/>
          <p:cNvSpPr/>
          <p:nvPr/>
        </p:nvSpPr>
        <p:spPr>
          <a:xfrm>
            <a:off x="841248" y="2514600"/>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2606040"/>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2600553"/>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29" name="TextBox 28"/>
          <p:cNvSpPr txBox="1"/>
          <p:nvPr/>
        </p:nvSpPr>
        <p:spPr>
          <a:xfrm>
            <a:off x="1931212" y="2532888"/>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Flexi Cap</a:t>
            </a:r>
          </a:p>
        </p:txBody>
      </p:sp>
      <p:sp>
        <p:nvSpPr>
          <p:cNvPr id="30" name="TextBox 29"/>
          <p:cNvSpPr txBox="1"/>
          <p:nvPr/>
        </p:nvSpPr>
        <p:spPr>
          <a:xfrm>
            <a:off x="4727448" y="2532888"/>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28.6 L</a:t>
            </a:r>
          </a:p>
        </p:txBody>
      </p:sp>
      <p:sp>
        <p:nvSpPr>
          <p:cNvPr id="31" name="TextBox 30"/>
          <p:cNvSpPr txBox="1"/>
          <p:nvPr/>
        </p:nvSpPr>
        <p:spPr>
          <a:xfrm>
            <a:off x="5871362" y="2532888"/>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32" name="Rectangle 31"/>
          <p:cNvSpPr/>
          <p:nvPr/>
        </p:nvSpPr>
        <p:spPr>
          <a:xfrm>
            <a:off x="841248" y="2898648"/>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2990088"/>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298460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35" name="TextBox 34"/>
          <p:cNvSpPr txBox="1"/>
          <p:nvPr/>
        </p:nvSpPr>
        <p:spPr>
          <a:xfrm>
            <a:off x="1931212" y="2916936"/>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Multi Cap</a:t>
            </a:r>
          </a:p>
        </p:txBody>
      </p:sp>
      <p:sp>
        <p:nvSpPr>
          <p:cNvPr id="36" name="TextBox 35"/>
          <p:cNvSpPr txBox="1"/>
          <p:nvPr/>
        </p:nvSpPr>
        <p:spPr>
          <a:xfrm>
            <a:off x="4727448" y="2916936"/>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22.2 L</a:t>
            </a:r>
          </a:p>
        </p:txBody>
      </p:sp>
      <p:sp>
        <p:nvSpPr>
          <p:cNvPr id="37" name="TextBox 36"/>
          <p:cNvSpPr txBox="1"/>
          <p:nvPr/>
        </p:nvSpPr>
        <p:spPr>
          <a:xfrm>
            <a:off x="5871362" y="2916936"/>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38" name="Rectangle 37"/>
          <p:cNvSpPr/>
          <p:nvPr/>
        </p:nvSpPr>
        <p:spPr>
          <a:xfrm>
            <a:off x="841248" y="3282696"/>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14400" y="3374136"/>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368649"/>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REDEEM</a:t>
            </a:r>
          </a:p>
        </p:txBody>
      </p:sp>
      <p:sp>
        <p:nvSpPr>
          <p:cNvPr id="41" name="TextBox 40"/>
          <p:cNvSpPr txBox="1"/>
          <p:nvPr/>
        </p:nvSpPr>
        <p:spPr>
          <a:xfrm>
            <a:off x="1931212" y="3300984"/>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 Multi-Asset (Reg)</a:t>
            </a:r>
          </a:p>
        </p:txBody>
      </p:sp>
      <p:sp>
        <p:nvSpPr>
          <p:cNvPr id="42" name="TextBox 41"/>
          <p:cNvSpPr txBox="1"/>
          <p:nvPr/>
        </p:nvSpPr>
        <p:spPr>
          <a:xfrm>
            <a:off x="4727448" y="3300984"/>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25.4 L</a:t>
            </a:r>
          </a:p>
        </p:txBody>
      </p:sp>
      <p:sp>
        <p:nvSpPr>
          <p:cNvPr id="43" name="TextBox 42"/>
          <p:cNvSpPr txBox="1"/>
          <p:nvPr/>
        </p:nvSpPr>
        <p:spPr>
          <a:xfrm>
            <a:off x="5871362" y="3300984"/>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Mixed, lot-by-lot</a:t>
            </a:r>
          </a:p>
        </p:txBody>
      </p:sp>
      <p:sp>
        <p:nvSpPr>
          <p:cNvPr id="44" name="Rectangle 43"/>
          <p:cNvSpPr/>
          <p:nvPr/>
        </p:nvSpPr>
        <p:spPr>
          <a:xfrm>
            <a:off x="841248" y="3666744"/>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14400" y="3758184"/>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3752697"/>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7" name="TextBox 46"/>
          <p:cNvSpPr txBox="1"/>
          <p:nvPr/>
        </p:nvSpPr>
        <p:spPr>
          <a:xfrm>
            <a:off x="1931212" y="3685032"/>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PGIM India Small Cap</a:t>
            </a:r>
          </a:p>
        </p:txBody>
      </p:sp>
      <p:sp>
        <p:nvSpPr>
          <p:cNvPr id="48" name="TextBox 47"/>
          <p:cNvSpPr txBox="1"/>
          <p:nvPr/>
        </p:nvSpPr>
        <p:spPr>
          <a:xfrm>
            <a:off x="4727448" y="3685032"/>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2.9 L</a:t>
            </a:r>
          </a:p>
        </p:txBody>
      </p:sp>
      <p:sp>
        <p:nvSpPr>
          <p:cNvPr id="49" name="TextBox 48"/>
          <p:cNvSpPr txBox="1"/>
          <p:nvPr/>
        </p:nvSpPr>
        <p:spPr>
          <a:xfrm>
            <a:off x="5871362" y="3685032"/>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50" name="Rectangle 49"/>
          <p:cNvSpPr/>
          <p:nvPr/>
        </p:nvSpPr>
        <p:spPr>
          <a:xfrm>
            <a:off x="841248" y="405079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4142232"/>
            <a:ext cx="87050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4136745"/>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53" name="TextBox 52"/>
          <p:cNvSpPr txBox="1"/>
          <p:nvPr/>
        </p:nvSpPr>
        <p:spPr>
          <a:xfrm>
            <a:off x="1931212" y="4069080"/>
            <a:ext cx="2649931"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LIC MF Balanced Advantage</a:t>
            </a:r>
          </a:p>
        </p:txBody>
      </p:sp>
      <p:sp>
        <p:nvSpPr>
          <p:cNvPr id="54" name="TextBox 53"/>
          <p:cNvSpPr txBox="1"/>
          <p:nvPr/>
        </p:nvSpPr>
        <p:spPr>
          <a:xfrm>
            <a:off x="4727448" y="4069080"/>
            <a:ext cx="997610" cy="38404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19.0 L</a:t>
            </a:r>
          </a:p>
        </p:txBody>
      </p:sp>
      <p:sp>
        <p:nvSpPr>
          <p:cNvPr id="55" name="TextBox 54"/>
          <p:cNvSpPr txBox="1"/>
          <p:nvPr/>
        </p:nvSpPr>
        <p:spPr>
          <a:xfrm>
            <a:off x="5871362" y="4069080"/>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a:t>
            </a:r>
          </a:p>
        </p:txBody>
      </p:sp>
      <p:sp>
        <p:nvSpPr>
          <p:cNvPr id="56" name="Rectangle 55"/>
          <p:cNvSpPr/>
          <p:nvPr/>
        </p:nvSpPr>
        <p:spPr>
          <a:xfrm>
            <a:off x="841248" y="4434840"/>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4400" y="4453128"/>
            <a:ext cx="870508"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8" name="TextBox 57"/>
          <p:cNvSpPr txBox="1"/>
          <p:nvPr/>
        </p:nvSpPr>
        <p:spPr>
          <a:xfrm>
            <a:off x="1931212" y="4453128"/>
            <a:ext cx="2649931" cy="38404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Total fund actions</a:t>
            </a:r>
          </a:p>
        </p:txBody>
      </p:sp>
      <p:sp>
        <p:nvSpPr>
          <p:cNvPr id="59" name="TextBox 58"/>
          <p:cNvSpPr txBox="1"/>
          <p:nvPr/>
        </p:nvSpPr>
        <p:spPr>
          <a:xfrm>
            <a:off x="4727448" y="4453128"/>
            <a:ext cx="997610" cy="384048"/>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Rs 1.36 Cr</a:t>
            </a:r>
          </a:p>
        </p:txBody>
      </p:sp>
      <p:sp>
        <p:nvSpPr>
          <p:cNvPr id="60" name="TextBox 59"/>
          <p:cNvSpPr txBox="1"/>
          <p:nvPr/>
        </p:nvSpPr>
        <p:spPr>
          <a:xfrm>
            <a:off x="5871362" y="4453128"/>
            <a:ext cx="1251813" cy="38404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1" name="Rectangle 60"/>
          <p:cNvSpPr/>
          <p:nvPr/>
        </p:nvSpPr>
        <p:spPr>
          <a:xfrm>
            <a:off x="841248" y="4818888"/>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79208" y="1572768"/>
            <a:ext cx="3971239" cy="457200"/>
          </a:xfrm>
          <a:prstGeom prst="rect">
            <a:avLst/>
          </a:prstGeom>
          <a:noFill/>
        </p:spPr>
        <p:txBody>
          <a:bodyPr wrap="square" anchor="t" lIns="0" rIns="0" tIns="0" bIns="0">
            <a:spAutoFit/>
          </a:bodyPr>
          <a:lstStyle/>
          <a:p>
            <a:pPr algn="l">
              <a:lnSpc>
                <a:spcPct val="105000"/>
              </a:lnSpc>
              <a:spcBef>
                <a:spcPts val="0"/>
              </a:spcBef>
              <a:spcAft>
                <a:spcPts val="0"/>
              </a:spcAft>
            </a:pPr>
            <a:r>
              <a:rPr sz="800" b="1" i="0" spc="80">
                <a:solidFill>
                  <a:srgbClr val="6B7280"/>
                </a:solidFill>
                <a:latin typeface="Bahnschrift"/>
              </a:rPr>
              <a:t>DIRECT-EQUITY SELLS &amp; TRIMS · NET OF EST. TAX</a:t>
            </a:r>
          </a:p>
        </p:txBody>
      </p:sp>
      <p:pic>
        <p:nvPicPr>
          <p:cNvPr id="63" name="Picture 62" descr="azby_tax_bridge.png"/>
          <p:cNvPicPr>
            <a:picLocks noChangeAspect="1"/>
          </p:cNvPicPr>
          <p:nvPr/>
        </p:nvPicPr>
        <p:blipFill>
          <a:blip r:embed="rId3"/>
          <a:stretch>
            <a:fillRect/>
          </a:stretch>
        </p:blipFill>
        <p:spPr>
          <a:xfrm>
            <a:off x="7379208" y="2450916"/>
            <a:ext cx="3971239" cy="1956166"/>
          </a:xfrm>
          <a:prstGeom prst="rect">
            <a:avLst/>
          </a:prstGeom>
        </p:spPr>
      </p:pic>
      <p:sp>
        <p:nvSpPr>
          <p:cNvPr id="64" name="TextBox 63"/>
          <p:cNvSpPr txBox="1"/>
          <p:nvPr/>
        </p:nvSpPr>
        <p:spPr>
          <a:xfrm>
            <a:off x="7379208" y="4617720"/>
            <a:ext cx="3971239" cy="219456"/>
          </a:xfrm>
          <a:prstGeom prst="rect">
            <a:avLst/>
          </a:prstGeom>
          <a:noFill/>
        </p:spPr>
        <p:txBody>
          <a:bodyPr wrap="square" anchor="t" lIns="0" rIns="0" tIns="0" bIns="0">
            <a:spAutoFit/>
          </a:bodyPr>
          <a:lstStyle/>
          <a:p>
            <a:pPr algn="l">
              <a:spcBef>
                <a:spcPts val="0"/>
              </a:spcBef>
              <a:spcAft>
                <a:spcPts val="0"/>
              </a:spcAft>
            </a:pPr>
            <a:r>
              <a:rPr sz="900" b="0" i="1">
                <a:solidFill>
                  <a:srgbClr val="8C95DE"/>
                </a:solidFill>
                <a:latin typeface="Georgia"/>
              </a:rPr>
              <a:t>Net after est. tax feeds the deployment plan.</a:t>
            </a:r>
          </a:p>
        </p:txBody>
      </p:sp>
      <p:sp>
        <p:nvSpPr>
          <p:cNvPr id="65" name="Rounded Rectangle 64"/>
          <p:cNvSpPr/>
          <p:nvPr/>
        </p:nvSpPr>
        <p:spPr>
          <a:xfrm>
            <a:off x="841248" y="5029200"/>
            <a:ext cx="5117439" cy="896112"/>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41248" y="5029200"/>
            <a:ext cx="54864" cy="896112"/>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42416"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DIRECT-EQUITY TAX: ESTIMATE FOR NOW</a:t>
            </a:r>
          </a:p>
        </p:txBody>
      </p:sp>
      <p:sp>
        <p:nvSpPr>
          <p:cNvPr id="68" name="TextBox 67"/>
          <p:cNvSpPr txBox="1"/>
          <p:nvPr/>
        </p:nvSpPr>
        <p:spPr>
          <a:xfrm>
            <a:off x="1042416" y="5431536"/>
            <a:ext cx="475167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equity tax opposite is an estimate; the exact bill needs the demat trade file (buy dates + cost per lot), not in the statement provided.</a:t>
            </a:r>
          </a:p>
        </p:txBody>
      </p:sp>
      <p:sp>
        <p:nvSpPr>
          <p:cNvPr id="69" name="Rounded Rectangle 68"/>
          <p:cNvSpPr/>
          <p:nvPr/>
        </p:nvSpPr>
        <p:spPr>
          <a:xfrm>
            <a:off x="6233007" y="5029200"/>
            <a:ext cx="5117439" cy="89611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33007" y="5029200"/>
            <a:ext cx="54864" cy="89611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34175"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LONG-HELD UNITS: A HIGHER BAR TO SELL</a:t>
            </a:r>
          </a:p>
        </p:txBody>
      </p:sp>
      <p:sp>
        <p:nvSpPr>
          <p:cNvPr id="72" name="TextBox 71"/>
          <p:cNvSpPr txBox="1"/>
          <p:nvPr/>
        </p:nvSpPr>
        <p:spPr>
          <a:xfrm>
            <a:off x="6434175" y="5431536"/>
            <a:ext cx="475167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Units held &gt;5y (&gt;10y more so) carry gains that offset switching alpha; their bar rises to structural-only. Stocks get no such pass.</a:t>
            </a:r>
          </a:p>
        </p:txBody>
      </p:sp>
      <p:sp>
        <p:nvSpPr>
          <p:cNvPr id="73" name="TextBox 7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Left: mutual-fund actions. Right: direct-equity sell/trim plan. Tax characterisations are indicative and preliminary, confirm holding period, character and applicable rates with the client's tax adviser before dealing. Illustrative.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Your priority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we'd do next · in order, with amounts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30</a:t>
            </a:r>
          </a:p>
        </p:txBody>
      </p:sp>
      <p:sp>
        <p:nvSpPr>
          <p:cNvPr id="15" name="TextBox 14"/>
          <p:cNvSpPr txBox="1"/>
          <p:nvPr/>
        </p:nvSpPr>
        <p:spPr>
          <a:xfrm>
            <a:off x="841248"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1.44 Cr</a:t>
            </a:r>
          </a:p>
        </p:txBody>
      </p:sp>
      <p:sp>
        <p:nvSpPr>
          <p:cNvPr id="16" name="TextBox 15"/>
          <p:cNvSpPr txBox="1"/>
          <p:nvPr/>
        </p:nvSpPr>
        <p:spPr>
          <a:xfrm>
            <a:off x="841248"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GROSS FREED</a:t>
            </a:r>
          </a:p>
        </p:txBody>
      </p:sp>
      <p:sp>
        <p:nvSpPr>
          <p:cNvPr id="17" name="TextBox 16"/>
          <p:cNvSpPr txBox="1"/>
          <p:nvPr/>
        </p:nvSpPr>
        <p:spPr>
          <a:xfrm>
            <a:off x="841248"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sells + trim</a:t>
            </a:r>
          </a:p>
        </p:txBody>
      </p:sp>
      <p:sp>
        <p:nvSpPr>
          <p:cNvPr id="18" name="TextBox 17"/>
          <p:cNvSpPr txBox="1"/>
          <p:nvPr/>
        </p:nvSpPr>
        <p:spPr>
          <a:xfrm>
            <a:off x="4344314"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8C95DE"/>
                </a:solidFill>
                <a:latin typeface="Bahnschrift"/>
              </a:rPr>
              <a:t>6</a:t>
            </a:r>
          </a:p>
        </p:txBody>
      </p:sp>
      <p:sp>
        <p:nvSpPr>
          <p:cNvPr id="19" name="TextBox 18"/>
          <p:cNvSpPr txBox="1"/>
          <p:nvPr/>
        </p:nvSpPr>
        <p:spPr>
          <a:xfrm>
            <a:off x="4344314"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0" name="TextBox 19"/>
          <p:cNvSpPr txBox="1"/>
          <p:nvPr/>
        </p:nvSpPr>
        <p:spPr>
          <a:xfrm>
            <a:off x="4344314"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switch / redeem / exit</a:t>
            </a:r>
          </a:p>
        </p:txBody>
      </p:sp>
      <p:sp>
        <p:nvSpPr>
          <p:cNvPr id="21" name="Rectangle 20"/>
          <p:cNvSpPr/>
          <p:nvPr/>
        </p:nvSpPr>
        <p:spPr>
          <a:xfrm>
            <a:off x="4289450"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Rs 1.26 Cr</a:t>
            </a:r>
          </a:p>
        </p:txBody>
      </p:sp>
      <p:sp>
        <p:nvSpPr>
          <p:cNvPr id="23" name="TextBox 22"/>
          <p:cNvSpPr txBox="1"/>
          <p:nvPr/>
        </p:nvSpPr>
        <p:spPr>
          <a:xfrm>
            <a:off x="7847380"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PROCEEDS</a:t>
            </a:r>
          </a:p>
        </p:txBody>
      </p:sp>
      <p:sp>
        <p:nvSpPr>
          <p:cNvPr id="24" name="TextBox 23"/>
          <p:cNvSpPr txBox="1"/>
          <p:nvPr/>
        </p:nvSpPr>
        <p:spPr>
          <a:xfrm>
            <a:off x="7847380"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to cash, after est. tax</a:t>
            </a:r>
          </a:p>
        </p:txBody>
      </p:sp>
      <p:sp>
        <p:nvSpPr>
          <p:cNvPr id="25" name="Rectangle 24"/>
          <p:cNvSpPr/>
          <p:nvPr/>
        </p:nvSpPr>
        <p:spPr>
          <a:xfrm>
            <a:off x="7792516"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 y="2761488"/>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2761488"/>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1</a:t>
            </a:r>
          </a:p>
        </p:txBody>
      </p:sp>
      <p:sp>
        <p:nvSpPr>
          <p:cNvPr id="28" name="TextBox 27"/>
          <p:cNvSpPr txBox="1"/>
          <p:nvPr/>
        </p:nvSpPr>
        <p:spPr>
          <a:xfrm>
            <a:off x="1408176" y="2724912"/>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Sell programme</a:t>
            </a:r>
          </a:p>
        </p:txBody>
      </p:sp>
      <p:sp>
        <p:nvSpPr>
          <p:cNvPr id="29" name="TextBox 28"/>
          <p:cNvSpPr txBox="1"/>
          <p:nvPr/>
        </p:nvSpPr>
        <p:spPr>
          <a:xfrm>
            <a:off x="1408176" y="3008376"/>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10 names scored below the gate, staged in slices at &lt;=10% ADV.</a:t>
            </a:r>
          </a:p>
        </p:txBody>
      </p:sp>
      <p:sp>
        <p:nvSpPr>
          <p:cNvPr id="30" name="TextBox 29"/>
          <p:cNvSpPr txBox="1"/>
          <p:nvPr/>
        </p:nvSpPr>
        <p:spPr>
          <a:xfrm>
            <a:off x="9018727" y="2743200"/>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1.31 Cr</a:t>
            </a:r>
          </a:p>
        </p:txBody>
      </p:sp>
      <p:sp>
        <p:nvSpPr>
          <p:cNvPr id="31" name="TextBox 30"/>
          <p:cNvSpPr txBox="1"/>
          <p:nvPr/>
        </p:nvSpPr>
        <p:spPr>
          <a:xfrm>
            <a:off x="9018727" y="3108960"/>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WAVE 1</a:t>
            </a:r>
          </a:p>
        </p:txBody>
      </p:sp>
      <p:sp>
        <p:nvSpPr>
          <p:cNvPr id="32" name="TextBox 31">
            <a:hlinkClick action="ppaction://hlinksldjump" r:id="rId3"/>
          </p:cNvPr>
          <p:cNvSpPr txBox="1"/>
          <p:nvPr/>
        </p:nvSpPr>
        <p:spPr>
          <a:xfrm>
            <a:off x="804672" y="3182112"/>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p.17</a:t>
            </a:r>
          </a:p>
        </p:txBody>
      </p:sp>
      <p:sp>
        <p:nvSpPr>
          <p:cNvPr id="33" name="Rectangle 32"/>
          <p:cNvSpPr/>
          <p:nvPr/>
        </p:nvSpPr>
        <p:spPr>
          <a:xfrm>
            <a:off x="841248" y="338327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1248" y="3474720"/>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3474720"/>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2</a:t>
            </a:r>
          </a:p>
        </p:txBody>
      </p:sp>
      <p:sp>
        <p:nvSpPr>
          <p:cNvPr id="36" name="TextBox 35"/>
          <p:cNvSpPr txBox="1"/>
          <p:nvPr/>
        </p:nvSpPr>
        <p:spPr>
          <a:xfrm>
            <a:off x="1408176" y="3438144"/>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Trim concentration</a:t>
            </a:r>
          </a:p>
        </p:txBody>
      </p:sp>
      <p:sp>
        <p:nvSpPr>
          <p:cNvPr id="37" name="TextBox 36"/>
          <p:cNvSpPr txBox="1"/>
          <p:nvPr/>
        </p:nvSpPr>
        <p:spPr>
          <a:xfrm>
            <a:off x="1408176" y="3721607"/>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Positions above the 8% single-name guideline eased or exited, into strength.</a:t>
            </a:r>
          </a:p>
        </p:txBody>
      </p:sp>
      <p:sp>
        <p:nvSpPr>
          <p:cNvPr id="38" name="TextBox 37"/>
          <p:cNvSpPr txBox="1"/>
          <p:nvPr/>
        </p:nvSpPr>
        <p:spPr>
          <a:xfrm>
            <a:off x="9018727" y="3456432"/>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13.6 L</a:t>
            </a:r>
          </a:p>
        </p:txBody>
      </p:sp>
      <p:sp>
        <p:nvSpPr>
          <p:cNvPr id="39" name="TextBox 38"/>
          <p:cNvSpPr txBox="1"/>
          <p:nvPr/>
        </p:nvSpPr>
        <p:spPr>
          <a:xfrm>
            <a:off x="9018727" y="3822191"/>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THIS CYCLE</a:t>
            </a:r>
          </a:p>
        </p:txBody>
      </p:sp>
      <p:sp>
        <p:nvSpPr>
          <p:cNvPr id="40" name="TextBox 39">
            <a:hlinkClick action="ppaction://hlinksldjump" r:id="rId4"/>
          </p:cNvPr>
          <p:cNvSpPr txBox="1"/>
          <p:nvPr/>
        </p:nvSpPr>
        <p:spPr>
          <a:xfrm>
            <a:off x="804672" y="3895344"/>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p.09</a:t>
            </a:r>
          </a:p>
        </p:txBody>
      </p:sp>
      <p:sp>
        <p:nvSpPr>
          <p:cNvPr id="41" name="Rectangle 40"/>
          <p:cNvSpPr/>
          <p:nvPr/>
        </p:nvSpPr>
        <p:spPr>
          <a:xfrm>
            <a:off x="841248" y="40965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1248" y="4187952"/>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 y="4187952"/>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3</a:t>
            </a:r>
          </a:p>
        </p:txBody>
      </p:sp>
      <p:sp>
        <p:nvSpPr>
          <p:cNvPr id="44" name="TextBox 43"/>
          <p:cNvSpPr txBox="1"/>
          <p:nvPr/>
        </p:nvSpPr>
        <p:spPr>
          <a:xfrm>
            <a:off x="1408176" y="4151376"/>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Fund actions</a:t>
            </a:r>
          </a:p>
        </p:txBody>
      </p:sp>
      <p:sp>
        <p:nvSpPr>
          <p:cNvPr id="45" name="TextBox 44"/>
          <p:cNvSpPr txBox="1"/>
          <p:nvPr/>
        </p:nvSpPr>
        <p:spPr>
          <a:xfrm>
            <a:off x="1408176" y="4434840"/>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6 switches / redeem-to-Direct / exit, Regular to Direct or passive; exit the sub-scale sleeve.</a:t>
            </a:r>
          </a:p>
        </p:txBody>
      </p:sp>
      <p:sp>
        <p:nvSpPr>
          <p:cNvPr id="46" name="TextBox 45"/>
          <p:cNvSpPr txBox="1"/>
          <p:nvPr/>
        </p:nvSpPr>
        <p:spPr>
          <a:xfrm>
            <a:off x="9018727" y="4169663"/>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1.36 Cr</a:t>
            </a:r>
          </a:p>
        </p:txBody>
      </p:sp>
      <p:sp>
        <p:nvSpPr>
          <p:cNvPr id="47" name="TextBox 46"/>
          <p:cNvSpPr txBox="1"/>
          <p:nvPr/>
        </p:nvSpPr>
        <p:spPr>
          <a:xfrm>
            <a:off x="9018727" y="4535424"/>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T+2–T+3</a:t>
            </a:r>
          </a:p>
        </p:txBody>
      </p:sp>
      <p:sp>
        <p:nvSpPr>
          <p:cNvPr id="48" name="TextBox 47">
            <a:hlinkClick action="ppaction://hlinksldjump" r:id="rId5"/>
          </p:cNvPr>
          <p:cNvSpPr txBox="1"/>
          <p:nvPr/>
        </p:nvSpPr>
        <p:spPr>
          <a:xfrm>
            <a:off x="804672" y="4608576"/>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p.25</a:t>
            </a:r>
          </a:p>
        </p:txBody>
      </p:sp>
      <p:sp>
        <p:nvSpPr>
          <p:cNvPr id="49" name="Rectangle 48"/>
          <p:cNvSpPr/>
          <p:nvPr/>
        </p:nvSpPr>
        <p:spPr>
          <a:xfrm>
            <a:off x="841248" y="48097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1248" y="4901184"/>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248" y="4901184"/>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4</a:t>
            </a:r>
          </a:p>
        </p:txBody>
      </p:sp>
      <p:sp>
        <p:nvSpPr>
          <p:cNvPr id="52" name="TextBox 51"/>
          <p:cNvSpPr txBox="1"/>
          <p:nvPr/>
        </p:nvSpPr>
        <p:spPr>
          <a:xfrm>
            <a:off x="1408176" y="4864608"/>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Park net proceeds</a:t>
            </a:r>
          </a:p>
        </p:txBody>
      </p:sp>
      <p:sp>
        <p:nvSpPr>
          <p:cNvPr id="53" name="TextBox 52"/>
          <p:cNvSpPr txBox="1"/>
          <p:nvPr/>
        </p:nvSpPr>
        <p:spPr>
          <a:xfrm>
            <a:off x="1408176" y="5148072"/>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Held in liquid / overnight funds; deployment is agreed separately (transition framework in the annexure).</a:t>
            </a:r>
          </a:p>
        </p:txBody>
      </p:sp>
      <p:sp>
        <p:nvSpPr>
          <p:cNvPr id="54" name="TextBox 53"/>
          <p:cNvSpPr txBox="1"/>
          <p:nvPr/>
        </p:nvSpPr>
        <p:spPr>
          <a:xfrm>
            <a:off x="9018727" y="4882896"/>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1.26 Cr</a:t>
            </a:r>
          </a:p>
        </p:txBody>
      </p:sp>
      <p:sp>
        <p:nvSpPr>
          <p:cNvPr id="55" name="TextBox 54"/>
          <p:cNvSpPr txBox="1"/>
          <p:nvPr/>
        </p:nvSpPr>
        <p:spPr>
          <a:xfrm>
            <a:off x="9018727" y="5248656"/>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ON AUTHORISATION</a:t>
            </a:r>
          </a:p>
        </p:txBody>
      </p:sp>
      <p:sp>
        <p:nvSpPr>
          <p:cNvPr id="56" name="TextBox 55">
            <a:hlinkClick action="ppaction://hlinksldjump" r:id="rId6"/>
          </p:cNvPr>
          <p:cNvSpPr txBox="1"/>
          <p:nvPr/>
        </p:nvSpPr>
        <p:spPr>
          <a:xfrm>
            <a:off x="804672" y="5321808"/>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p.32</a:t>
            </a:r>
          </a:p>
        </p:txBody>
      </p:sp>
      <p:sp>
        <p:nvSpPr>
          <p:cNvPr id="57" name="Rectangle 56"/>
          <p:cNvSpPr/>
          <p:nvPr/>
        </p:nvSpPr>
        <p:spPr>
          <a:xfrm>
            <a:off x="841248" y="55229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41248" y="5577840"/>
            <a:ext cx="6897319" cy="420624"/>
          </a:xfrm>
          <a:prstGeom prst="roundRect">
            <a:avLst>
              <a:gd name="adj" fmla="val 6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41248" y="5577840"/>
            <a:ext cx="54864" cy="42062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5577840"/>
            <a:ext cx="6531559" cy="420624"/>
          </a:xfrm>
          <a:prstGeom prst="rect">
            <a:avLst/>
          </a:prstGeom>
          <a:noFill/>
        </p:spPr>
        <p:txBody>
          <a:bodyPr wrap="square" anchor="ctr" lIns="0" rIns="0" tIns="0" bIns="0">
            <a:spAutoFit/>
          </a:bodyPr>
          <a:lstStyle/>
          <a:p>
            <a:pPr algn="l">
              <a:lnSpc>
                <a:spcPct val="100000"/>
              </a:lnSpc>
              <a:spcBef>
                <a:spcPts val="0"/>
              </a:spcBef>
              <a:spcAft>
                <a:spcPts val="0"/>
              </a:spcAft>
            </a:pPr>
            <a:r>
              <a:rPr sz="850" b="1" i="0" spc="60">
                <a:solidFill>
                  <a:srgbClr val="92400E"/>
                </a:solidFill>
                <a:latin typeface="Bahnschrift"/>
              </a:rPr>
              <a:t>AUTHORISATION   </a:t>
            </a:r>
            <a:r>
              <a:rPr sz="950" b="0" i="0">
                <a:solidFill>
                  <a:srgbClr val="16233B"/>
                </a:solidFill>
                <a:latin typeface="Georgia"/>
              </a:rPr>
              <a:t>Nothing executes until you authorise it, this is a Non-Discretionary (NDPMS) mandate.</a:t>
            </a:r>
          </a:p>
        </p:txBody>
      </p:sp>
      <p:sp>
        <p:nvSpPr>
          <p:cNvPr id="61" name="TextBox 60"/>
          <p:cNvSpPr txBox="1"/>
          <p:nvPr/>
        </p:nvSpPr>
        <p:spPr>
          <a:xfrm>
            <a:off x="7921447" y="5577840"/>
            <a:ext cx="3429000" cy="420624"/>
          </a:xfrm>
          <a:prstGeom prst="rect">
            <a:avLst/>
          </a:prstGeom>
          <a:noFill/>
        </p:spPr>
        <p:txBody>
          <a:bodyPr wrap="square" anchor="ctr" lIns="0" rIns="0" tIns="0" bIns="0">
            <a:spAutoFit/>
          </a:bodyPr>
          <a:lstStyle/>
          <a:p>
            <a:pPr algn="r">
              <a:spcBef>
                <a:spcPts val="0"/>
              </a:spcBef>
              <a:spcAft>
                <a:spcPts val="0"/>
              </a:spcAft>
            </a:pPr>
            <a:r>
              <a:rPr sz="800" b="0" i="0">
                <a:solidFill>
                  <a:srgbClr val="6B7280"/>
                </a:solidFill>
                <a:latin typeface="Bahnschrift"/>
              </a:rPr>
              <a:t>Reviewed with client on  ____________________</a:t>
            </a:r>
          </a:p>
        </p:txBody>
      </p:sp>
      <p:sp>
        <p:nvSpPr>
          <p:cNvPr id="62" name="TextBox 6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Amounts illustrative for the ABXY demo · net figures after estimated tax · as of 2026-07-25.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5.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05</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05</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Annexure</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Detail and frameworks, on request</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Transition framework</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Before and after</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Holding spotlights</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 holdings, scored</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Sell rationale cards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Transition framework · on request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net proceeds could be staged, sequenced by liquidity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32</a:t>
            </a:r>
          </a:p>
        </p:txBody>
      </p:sp>
      <p:pic>
        <p:nvPicPr>
          <p:cNvPr id="15" name="Picture 14" descr="azby_deploy_wf.png"/>
          <p:cNvPicPr>
            <a:picLocks noChangeAspect="1"/>
          </p:cNvPicPr>
          <p:nvPr/>
        </p:nvPicPr>
        <p:blipFill>
          <a:blip r:embed="rId3"/>
          <a:stretch>
            <a:fillRect/>
          </a:stretch>
        </p:blipFill>
        <p:spPr>
          <a:xfrm>
            <a:off x="1158413" y="1783080"/>
            <a:ext cx="5766469" cy="2331720"/>
          </a:xfrm>
          <a:prstGeom prst="rect">
            <a:avLst/>
          </a:prstGeom>
        </p:spPr>
      </p:pic>
      <p:sp>
        <p:nvSpPr>
          <p:cNvPr id="16" name="Rounded Rectangle 15"/>
          <p:cNvSpPr/>
          <p:nvPr/>
        </p:nvSpPr>
        <p:spPr>
          <a:xfrm>
            <a:off x="7470648" y="1783080"/>
            <a:ext cx="3879799" cy="3063240"/>
          </a:xfrm>
          <a:prstGeom prst="roundRect">
            <a:avLst>
              <a:gd name="adj" fmla="val 4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71816" y="1929384"/>
            <a:ext cx="3514039" cy="219456"/>
          </a:xfrm>
          <a:prstGeom prst="rect">
            <a:avLst/>
          </a:prstGeom>
          <a:noFill/>
        </p:spPr>
        <p:txBody>
          <a:bodyPr wrap="square" anchor="t" lIns="0" rIns="0" tIns="0" bIns="0">
            <a:spAutoFit/>
          </a:bodyPr>
          <a:lstStyle/>
          <a:p>
            <a:pPr algn="l">
              <a:spcBef>
                <a:spcPts val="0"/>
              </a:spcBef>
              <a:spcAft>
                <a:spcPts val="0"/>
              </a:spcAft>
            </a:pPr>
            <a:r>
              <a:rPr sz="900" b="1" i="0" spc="80">
                <a:solidFill>
                  <a:srgbClr val="1B27A3"/>
                </a:solidFill>
                <a:latin typeface="Bahnschrift"/>
              </a:rPr>
              <a:t>SEQUENCING</a:t>
            </a:r>
          </a:p>
        </p:txBody>
      </p:sp>
      <p:sp>
        <p:nvSpPr>
          <p:cNvPr id="18" name="TextBox 17"/>
          <p:cNvSpPr txBox="1"/>
          <p:nvPr/>
        </p:nvSpPr>
        <p:spPr>
          <a:xfrm>
            <a:off x="7671816" y="2258568"/>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1</a:t>
            </a:r>
          </a:p>
        </p:txBody>
      </p:sp>
      <p:sp>
        <p:nvSpPr>
          <p:cNvPr id="19" name="TextBox 18"/>
          <p:cNvSpPr txBox="1"/>
          <p:nvPr/>
        </p:nvSpPr>
        <p:spPr>
          <a:xfrm>
            <a:off x="7927848" y="2258568"/>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Execute clear-Sell names first, conviction-driven, not market-timing.</a:t>
            </a:r>
          </a:p>
        </p:txBody>
      </p:sp>
      <p:sp>
        <p:nvSpPr>
          <p:cNvPr id="20" name="TextBox 19"/>
          <p:cNvSpPr txBox="1"/>
          <p:nvPr/>
        </p:nvSpPr>
        <p:spPr>
          <a:xfrm>
            <a:off x="7671816" y="2882646"/>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2</a:t>
            </a:r>
          </a:p>
        </p:txBody>
      </p:sp>
      <p:sp>
        <p:nvSpPr>
          <p:cNvPr id="21" name="TextBox 20"/>
          <p:cNvSpPr txBox="1"/>
          <p:nvPr/>
        </p:nvSpPr>
        <p:spPr>
          <a:xfrm>
            <a:off x="7927848" y="2882646"/>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Stage by liquidity: largest / least-liquid names sliced across days at &lt;=10% ADV.</a:t>
            </a:r>
          </a:p>
        </p:txBody>
      </p:sp>
      <p:sp>
        <p:nvSpPr>
          <p:cNvPr id="22" name="TextBox 21"/>
          <p:cNvSpPr txBox="1"/>
          <p:nvPr/>
        </p:nvSpPr>
        <p:spPr>
          <a:xfrm>
            <a:off x="7671816" y="3506724"/>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3</a:t>
            </a:r>
          </a:p>
        </p:txBody>
      </p:sp>
      <p:sp>
        <p:nvSpPr>
          <p:cNvPr id="23" name="TextBox 22"/>
          <p:cNvSpPr txBox="1"/>
          <p:nvPr/>
        </p:nvSpPr>
        <p:spPr>
          <a:xfrm>
            <a:off x="7927848" y="3506724"/>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Fund switches settle T+2/T+3; redeploy only settled cash.</a:t>
            </a:r>
          </a:p>
        </p:txBody>
      </p:sp>
      <p:sp>
        <p:nvSpPr>
          <p:cNvPr id="24" name="TextBox 23"/>
          <p:cNvSpPr txBox="1"/>
          <p:nvPr/>
        </p:nvSpPr>
        <p:spPr>
          <a:xfrm>
            <a:off x="7671816" y="4130802"/>
            <a:ext cx="274320" cy="219456"/>
          </a:xfrm>
          <a:prstGeom prst="rect">
            <a:avLst/>
          </a:prstGeom>
          <a:noFill/>
        </p:spPr>
        <p:txBody>
          <a:bodyPr wrap="square" anchor="t" lIns="0" rIns="0" tIns="0" bIns="0">
            <a:spAutoFit/>
          </a:bodyPr>
          <a:lstStyle/>
          <a:p>
            <a:pPr algn="l">
              <a:spcBef>
                <a:spcPts val="0"/>
              </a:spcBef>
              <a:spcAft>
                <a:spcPts val="0"/>
              </a:spcAft>
            </a:pPr>
            <a:r>
              <a:rPr sz="1000" b="1" i="0">
                <a:solidFill>
                  <a:srgbClr val="F2A93C"/>
                </a:solidFill>
                <a:latin typeface="Bahnschrift"/>
              </a:rPr>
              <a:t>4</a:t>
            </a:r>
          </a:p>
        </p:txBody>
      </p:sp>
      <p:sp>
        <p:nvSpPr>
          <p:cNvPr id="25" name="TextBox 24"/>
          <p:cNvSpPr txBox="1"/>
          <p:nvPr/>
        </p:nvSpPr>
        <p:spPr>
          <a:xfrm>
            <a:off x="7927848" y="4130802"/>
            <a:ext cx="3221431" cy="624078"/>
          </a:xfrm>
          <a:prstGeom prst="rect">
            <a:avLst/>
          </a:prstGeom>
          <a:noFill/>
        </p:spPr>
        <p:txBody>
          <a:bodyPr wrap="square" anchor="t" lIns="0" rIns="0" tIns="0" bIns="0">
            <a:spAutoFit/>
          </a:bodyPr>
          <a:lstStyle/>
          <a:p>
            <a:pPr algn="l">
              <a:lnSpc>
                <a:spcPct val="104000"/>
              </a:lnSpc>
              <a:spcBef>
                <a:spcPts val="0"/>
              </a:spcBef>
              <a:spcAft>
                <a:spcPts val="0"/>
              </a:spcAft>
            </a:pPr>
            <a:r>
              <a:rPr sz="900" b="0" i="0">
                <a:solidFill>
                  <a:srgbClr val="16233B"/>
                </a:solidFill>
                <a:latin typeface="Georgia"/>
              </a:rPr>
              <a:t>Trim the two &gt;11% positions toward the 8% single-name guideline last, into strength.</a:t>
            </a:r>
          </a:p>
        </p:txBody>
      </p:sp>
      <p:sp>
        <p:nvSpPr>
          <p:cNvPr id="26" name="TextBox 25"/>
          <p:cNvSpPr txBox="1"/>
          <p:nvPr/>
        </p:nvSpPr>
        <p:spPr>
          <a:xfrm>
            <a:off x="841248" y="4224528"/>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Low-vol / value core add  </a:t>
            </a:r>
            <a:r>
              <a:rPr sz="900" b="1" i="0">
                <a:solidFill>
                  <a:srgbClr val="16233B"/>
                </a:solidFill>
                <a:latin typeface="Bahnschrift"/>
              </a:rPr>
              <a:t>Rs 56.8 L   </a:t>
            </a:r>
            <a:r>
              <a:rPr sz="850" b="0" i="1">
                <a:solidFill>
                  <a:srgbClr val="6B7280"/>
                </a:solidFill>
                <a:latin typeface="Georgia"/>
              </a:rPr>
              <a:t>Closest-substitute risk profile to what's being sold.</a:t>
            </a:r>
          </a:p>
        </p:txBody>
      </p:sp>
      <p:sp>
        <p:nvSpPr>
          <p:cNvPr id="27" name="TextBox 26"/>
          <p:cNvSpPr txBox="1"/>
          <p:nvPr/>
        </p:nvSpPr>
        <p:spPr>
          <a:xfrm>
            <a:off x="841248" y="4626864"/>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Foreign / global equity  </a:t>
            </a:r>
            <a:r>
              <a:rPr sz="900" b="1" i="0">
                <a:solidFill>
                  <a:srgbClr val="16233B"/>
                </a:solidFill>
                <a:latin typeface="Bahnschrift"/>
              </a:rPr>
              <a:t>Rs 35.4 L   </a:t>
            </a:r>
            <a:r>
              <a:rPr sz="850" b="0" i="1">
                <a:solidFill>
                  <a:srgbClr val="6B7280"/>
                </a:solidFill>
                <a:latin typeface="Georgia"/>
              </a:rPr>
              <a:t>Closes the ~12pt gap to the 15% foreign target, a real…</a:t>
            </a:r>
          </a:p>
        </p:txBody>
      </p:sp>
      <p:sp>
        <p:nvSpPr>
          <p:cNvPr id="28" name="TextBox 27"/>
          <p:cNvSpPr txBox="1"/>
          <p:nvPr/>
        </p:nvSpPr>
        <p:spPr>
          <a:xfrm>
            <a:off x="841248" y="5029200"/>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Gold &amp; silver sleeve  </a:t>
            </a:r>
            <a:r>
              <a:rPr sz="900" b="1" i="0">
                <a:solidFill>
                  <a:srgbClr val="16233B"/>
                </a:solidFill>
                <a:latin typeface="Bahnschrift"/>
              </a:rPr>
              <a:t>Rs 15.2 L   </a:t>
            </a:r>
            <a:r>
              <a:rPr sz="850" b="0" i="1">
                <a:solidFill>
                  <a:srgbClr val="6B7280"/>
                </a:solidFill>
                <a:latin typeface="Georgia"/>
              </a:rPr>
              <a:t>Adds the missing 4pt vs the 5% target.</a:t>
            </a:r>
          </a:p>
        </p:txBody>
      </p:sp>
      <p:sp>
        <p:nvSpPr>
          <p:cNvPr id="29" name="TextBox 28"/>
          <p:cNvSpPr txBox="1"/>
          <p:nvPr/>
        </p:nvSpPr>
        <p:spPr>
          <a:xfrm>
            <a:off x="841248" y="5431536"/>
            <a:ext cx="6400800" cy="384048"/>
          </a:xfrm>
          <a:prstGeom prst="rect">
            <a:avLst/>
          </a:prstGeom>
          <a:noFill/>
        </p:spPr>
        <p:txBody>
          <a:bodyPr wrap="square" anchor="t" lIns="0" rIns="0" tIns="0" bIns="0">
            <a:spAutoFit/>
          </a:bodyPr>
          <a:lstStyle/>
          <a:p>
            <a:pPr algn="l">
              <a:lnSpc>
                <a:spcPct val="100000"/>
              </a:lnSpc>
              <a:spcBef>
                <a:spcPts val="0"/>
              </a:spcBef>
              <a:spcAft>
                <a:spcPts val="0"/>
              </a:spcAft>
            </a:pPr>
            <a:r>
              <a:rPr sz="900" b="1" i="0">
                <a:solidFill>
                  <a:srgbClr val="1B27A3"/>
                </a:solidFill>
                <a:latin typeface="Bahnschrift"/>
              </a:rPr>
              <a:t>Cash (staged)  </a:t>
            </a:r>
            <a:r>
              <a:rPr sz="900" b="1" i="0">
                <a:solidFill>
                  <a:srgbClr val="16233B"/>
                </a:solidFill>
                <a:latin typeface="Bahnschrift"/>
              </a:rPr>
              <a:t>Rs 18.9 L   </a:t>
            </a:r>
            <a:r>
              <a:rPr sz="850" b="0" i="1">
                <a:solidFill>
                  <a:srgbClr val="6B7280"/>
                </a:solidFill>
                <a:latin typeface="Georgia"/>
              </a:rPr>
              <a:t>Held as cash until settlement; deployed on liquidity, never…</a:t>
            </a:r>
          </a:p>
        </p:txBody>
      </p:sp>
      <p:sp>
        <p:nvSpPr>
          <p:cNvPr id="30" name="TextBox 29"/>
          <p:cNvSpPr txBox="1"/>
          <p:nvPr/>
        </p:nvSpPr>
        <p:spPr>
          <a:xfrm>
            <a:off x="7488936" y="4956048"/>
            <a:ext cx="3879799" cy="201168"/>
          </a:xfrm>
          <a:prstGeom prst="rect">
            <a:avLst/>
          </a:prstGeom>
          <a:noFill/>
        </p:spPr>
        <p:txBody>
          <a:bodyPr wrap="square" anchor="t" lIns="0" rIns="0" tIns="0" bIns="0">
            <a:spAutoFit/>
          </a:bodyPr>
          <a:lstStyle/>
          <a:p>
            <a:pPr algn="l">
              <a:spcBef>
                <a:spcPts val="0"/>
              </a:spcBef>
              <a:spcAft>
                <a:spcPts val="0"/>
              </a:spcAft>
            </a:pPr>
            <a:r>
              <a:rPr sz="850" b="1" i="0" spc="80">
                <a:solidFill>
                  <a:srgbClr val="F2A93C"/>
                </a:solidFill>
                <a:latin typeface="Bahnschrift"/>
              </a:rPr>
              <a:t>PERSONALISED TO THIS MANDATE</a:t>
            </a:r>
          </a:p>
        </p:txBody>
      </p:sp>
      <p:sp>
        <p:nvSpPr>
          <p:cNvPr id="31" name="TextBox 30"/>
          <p:cNvSpPr txBox="1"/>
          <p:nvPr/>
        </p:nvSpPr>
        <p:spPr>
          <a:xfrm>
            <a:off x="7488936" y="5193792"/>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Education 2031  ·  </a:t>
            </a:r>
            <a:r>
              <a:rPr sz="850" b="0" i="1">
                <a:solidFill>
                  <a:srgbClr val="16233B"/>
                </a:solidFill>
                <a:latin typeface="Georgia"/>
              </a:rPr>
              <a:t>foreign sleeve doubles as the USD hedge</a:t>
            </a:r>
          </a:p>
        </p:txBody>
      </p:sp>
      <p:sp>
        <p:nvSpPr>
          <p:cNvPr id="32" name="TextBox 31"/>
          <p:cNvSpPr txBox="1"/>
          <p:nvPr/>
        </p:nvSpPr>
        <p:spPr>
          <a:xfrm>
            <a:off x="7488936" y="5468112"/>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Liquidity  ·  </a:t>
            </a:r>
            <a:r>
              <a:rPr sz="850" b="0" i="1">
                <a:solidFill>
                  <a:srgbClr val="16233B"/>
                </a:solidFill>
                <a:latin typeface="Georgia"/>
              </a:rPr>
              <a:t>Rs 25L 12-month call met by staged cash</a:t>
            </a:r>
          </a:p>
        </p:txBody>
      </p:sp>
      <p:sp>
        <p:nvSpPr>
          <p:cNvPr id="33" name="TextBox 32"/>
          <p:cNvSpPr txBox="1"/>
          <p:nvPr/>
        </p:nvSpPr>
        <p:spPr>
          <a:xfrm>
            <a:off x="7488936" y="5742431"/>
            <a:ext cx="3879799" cy="256032"/>
          </a:xfrm>
          <a:prstGeom prst="rect">
            <a:avLst/>
          </a:prstGeom>
          <a:noFill/>
        </p:spPr>
        <p:txBody>
          <a:bodyPr wrap="square" anchor="t" lIns="0" rIns="0" tIns="0" bIns="0">
            <a:spAutoFit/>
          </a:bodyPr>
          <a:lstStyle/>
          <a:p>
            <a:pPr algn="l">
              <a:lnSpc>
                <a:spcPct val="100000"/>
              </a:lnSpc>
              <a:spcBef>
                <a:spcPts val="0"/>
              </a:spcBef>
              <a:spcAft>
                <a:spcPts val="0"/>
              </a:spcAft>
            </a:pPr>
            <a:r>
              <a:rPr sz="800" b="1" i="0">
                <a:solidFill>
                  <a:srgbClr val="1B27A3"/>
                </a:solidFill>
                <a:latin typeface="Bahnschrift"/>
              </a:rPr>
              <a:t>Tax posture  ·  </a:t>
            </a:r>
            <a:r>
              <a:rPr sz="850" b="0" i="1">
                <a:solidFill>
                  <a:srgbClr val="16233B"/>
                </a:solidFill>
                <a:latin typeface="Georgia"/>
              </a:rPr>
              <a:t>5y+ fund units: structural switches only</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Annexure framework, not a recommendation: no scheme or security is being recommended here. Sequencing reflects liquidity and settlement logic, not a market-timing call; sleeves are illustrative and nothing executes without your authorisation. Amounts are net of estimated tax.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Before and after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500" b="1" i="0">
                <a:solidFill>
                  <a:srgbClr val="F2A93C"/>
                </a:solidFill>
                <a:latin typeface="Bahnschrift"/>
              </a:rPr>
              <a:t>What the book looks like once the sells and trims settle · cash freed, not redeployed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33</a:t>
            </a:r>
          </a:p>
        </p:txBody>
      </p:sp>
      <p:sp>
        <p:nvSpPr>
          <p:cNvPr id="15" name="TextBox 14"/>
          <p:cNvSpPr txBox="1"/>
          <p:nvPr/>
        </p:nvSpPr>
        <p:spPr>
          <a:xfrm>
            <a:off x="84124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ASSET MIX, TODAY</a:t>
            </a:r>
          </a:p>
        </p:txBody>
      </p:sp>
      <p:pic>
        <p:nvPicPr>
          <p:cNvPr id="16" name="Picture 15" descr="azby_ba_before.png"/>
          <p:cNvPicPr>
            <a:picLocks noChangeAspect="1"/>
          </p:cNvPicPr>
          <p:nvPr/>
        </p:nvPicPr>
        <p:blipFill>
          <a:blip r:embed="rId3"/>
          <a:stretch>
            <a:fillRect/>
          </a:stretch>
        </p:blipFill>
        <p:spPr>
          <a:xfrm>
            <a:off x="1021938" y="1847088"/>
            <a:ext cx="2839019" cy="2606040"/>
          </a:xfrm>
          <a:prstGeom prst="rect">
            <a:avLst/>
          </a:prstGeom>
        </p:spPr>
      </p:pic>
      <p:sp>
        <p:nvSpPr>
          <p:cNvPr id="17" name="TextBox 16"/>
          <p:cNvSpPr txBox="1"/>
          <p:nvPr/>
        </p:nvSpPr>
        <p:spPr>
          <a:xfrm>
            <a:off x="440740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AFTER SELLS (PRE-DEPLOY)</a:t>
            </a:r>
          </a:p>
        </p:txBody>
      </p:sp>
      <p:pic>
        <p:nvPicPr>
          <p:cNvPr id="18" name="Picture 17" descr="azby_ba_after.png"/>
          <p:cNvPicPr>
            <a:picLocks noChangeAspect="1"/>
          </p:cNvPicPr>
          <p:nvPr/>
        </p:nvPicPr>
        <p:blipFill>
          <a:blip r:embed="rId4"/>
          <a:stretch>
            <a:fillRect/>
          </a:stretch>
        </p:blipFill>
        <p:spPr>
          <a:xfrm>
            <a:off x="4614724" y="1847088"/>
            <a:ext cx="2785766" cy="2606040"/>
          </a:xfrm>
          <a:prstGeom prst="rect">
            <a:avLst/>
          </a:prstGeom>
        </p:spPr>
      </p:pic>
      <p:sp>
        <p:nvSpPr>
          <p:cNvPr id="19" name="TextBox 18"/>
          <p:cNvSpPr txBox="1"/>
          <p:nvPr/>
        </p:nvSpPr>
        <p:spPr>
          <a:xfrm>
            <a:off x="797356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PROCEEDS to CASH</a:t>
            </a:r>
          </a:p>
        </p:txBody>
      </p:sp>
      <p:pic>
        <p:nvPicPr>
          <p:cNvPr id="20" name="Picture 19" descr="azby_ba_cash.png"/>
          <p:cNvPicPr>
            <a:picLocks noChangeAspect="1"/>
          </p:cNvPicPr>
          <p:nvPr/>
        </p:nvPicPr>
        <p:blipFill>
          <a:blip r:embed="rId5"/>
          <a:stretch>
            <a:fillRect/>
          </a:stretch>
        </p:blipFill>
        <p:spPr>
          <a:xfrm>
            <a:off x="8180884" y="1847088"/>
            <a:ext cx="2785766" cy="2606040"/>
          </a:xfrm>
          <a:prstGeom prst="rect">
            <a:avLst/>
          </a:prstGeom>
        </p:spPr>
      </p:pic>
      <p:sp>
        <p:nvSpPr>
          <p:cNvPr id="21" name="Rounded Rectangle 20"/>
          <p:cNvSpPr/>
          <p:nvPr/>
        </p:nvSpPr>
        <p:spPr>
          <a:xfrm>
            <a:off x="841248" y="4617720"/>
            <a:ext cx="10509199" cy="8961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4617720"/>
            <a:ext cx="54864" cy="8961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74573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FREED CASH</a:t>
            </a:r>
          </a:p>
        </p:txBody>
      </p:sp>
      <p:sp>
        <p:nvSpPr>
          <p:cNvPr id="24" name="TextBox 23"/>
          <p:cNvSpPr txBox="1"/>
          <p:nvPr/>
        </p:nvSpPr>
        <p:spPr>
          <a:xfrm>
            <a:off x="1042416" y="5020056"/>
            <a:ext cx="1014343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Rs 1.44 Cr is freed to cash after execution and stays in cash until deployment is agreed separately, never auto-invested; the staging framework sits on the previous page.</a:t>
            </a:r>
          </a:p>
        </p:txBody>
      </p:sp>
      <p:sp>
        <p:nvSpPr>
          <p:cNvPr id="25" name="TextBox 2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Fund switches are like-for-like within the fund sleeve, so the mix above moves only with equity sells and the trim. Direct-equity only for the sell/trim step; as of 2026-07-25.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Opportunity set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Long-run risk and return, and where the book can move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34</a:t>
            </a:r>
          </a:p>
        </p:txBody>
      </p:sp>
      <p:pic>
        <p:nvPicPr>
          <p:cNvPr id="15" name="Picture 14" descr="annex_frontier.png"/>
          <p:cNvPicPr>
            <a:picLocks noChangeAspect="1"/>
          </p:cNvPicPr>
          <p:nvPr/>
        </p:nvPicPr>
        <p:blipFill>
          <a:blip r:embed="rId3"/>
          <a:stretch>
            <a:fillRect/>
          </a:stretch>
        </p:blipFill>
        <p:spPr>
          <a:xfrm>
            <a:off x="841248" y="1691640"/>
            <a:ext cx="6347060" cy="4114800"/>
          </a:xfrm>
          <a:prstGeom prst="rect">
            <a:avLst/>
          </a:prstGeom>
        </p:spPr>
      </p:pic>
      <p:sp>
        <p:nvSpPr>
          <p:cNvPr id="16" name="Rounded Rectangle 15"/>
          <p:cNvSpPr/>
          <p:nvPr/>
        </p:nvSpPr>
        <p:spPr>
          <a:xfrm>
            <a:off x="7927848" y="1783080"/>
            <a:ext cx="3422599" cy="16916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27848" y="1783080"/>
            <a:ext cx="54864" cy="16916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9016" y="1911095"/>
            <a:ext cx="30568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THIS SHOWS</a:t>
            </a:r>
          </a:p>
        </p:txBody>
      </p:sp>
      <p:sp>
        <p:nvSpPr>
          <p:cNvPr id="19" name="TextBox 18"/>
          <p:cNvSpPr txBox="1"/>
          <p:nvPr/>
        </p:nvSpPr>
        <p:spPr>
          <a:xfrm>
            <a:off x="8129016" y="2185416"/>
            <a:ext cx="3056839"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dot is a feasible mix of the four assets; up is more expected return, right is more risk. The gold dot is the best risk-adjusted (max-Sharpe) mix on these assumptions.</a:t>
            </a:r>
          </a:p>
        </p:txBody>
      </p:sp>
      <p:sp>
        <p:nvSpPr>
          <p:cNvPr id="20" name="Rounded Rectangle 19"/>
          <p:cNvSpPr/>
          <p:nvPr/>
        </p:nvSpPr>
        <p:spPr>
          <a:xfrm>
            <a:off x="7927848" y="3657600"/>
            <a:ext cx="3422599" cy="1874519"/>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27848" y="3657600"/>
            <a:ext cx="54864" cy="1874519"/>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9016" y="3785615"/>
            <a:ext cx="30568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TODAY VS AN ILLUSTRATIVE MIX</a:t>
            </a:r>
          </a:p>
        </p:txBody>
      </p:sp>
      <p:sp>
        <p:nvSpPr>
          <p:cNvPr id="23" name="TextBox 22"/>
          <p:cNvSpPr txBox="1"/>
          <p:nvPr/>
        </p:nvSpPr>
        <p:spPr>
          <a:xfrm>
            <a:off x="8129016" y="4059936"/>
            <a:ext cx="305683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book today (rust) is concentrated in Indian equity with little foreign or gold. The navy marker is an illustrative diversified mix for discussion · it shows the direction the frontier points, it is not a recommendation.</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long-run capital-market assumptions (expected return / risk, % p.a.): Indian eq 13/16 · Foreign eq 11/15 · Debt 7/4 · Gold 8/14. Not a forecast, not a recommendation.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Quality vs price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holding on quality against valuation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nnex_valuemap.png"/>
          <p:cNvPicPr>
            <a:picLocks noChangeAspect="1"/>
          </p:cNvPicPr>
          <p:nvPr/>
        </p:nvPicPr>
        <p:blipFill>
          <a:blip r:embed="rId3"/>
          <a:stretch>
            <a:fillRect/>
          </a:stretch>
        </p:blipFill>
        <p:spPr>
          <a:xfrm>
            <a:off x="841248" y="1783080"/>
            <a:ext cx="6038518" cy="3977639"/>
          </a:xfrm>
          <a:prstGeom prst="rect">
            <a:avLst/>
          </a:prstGeom>
        </p:spPr>
      </p:pic>
      <p:sp>
        <p:nvSpPr>
          <p:cNvPr id="18" name="Rounded Rectangle 17"/>
          <p:cNvSpPr/>
          <p:nvPr/>
        </p:nvSpPr>
        <p:spPr>
          <a:xfrm>
            <a:off x="8019288" y="1874519"/>
            <a:ext cx="333115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9288" y="1874519"/>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0456" y="2002536"/>
            <a:ext cx="29653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21" name="TextBox 20"/>
          <p:cNvSpPr txBox="1"/>
          <p:nvPr/>
        </p:nvSpPr>
        <p:spPr>
          <a:xfrm>
            <a:off x="8220456" y="2276856"/>
            <a:ext cx="296539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Right = pricier (higher P/E). Up = higher quality (higher ROE). Bubble size = position size in the book. The sweet spot is top-left · quality you are not overpaying for.</a:t>
            </a:r>
          </a:p>
        </p:txBody>
      </p:sp>
      <p:sp>
        <p:nvSpPr>
          <p:cNvPr id="22" name="TextBox 21"/>
          <p:cNvSpPr txBox="1"/>
          <p:nvPr/>
        </p:nvSpPr>
        <p:spPr>
          <a:xfrm>
            <a:off x="8019288" y="3630168"/>
            <a:ext cx="3331159" cy="201168"/>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THE CALL</a:t>
            </a:r>
          </a:p>
        </p:txBody>
      </p:sp>
      <p:sp>
        <p:nvSpPr>
          <p:cNvPr id="23" name="Oval 22"/>
          <p:cNvSpPr/>
          <p:nvPr/>
        </p:nvSpPr>
        <p:spPr>
          <a:xfrm>
            <a:off x="8019288" y="3886200"/>
            <a:ext cx="155448" cy="155448"/>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3858768"/>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Hold</a:t>
            </a:r>
          </a:p>
        </p:txBody>
      </p:sp>
      <p:sp>
        <p:nvSpPr>
          <p:cNvPr id="25" name="Oval 24"/>
          <p:cNvSpPr/>
          <p:nvPr/>
        </p:nvSpPr>
        <p:spPr>
          <a:xfrm>
            <a:off x="8019288" y="4197096"/>
            <a:ext cx="155448" cy="155448"/>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4169663"/>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Sell</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46 of 47 holdings shown (names with a reported P/E and ROE). Bubble colour = current call; the largest positions and every Sell are named; dashed lines = book medians.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Factor profile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book is tilted toward, versus a neutral benchmark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pic>
        <p:nvPicPr>
          <p:cNvPr id="17" name="Picture 16" descr="annex_radar.png"/>
          <p:cNvPicPr>
            <a:picLocks noChangeAspect="1"/>
          </p:cNvPicPr>
          <p:nvPr/>
        </p:nvPicPr>
        <p:blipFill>
          <a:blip r:embed="rId3"/>
          <a:stretch>
            <a:fillRect/>
          </a:stretch>
        </p:blipFill>
        <p:spPr>
          <a:xfrm>
            <a:off x="841248" y="1783080"/>
            <a:ext cx="4297680" cy="3939146"/>
          </a:xfrm>
          <a:prstGeom prst="rect">
            <a:avLst/>
          </a:prstGeom>
        </p:spPr>
      </p:pic>
      <p:sp>
        <p:nvSpPr>
          <p:cNvPr id="18" name="Oval 17"/>
          <p:cNvSpPr/>
          <p:nvPr/>
        </p:nvSpPr>
        <p:spPr>
          <a:xfrm>
            <a:off x="932688" y="5742432"/>
            <a:ext cx="137160" cy="137160"/>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2144" y="5715000"/>
            <a:ext cx="1828800" cy="18288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This book</a:t>
            </a:r>
          </a:p>
        </p:txBody>
      </p:sp>
      <p:sp>
        <p:nvSpPr>
          <p:cNvPr id="20" name="Oval 19"/>
          <p:cNvSpPr/>
          <p:nvPr/>
        </p:nvSpPr>
        <p:spPr>
          <a:xfrm>
            <a:off x="2487168" y="5742432"/>
            <a:ext cx="137160" cy="137160"/>
          </a:xfrm>
          <a:prstGeom prst="ellipse">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06624" y="5715000"/>
            <a:ext cx="2103120" cy="182880"/>
          </a:xfrm>
          <a:prstGeom prst="rect">
            <a:avLst/>
          </a:prstGeom>
          <a:noFill/>
        </p:spPr>
        <p:txBody>
          <a:bodyPr wrap="square" anchor="ctr" lIns="0" rIns="0" tIns="0" bIns="0">
            <a:spAutoFit/>
          </a:bodyPr>
          <a:lstStyle/>
          <a:p>
            <a:pPr algn="l">
              <a:spcBef>
                <a:spcPts val="0"/>
              </a:spcBef>
              <a:spcAft>
                <a:spcPts val="0"/>
              </a:spcAft>
            </a:pPr>
            <a:r>
              <a:rPr sz="900" b="0" i="0">
                <a:solidFill>
                  <a:srgbClr val="6B7280"/>
                </a:solidFill>
                <a:latin typeface="Bahnschrift"/>
              </a:rPr>
              <a:t>Neutral (50)</a:t>
            </a:r>
          </a:p>
        </p:txBody>
      </p:sp>
      <p:sp>
        <p:nvSpPr>
          <p:cNvPr id="22" name="Rounded Rectangle 21"/>
          <p:cNvSpPr/>
          <p:nvPr/>
        </p:nvSpPr>
        <p:spPr>
          <a:xfrm>
            <a:off x="5504688" y="1874519"/>
            <a:ext cx="5845759" cy="173736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4688" y="1874519"/>
            <a:ext cx="54864" cy="173736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05855" y="2002536"/>
            <a:ext cx="54799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WHAT THE BOOK LEANS INTO</a:t>
            </a:r>
          </a:p>
        </p:txBody>
      </p:sp>
      <p:sp>
        <p:nvSpPr>
          <p:cNvPr id="25" name="TextBox 24"/>
          <p:cNvSpPr txBox="1"/>
          <p:nvPr/>
        </p:nvSpPr>
        <p:spPr>
          <a:xfrm>
            <a:off x="5705855" y="2276856"/>
            <a:ext cx="547999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Growth (60); Low volatility (59).  A quality-and-trend tilt, as you'd expect from a large-cap core.</a:t>
            </a:r>
          </a:p>
        </p:txBody>
      </p:sp>
      <p:sp>
        <p:nvSpPr>
          <p:cNvPr id="26" name="Rounded Rectangle 25"/>
          <p:cNvSpPr/>
          <p:nvPr/>
        </p:nvSpPr>
        <p:spPr>
          <a:xfrm>
            <a:off x="5504688" y="3703320"/>
            <a:ext cx="584575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4688" y="370332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05855" y="3831335"/>
            <a:ext cx="54799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IT IS LIGHT</a:t>
            </a:r>
          </a:p>
        </p:txBody>
      </p:sp>
      <p:sp>
        <p:nvSpPr>
          <p:cNvPr id="29" name="TextBox 28"/>
          <p:cNvSpPr txBox="1"/>
          <p:nvPr/>
        </p:nvSpPr>
        <p:spPr>
          <a:xfrm>
            <a:off x="5705855" y="4105656"/>
            <a:ext cx="547999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Small-cap tilt (6); Value (34); Trend / momentum (41).  These are the diversifiers the proposed changes lean toward.</a:t>
            </a:r>
          </a:p>
        </p:txBody>
      </p:sp>
      <p:sp>
        <p:nvSpPr>
          <p:cNvPr id="30" name="TextBox 29"/>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factor tilts approximated from the book's weighted 3Y/1Y scores, growth, valuation and market-cap mix; 50 = neutral benchmark.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Growth projection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An illustrative path for the portfolio over the horizon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37</a:t>
            </a:r>
          </a:p>
        </p:txBody>
      </p:sp>
      <p:pic>
        <p:nvPicPr>
          <p:cNvPr id="15" name="Picture 14" descr="annex_cone.png"/>
          <p:cNvPicPr>
            <a:picLocks noChangeAspect="1"/>
          </p:cNvPicPr>
          <p:nvPr/>
        </p:nvPicPr>
        <p:blipFill>
          <a:blip r:embed="rId3"/>
          <a:stretch>
            <a:fillRect/>
          </a:stretch>
        </p:blipFill>
        <p:spPr>
          <a:xfrm>
            <a:off x="841248" y="1691640"/>
            <a:ext cx="7214076" cy="4206240"/>
          </a:xfrm>
          <a:prstGeom prst="rect">
            <a:avLst/>
          </a:prstGeom>
        </p:spPr>
      </p:pic>
      <p:sp>
        <p:nvSpPr>
          <p:cNvPr id="16" name="Rounded Rectangle 15"/>
          <p:cNvSpPr/>
          <p:nvPr/>
        </p:nvSpPr>
        <p:spPr>
          <a:xfrm>
            <a:off x="8293608" y="1783080"/>
            <a:ext cx="305683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9360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91109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ASSUMPTIONS</a:t>
            </a:r>
          </a:p>
        </p:txBody>
      </p:sp>
      <p:sp>
        <p:nvSpPr>
          <p:cNvPr id="19" name="TextBox 18"/>
          <p:cNvSpPr txBox="1"/>
          <p:nvPr/>
        </p:nvSpPr>
        <p:spPr>
          <a:xfrm>
            <a:off x="8494776" y="2185416"/>
            <a:ext cx="269107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Median path from ₹6.80 Cr at an assumed 12% p.a. return and 14% volatility over 7 years. The dashed line is an illustrative wealth goal.</a:t>
            </a:r>
          </a:p>
        </p:txBody>
      </p:sp>
      <p:sp>
        <p:nvSpPr>
          <p:cNvPr id="20" name="Rounded Rectangle 19"/>
          <p:cNvSpPr/>
          <p:nvPr/>
        </p:nvSpPr>
        <p:spPr>
          <a:xfrm>
            <a:off x="8293608" y="3886200"/>
            <a:ext cx="3056839"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3608"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4776" y="401421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READ THE BAND</a:t>
            </a:r>
          </a:p>
        </p:txBody>
      </p:sp>
      <p:sp>
        <p:nvSpPr>
          <p:cNvPr id="23" name="TextBox 22"/>
          <p:cNvSpPr txBox="1"/>
          <p:nvPr/>
        </p:nvSpPr>
        <p:spPr>
          <a:xfrm>
            <a:off x="8494776" y="4288536"/>
            <a:ext cx="269107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Read the band, not the line: the shaded area is the 10th-to-90th-percentile range. Outcomes compound path-dependently and will differ from any single number.</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on assumed return/volatility; not a forecast, guarantee, or indication of future returns. Actual outcomes will differ.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Reliance Industries Ltd.  ·  Oil Gas &amp; Consumable Fuels  ·  12.4%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38</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24</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5110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26   ·   1Y 22</a:t>
            </a:r>
          </a:p>
        </p:txBody>
      </p:sp>
      <p:sp>
        <p:nvSpPr>
          <p:cNvPr id="23" name="Rounded Rectangle 22"/>
          <p:cNvSpPr/>
          <p:nvPr/>
        </p:nvSpPr>
        <p:spPr>
          <a:xfrm>
            <a:off x="1069848" y="3749039"/>
            <a:ext cx="11887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Exit</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21.7x trailing earnings for bottom-quartile quality and value scores, with free cash flow still slightly negative as a second capex supercycle begins and six- and twelve-month momentum both negative, the price leaves no margin of safety, we call Sell.</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SELL</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Exit, the forward risk/reward no longer justifies the position. Driver: Quality below peers.</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Titan Company Ltd.  ·  Consumer Durables  ·  11.3%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39</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44</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93378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46   ·   1Y 43</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Titan's FY26 headline growth (33% full-year revenue, 46-50% in Q4) is real but importantly gold-price and gold-coin-mix inflated - true buyer/volume growth only recovered to high-single-digits in Q4FY26 after three near-flat quarters, and company-blended operating margin compressed from 11% to 7% quarter-on-quarter as low-margin coin/investment-gold volume nearly tripled.</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Bajaj Finance Ltd.  ·  Financial Services  ·  3.0%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40</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56</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117143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53   ·   1Y 60</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Bajaj Finance remains India's best-capitalised, best-asset-quality large NBFC, CRAR 21.6% against a 15% floor, gearing a conservative ~3.8x, GNPA/NNPA even at its FY25 stress peak (~1.24%/0.60%) still better than most peers' clean-cycle numbers, clean promoter governance with no pledge history, and a 124-million-customer distribution franchise reaccelerating AUM growth to +24% YoY in Q1 FY27.</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p.15</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1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RELIANCE</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Oil &amp; Gas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12.40</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1555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26</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22</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TITAN</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Durables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11.30</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28419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44</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BAJFINANCE</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2.96</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3565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53</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HDFCBANK</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2.62</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3187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44</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ICICIBANK</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2.33</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3885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59</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63</a:t>
            </a:r>
          </a:p>
        </p:txBody>
      </p:sp>
      <p:sp>
        <p:nvSpPr>
          <p:cNvPr id="82" name="Rounded Rectangle 81"/>
          <p:cNvSpPr/>
          <p:nvPr/>
        </p:nvSpPr>
        <p:spPr>
          <a:xfrm>
            <a:off x="9847219" y="295351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TATAPOWER</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Power</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1.93</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20162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34</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28</a:t>
            </a:r>
          </a:p>
        </p:txBody>
      </p:sp>
      <p:sp>
        <p:nvSpPr>
          <p:cNvPr id="94" name="Rounded Rectangle 93"/>
          <p:cNvSpPr/>
          <p:nvPr/>
        </p:nvSpPr>
        <p:spPr>
          <a:xfrm>
            <a:off x="9847219" y="317296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SBIN</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1.76</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3770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SUNPHARMA</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Healthcare</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1.59</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4692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BHARTIARTL</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Telecom</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1.54</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3232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56</a:t>
            </a:r>
          </a:p>
        </p:txBody>
      </p:sp>
      <p:sp>
        <p:nvSpPr>
          <p:cNvPr id="130" name="Rounded Rectangle 129"/>
          <p:cNvSpPr/>
          <p:nvPr/>
        </p:nvSpPr>
        <p:spPr>
          <a:xfrm>
            <a:off x="9847219" y="38313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M&amp;M</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1.42</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142" name="Rounded Rectangle 141"/>
          <p:cNvSpPr/>
          <p:nvPr/>
        </p:nvSpPr>
        <p:spPr>
          <a:xfrm>
            <a:off x="9847219" y="405079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ITC</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1.37</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2918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14400" y="449884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LT</a:t>
            </a:r>
          </a:p>
        </p:txBody>
      </p:sp>
      <p:sp>
        <p:nvSpPr>
          <p:cNvPr id="158" name="TextBox 157"/>
          <p:cNvSpPr txBox="1"/>
          <p:nvPr/>
        </p:nvSpPr>
        <p:spPr>
          <a:xfrm>
            <a:off x="3016239" y="449884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Construction</a:t>
            </a:r>
          </a:p>
        </p:txBody>
      </p:sp>
      <p:sp>
        <p:nvSpPr>
          <p:cNvPr id="159" name="TextBox 158"/>
          <p:cNvSpPr txBox="1"/>
          <p:nvPr/>
        </p:nvSpPr>
        <p:spPr>
          <a:xfrm>
            <a:off x="5328263" y="449884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1.25</a:t>
            </a:r>
          </a:p>
        </p:txBody>
      </p:sp>
      <p:sp>
        <p:nvSpPr>
          <p:cNvPr id="160" name="Rectangle 159"/>
          <p:cNvSpPr/>
          <p:nvPr/>
        </p:nvSpPr>
        <p:spPr>
          <a:xfrm>
            <a:off x="6379183" y="45902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79183" y="4590288"/>
            <a:ext cx="25283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635215" y="45628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083271" y="45125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164" name="TextBox 163"/>
          <p:cNvSpPr txBox="1"/>
          <p:nvPr/>
        </p:nvSpPr>
        <p:spPr>
          <a:xfrm>
            <a:off x="7955563"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65" name="TextBox 164"/>
          <p:cNvSpPr txBox="1"/>
          <p:nvPr/>
        </p:nvSpPr>
        <p:spPr>
          <a:xfrm>
            <a:off x="8901391"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166" name="Rounded Rectangle 165"/>
          <p:cNvSpPr/>
          <p:nvPr/>
        </p:nvSpPr>
        <p:spPr>
          <a:xfrm>
            <a:off x="9847219" y="448970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47219" y="44842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68" name="Rectangle 167"/>
          <p:cNvSpPr/>
          <p:nvPr/>
        </p:nvSpPr>
        <p:spPr>
          <a:xfrm>
            <a:off x="841248" y="47000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14400" y="471830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TATASTEEL</a:t>
            </a:r>
          </a:p>
        </p:txBody>
      </p:sp>
      <p:sp>
        <p:nvSpPr>
          <p:cNvPr id="170" name="TextBox 169"/>
          <p:cNvSpPr txBox="1"/>
          <p:nvPr/>
        </p:nvSpPr>
        <p:spPr>
          <a:xfrm>
            <a:off x="3016239" y="471830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71" name="TextBox 170"/>
          <p:cNvSpPr txBox="1"/>
          <p:nvPr/>
        </p:nvSpPr>
        <p:spPr>
          <a:xfrm>
            <a:off x="5328263" y="471830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1.14</a:t>
            </a:r>
          </a:p>
        </p:txBody>
      </p:sp>
      <p:sp>
        <p:nvSpPr>
          <p:cNvPr id="172" name="Rectangle 171"/>
          <p:cNvSpPr/>
          <p:nvPr/>
        </p:nvSpPr>
        <p:spPr>
          <a:xfrm>
            <a:off x="6379183" y="48097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79183" y="4809744"/>
            <a:ext cx="30851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635215" y="47823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083271" y="47320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176" name="TextBox 175"/>
          <p:cNvSpPr txBox="1"/>
          <p:nvPr/>
        </p:nvSpPr>
        <p:spPr>
          <a:xfrm>
            <a:off x="7955563"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56</a:t>
            </a:r>
          </a:p>
        </p:txBody>
      </p:sp>
      <p:sp>
        <p:nvSpPr>
          <p:cNvPr id="177" name="TextBox 176"/>
          <p:cNvSpPr txBox="1"/>
          <p:nvPr/>
        </p:nvSpPr>
        <p:spPr>
          <a:xfrm>
            <a:off x="8901391"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37</a:t>
            </a:r>
          </a:p>
        </p:txBody>
      </p:sp>
      <p:sp>
        <p:nvSpPr>
          <p:cNvPr id="178" name="Rounded Rectangle 177"/>
          <p:cNvSpPr/>
          <p:nvPr/>
        </p:nvSpPr>
        <p:spPr>
          <a:xfrm>
            <a:off x="9847219" y="470916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847219" y="47036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80" name="Rectangle 179"/>
          <p:cNvSpPr/>
          <p:nvPr/>
        </p:nvSpPr>
        <p:spPr>
          <a:xfrm>
            <a:off x="841248" y="4919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14400" y="493776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HINDALCO</a:t>
            </a:r>
          </a:p>
        </p:txBody>
      </p:sp>
      <p:sp>
        <p:nvSpPr>
          <p:cNvPr id="182" name="TextBox 181"/>
          <p:cNvSpPr txBox="1"/>
          <p:nvPr/>
        </p:nvSpPr>
        <p:spPr>
          <a:xfrm>
            <a:off x="3016239" y="493776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83" name="TextBox 182"/>
          <p:cNvSpPr txBox="1"/>
          <p:nvPr/>
        </p:nvSpPr>
        <p:spPr>
          <a:xfrm>
            <a:off x="5328263" y="493776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1.02</a:t>
            </a:r>
          </a:p>
        </p:txBody>
      </p:sp>
      <p:sp>
        <p:nvSpPr>
          <p:cNvPr id="184" name="Rectangle 183"/>
          <p:cNvSpPr/>
          <p:nvPr/>
        </p:nvSpPr>
        <p:spPr>
          <a:xfrm>
            <a:off x="6379183" y="502920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79183" y="5029200"/>
            <a:ext cx="36932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635215" y="50017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083271" y="49514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188" name="TextBox 187"/>
          <p:cNvSpPr txBox="1"/>
          <p:nvPr/>
        </p:nvSpPr>
        <p:spPr>
          <a:xfrm>
            <a:off x="7955563"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189" name="TextBox 188"/>
          <p:cNvSpPr txBox="1"/>
          <p:nvPr/>
        </p:nvSpPr>
        <p:spPr>
          <a:xfrm>
            <a:off x="8901391"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190" name="Rounded Rectangle 189"/>
          <p:cNvSpPr/>
          <p:nvPr/>
        </p:nvSpPr>
        <p:spPr>
          <a:xfrm>
            <a:off x="9847219" y="492861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847219" y="492312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92" name="Rectangle 191"/>
          <p:cNvSpPr/>
          <p:nvPr/>
        </p:nvSpPr>
        <p:spPr>
          <a:xfrm>
            <a:off x="841248" y="51389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14400" y="515721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MARUTI</a:t>
            </a:r>
          </a:p>
        </p:txBody>
      </p:sp>
      <p:sp>
        <p:nvSpPr>
          <p:cNvPr id="194" name="TextBox 193"/>
          <p:cNvSpPr txBox="1"/>
          <p:nvPr/>
        </p:nvSpPr>
        <p:spPr>
          <a:xfrm>
            <a:off x="3016239" y="515721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95" name="TextBox 194"/>
          <p:cNvSpPr txBox="1"/>
          <p:nvPr/>
        </p:nvSpPr>
        <p:spPr>
          <a:xfrm>
            <a:off x="5328263" y="515721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0.97</a:t>
            </a:r>
          </a:p>
        </p:txBody>
      </p:sp>
      <p:sp>
        <p:nvSpPr>
          <p:cNvPr id="196" name="Rectangle 195"/>
          <p:cNvSpPr/>
          <p:nvPr/>
        </p:nvSpPr>
        <p:spPr>
          <a:xfrm>
            <a:off x="6379183" y="52486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79183" y="5248656"/>
            <a:ext cx="3424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635215" y="52212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083271" y="51709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54</a:t>
            </a:r>
          </a:p>
        </p:txBody>
      </p:sp>
      <p:sp>
        <p:nvSpPr>
          <p:cNvPr id="200" name="TextBox 199"/>
          <p:cNvSpPr txBox="1"/>
          <p:nvPr/>
        </p:nvSpPr>
        <p:spPr>
          <a:xfrm>
            <a:off x="7955563"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55</a:t>
            </a:r>
          </a:p>
        </p:txBody>
      </p:sp>
      <p:sp>
        <p:nvSpPr>
          <p:cNvPr id="201" name="TextBox 200"/>
          <p:cNvSpPr txBox="1"/>
          <p:nvPr/>
        </p:nvSpPr>
        <p:spPr>
          <a:xfrm>
            <a:off x="8901391"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202" name="Rounded Rectangle 201"/>
          <p:cNvSpPr/>
          <p:nvPr/>
        </p:nvSpPr>
        <p:spPr>
          <a:xfrm>
            <a:off x="9847219" y="51480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847219" y="51425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04" name="Rectangle 203"/>
          <p:cNvSpPr/>
          <p:nvPr/>
        </p:nvSpPr>
        <p:spPr>
          <a:xfrm>
            <a:off x="841248" y="5358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14400" y="537667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JIOFIN</a:t>
            </a:r>
          </a:p>
        </p:txBody>
      </p:sp>
      <p:sp>
        <p:nvSpPr>
          <p:cNvPr id="206" name="TextBox 205"/>
          <p:cNvSpPr txBox="1"/>
          <p:nvPr/>
        </p:nvSpPr>
        <p:spPr>
          <a:xfrm>
            <a:off x="3016239" y="537667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207" name="TextBox 206"/>
          <p:cNvSpPr txBox="1"/>
          <p:nvPr/>
        </p:nvSpPr>
        <p:spPr>
          <a:xfrm>
            <a:off x="5328263" y="537667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0.91</a:t>
            </a:r>
          </a:p>
        </p:txBody>
      </p:sp>
      <p:sp>
        <p:nvSpPr>
          <p:cNvPr id="208" name="Rectangle 207"/>
          <p:cNvSpPr/>
          <p:nvPr/>
        </p:nvSpPr>
        <p:spPr>
          <a:xfrm>
            <a:off x="6379183" y="54681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79183" y="5468112"/>
            <a:ext cx="2374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635215" y="54406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083271" y="53903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212" name="TextBox 211"/>
          <p:cNvSpPr txBox="1"/>
          <p:nvPr/>
        </p:nvSpPr>
        <p:spPr>
          <a:xfrm>
            <a:off x="7955563"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213" name="TextBox 212"/>
          <p:cNvSpPr txBox="1"/>
          <p:nvPr/>
        </p:nvSpPr>
        <p:spPr>
          <a:xfrm>
            <a:off x="8901391"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214" name="Rounded Rectangle 213"/>
          <p:cNvSpPr/>
          <p:nvPr/>
        </p:nvSpPr>
        <p:spPr>
          <a:xfrm>
            <a:off x="9847219" y="536752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847219" y="53620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16" name="Rectangle 215"/>
          <p:cNvSpPr/>
          <p:nvPr/>
        </p:nvSpPr>
        <p:spPr>
          <a:xfrm>
            <a:off x="841248" y="55778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914400" y="559612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DEEPAKNTR</a:t>
            </a:r>
          </a:p>
        </p:txBody>
      </p:sp>
      <p:sp>
        <p:nvSpPr>
          <p:cNvPr id="218" name="TextBox 217"/>
          <p:cNvSpPr txBox="1"/>
          <p:nvPr/>
        </p:nvSpPr>
        <p:spPr>
          <a:xfrm>
            <a:off x="3016239" y="559612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Chemicals</a:t>
            </a:r>
          </a:p>
        </p:txBody>
      </p:sp>
      <p:sp>
        <p:nvSpPr>
          <p:cNvPr id="219" name="TextBox 218"/>
          <p:cNvSpPr txBox="1"/>
          <p:nvPr/>
        </p:nvSpPr>
        <p:spPr>
          <a:xfrm>
            <a:off x="5328263" y="559612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0.85</a:t>
            </a:r>
          </a:p>
        </p:txBody>
      </p:sp>
      <p:sp>
        <p:nvSpPr>
          <p:cNvPr id="220" name="Rectangle 219"/>
          <p:cNvSpPr/>
          <p:nvPr/>
        </p:nvSpPr>
        <p:spPr>
          <a:xfrm>
            <a:off x="6379183" y="568756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79183" y="5687568"/>
            <a:ext cx="2502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635215" y="566013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083271" y="560984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224" name="TextBox 223"/>
          <p:cNvSpPr txBox="1"/>
          <p:nvPr/>
        </p:nvSpPr>
        <p:spPr>
          <a:xfrm>
            <a:off x="7955563"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33</a:t>
            </a:r>
          </a:p>
        </p:txBody>
      </p:sp>
      <p:sp>
        <p:nvSpPr>
          <p:cNvPr id="225" name="TextBox 224"/>
          <p:cNvSpPr txBox="1"/>
          <p:nvPr/>
        </p:nvSpPr>
        <p:spPr>
          <a:xfrm>
            <a:off x="8901391"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226" name="Rounded Rectangle 225"/>
          <p:cNvSpPr/>
          <p:nvPr/>
        </p:nvSpPr>
        <p:spPr>
          <a:xfrm>
            <a:off x="9847219" y="558698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47219" y="55814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28" name="Rectangle 227"/>
          <p:cNvSpPr/>
          <p:nvPr/>
        </p:nvSpPr>
        <p:spPr>
          <a:xfrm>
            <a:off x="841248" y="57972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14400" y="581558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PIDILITIND</a:t>
            </a:r>
          </a:p>
        </p:txBody>
      </p:sp>
      <p:sp>
        <p:nvSpPr>
          <p:cNvPr id="230" name="TextBox 229"/>
          <p:cNvSpPr txBox="1"/>
          <p:nvPr/>
        </p:nvSpPr>
        <p:spPr>
          <a:xfrm>
            <a:off x="3016239" y="581558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Chemicals</a:t>
            </a:r>
          </a:p>
        </p:txBody>
      </p:sp>
      <p:sp>
        <p:nvSpPr>
          <p:cNvPr id="231" name="TextBox 230"/>
          <p:cNvSpPr txBox="1"/>
          <p:nvPr/>
        </p:nvSpPr>
        <p:spPr>
          <a:xfrm>
            <a:off x="5328263" y="581558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0.80</a:t>
            </a:r>
          </a:p>
        </p:txBody>
      </p:sp>
      <p:sp>
        <p:nvSpPr>
          <p:cNvPr id="232" name="Rectangle 231"/>
          <p:cNvSpPr/>
          <p:nvPr/>
        </p:nvSpPr>
        <p:spPr>
          <a:xfrm>
            <a:off x="6379183" y="59070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79183" y="5907024"/>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635215" y="58795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7083271" y="58293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236" name="TextBox 235"/>
          <p:cNvSpPr txBox="1"/>
          <p:nvPr/>
        </p:nvSpPr>
        <p:spPr>
          <a:xfrm>
            <a:off x="7955563"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237" name="TextBox 236"/>
          <p:cNvSpPr txBox="1"/>
          <p:nvPr/>
        </p:nvSpPr>
        <p:spPr>
          <a:xfrm>
            <a:off x="8901391"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58</a:t>
            </a:r>
          </a:p>
        </p:txBody>
      </p:sp>
      <p:sp>
        <p:nvSpPr>
          <p:cNvPr id="238" name="Rounded Rectangle 237"/>
          <p:cNvSpPr/>
          <p:nvPr/>
        </p:nvSpPr>
        <p:spPr>
          <a:xfrm>
            <a:off x="9847219" y="580644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847219" y="580095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40" name="Rectangle 239"/>
          <p:cNvSpPr/>
          <p:nvPr/>
        </p:nvSpPr>
        <p:spPr>
          <a:xfrm>
            <a:off x="841248" y="60167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a:hlinkClick action="ppaction://hlinksldjump" r:id="rId4"/>
          </p:cNvPr>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a:hlinkClick action="ppaction://hlinksldjump" r:id="rId5"/>
          </p:cNvPr>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a:hlinkClick action="ppaction://hlinksldjump" r:id="rId6"/>
          </p:cNvPr>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a:hlinkClick action="ppaction://hlinksldjump" r:id="rId7"/>
          </p:cNvPr>
          <p:cNvSpPr/>
          <p:nvPr/>
        </p:nvSpPr>
        <p:spPr>
          <a:xfrm>
            <a:off x="841248" y="448056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41248" y="470001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841248" y="491947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41248" y="513892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a:hlinkClick action="ppaction://hlinksldjump" r:id="rId8"/>
          </p:cNvPr>
          <p:cNvSpPr/>
          <p:nvPr/>
        </p:nvSpPr>
        <p:spPr>
          <a:xfrm>
            <a:off x="841248" y="535838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a:hlinkClick action="ppaction://hlinksldjump" r:id="rId9"/>
          </p:cNvPr>
          <p:cNvSpPr/>
          <p:nvPr/>
        </p:nvSpPr>
        <p:spPr>
          <a:xfrm>
            <a:off x="841248" y="557784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41248" y="579729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2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ABB</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0.74</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39364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62</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67</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34" name="Rounded Rectangle 33"/>
          <p:cNvSpPr/>
          <p:nvPr/>
        </p:nvSpPr>
        <p:spPr>
          <a:xfrm>
            <a:off x="9847219" y="207568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SIEMENS</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0.68</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32580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BHEL</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0.63</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49</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POWERINDIA</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0.57</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37188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64</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GAIL</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Oil &amp; Gas</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0.51</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21698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82" name="Rounded Rectangle 81"/>
          <p:cNvSpPr/>
          <p:nvPr/>
        </p:nvSpPr>
        <p:spPr>
          <a:xfrm>
            <a:off x="9847219" y="29535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CIPLA</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Healthcare</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0.51</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APLAPOLLO</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0.46</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41349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65</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70</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57</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PERSISTENT</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0.46</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29251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46</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44</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COCHINSHIP</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0.40</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27523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43</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31</a:t>
            </a:r>
          </a:p>
        </p:txBody>
      </p:sp>
      <p:sp>
        <p:nvSpPr>
          <p:cNvPr id="130" name="Rounded Rectangle 129"/>
          <p:cNvSpPr/>
          <p:nvPr/>
        </p:nvSpPr>
        <p:spPr>
          <a:xfrm>
            <a:off x="9847219" y="38313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HINDCOPPER</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3046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29</a:t>
            </a:r>
          </a:p>
        </p:txBody>
      </p:sp>
      <p:sp>
        <p:nvSpPr>
          <p:cNvPr id="142" name="Rounded Rectangle 141"/>
          <p:cNvSpPr/>
          <p:nvPr/>
        </p:nvSpPr>
        <p:spPr>
          <a:xfrm>
            <a:off x="9847219" y="405079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TATATECH</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30595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14400" y="449884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BOSCHLTD</a:t>
            </a:r>
          </a:p>
        </p:txBody>
      </p:sp>
      <p:sp>
        <p:nvSpPr>
          <p:cNvPr id="158" name="TextBox 157"/>
          <p:cNvSpPr txBox="1"/>
          <p:nvPr/>
        </p:nvSpPr>
        <p:spPr>
          <a:xfrm>
            <a:off x="3016239" y="449884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59" name="TextBox 158"/>
          <p:cNvSpPr txBox="1"/>
          <p:nvPr/>
        </p:nvSpPr>
        <p:spPr>
          <a:xfrm>
            <a:off x="5328263" y="449884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0.28</a:t>
            </a:r>
          </a:p>
        </p:txBody>
      </p:sp>
      <p:sp>
        <p:nvSpPr>
          <p:cNvPr id="160" name="Rectangle 159"/>
          <p:cNvSpPr/>
          <p:nvPr/>
        </p:nvSpPr>
        <p:spPr>
          <a:xfrm>
            <a:off x="6379183" y="45902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79183" y="4590288"/>
            <a:ext cx="3149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635215" y="45628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083271" y="45125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49</a:t>
            </a:r>
          </a:p>
        </p:txBody>
      </p:sp>
      <p:sp>
        <p:nvSpPr>
          <p:cNvPr id="164" name="TextBox 163"/>
          <p:cNvSpPr txBox="1"/>
          <p:nvPr/>
        </p:nvSpPr>
        <p:spPr>
          <a:xfrm>
            <a:off x="7955563"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65" name="TextBox 164"/>
          <p:cNvSpPr txBox="1"/>
          <p:nvPr/>
        </p:nvSpPr>
        <p:spPr>
          <a:xfrm>
            <a:off x="8901391"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166" name="Rounded Rectangle 165"/>
          <p:cNvSpPr/>
          <p:nvPr/>
        </p:nvSpPr>
        <p:spPr>
          <a:xfrm>
            <a:off x="9847219" y="448970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47219" y="44842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68" name="Rectangle 167"/>
          <p:cNvSpPr/>
          <p:nvPr/>
        </p:nvSpPr>
        <p:spPr>
          <a:xfrm>
            <a:off x="841248" y="47000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14400" y="471830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NATIONALUM</a:t>
            </a:r>
          </a:p>
        </p:txBody>
      </p:sp>
      <p:sp>
        <p:nvSpPr>
          <p:cNvPr id="170" name="TextBox 169"/>
          <p:cNvSpPr txBox="1"/>
          <p:nvPr/>
        </p:nvSpPr>
        <p:spPr>
          <a:xfrm>
            <a:off x="3016239" y="471830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71" name="TextBox 170"/>
          <p:cNvSpPr txBox="1"/>
          <p:nvPr/>
        </p:nvSpPr>
        <p:spPr>
          <a:xfrm>
            <a:off x="5328263" y="471830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0.28</a:t>
            </a:r>
          </a:p>
        </p:txBody>
      </p:sp>
      <p:sp>
        <p:nvSpPr>
          <p:cNvPr id="172" name="Rectangle 171"/>
          <p:cNvSpPr/>
          <p:nvPr/>
        </p:nvSpPr>
        <p:spPr>
          <a:xfrm>
            <a:off x="6379183" y="48097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79183" y="4809744"/>
            <a:ext cx="39556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635215" y="47823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083271" y="47320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62</a:t>
            </a:r>
          </a:p>
        </p:txBody>
      </p:sp>
      <p:sp>
        <p:nvSpPr>
          <p:cNvPr id="176" name="TextBox 175"/>
          <p:cNvSpPr txBox="1"/>
          <p:nvPr/>
        </p:nvSpPr>
        <p:spPr>
          <a:xfrm>
            <a:off x="7955563"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77</a:t>
            </a:r>
          </a:p>
        </p:txBody>
      </p:sp>
      <p:sp>
        <p:nvSpPr>
          <p:cNvPr id="177" name="TextBox 176"/>
          <p:cNvSpPr txBox="1"/>
          <p:nvPr/>
        </p:nvSpPr>
        <p:spPr>
          <a:xfrm>
            <a:off x="8901391"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178" name="Rounded Rectangle 177"/>
          <p:cNvSpPr/>
          <p:nvPr/>
        </p:nvSpPr>
        <p:spPr>
          <a:xfrm>
            <a:off x="9847219" y="470916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847219" y="47036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80" name="Rectangle 179"/>
          <p:cNvSpPr/>
          <p:nvPr/>
        </p:nvSpPr>
        <p:spPr>
          <a:xfrm>
            <a:off x="841248" y="4919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14400" y="493776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MOTHERSON</a:t>
            </a:r>
          </a:p>
        </p:txBody>
      </p:sp>
      <p:sp>
        <p:nvSpPr>
          <p:cNvPr id="182" name="TextBox 181"/>
          <p:cNvSpPr txBox="1"/>
          <p:nvPr/>
        </p:nvSpPr>
        <p:spPr>
          <a:xfrm>
            <a:off x="3016239" y="493776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183" name="TextBox 182"/>
          <p:cNvSpPr txBox="1"/>
          <p:nvPr/>
        </p:nvSpPr>
        <p:spPr>
          <a:xfrm>
            <a:off x="5328263" y="493776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0.23</a:t>
            </a:r>
          </a:p>
        </p:txBody>
      </p:sp>
      <p:sp>
        <p:nvSpPr>
          <p:cNvPr id="184" name="Rectangle 183"/>
          <p:cNvSpPr/>
          <p:nvPr/>
        </p:nvSpPr>
        <p:spPr>
          <a:xfrm>
            <a:off x="6379183" y="502920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79183" y="5029200"/>
            <a:ext cx="42949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635215" y="50017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083271" y="49514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67</a:t>
            </a:r>
          </a:p>
        </p:txBody>
      </p:sp>
      <p:sp>
        <p:nvSpPr>
          <p:cNvPr id="188" name="TextBox 187"/>
          <p:cNvSpPr txBox="1"/>
          <p:nvPr/>
        </p:nvSpPr>
        <p:spPr>
          <a:xfrm>
            <a:off x="7955563"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70</a:t>
            </a:r>
          </a:p>
        </p:txBody>
      </p:sp>
      <p:sp>
        <p:nvSpPr>
          <p:cNvPr id="189" name="TextBox 188"/>
          <p:cNvSpPr txBox="1"/>
          <p:nvPr/>
        </p:nvSpPr>
        <p:spPr>
          <a:xfrm>
            <a:off x="8901391"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62</a:t>
            </a:r>
          </a:p>
        </p:txBody>
      </p:sp>
      <p:sp>
        <p:nvSpPr>
          <p:cNvPr id="190" name="Rounded Rectangle 189"/>
          <p:cNvSpPr/>
          <p:nvPr/>
        </p:nvSpPr>
        <p:spPr>
          <a:xfrm>
            <a:off x="9847219" y="492861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847219" y="492312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92" name="Rectangle 191"/>
          <p:cNvSpPr/>
          <p:nvPr/>
        </p:nvSpPr>
        <p:spPr>
          <a:xfrm>
            <a:off x="841248" y="51389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14400" y="515721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VBL</a:t>
            </a:r>
          </a:p>
        </p:txBody>
      </p:sp>
      <p:sp>
        <p:nvSpPr>
          <p:cNvPr id="194" name="TextBox 193"/>
          <p:cNvSpPr txBox="1"/>
          <p:nvPr/>
        </p:nvSpPr>
        <p:spPr>
          <a:xfrm>
            <a:off x="3016239" y="515721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195" name="TextBox 194"/>
          <p:cNvSpPr txBox="1"/>
          <p:nvPr/>
        </p:nvSpPr>
        <p:spPr>
          <a:xfrm>
            <a:off x="5328263" y="515721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0.23</a:t>
            </a:r>
          </a:p>
        </p:txBody>
      </p:sp>
      <p:sp>
        <p:nvSpPr>
          <p:cNvPr id="196" name="Rectangle 195"/>
          <p:cNvSpPr/>
          <p:nvPr/>
        </p:nvSpPr>
        <p:spPr>
          <a:xfrm>
            <a:off x="6379183" y="52486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79183" y="5248656"/>
            <a:ext cx="2886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635215" y="52212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083271" y="51709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200" name="TextBox 199"/>
          <p:cNvSpPr txBox="1"/>
          <p:nvPr/>
        </p:nvSpPr>
        <p:spPr>
          <a:xfrm>
            <a:off x="7955563"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201" name="TextBox 200"/>
          <p:cNvSpPr txBox="1"/>
          <p:nvPr/>
        </p:nvSpPr>
        <p:spPr>
          <a:xfrm>
            <a:off x="8901391"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37</a:t>
            </a:r>
          </a:p>
        </p:txBody>
      </p:sp>
      <p:sp>
        <p:nvSpPr>
          <p:cNvPr id="202" name="Rounded Rectangle 201"/>
          <p:cNvSpPr/>
          <p:nvPr/>
        </p:nvSpPr>
        <p:spPr>
          <a:xfrm>
            <a:off x="9847219" y="51480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847219" y="51425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04" name="Rectangle 203"/>
          <p:cNvSpPr/>
          <p:nvPr/>
        </p:nvSpPr>
        <p:spPr>
          <a:xfrm>
            <a:off x="841248" y="5358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14400" y="537667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ULTRACEMCO</a:t>
            </a:r>
          </a:p>
        </p:txBody>
      </p:sp>
      <p:sp>
        <p:nvSpPr>
          <p:cNvPr id="206" name="TextBox 205"/>
          <p:cNvSpPr txBox="1"/>
          <p:nvPr/>
        </p:nvSpPr>
        <p:spPr>
          <a:xfrm>
            <a:off x="3016239" y="537667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Cement</a:t>
            </a:r>
          </a:p>
        </p:txBody>
      </p:sp>
      <p:sp>
        <p:nvSpPr>
          <p:cNvPr id="207" name="TextBox 206"/>
          <p:cNvSpPr txBox="1"/>
          <p:nvPr/>
        </p:nvSpPr>
        <p:spPr>
          <a:xfrm>
            <a:off x="5328263" y="537667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0.17</a:t>
            </a:r>
          </a:p>
        </p:txBody>
      </p:sp>
      <p:sp>
        <p:nvSpPr>
          <p:cNvPr id="208" name="Rectangle 207"/>
          <p:cNvSpPr/>
          <p:nvPr/>
        </p:nvSpPr>
        <p:spPr>
          <a:xfrm>
            <a:off x="6379183" y="54681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79183" y="5468112"/>
            <a:ext cx="2336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635215" y="54406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083271" y="53903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212" name="TextBox 211"/>
          <p:cNvSpPr txBox="1"/>
          <p:nvPr/>
        </p:nvSpPr>
        <p:spPr>
          <a:xfrm>
            <a:off x="7955563"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213" name="TextBox 212"/>
          <p:cNvSpPr txBox="1"/>
          <p:nvPr/>
        </p:nvSpPr>
        <p:spPr>
          <a:xfrm>
            <a:off x="8901391"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214" name="Rounded Rectangle 213"/>
          <p:cNvSpPr/>
          <p:nvPr/>
        </p:nvSpPr>
        <p:spPr>
          <a:xfrm>
            <a:off x="9847219" y="536752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847219" y="53620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16" name="Rectangle 215"/>
          <p:cNvSpPr/>
          <p:nvPr/>
        </p:nvSpPr>
        <p:spPr>
          <a:xfrm>
            <a:off x="841248" y="55778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914400" y="559612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BANDHANBNK</a:t>
            </a:r>
          </a:p>
        </p:txBody>
      </p:sp>
      <p:sp>
        <p:nvSpPr>
          <p:cNvPr id="218" name="TextBox 217"/>
          <p:cNvSpPr txBox="1"/>
          <p:nvPr/>
        </p:nvSpPr>
        <p:spPr>
          <a:xfrm>
            <a:off x="3016239" y="559612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219" name="TextBox 218"/>
          <p:cNvSpPr txBox="1"/>
          <p:nvPr/>
        </p:nvSpPr>
        <p:spPr>
          <a:xfrm>
            <a:off x="5328263" y="559612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0.13</a:t>
            </a:r>
          </a:p>
        </p:txBody>
      </p:sp>
      <p:sp>
        <p:nvSpPr>
          <p:cNvPr id="220" name="Rectangle 219"/>
          <p:cNvSpPr/>
          <p:nvPr/>
        </p:nvSpPr>
        <p:spPr>
          <a:xfrm>
            <a:off x="6379183" y="568756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79183" y="5687568"/>
            <a:ext cx="40325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635215" y="566013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083271" y="560984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63</a:t>
            </a:r>
          </a:p>
        </p:txBody>
      </p:sp>
      <p:sp>
        <p:nvSpPr>
          <p:cNvPr id="224" name="TextBox 223"/>
          <p:cNvSpPr txBox="1"/>
          <p:nvPr/>
        </p:nvSpPr>
        <p:spPr>
          <a:xfrm>
            <a:off x="7955563"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225" name="TextBox 224"/>
          <p:cNvSpPr txBox="1"/>
          <p:nvPr/>
        </p:nvSpPr>
        <p:spPr>
          <a:xfrm>
            <a:off x="8901391"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67</a:t>
            </a:r>
          </a:p>
        </p:txBody>
      </p:sp>
      <p:sp>
        <p:nvSpPr>
          <p:cNvPr id="226" name="Rounded Rectangle 225"/>
          <p:cNvSpPr/>
          <p:nvPr/>
        </p:nvSpPr>
        <p:spPr>
          <a:xfrm>
            <a:off x="9847219" y="558698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47219" y="55814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28" name="Rectangle 227"/>
          <p:cNvSpPr/>
          <p:nvPr/>
        </p:nvSpPr>
        <p:spPr>
          <a:xfrm>
            <a:off x="841248" y="57972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14400" y="581558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IRCTC</a:t>
            </a:r>
          </a:p>
        </p:txBody>
      </p:sp>
      <p:sp>
        <p:nvSpPr>
          <p:cNvPr id="230" name="TextBox 229"/>
          <p:cNvSpPr txBox="1"/>
          <p:nvPr/>
        </p:nvSpPr>
        <p:spPr>
          <a:xfrm>
            <a:off x="3016239" y="581558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231" name="TextBox 230"/>
          <p:cNvSpPr txBox="1"/>
          <p:nvPr/>
        </p:nvSpPr>
        <p:spPr>
          <a:xfrm>
            <a:off x="5328263" y="581558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0.10</a:t>
            </a:r>
          </a:p>
        </p:txBody>
      </p:sp>
      <p:sp>
        <p:nvSpPr>
          <p:cNvPr id="232" name="Rectangle 231"/>
          <p:cNvSpPr/>
          <p:nvPr/>
        </p:nvSpPr>
        <p:spPr>
          <a:xfrm>
            <a:off x="6379183" y="59070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79183" y="5907024"/>
            <a:ext cx="3123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635215" y="58795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7083271" y="58293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49</a:t>
            </a:r>
          </a:p>
        </p:txBody>
      </p:sp>
      <p:sp>
        <p:nvSpPr>
          <p:cNvPr id="236" name="TextBox 235"/>
          <p:cNvSpPr txBox="1"/>
          <p:nvPr/>
        </p:nvSpPr>
        <p:spPr>
          <a:xfrm>
            <a:off x="7955563"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237" name="TextBox 236"/>
          <p:cNvSpPr txBox="1"/>
          <p:nvPr/>
        </p:nvSpPr>
        <p:spPr>
          <a:xfrm>
            <a:off x="8901391"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238" name="Rounded Rectangle 237"/>
          <p:cNvSpPr/>
          <p:nvPr/>
        </p:nvSpPr>
        <p:spPr>
          <a:xfrm>
            <a:off x="9847219" y="580644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847219" y="580095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40" name="Rectangle 239"/>
          <p:cNvSpPr/>
          <p:nvPr/>
        </p:nvSpPr>
        <p:spPr>
          <a:xfrm>
            <a:off x="841248" y="60167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a:hlinkClick action="ppaction://hlinksldjump" r:id="rId3"/>
          </p:cNvPr>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a:hlinkClick action="ppaction://hlinksldjump" r:id="rId4"/>
          </p:cNvPr>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41248" y="448056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41248" y="470001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841248" y="491947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41248" y="513892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a:hlinkClick action="ppaction://hlinksldjump" r:id="rId5"/>
          </p:cNvPr>
          <p:cNvSpPr/>
          <p:nvPr/>
        </p:nvSpPr>
        <p:spPr>
          <a:xfrm>
            <a:off x="841248" y="535838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41248" y="557784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41248" y="579729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3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2026-07-25</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ITCHOTELS</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0.07</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2534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34</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CMSINFO</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Services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0.06</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26691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42</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36</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TCS</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1.19</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26435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41</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INFY</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0.91</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29699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40</a:t>
            </a:r>
          </a:p>
        </p:txBody>
      </p:sp>
      <p:sp>
        <p:nvSpPr>
          <p:cNvPr id="70" name="Rounded Rectangle 69"/>
          <p:cNvSpPr/>
          <p:nvPr/>
        </p:nvSpPr>
        <p:spPr>
          <a:xfrm>
            <a:off x="9847219" y="27340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HINDUNILVR</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0.80</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24323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42</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32</a:t>
            </a:r>
          </a:p>
        </p:txBody>
      </p:sp>
      <p:sp>
        <p:nvSpPr>
          <p:cNvPr id="82" name="Rounded Rectangle 81"/>
          <p:cNvSpPr/>
          <p:nvPr/>
        </p:nvSpPr>
        <p:spPr>
          <a:xfrm>
            <a:off x="9847219" y="29535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BEL</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0.57</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35268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55</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59</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49</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SCHAEFFLER</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Auto &amp; Comp.</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0.40</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32196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06" name="Rounded Rectangle 105"/>
          <p:cNvSpPr/>
          <p:nvPr/>
        </p:nvSpPr>
        <p:spPr>
          <a:xfrm>
            <a:off x="9847219" y="339242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SUZLON</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Capital Goods</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0.34</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50630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79</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82</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74</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DIXON</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Diversified</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0.20</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30" name="Rounded Rectangle 129"/>
          <p:cNvSpPr/>
          <p:nvPr/>
        </p:nvSpPr>
        <p:spPr>
          <a:xfrm>
            <a:off x="9847219" y="383133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ETERNAL</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Cons. Services</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0.16</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29763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46</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142" name="Rounded Rectangle 141"/>
          <p:cNvSpPr/>
          <p:nvPr/>
        </p:nvSpPr>
        <p:spPr>
          <a:xfrm>
            <a:off x="9847219" y="405079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ANANDRATHI</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0.09</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42821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67</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68</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65</a:t>
            </a:r>
          </a:p>
        </p:txBody>
      </p:sp>
      <p:sp>
        <p:nvSpPr>
          <p:cNvPr id="154" name="Rounded Rectangle 153"/>
          <p:cNvSpPr/>
          <p:nvPr/>
        </p:nvSpPr>
        <p:spPr>
          <a:xfrm>
            <a:off x="9847219" y="427024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a:hlinkClick action="ppaction://hlinksldjump" r:id="rId4"/>
          </p:cNvPr>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Reliance Industries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44</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24</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4221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24</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26  ·  1Y 22  ·  12.40%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Return quality is mediocre for the multiple the market pays across RIL's segments individually: ROE of 10.6% and ROCE of 13.7% are unremarkable for a conglomerate carrying this valuation, and free cash flow remains slightly negative (an FCF yield of about -0.2%) as a second major capex cycle (New Energy, Rs 75,000 crore Phase 1) begins layering…</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Both of RIL's two largest, best-understood segments hit record quarterly EBITDA in Q1 FY27: O2C at Rs 17,010 crore (+17.2% YoY, a 4-year high, on a GRM recovery to an estimated $23/bbl from ~$12/bbl a year ago) and Jio Platforms at Rs 20,865 crore (+15.1% YoY), with ARPU up to Rs 215.6 and 8.9 million net subscriber additions taking the base to…</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Building a conservative, judgment-based sum-of-the-parts rather than a formula-driven DCF: (1) O2C, using FY26 full-year segment EBITDA of roughly Rs 60,500 crore (a fairer base than annualizing this quarter's cyclically strong GRM print) and a 7-9x EV/EBITDA multiple appropriate for a mature, cyclical, globally oversupplied…</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Tata Power Co. Ltd.  ·  Balance-sheet strain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45</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32</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4726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32</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34  ·  1Y 28  ·  1.93%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Leverage is elevated and moving in the wrong direction: non-current borrowings jumped to Rs 61,609 cr in FY26 from Rs 44,130 cr, funding a capex plan (FY27 guided ~Rs 25,000 cr) that has already slipped once (FY26 actual capex of Rs 13,000 cr missed the original Rs 20,000-22,000 cr guide on right-of-way/evacuation delays), reported D/E…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FY26 revenue decline is largely optics/one-off rather than a demand problem: the Mundra UMPP's Q4FY26 shutdown (Gujarat PPA expiry) is already resolved via a new supplemental PPA effective April 1, 2026, and part of the thermal-segment revenue fall simply reflects lower Indonesian coal costs passing through tariff formulas.</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378 (17-Jul-2026, market cap ~Rs 120,500 cr), Tata Power trades at ~32x trailing earnings (on attributable PAT of ~Rs 3,747 cr across ~319 cr shares). For an 11.5%-ROCE, 13.2%-ROE capital-intensive conglomerate, that multiple is rich against pure regulated-utility comparables…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Genuine deleveraging · interest cover back above our comfort level and net-debt/EBITDA normalising toward peers.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Larsen &amp; Toubro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46</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8625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46  ·  1Y 30  ·  1.25%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FY26 revenue growth of 12% fell short of the company's own 15% guidance, and FY27 guidance was cut to a more modest 10-12% order-inflow/revenue growth with explicitly flattish margins, management itself is signaling deceleration.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Order book at an all-time high of ~Rs 7.40 lakh crore (+28% YoY) against FY26 revenue of Rs 2.86 lakh crore, roughly 2.6x book-to-bill, gives several years of visible revenue, on the back of the best order-inflow year (+22% YoY) in the company's history.</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current price of roughly Rs 3,850 (~32x trailing consolidated EPS, ~5.6x book, against a ~17% ROE), the market is pricing sustained mid-to-high-teens earnings compounding for several years, well above what management's own FY27 guidance (10-12% revenue growth, flattish margins) supports over the next one to two years.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Jio Financial Services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47</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37</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4456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36  ·  1Y 38  ·  0.91%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bear case is that today's profitability doesn't support even the current, already-de-rated multiple. Consolidated ROE is roughly 1.1-1.2% on an ex-treasury-income basis and has not moved despite 150%+ NBFC book growth, this quarter's headline 156% PAT growth was more than half driven by a lumpy Rs 509 crore dividend/investment-income line…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bull case is real, not promotional: Jio Credit's AUM has grown 2.6x YoY to Rs 30,667 crore with quarterly disbursements up 2.7x YoY to Rs 11,252 crore, funded by continued promoter capital infusions (Rs 9,890 crore cumulative) rather than balance-sheet stress, D/E is just 0.16, so there is no solvency risk while the ramp plays out.</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Using a simple justified-P/B framework, P/B = (ROE - g) / (COE - g), a multiple of ~1.1x against a plausible ~13% cost of equity for an Indian financial and a ~5% terminal growth assumption backs out an implied normalized ROE of roughly 13.5-14%, i.e., the market is pricing in JIOFIN eventually earning a return modestly ABOVE its…</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Deepak Nitrite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48</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39</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793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39</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33  ·  1Y 48  ·  0.85%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Valuation is rich on any reasonable basis: trailing P/E of about 42x at the Rs 1,708 close (EV/EBITDA near 23x) against earnings still well below the company's own historical run-rate, and an independent rating desk (MarketsMojo) downgraded the stock from Hold to Sell on July 2, 2026 explicitly citing stretched valuation.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Q4 FY26 delivered a real, board-reported margin inflection, OPM of 17.7-18%, up ~703bps QoQ and ~319bps YoY and the best in seven quarters, with net profit up 8.6% YoY to Rs 220 crore, and management guided further sequential improvement into Q1 FY27 on secured feedstock and cost optimization.</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trailing P/E of ~38-43x (Rs ~1,640-1,710 recent range, FY26 EPS ~Rs 40.4 on Rs 551 crore PAT), the market is pricing meaningful multi-year margin normalization on top of the current trough, plus real option value for the polycarbonate/downstream capex bridge.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GAIL (India)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49</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34</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8896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34</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30  ·  1Y 39  ·  0.51%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profit decline is not a single bad quarter, our data shows five consecutive quarters of falling consolidated net profit, from ~Rs 4,084 crore (quarter ended Dec-2024) to ~Rs 1,481 crore (quarter ended Mar-2026), a ~64% peak-to-trough erosion over 15 months, while quarterly sales stayed roughly flat (Rs 32,756-36,835 crore), confirming this…</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regulated transmission business, GAIL's core annuity, is growing, not stagnant: segment EBIT rose 13.5% YoY to ~Rs 6,229 crore in FY26, and City Gas Distribution grew revenue 22.3% YoY, the fastest segment in the portfolio, tied to India's structural CNG/PNG penetration push.</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170, GAIL trades at ~15x trailing consolidated EPS and ~1.3x book against a 13.6% ROE, but the key judgment is that this 15x is being paid on an EPS base already depressed by the FY26 marketing-spread collapse and petrochem loss, not on a mid-cycle or peak number.</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Hindustan Copper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50</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82698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60  ·  1Y 29  ·  0.34%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FY26 profit surge is low-quality growth in the sense that matters for a re-rating case: ore production was up only 6% YoY (3.67 MT) and MIC sales up 12% YoY (27,369 tonnes), against 48.6% revenue growth and a near-doubling of profit, meaning copper-price pass-through, not incremental mining volume or operational execution, drove the…</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HCL is a clearly scarce strategic asset: India's only vertically integrated copper miner-to-metal producer, a designated player in the 2025 National Critical Mineral Mission, a KABIL member (with NALCO/MECL) for overseas critical-mineral acquisition, and a June-2026 MoA with Engineers India Ltd covering copper, critical minerals and rare earths…</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~51x trailing EPS (Rs 9.52) and ~14x book, working backwards from the current ROE of ~32-33%, the market needs HCL to sustain something close to its just-completed price-and-volume growth spurt for several more years to justify today's price on a normalized basis, effectively treating FY26's profit-doubling quarter-by-quarter cadence as the…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 For a commodity name, additionally: a confirmed upcycle, structural demand (electrification / AI build-out) showing up in realised earnings and supply deficits, not just in the metal price.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UltraTech Cement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51</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36</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3413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36</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35  ·  1Y 39  ·  0.17%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valuation is clearly rich relative to current return ratios: ~42-46x trailing consolidated earnings (a ~20-25% premium to the cement sector's mid-30s average) against ROE of only 10.7% and ROCE of 16.9%, an independent bear source (Marketsmojo) reaches an explicit SELL on near-identical logic, arguing the multiple already prices in…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Capacity crossed 200 MTPA in April 2026, a year ahead of the company's own target, with a further roadmap to 212.7 MTPA (FY27) and 242.5 MTPA (FY28) plus a fresh 22.8 mtpa brownfield/greenfield tranche, funded entirely from internal accruals (FY26 capex Rs 9,680 crore against FY26 operating cash flow of Rs 15,320 crore, net debt/EBITDA ~0.94x).</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a current price of roughly Rs 11,739 (market cap ~Rs 3.39 lakh crore) against FY26 consolidated PAT of Rs 8,305 crore (pre-exceptional), the stock trades at ~42-46x trailing earnings, the market is pricing several more years of double-digit EPS compounding plus meaningful margin expansion, not merely the ~8-10% organic volume growth…</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ITC Hotels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52</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8799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34  ·  1Y 48  ·  0.07%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~44-46x trailing earnings for a company generating just a 7.0% ROE (12.6% ROCE), ITC Hotels is not cheap in absolute terms, and it sits mid-to-upper in its peer set (IHCL 54-67x, EIH ~27-33x, Chalet ~27-30x) despite EIH and Chalet plausibly running comparable or better returns on capital - some of the premium is a bet on mix-shift…</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Q1 FY27 (reported 16 July 2026, after our scoring window closed) shows the business accelerating: consolidated revenue +14.8% YoY to Rs 936cr, PAT +36% YoY to Rs 182cr, EBITDA margin +112bps to 31.6%, RevPAR +8% YoY (ADR +4%, occupancy +290bps to 76% in owned/leased properties) while holding a 33% RevPAR premium over the industry, and management…</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174.7 (16 July 2026) and ~44-46x trailing consolidated PAT (~Rs 821cr FY26 reported / a slightly higher TTM figure post-Q1FY27), for a company with just 7.0% ROE, the multiple is clearly NOT pricing today's return on capital - it is pricing a multi-year mix-shift story: rising asset-light management-fee income…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Hindustan Unilever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53</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6019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42  ·  1Y 32  ·  0.80%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headline profit numbers this year are not what they look like: the ice-cream demerger booked one-time gains of roughly Rs 4,611 crore (Q2FY26) and Rs 4,516 crore (Q3FY26), and Q4's reported 20% PAT growth similarly leans on a smaller divestment gain rather than operations - PAT before exceptional items grew just 4% in Q4, and Screener's own…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Q4FY26 print is the strongest evidence in three years that HUL's demand engine is clearly turning: 6% underlying volume growth (best in 12 quarters) alongside 7% underlying sales growth means this is volume-led, not a price/mix illusion, and it shows up broadly - Home Care's best quarter in 11 quarters (fabric wash double-digit), Beauty &amp;…</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At ~Rs 2,144 and ~33x trailing consolidated earnings (Screener, 17 July 2026), HUL trades at roughly half its own 2018-2020 premium (55-65x), so a lot of the growth de-rating is already in the price.</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p.17</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overlap &amp; redundancy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funds re-buy the same exposure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54</a:t>
            </a:r>
          </a:p>
        </p:txBody>
      </p:sp>
      <p:pic>
        <p:nvPicPr>
          <p:cNvPr id="15" name="Picture 14" descr="annex_overlap.png"/>
          <p:cNvPicPr>
            <a:picLocks noChangeAspect="1"/>
          </p:cNvPicPr>
          <p:nvPr/>
        </p:nvPicPr>
        <p:blipFill>
          <a:blip r:embed="rId3"/>
          <a:stretch>
            <a:fillRect/>
          </a:stretch>
        </p:blipFill>
        <p:spPr>
          <a:xfrm>
            <a:off x="841248" y="1737360"/>
            <a:ext cx="6745437" cy="4114800"/>
          </a:xfrm>
          <a:prstGeom prst="rect">
            <a:avLst/>
          </a:prstGeom>
        </p:spPr>
      </p:pic>
      <p:sp>
        <p:nvSpPr>
          <p:cNvPr id="16" name="Rounded Rectangle 15"/>
          <p:cNvSpPr/>
          <p:nvPr/>
        </p:nvSpPr>
        <p:spPr>
          <a:xfrm>
            <a:off x="7836408" y="1828800"/>
            <a:ext cx="3514039" cy="18288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36408" y="1828800"/>
            <a:ext cx="54864" cy="18288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7576" y="1956816"/>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19" name="TextBox 18"/>
          <p:cNvSpPr txBox="1"/>
          <p:nvPr/>
        </p:nvSpPr>
        <p:spPr>
          <a:xfrm>
            <a:off x="8037576" y="2231136"/>
            <a:ext cx="314827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cell is the weighted common holding between two schemes: OVERLAP(A,B) = Σ min(w-A, w-B). Darker = more duplication · you pay two active fees for one underlying exposure.</a:t>
            </a:r>
          </a:p>
        </p:txBody>
      </p:sp>
      <p:sp>
        <p:nvSpPr>
          <p:cNvPr id="20" name="Rounded Rectangle 19"/>
          <p:cNvSpPr/>
          <p:nvPr/>
        </p:nvSpPr>
        <p:spPr>
          <a:xfrm>
            <a:off x="7836408" y="3749039"/>
            <a:ext cx="351403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36408" y="3749039"/>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7576" y="3877055"/>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ILLUSTRATIVE, NOT FINAL</a:t>
            </a:r>
          </a:p>
        </p:txBody>
      </p:sp>
      <p:sp>
        <p:nvSpPr>
          <p:cNvPr id="23" name="TextBox 22"/>
          <p:cNvSpPr txBox="1"/>
          <p:nvPr/>
        </p:nvSpPr>
        <p:spPr>
          <a:xfrm>
            <a:off x="8037576" y="4151376"/>
            <a:ext cx="31482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These values are illustrative. The exact map needs each fund's point-in-time look-through holdings, which we build from the funds' published portfolio disclosures.</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overlap placeholder · full pairwise look-through pending the funds' published portfolio disclosures. MF sleeve only.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Large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55</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28</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93%</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101%</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34%</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-8.6%</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0.68      ·      Info ratio  -0.86      ·      Max DD  -19.1%      ·      Worst 1-yr  -13.5%      ·      Sortino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7" name="Rounded Rectangle 36"/>
          <p:cNvSpPr/>
          <p:nvPr/>
        </p:nvSpPr>
        <p:spPr>
          <a:xfrm>
            <a:off x="1920240"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DOWNSIDE</a:t>
            </a:r>
          </a:p>
        </p:txBody>
      </p:sp>
      <p:sp>
        <p:nvSpPr>
          <p:cNvPr id="39" name="Rounded Rectangle 38"/>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2" name="TextBox 41"/>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Trails the large-cap index by 4-5pp a year over 3 and 5 years; active fees for below-index outcomes.  Measured against exemplar: a low-cost Large-Cap Index / Factor fund.</a:t>
            </a:r>
          </a:p>
        </p:txBody>
      </p:sp>
      <p:sp>
        <p:nvSpPr>
          <p:cNvPr id="43" name="Rounded Rectangle 42"/>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6" name="TextBox 45"/>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Switch. A fund score of 28/100 (grade D) sits below the category exemplar: 93% up-capture does not pay for 101% down-capture, and net alpha runs -8.6% p.a. Watch-outs: negative net alpha, high down-capture. Max drawdown on record: -19.1%.</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Flexi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56</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32</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102%</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107%</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38%</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-4.0%</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0.88      ·      Info ratio  -0.67      ·      Max DD  -18.8%      ·      Worst 1-yr  -10.2%      ·      Sortino  0.86      ·      Calmar  0.42      ·      TER  0.95%</a:t>
            </a:r>
          </a:p>
        </p:txBody>
      </p:sp>
      <p:sp>
        <p:nvSpPr>
          <p:cNvPr id="35" name="Rounded Rectangle 34"/>
          <p:cNvSpPr/>
          <p:nvPr/>
        </p:nvSpPr>
        <p:spPr>
          <a:xfrm>
            <a:off x="841248" y="3090672"/>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7" name="Rounded Rectangle 36"/>
          <p:cNvSpPr/>
          <p:nvPr/>
        </p:nvSpPr>
        <p:spPr>
          <a:xfrm>
            <a:off x="1920240"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WEAK 3-YR</a:t>
            </a:r>
          </a:p>
        </p:txBody>
      </p:sp>
      <p:sp>
        <p:nvSpPr>
          <p:cNvPr id="39" name="Rounded Rectangle 38"/>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2" name="TextBox 41"/>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Trails the broad market by ~4pp a year over five years; the record misses our consistency bar.  Measured against exemplar: a top-quartile Flexi-Cap from the approved list.</a:t>
            </a:r>
          </a:p>
        </p:txBody>
      </p:sp>
      <p:sp>
        <p:nvSpPr>
          <p:cNvPr id="43" name="Rounded Rectangle 42"/>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6" name="TextBox 45"/>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Switch. A fund score of 32/100 (grade D) sits below the category exemplar: 102% up-capture does not pay for 107% down-capture, and net alpha runs -4.0% p.a. Watch-outs: negative net alpha, weak 3-yr consistency. Max drawdown on record: -18.8%.</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Multi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57</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59</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103%</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99%</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52%</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+3.7%</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0.88      ·      Info ratio  0.67      ·      Max DD  -16.7%      ·      Worst 1-yr  -5.5%      ·      Sortino  1.75      ·      Calmar  1.00      ·      TER  0.95%</a:t>
            </a:r>
          </a:p>
        </p:txBody>
      </p:sp>
      <p:sp>
        <p:nvSpPr>
          <p:cNvPr id="35" name="Rounded Rectangle 34"/>
          <p:cNvSpPr/>
          <p:nvPr/>
        </p:nvSpPr>
        <p:spPr>
          <a:xfrm>
            <a:off x="841248"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RIGID</a:t>
            </a:r>
          </a:p>
        </p:txBody>
      </p:sp>
      <p:sp>
        <p:nvSpPr>
          <p:cNvPr id="37" name="Rounded Rectangle 36"/>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0" name="TextBox 39"/>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Multi-cap's SEBI 25/25/25 floor forces small/mid we prefer to size ourselves, structural, not performance.  Measured against exemplar: a Flexi-Cap (manager-flexible cap mix).</a:t>
            </a:r>
          </a:p>
        </p:txBody>
      </p:sp>
      <p:sp>
        <p:nvSpPr>
          <p:cNvPr id="41" name="Rounded Rectangle 40"/>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4" name="TextBox 43"/>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Switch. A fund score of 59/100 (grade B) sits below the category exemplar: 103% up-capture does not pay for 99% down-capture, and net alpha runs +3.7% p.a. Watch-outs: mandate rigidity. Max drawdown on record: -16.7%.</a:t>
            </a:r>
          </a:p>
        </p:txBody>
      </p:sp>
      <p:sp>
        <p:nvSpPr>
          <p:cNvPr id="45" name="TextBox 4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ICICI Pru Multi-Asset (Regular)</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58</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REDEEM-TO-DIRECT</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73</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A</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88%</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71%</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61%</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+12.8%</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0.88      ·      Info ratio  2.35      ·      Max DD  -11.0%      ·      Worst 1-yr  8.2%      ·      Sortino  3.75      ·      Calmar  2.59      ·      TER  0.95%</a:t>
            </a:r>
          </a:p>
        </p:txBody>
      </p:sp>
      <p:sp>
        <p:nvSpPr>
          <p:cNvPr id="35" name="Rounded Rectangle 34"/>
          <p:cNvSpPr/>
          <p:nvPr/>
        </p:nvSpPr>
        <p:spPr>
          <a:xfrm>
            <a:off x="841248"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37" name="Rounded Rectangle 36"/>
          <p:cNvSpPr/>
          <p:nvPr/>
        </p:nvSpPr>
        <p:spPr>
          <a:xfrm>
            <a:off x="841248" y="3566160"/>
            <a:ext cx="4892040" cy="141274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41248" y="3566160"/>
            <a:ext cx="54864" cy="141274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40" name="TextBox 39"/>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identical fund is available Direct; the Regular-plan trail is pure avoidable cost.  Measured against exemplar: the same fund's Direct plan.</a:t>
            </a:r>
          </a:p>
        </p:txBody>
      </p:sp>
      <p:sp>
        <p:nvSpPr>
          <p:cNvPr id="41" name="Rounded Rectangle 40"/>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4" name="TextBox 43"/>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Redeem-to-Direct. The scheme itself passes (+12.8% net alpha p.a., 71% down-capture); the Regular plan is the defect, so we move the same exposure to Direct rather than exit. Watch-outs: Regular-plan cost drag. Max drawdown on record: -11.0%.</a:t>
            </a:r>
          </a:p>
        </p:txBody>
      </p:sp>
      <p:sp>
        <p:nvSpPr>
          <p:cNvPr id="45" name="TextBox 4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PGIM India Small Cap Fund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59</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119%</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135%</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44%</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-11.5%</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0.73      ·      Info ratio  -0.95      ·      Max DD  -31.4%      ·      Worst 1-yr  -23.3%      ·      Sortino  0.11      ·      Calmar  -0.03      ·      TER  0.55%</a:t>
            </a:r>
          </a:p>
        </p:txBody>
      </p:sp>
      <p:sp>
        <p:nvSpPr>
          <p:cNvPr id="35" name="Rounded Rectangle 34"/>
          <p:cNvSpPr/>
          <p:nvPr/>
        </p:nvSpPr>
        <p:spPr>
          <a:xfrm>
            <a:off x="841248" y="3090672"/>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DEEP FALL</a:t>
            </a:r>
          </a:p>
        </p:txBody>
      </p:sp>
      <p:sp>
        <p:nvSpPr>
          <p:cNvPr id="37" name="Rounded Rectangle 36"/>
          <p:cNvSpPr/>
          <p:nvPr/>
        </p:nvSpPr>
        <p:spPr>
          <a:xfrm>
            <a:off x="1920240" y="3090672"/>
            <a:ext cx="9601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TRAILS</a:t>
            </a:r>
          </a:p>
        </p:txBody>
      </p:sp>
      <p:sp>
        <p:nvSpPr>
          <p:cNvPr id="39" name="Rounded Rectangle 38"/>
          <p:cNvSpPr/>
          <p:nvPr/>
        </p:nvSpPr>
        <p:spPr>
          <a:xfrm>
            <a:off x="2999232"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99232"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OVERSIZED</a:t>
            </a:r>
          </a:p>
        </p:txBody>
      </p:sp>
      <p:sp>
        <p:nvSpPr>
          <p:cNvPr id="41" name="Rounded Rectangle 40"/>
          <p:cNvSpPr/>
          <p:nvPr/>
        </p:nvSpPr>
        <p:spPr>
          <a:xfrm>
            <a:off x="841248" y="3566160"/>
            <a:ext cx="4892040" cy="1412748"/>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 y="3566160"/>
            <a:ext cx="54864" cy="1412748"/>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WE ACT</a:t>
            </a:r>
          </a:p>
        </p:txBody>
      </p:sp>
      <p:sp>
        <p:nvSpPr>
          <p:cNvPr id="44" name="TextBox 43"/>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Sub-scale ~3L beside a larger small-cap fund; persistent underperformance and duplication, structural exit.  Measured against exemplar: the primary small-cap sleeve already held.</a:t>
            </a:r>
          </a:p>
        </p:txBody>
      </p:sp>
      <p:sp>
        <p:nvSpPr>
          <p:cNvPr id="45" name="Rounded Rectangle 44"/>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8" name="TextBox 47"/>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Exit. The case for staying is gone: net alpha runs -11.5% p.a., down-capture is 135% against 119% up-capture, and the worst year printed -23.3%. Watch-outs: deep drawdown, negative net alpha, over-allocation. Max drawdown on record: -31.4%.</a:t>
            </a:r>
          </a:p>
        </p:txBody>
      </p:sp>
      <p:sp>
        <p:nvSpPr>
          <p:cNvPr id="49" name="TextBox 4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LIC MF Balanced Advantage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60</a:t>
            </a:r>
          </a:p>
        </p:txBody>
      </p:sp>
      <p:sp>
        <p:nvSpPr>
          <p:cNvPr id="15" name="Rounded Rectangle 14"/>
          <p:cNvSpPr/>
          <p:nvPr/>
        </p:nvSpPr>
        <p:spPr>
          <a:xfrm>
            <a:off x="9795967" y="1572768"/>
            <a:ext cx="155448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55</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82%</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79%</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48%</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+0.8%</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0.90      ·      Info ratio  0.16      ·      Max DD  -15.7%      ·      Worst 1-yr  -3.3%      ·      Sortino  1.93      ·      Calmar  0.89      ·      TER  0.95%</a:t>
            </a:r>
          </a:p>
        </p:txBody>
      </p:sp>
      <p:sp>
        <p:nvSpPr>
          <p:cNvPr id="35" name="Rounded Rectangle 34"/>
          <p:cNvSpPr/>
          <p:nvPr/>
        </p:nvSpPr>
        <p:spPr>
          <a:xfrm>
            <a:off x="841248"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TINY FUND</a:t>
            </a:r>
          </a:p>
        </p:txBody>
      </p:sp>
      <p:sp>
        <p:nvSpPr>
          <p:cNvPr id="37" name="Rounded Rectangle 36"/>
          <p:cNvSpPr/>
          <p:nvPr/>
        </p:nvSpPr>
        <p:spPr>
          <a:xfrm>
            <a:off x="1920240"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920240"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NEW FUND</a:t>
            </a:r>
          </a:p>
        </p:txBody>
      </p:sp>
      <p:sp>
        <p:nvSpPr>
          <p:cNvPr id="39" name="Rounded Rectangle 38"/>
          <p:cNvSpPr/>
          <p:nvPr/>
        </p:nvSpPr>
        <p:spPr>
          <a:xfrm>
            <a:off x="2999232" y="3090672"/>
            <a:ext cx="960120"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99232" y="3085185"/>
            <a:ext cx="9601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COST DRAG</a:t>
            </a:r>
          </a:p>
        </p:txBody>
      </p:sp>
      <p:sp>
        <p:nvSpPr>
          <p:cNvPr id="41" name="Rounded Rectangle 40"/>
          <p:cNvSpPr/>
          <p:nvPr/>
        </p:nvSpPr>
        <p:spPr>
          <a:xfrm>
            <a:off x="841248" y="3566160"/>
            <a:ext cx="4892040" cy="1751076"/>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41248" y="3566160"/>
            <a:ext cx="54864" cy="175107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44" name="TextBox 43"/>
          <p:cNvSpPr txBox="1"/>
          <p:nvPr/>
        </p:nvSpPr>
        <p:spPr>
          <a:xfrm>
            <a:off x="1042416" y="3968496"/>
            <a:ext cx="452627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Under four years of record, sub-scale, Regular plan; we fold the sleeve into the proven hybrid held.  Measured against exemplar: the hybrid core already held (HDFC BAF, Direct).</a:t>
            </a:r>
          </a:p>
        </p:txBody>
      </p:sp>
      <p:sp>
        <p:nvSpPr>
          <p:cNvPr id="45" name="Rounded Rectangle 44"/>
          <p:cNvSpPr/>
          <p:nvPr/>
        </p:nvSpPr>
        <p:spPr>
          <a:xfrm>
            <a:off x="5916168" y="3566160"/>
            <a:ext cx="5434279" cy="175107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916168" y="3566160"/>
            <a:ext cx="54864" cy="175107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8" name="TextBox 47"/>
          <p:cNvSpPr txBox="1"/>
          <p:nvPr/>
        </p:nvSpPr>
        <p:spPr>
          <a:xfrm>
            <a:off x="6117336" y="3968496"/>
            <a:ext cx="506851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Trim, on scale and record, not results. The scheme is young (under four years) on a sub-scale asset base, so it cannot yet carry a full allocation; the position stays, smaller, while the record matures. Watch-outs: sub-scale AUM, record under 4 years, Regular-plan cost drag. Max drawdown on record: -15.7%.</a:t>
            </a:r>
          </a:p>
        </p:txBody>
      </p:sp>
      <p:sp>
        <p:nvSpPr>
          <p:cNvPr id="49" name="TextBox 4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total-return benchmark, point-in-time · Ionic fund-quality framework.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Score vs final call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human moved the machine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All 47 direct equity holdings · quant score vs final analyst call · as of 2026-07-25</a:t>
            </a:r>
          </a:p>
        </p:txBody>
      </p:sp>
      <p:pic>
        <p:nvPicPr>
          <p:cNvPr id="17" name="Picture 16" descr="annexb_svc.png"/>
          <p:cNvPicPr>
            <a:picLocks noChangeAspect="1"/>
          </p:cNvPicPr>
          <p:nvPr/>
        </p:nvPicPr>
        <p:blipFill>
          <a:blip r:embed="rId3"/>
          <a:stretch>
            <a:fillRect/>
          </a:stretch>
        </p:blipFill>
        <p:spPr>
          <a:xfrm>
            <a:off x="841248" y="1783080"/>
            <a:ext cx="6537960" cy="3732479"/>
          </a:xfrm>
          <a:prstGeom prst="rect">
            <a:avLst/>
          </a:prstGeom>
        </p:spPr>
      </p:pic>
      <p:sp>
        <p:nvSpPr>
          <p:cNvPr id="18" name="TextBox 17"/>
          <p:cNvSpPr txBox="1"/>
          <p:nvPr/>
        </p:nvSpPr>
        <p:spPr>
          <a:xfrm>
            <a:off x="841248" y="5779008"/>
            <a:ext cx="6537960"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Georgia"/>
              </a:rPr>
              <a:t>Bubble = position value · gold ring = the analyst moved away from the quant read</a:t>
            </a:r>
          </a:p>
        </p:txBody>
      </p:sp>
      <p:sp>
        <p:nvSpPr>
          <p:cNvPr id="19" name="TextBox 18"/>
          <p:cNvSpPr txBox="1"/>
          <p:nvPr/>
        </p:nvSpPr>
        <p:spPr>
          <a:xfrm>
            <a:off x="7562088" y="1700784"/>
            <a:ext cx="3788359" cy="201168"/>
          </a:xfrm>
          <a:prstGeom prst="rect">
            <a:avLst/>
          </a:prstGeom>
          <a:noFill/>
        </p:spPr>
        <p:txBody>
          <a:bodyPr wrap="square" anchor="t" lIns="0" rIns="0" tIns="0" bIns="0">
            <a:spAutoFit/>
          </a:bodyPr>
          <a:lstStyle/>
          <a:p>
            <a:pPr algn="l">
              <a:spcBef>
                <a:spcPts val="0"/>
              </a:spcBef>
              <a:spcAft>
                <a:spcPts val="0"/>
              </a:spcAft>
            </a:pPr>
            <a:r>
              <a:rPr sz="900" b="1" i="0" spc="80">
                <a:solidFill>
                  <a:srgbClr val="92400E"/>
                </a:solidFill>
                <a:latin typeface="Bahnschrift"/>
              </a:rPr>
              <a:t>WHERE ANALYSTS OVERRULED THE MODEL</a:t>
            </a:r>
          </a:p>
        </p:txBody>
      </p:sp>
      <p:sp>
        <p:nvSpPr>
          <p:cNvPr id="20" name="TextBox 19"/>
          <p:cNvSpPr txBox="1"/>
          <p:nvPr/>
        </p:nvSpPr>
        <p:spPr>
          <a:xfrm>
            <a:off x="7635240" y="1956816"/>
            <a:ext cx="114173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STOCK</a:t>
            </a:r>
          </a:p>
        </p:txBody>
      </p:sp>
      <p:sp>
        <p:nvSpPr>
          <p:cNvPr id="21" name="TextBox 20"/>
          <p:cNvSpPr txBox="1"/>
          <p:nvPr/>
        </p:nvSpPr>
        <p:spPr>
          <a:xfrm>
            <a:off x="8923282" y="1956816"/>
            <a:ext cx="535600"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SCORE</a:t>
            </a:r>
          </a:p>
        </p:txBody>
      </p:sp>
      <p:sp>
        <p:nvSpPr>
          <p:cNvPr id="22" name="TextBox 21"/>
          <p:cNvSpPr txBox="1"/>
          <p:nvPr/>
        </p:nvSpPr>
        <p:spPr>
          <a:xfrm>
            <a:off x="9605186" y="1956816"/>
            <a:ext cx="838669"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TextBox 22"/>
          <p:cNvSpPr txBox="1"/>
          <p:nvPr/>
        </p:nvSpPr>
        <p:spPr>
          <a:xfrm>
            <a:off x="10590160" y="1956816"/>
            <a:ext cx="687135"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QUANT SAID</a:t>
            </a:r>
          </a:p>
        </p:txBody>
      </p:sp>
      <p:sp>
        <p:nvSpPr>
          <p:cNvPr id="24" name="Rectangle 23"/>
          <p:cNvSpPr/>
          <p:nvPr/>
        </p:nvSpPr>
        <p:spPr>
          <a:xfrm>
            <a:off x="7562088" y="2212848"/>
            <a:ext cx="37883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62088" y="2386584"/>
            <a:ext cx="3788359" cy="16002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62088" y="2386584"/>
            <a:ext cx="54864" cy="16002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63256" y="2514600"/>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0 CALLS MOVED, EACH DOCUMENTED</a:t>
            </a:r>
          </a:p>
        </p:txBody>
      </p:sp>
      <p:sp>
        <p:nvSpPr>
          <p:cNvPr id="28" name="TextBox 27"/>
          <p:cNvSpPr txBox="1"/>
          <p:nvPr/>
        </p:nvSpPr>
        <p:spPr>
          <a:xfrm>
            <a:off x="7763256" y="2788920"/>
            <a:ext cx="3422599" cy="11430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quant score is a screen; a verdict needs a person. On 0 names the analyst holds a low scorer for reasons the model cannot see; on 0 the call is Sell despite a passing score. Every override carries a written rationale, on the record.</a:t>
            </a:r>
          </a:p>
        </p:txBody>
      </p:sp>
      <p:sp>
        <p:nvSpPr>
          <p:cNvPr id="29" name="TextBox 2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quant score (0-100, PIT 2026-07-21) vs final Portfolio Review call per holding; escalated Holds shown as Under review; overrides ringed in gold.</a:t>
            </a:r>
          </a:p>
        </p:txBody>
      </p:sp>
      <p:sp>
        <p:nvSpPr>
          <p:cNvPr id="30" name="TextBox 29"/>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Valuation check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book's P/E against its own 10-year range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weighted trailing P/E on 59% of book weight (usable multiples below 150x) · band [ILLUSTRATIVE]</a:t>
            </a:r>
          </a:p>
        </p:txBody>
      </p:sp>
      <p:pic>
        <p:nvPicPr>
          <p:cNvPr id="17" name="Picture 16" descr="annexb_valband.png"/>
          <p:cNvPicPr>
            <a:picLocks noChangeAspect="1"/>
          </p:cNvPicPr>
          <p:nvPr/>
        </p:nvPicPr>
        <p:blipFill>
          <a:blip r:embed="rId3"/>
          <a:stretch>
            <a:fillRect/>
          </a:stretch>
        </p:blipFill>
        <p:spPr>
          <a:xfrm>
            <a:off x="841248" y="1783080"/>
            <a:ext cx="6537960" cy="3350174"/>
          </a:xfrm>
          <a:prstGeom prst="rect">
            <a:avLst/>
          </a:prstGeom>
        </p:spPr>
      </p:pic>
      <p:sp>
        <p:nvSpPr>
          <p:cNvPr id="18" name="Rounded Rectangle 17"/>
          <p:cNvSpPr/>
          <p:nvPr/>
        </p:nvSpPr>
        <p:spPr>
          <a:xfrm>
            <a:off x="7562088" y="1783080"/>
            <a:ext cx="378835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6208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3256" y="191109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THIS SAYS</a:t>
            </a:r>
          </a:p>
        </p:txBody>
      </p:sp>
      <p:sp>
        <p:nvSpPr>
          <p:cNvPr id="21" name="TextBox 20"/>
          <p:cNvSpPr txBox="1"/>
          <p:nvPr/>
        </p:nvSpPr>
        <p:spPr>
          <a:xfrm>
            <a:off x="7763256" y="218541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weighted trailing P/E of the direct book is 40.6x, around the 83th percentile of the illustrative 10-year band for this sector blend. The starting multiple is the one return driver already known today, and it sits high.</a:t>
            </a:r>
          </a:p>
        </p:txBody>
      </p:sp>
      <p:sp>
        <p:nvSpPr>
          <p:cNvPr id="22" name="Rounded Rectangle 21"/>
          <p:cNvSpPr/>
          <p:nvPr/>
        </p:nvSpPr>
        <p:spPr>
          <a:xfrm>
            <a:off x="7562088" y="3886200"/>
            <a:ext cx="3788359" cy="19659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62088" y="3886200"/>
            <a:ext cx="54864" cy="19659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63256" y="401421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IT DOES NOT SAY</a:t>
            </a:r>
          </a:p>
        </p:txBody>
      </p:sp>
      <p:sp>
        <p:nvSpPr>
          <p:cNvPr id="25" name="TextBox 24"/>
          <p:cNvSpPr txBox="1"/>
          <p:nvPr/>
        </p:nvSpPr>
        <p:spPr>
          <a:xfrm>
            <a:off x="7763256" y="428853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high percentile is not a timing signal: expensive books can stay expensive for years. What it does change is the margin of safety, so the bar for adding rises, the case for trimming the weakest scores strengthens, and staged deployment of new money matters more.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Weighted trailing P/E over the 59% of book weight with usable multiples (extremes above 150x excluded); 10-year percentile band is synthetic [ILLUSTRATIVE] pending index-blend history.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100" b="1" i="0">
                <a:solidFill>
                  <a:srgbClr val="1B27A3"/>
                </a:solidFill>
                <a:latin typeface="Bahnschrift"/>
              </a:rPr>
              <a:t>Ten years, five assets · the winner rotates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Annual returns ranked within each year, 2017 to 2026</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Asset-class annual returns in INR, 2017-2026 YTD · not a performance record</a:t>
            </a:r>
          </a:p>
        </p:txBody>
      </p:sp>
      <p:pic>
        <p:nvPicPr>
          <p:cNvPr id="17" name="Picture 16" descr="axa_quilt.png"/>
          <p:cNvPicPr>
            <a:picLocks noChangeAspect="1"/>
          </p:cNvPicPr>
          <p:nvPr/>
        </p:nvPicPr>
        <p:blipFill>
          <a:blip r:embed="rId3"/>
          <a:stretch>
            <a:fillRect/>
          </a:stretch>
        </p:blipFill>
        <p:spPr>
          <a:xfrm>
            <a:off x="1273624" y="1691640"/>
            <a:ext cx="9644447" cy="3246120"/>
          </a:xfrm>
          <a:prstGeom prst="rect">
            <a:avLst/>
          </a:prstGeom>
        </p:spPr>
      </p:pic>
      <p:sp>
        <p:nvSpPr>
          <p:cNvPr id="18" name="Rounded Rectangle 17"/>
          <p:cNvSpPr/>
          <p:nvPr/>
        </p:nvSpPr>
        <p:spPr>
          <a:xfrm>
            <a:off x="841248" y="5047488"/>
            <a:ext cx="10509199" cy="9144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 y="5047488"/>
            <a:ext cx="54864" cy="914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5175503"/>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HUMILITY CHART</a:t>
            </a:r>
          </a:p>
        </p:txBody>
      </p:sp>
      <p:sp>
        <p:nvSpPr>
          <p:cNvPr id="21" name="TextBox 20"/>
          <p:cNvSpPr txBox="1"/>
          <p:nvPr/>
        </p:nvSpPr>
        <p:spPr>
          <a:xfrm>
            <a:off x="1042416" y="5449824"/>
            <a:ext cx="10143439" cy="457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Gold led four of these ten years, foreign equity three, Indian equity three; in 2018 even cash beat Indian equity. Use this page when one asset has just had a hot run: the leader rotates, so the plan is the rebalanced allocation across all five, never last year's winner.</a:t>
            </a:r>
          </a:p>
        </p:txBody>
      </p:sp>
      <p:sp>
        <p:nvSpPr>
          <p:cNvPr id="22" name="TextBox 2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synthetic annual returns in INR; asset proxies: Nifty 50 TRI, S&amp;P 500 in INR, domestic gold price, short-duration debt, liquid funds. Directionally representative, not a performance record. [ILLUSTRATIVE]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the top eight actually share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Pairwise correlation of the largest direct-equity holdings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64</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Top-8 direct-equity holdings by weight · synthetic pairwise correlations · as of 2026-07-25</a:t>
            </a:r>
          </a:p>
        </p:txBody>
      </p:sp>
      <p:pic>
        <p:nvPicPr>
          <p:cNvPr id="17" name="Picture 16" descr="axa_corr.png"/>
          <p:cNvPicPr>
            <a:picLocks noChangeAspect="1"/>
          </p:cNvPicPr>
          <p:nvPr/>
        </p:nvPicPr>
        <p:blipFill>
          <a:blip r:embed="rId3"/>
          <a:stretch>
            <a:fillRect/>
          </a:stretch>
        </p:blipFill>
        <p:spPr>
          <a:xfrm>
            <a:off x="1195296" y="1691640"/>
            <a:ext cx="5235503" cy="4297680"/>
          </a:xfrm>
          <a:prstGeom prst="rect">
            <a:avLst/>
          </a:prstGeom>
        </p:spPr>
      </p:pic>
      <p:sp>
        <p:nvSpPr>
          <p:cNvPr id="18" name="Rounded Rectangle 17"/>
          <p:cNvSpPr/>
          <p:nvPr/>
        </p:nvSpPr>
        <p:spPr>
          <a:xfrm>
            <a:off x="6922008" y="1783080"/>
            <a:ext cx="442843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22008" y="178308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23176" y="191109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DIVERSIFICATION ACTUALLY HELD</a:t>
            </a:r>
          </a:p>
        </p:txBody>
      </p:sp>
      <p:sp>
        <p:nvSpPr>
          <p:cNvPr id="21" name="TextBox 20"/>
          <p:cNvSpPr txBox="1"/>
          <p:nvPr/>
        </p:nvSpPr>
        <p:spPr>
          <a:xfrm>
            <a:off x="7123176" y="2185416"/>
            <a:ext cx="40626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4 financial names move as a block: SBIN and BAJFINANCE top the grid at 0.75. SUNPHARMA against SBIN is the most independent pair at 0.24. Average pairwise correlation is 0.47, so these eight tickers diversify like a smaller handful.</a:t>
            </a:r>
          </a:p>
        </p:txBody>
      </p:sp>
      <p:sp>
        <p:nvSpPr>
          <p:cNvPr id="22" name="Rounded Rectangle 21"/>
          <p:cNvSpPr/>
          <p:nvPr/>
        </p:nvSpPr>
        <p:spPr>
          <a:xfrm>
            <a:off x="6922008" y="3749039"/>
            <a:ext cx="4428439" cy="16916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22008" y="3749039"/>
            <a:ext cx="54864" cy="16916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387705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123176" y="4151376"/>
            <a:ext cx="4062679"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Bring this page out when the number of holdings is offered as diversification. Portfolio risk is set by how much the names respond to the same forces (rates, credit, the consumer); a ninth name from the same cluster adds little.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Synthetic correlation estimates for illustration, patterned on typical 3-year weekly-return relationships; not measured from market data. [ILLUSTRATIVE]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Capital weight is not risk weight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risk contribution vs capital weight · top 10 names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65</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book · as of 2026-07-25</a:t>
            </a:r>
          </a:p>
        </p:txBody>
      </p:sp>
      <p:pic>
        <p:nvPicPr>
          <p:cNvPr id="17" name="Picture 16" descr="axa_riskw.png"/>
          <p:cNvPicPr>
            <a:picLocks noChangeAspect="1"/>
          </p:cNvPicPr>
          <p:nvPr/>
        </p:nvPicPr>
        <p:blipFill>
          <a:blip r:embed="rId3"/>
          <a:stretch>
            <a:fillRect/>
          </a:stretch>
        </p:blipFill>
        <p:spPr>
          <a:xfrm>
            <a:off x="841248" y="1691640"/>
            <a:ext cx="6309360" cy="3734919"/>
          </a:xfrm>
          <a:prstGeom prst="rect">
            <a:avLst/>
          </a:prstGeom>
        </p:spPr>
      </p:pic>
      <p:sp>
        <p:nvSpPr>
          <p:cNvPr id="18" name="Rounded Rectangle 17"/>
          <p:cNvSpPr/>
          <p:nvPr/>
        </p:nvSpPr>
        <p:spPr>
          <a:xfrm>
            <a:off x="7315200" y="1783080"/>
            <a:ext cx="4035247"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191109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CAPITAL WEIGHT IS NOT RISK WEIGHT</a:t>
            </a:r>
          </a:p>
        </p:txBody>
      </p:sp>
      <p:sp>
        <p:nvSpPr>
          <p:cNvPr id="21" name="TextBox 20"/>
          <p:cNvSpPr txBox="1"/>
          <p:nvPr/>
        </p:nvSpPr>
        <p:spPr>
          <a:xfrm>
            <a:off x="7516368" y="2185416"/>
            <a:ext cx="3669487"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ten largest risk contributors hold 65% of equity capital but an estimated 63% of its risk. RELIANCE is the biggest rupee position, yet TITAN tops the risk list, while higher-volatility names such as TATASTEEL and HINDALCO carry clearly more risk than their capital weight (gold figures).</a:t>
            </a:r>
          </a:p>
        </p:txBody>
      </p:sp>
      <p:sp>
        <p:nvSpPr>
          <p:cNvPr id="22" name="Rounded Rectangle 21"/>
          <p:cNvSpPr/>
          <p:nvPr/>
        </p:nvSpPr>
        <p:spPr>
          <a:xfrm>
            <a:off x="7315200" y="3886200"/>
            <a:ext cx="4035247"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6368" y="401421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516368" y="4288536"/>
            <a:ext cx="3669487"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when a trim looks too small to matter in rupee terms. Risk is weight times volatility: a one-point trim of a high-volatility name removes more portfolio risk than the same point off a steady large cap, and the trim list is sequenced accordingly.</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Risk contribution estimated as capital weight times an assumed per-name volatility proxy (synthetic), normalised to 100%; a full covariance treatment would shift details, the ordering is the point. [ILLUSTRATIVE]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Four crises, replayed on this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drawdown: today's mix vs the proposed mix</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Scenario replay on synthetic weights · today's mix vs proposed post-deployment mix · as of 2026-07-25</a:t>
            </a:r>
          </a:p>
        </p:txBody>
      </p:sp>
      <p:pic>
        <p:nvPicPr>
          <p:cNvPr id="17" name="Picture 16" descr="axa_stress.png"/>
          <p:cNvPicPr>
            <a:picLocks noChangeAspect="1"/>
          </p:cNvPicPr>
          <p:nvPr/>
        </p:nvPicPr>
        <p:blipFill>
          <a:blip r:embed="rId3"/>
          <a:stretch>
            <a:fillRect/>
          </a:stretch>
        </p:blipFill>
        <p:spPr>
          <a:xfrm>
            <a:off x="858472" y="1737360"/>
            <a:ext cx="6366350" cy="4023360"/>
          </a:xfrm>
          <a:prstGeom prst="rect">
            <a:avLst/>
          </a:prstGeom>
        </p:spPr>
      </p:pic>
      <p:sp>
        <p:nvSpPr>
          <p:cNvPr id="18" name="Rounded Rectangle 17"/>
          <p:cNvSpPr/>
          <p:nvPr/>
        </p:nvSpPr>
        <p:spPr>
          <a:xfrm>
            <a:off x="7452360" y="1783080"/>
            <a:ext cx="3898087"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52360" y="178308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3528" y="1911095"/>
            <a:ext cx="35323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THESE ARE ESTIMATED</a:t>
            </a:r>
          </a:p>
        </p:txBody>
      </p:sp>
      <p:sp>
        <p:nvSpPr>
          <p:cNvPr id="21" name="TextBox 20"/>
          <p:cNvSpPr txBox="1"/>
          <p:nvPr/>
        </p:nvSpPr>
        <p:spPr>
          <a:xfrm>
            <a:off x="7653528" y="2185416"/>
            <a:ext cx="3532327"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pair replays that window's asset-class moves through today's mix and through the proposed mix (more foreign equity, gold and staged cash). These are estimates on synthetic weights; wide error bars apply.</a:t>
            </a:r>
          </a:p>
        </p:txBody>
      </p:sp>
      <p:sp>
        <p:nvSpPr>
          <p:cNvPr id="22" name="Rounded Rectangle 21"/>
          <p:cNvSpPr/>
          <p:nvPr/>
        </p:nvSpPr>
        <p:spPr>
          <a:xfrm>
            <a:off x="7452360" y="3703320"/>
            <a:ext cx="3898087" cy="20574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3703320"/>
            <a:ext cx="54864" cy="20574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53528" y="3831335"/>
            <a:ext cx="35323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DEPLOYMENT PLAN, IN RISK TERMS</a:t>
            </a:r>
          </a:p>
        </p:txBody>
      </p:sp>
      <p:sp>
        <p:nvSpPr>
          <p:cNvPr id="25" name="TextBox 24"/>
          <p:cNvSpPr txBox="1"/>
          <p:nvPr/>
        </p:nvSpPr>
        <p:spPr>
          <a:xfrm>
            <a:off x="7653528" y="4105656"/>
            <a:ext cx="3532327" cy="1600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proposed mix would have cut the worst window (GFC 2008) by about +10 points and the others by 3 to 8 points, while giving up little in calm markets. Use this page when the deployment plan needs a reason beyond return: it is bought protection, funded by the Sell list.</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Scenario drawdowns are illustrative estimates: historical asset-class peak-to-trough moves applied to synthetic current and proposed allocations; no forecast implied. [ILLUSTRATIVE]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Volatility ladder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Which holdings amplify the market, and by how much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67</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sector-keyed betas [ILLUSTRATIVE] pending regression on price history · as of 2026-07-25</a:t>
            </a:r>
          </a:p>
        </p:txBody>
      </p:sp>
      <p:pic>
        <p:nvPicPr>
          <p:cNvPr id="17" name="Picture 16" descr="annexb_beta.png"/>
          <p:cNvPicPr>
            <a:picLocks noChangeAspect="1"/>
          </p:cNvPicPr>
          <p:nvPr/>
        </p:nvPicPr>
        <p:blipFill>
          <a:blip r:embed="rId3"/>
          <a:stretch>
            <a:fillRect/>
          </a:stretch>
        </p:blipFill>
        <p:spPr>
          <a:xfrm>
            <a:off x="841248" y="1783080"/>
            <a:ext cx="6283514" cy="4114800"/>
          </a:xfrm>
          <a:prstGeom prst="rect">
            <a:avLst/>
          </a:prstGeom>
        </p:spPr>
      </p:pic>
      <p:sp>
        <p:nvSpPr>
          <p:cNvPr id="18" name="TextBox 17"/>
          <p:cNvSpPr txBox="1"/>
          <p:nvPr/>
        </p:nvSpPr>
        <p:spPr>
          <a:xfrm>
            <a:off x="7333488" y="1700784"/>
            <a:ext cx="4016959" cy="201168"/>
          </a:xfrm>
          <a:prstGeom prst="rect">
            <a:avLst/>
          </a:prstGeom>
          <a:noFill/>
        </p:spPr>
        <p:txBody>
          <a:bodyPr wrap="square" anchor="t" lIns="0" rIns="0" tIns="0" bIns="0">
            <a:spAutoFit/>
          </a:bodyPr>
          <a:lstStyle/>
          <a:p>
            <a:pPr algn="l">
              <a:spcBef>
                <a:spcPts val="0"/>
              </a:spcBef>
              <a:spcAft>
                <a:spcPts val="0"/>
              </a:spcAft>
            </a:pPr>
            <a:r>
              <a:rPr sz="900" b="1" i="0" spc="60">
                <a:solidFill>
                  <a:srgbClr val="E0402F"/>
                </a:solidFill>
                <a:latin typeface="Bahnschrift"/>
              </a:rPr>
              <a:t>THE HIGH-BETA TAIL · 4.7% OF BOOK</a:t>
            </a:r>
          </a:p>
        </p:txBody>
      </p:sp>
      <p:sp>
        <p:nvSpPr>
          <p:cNvPr id="19" name="TextBox 18"/>
          <p:cNvSpPr txBox="1"/>
          <p:nvPr/>
        </p:nvSpPr>
        <p:spPr>
          <a:xfrm>
            <a:off x="7406640" y="1956816"/>
            <a:ext cx="154081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HIGH-BETA NAME</a:t>
            </a:r>
          </a:p>
        </p:txBody>
      </p:sp>
      <p:sp>
        <p:nvSpPr>
          <p:cNvPr id="20" name="TextBox 19"/>
          <p:cNvSpPr txBox="1"/>
          <p:nvPr/>
        </p:nvSpPr>
        <p:spPr>
          <a:xfrm>
            <a:off x="9093762" y="1956816"/>
            <a:ext cx="576748"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BETA</a:t>
            </a:r>
          </a:p>
        </p:txBody>
      </p:sp>
      <p:sp>
        <p:nvSpPr>
          <p:cNvPr id="21" name="TextBox 20"/>
          <p:cNvSpPr txBox="1"/>
          <p:nvPr/>
        </p:nvSpPr>
        <p:spPr>
          <a:xfrm>
            <a:off x="9816815" y="1956816"/>
            <a:ext cx="657087"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WEIGHT</a:t>
            </a:r>
          </a:p>
        </p:txBody>
      </p:sp>
      <p:sp>
        <p:nvSpPr>
          <p:cNvPr id="22" name="TextBox 21"/>
          <p:cNvSpPr txBox="1"/>
          <p:nvPr/>
        </p:nvSpPr>
        <p:spPr>
          <a:xfrm>
            <a:off x="10620207" y="1956816"/>
            <a:ext cx="657087"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Rectangle 22"/>
          <p:cNvSpPr/>
          <p:nvPr/>
        </p:nvSpPr>
        <p:spPr>
          <a:xfrm>
            <a:off x="7333488" y="2212848"/>
            <a:ext cx="40169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258568"/>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HINDCOPPER</a:t>
            </a:r>
          </a:p>
        </p:txBody>
      </p:sp>
      <p:sp>
        <p:nvSpPr>
          <p:cNvPr id="25" name="TextBox 24"/>
          <p:cNvSpPr txBox="1"/>
          <p:nvPr/>
        </p:nvSpPr>
        <p:spPr>
          <a:xfrm>
            <a:off x="9093762" y="2258568"/>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1.40</a:t>
            </a:r>
          </a:p>
        </p:txBody>
      </p:sp>
      <p:sp>
        <p:nvSpPr>
          <p:cNvPr id="26" name="TextBox 25"/>
          <p:cNvSpPr txBox="1"/>
          <p:nvPr/>
        </p:nvSpPr>
        <p:spPr>
          <a:xfrm>
            <a:off x="9816815" y="2258568"/>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27" name="Rounded Rectangle 26"/>
          <p:cNvSpPr/>
          <p:nvPr/>
        </p:nvSpPr>
        <p:spPr>
          <a:xfrm>
            <a:off x="10620207" y="2258568"/>
            <a:ext cx="657087"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207" y="2253081"/>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9" name="Rectangle 28"/>
          <p:cNvSpPr/>
          <p:nvPr/>
        </p:nvSpPr>
        <p:spPr>
          <a:xfrm>
            <a:off x="7333488" y="2478024"/>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2496312"/>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HINDALCO</a:t>
            </a:r>
          </a:p>
        </p:txBody>
      </p:sp>
      <p:sp>
        <p:nvSpPr>
          <p:cNvPr id="31" name="TextBox 30"/>
          <p:cNvSpPr txBox="1"/>
          <p:nvPr/>
        </p:nvSpPr>
        <p:spPr>
          <a:xfrm>
            <a:off x="9093762" y="2496312"/>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1.39</a:t>
            </a:r>
          </a:p>
        </p:txBody>
      </p:sp>
      <p:sp>
        <p:nvSpPr>
          <p:cNvPr id="32" name="TextBox 31"/>
          <p:cNvSpPr txBox="1"/>
          <p:nvPr/>
        </p:nvSpPr>
        <p:spPr>
          <a:xfrm>
            <a:off x="9816815" y="2496312"/>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1.0%</a:t>
            </a:r>
          </a:p>
        </p:txBody>
      </p:sp>
      <p:sp>
        <p:nvSpPr>
          <p:cNvPr id="33" name="Rounded Rectangle 32"/>
          <p:cNvSpPr/>
          <p:nvPr/>
        </p:nvSpPr>
        <p:spPr>
          <a:xfrm>
            <a:off x="10620207" y="2496312"/>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20207" y="2490825"/>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5" name="Rectangle 34"/>
          <p:cNvSpPr/>
          <p:nvPr/>
        </p:nvSpPr>
        <p:spPr>
          <a:xfrm>
            <a:off x="7333488" y="2715768"/>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06640" y="2734056"/>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TATASTEEL</a:t>
            </a:r>
          </a:p>
        </p:txBody>
      </p:sp>
      <p:sp>
        <p:nvSpPr>
          <p:cNvPr id="37" name="TextBox 36"/>
          <p:cNvSpPr txBox="1"/>
          <p:nvPr/>
        </p:nvSpPr>
        <p:spPr>
          <a:xfrm>
            <a:off x="9093762" y="2734056"/>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1.28</a:t>
            </a:r>
          </a:p>
        </p:txBody>
      </p:sp>
      <p:sp>
        <p:nvSpPr>
          <p:cNvPr id="38" name="TextBox 37"/>
          <p:cNvSpPr txBox="1"/>
          <p:nvPr/>
        </p:nvSpPr>
        <p:spPr>
          <a:xfrm>
            <a:off x="9816815" y="2734056"/>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1.1%</a:t>
            </a:r>
          </a:p>
        </p:txBody>
      </p:sp>
      <p:sp>
        <p:nvSpPr>
          <p:cNvPr id="39" name="Rounded Rectangle 38"/>
          <p:cNvSpPr/>
          <p:nvPr/>
        </p:nvSpPr>
        <p:spPr>
          <a:xfrm>
            <a:off x="10620207" y="2734056"/>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620207" y="2728569"/>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1" name="Rectangle 40"/>
          <p:cNvSpPr/>
          <p:nvPr/>
        </p:nvSpPr>
        <p:spPr>
          <a:xfrm>
            <a:off x="7333488" y="2953512"/>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640" y="2971800"/>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NATIONALUM</a:t>
            </a:r>
          </a:p>
        </p:txBody>
      </p:sp>
      <p:sp>
        <p:nvSpPr>
          <p:cNvPr id="43" name="TextBox 42"/>
          <p:cNvSpPr txBox="1"/>
          <p:nvPr/>
        </p:nvSpPr>
        <p:spPr>
          <a:xfrm>
            <a:off x="9093762" y="2971800"/>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1.28</a:t>
            </a:r>
          </a:p>
        </p:txBody>
      </p:sp>
      <p:sp>
        <p:nvSpPr>
          <p:cNvPr id="44" name="TextBox 43"/>
          <p:cNvSpPr txBox="1"/>
          <p:nvPr/>
        </p:nvSpPr>
        <p:spPr>
          <a:xfrm>
            <a:off x="9816815" y="2971800"/>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45" name="Rounded Rectangle 44"/>
          <p:cNvSpPr/>
          <p:nvPr/>
        </p:nvSpPr>
        <p:spPr>
          <a:xfrm>
            <a:off x="10620207" y="2971800"/>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620207" y="2966313"/>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7" name="Rectangle 46"/>
          <p:cNvSpPr/>
          <p:nvPr/>
        </p:nvSpPr>
        <p:spPr>
          <a:xfrm>
            <a:off x="7333488" y="3191256"/>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06640" y="3209544"/>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BHEL</a:t>
            </a:r>
          </a:p>
        </p:txBody>
      </p:sp>
      <p:sp>
        <p:nvSpPr>
          <p:cNvPr id="49" name="TextBox 48"/>
          <p:cNvSpPr txBox="1"/>
          <p:nvPr/>
        </p:nvSpPr>
        <p:spPr>
          <a:xfrm>
            <a:off x="9093762" y="3209544"/>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1.25</a:t>
            </a:r>
          </a:p>
        </p:txBody>
      </p:sp>
      <p:sp>
        <p:nvSpPr>
          <p:cNvPr id="50" name="TextBox 49"/>
          <p:cNvSpPr txBox="1"/>
          <p:nvPr/>
        </p:nvSpPr>
        <p:spPr>
          <a:xfrm>
            <a:off x="9816815" y="3209544"/>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a:t>
            </a:r>
          </a:p>
        </p:txBody>
      </p:sp>
      <p:sp>
        <p:nvSpPr>
          <p:cNvPr id="51" name="Rounded Rectangle 50"/>
          <p:cNvSpPr/>
          <p:nvPr/>
        </p:nvSpPr>
        <p:spPr>
          <a:xfrm>
            <a:off x="10620207" y="3209544"/>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620207" y="3204057"/>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3" name="Rectangle 52"/>
          <p:cNvSpPr/>
          <p:nvPr/>
        </p:nvSpPr>
        <p:spPr>
          <a:xfrm>
            <a:off x="7333488" y="3428999"/>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06640" y="3447287"/>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BEL</a:t>
            </a:r>
          </a:p>
        </p:txBody>
      </p:sp>
      <p:sp>
        <p:nvSpPr>
          <p:cNvPr id="55" name="TextBox 54"/>
          <p:cNvSpPr txBox="1"/>
          <p:nvPr/>
        </p:nvSpPr>
        <p:spPr>
          <a:xfrm>
            <a:off x="9093762" y="3447287"/>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1.25</a:t>
            </a:r>
          </a:p>
        </p:txBody>
      </p:sp>
      <p:sp>
        <p:nvSpPr>
          <p:cNvPr id="56" name="TextBox 55"/>
          <p:cNvSpPr txBox="1"/>
          <p:nvPr/>
        </p:nvSpPr>
        <p:spPr>
          <a:xfrm>
            <a:off x="9816815" y="3447287"/>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0.6%</a:t>
            </a:r>
          </a:p>
        </p:txBody>
      </p:sp>
      <p:sp>
        <p:nvSpPr>
          <p:cNvPr id="57" name="Rounded Rectangle 56"/>
          <p:cNvSpPr/>
          <p:nvPr/>
        </p:nvSpPr>
        <p:spPr>
          <a:xfrm>
            <a:off x="10620207" y="3447287"/>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620207" y="3441801"/>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9" name="Rectangle 58"/>
          <p:cNvSpPr/>
          <p:nvPr/>
        </p:nvSpPr>
        <p:spPr>
          <a:xfrm>
            <a:off x="7333488" y="3666744"/>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6640" y="3685031"/>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SUZLON</a:t>
            </a:r>
          </a:p>
        </p:txBody>
      </p:sp>
      <p:sp>
        <p:nvSpPr>
          <p:cNvPr id="61" name="TextBox 60"/>
          <p:cNvSpPr txBox="1"/>
          <p:nvPr/>
        </p:nvSpPr>
        <p:spPr>
          <a:xfrm>
            <a:off x="9093762" y="3685031"/>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1.24</a:t>
            </a:r>
          </a:p>
        </p:txBody>
      </p:sp>
      <p:sp>
        <p:nvSpPr>
          <p:cNvPr id="62" name="TextBox 61"/>
          <p:cNvSpPr txBox="1"/>
          <p:nvPr/>
        </p:nvSpPr>
        <p:spPr>
          <a:xfrm>
            <a:off x="9816815" y="3685031"/>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a:t>
            </a:r>
          </a:p>
        </p:txBody>
      </p:sp>
      <p:sp>
        <p:nvSpPr>
          <p:cNvPr id="63" name="Rounded Rectangle 62"/>
          <p:cNvSpPr/>
          <p:nvPr/>
        </p:nvSpPr>
        <p:spPr>
          <a:xfrm>
            <a:off x="10620207" y="3685031"/>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620207" y="3679545"/>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5" name="Rectangle 64"/>
          <p:cNvSpPr/>
          <p:nvPr/>
        </p:nvSpPr>
        <p:spPr>
          <a:xfrm>
            <a:off x="7333488" y="3904487"/>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640" y="3922775"/>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COCHINSHIP</a:t>
            </a:r>
          </a:p>
        </p:txBody>
      </p:sp>
      <p:sp>
        <p:nvSpPr>
          <p:cNvPr id="67" name="TextBox 66"/>
          <p:cNvSpPr txBox="1"/>
          <p:nvPr/>
        </p:nvSpPr>
        <p:spPr>
          <a:xfrm>
            <a:off x="9093762" y="3922775"/>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1.20</a:t>
            </a:r>
          </a:p>
        </p:txBody>
      </p:sp>
      <p:sp>
        <p:nvSpPr>
          <p:cNvPr id="68" name="TextBox 67"/>
          <p:cNvSpPr txBox="1"/>
          <p:nvPr/>
        </p:nvSpPr>
        <p:spPr>
          <a:xfrm>
            <a:off x="9816815" y="3922775"/>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a:t>
            </a:r>
          </a:p>
        </p:txBody>
      </p:sp>
      <p:sp>
        <p:nvSpPr>
          <p:cNvPr id="69" name="Rounded Rectangle 68"/>
          <p:cNvSpPr/>
          <p:nvPr/>
        </p:nvSpPr>
        <p:spPr>
          <a:xfrm>
            <a:off x="10620207" y="3922775"/>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620207" y="3917289"/>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1" name="Rectangle 70"/>
          <p:cNvSpPr/>
          <p:nvPr/>
        </p:nvSpPr>
        <p:spPr>
          <a:xfrm>
            <a:off x="7333488" y="4142231"/>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7333488" y="4288536"/>
            <a:ext cx="4016959" cy="1655063"/>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333488" y="4288536"/>
            <a:ext cx="54864" cy="1655063"/>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534656" y="4416552"/>
            <a:ext cx="36511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LADDER</a:t>
            </a:r>
          </a:p>
        </p:txBody>
      </p:sp>
      <p:sp>
        <p:nvSpPr>
          <p:cNvPr id="75" name="TextBox 74"/>
          <p:cNvSpPr txBox="1"/>
          <p:nvPr/>
        </p:nvSpPr>
        <p:spPr>
          <a:xfrm>
            <a:off x="7534656" y="4690872"/>
            <a:ext cx="3651199" cy="119786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Book-weighted beta is 1.02, close to the market. The tail above 1.2 (4.7% of the book) is where a drawdown bites hardest: these names fall further than the index and recover on their own cycle. Position sizes there should earn their volatility.</a:t>
            </a:r>
          </a:p>
        </p:txBody>
      </p:sp>
      <p:sp>
        <p:nvSpPr>
          <p:cNvPr id="76" name="TextBox 7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Betas are sector-keyed illustrative estimates with a fixed per-name offset [ILLUSTRATIVE], not regression output; ladder shows the largest positions plus every flagged name.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top-heavy is the equity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Cumulative weight curve vs an equal-weight reference line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sleeve only · 47 holdings · weights as share of the equity book · as of 2026-07-25</a:t>
            </a:r>
          </a:p>
        </p:txBody>
      </p:sp>
      <p:pic>
        <p:nvPicPr>
          <p:cNvPr id="17" name="Picture 16" descr="axa_conc.png"/>
          <p:cNvPicPr>
            <a:picLocks noChangeAspect="1"/>
          </p:cNvPicPr>
          <p:nvPr/>
        </p:nvPicPr>
        <p:blipFill>
          <a:blip r:embed="rId3"/>
          <a:stretch>
            <a:fillRect/>
          </a:stretch>
        </p:blipFill>
        <p:spPr>
          <a:xfrm>
            <a:off x="841248" y="1691640"/>
            <a:ext cx="6400800" cy="4126721"/>
          </a:xfrm>
          <a:prstGeom prst="rect">
            <a:avLst/>
          </a:prstGeom>
        </p:spPr>
      </p:pic>
      <p:sp>
        <p:nvSpPr>
          <p:cNvPr id="18" name="TextBox 17"/>
          <p:cNvSpPr txBox="1"/>
          <p:nvPr/>
        </p:nvSpPr>
        <p:spPr>
          <a:xfrm>
            <a:off x="7479792" y="1783080"/>
            <a:ext cx="1352342"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BASKET</a:t>
            </a:r>
          </a:p>
        </p:txBody>
      </p:sp>
      <p:sp>
        <p:nvSpPr>
          <p:cNvPr id="19" name="TextBox 18"/>
          <p:cNvSpPr txBox="1"/>
          <p:nvPr/>
        </p:nvSpPr>
        <p:spPr>
          <a:xfrm>
            <a:off x="8978438" y="1783080"/>
            <a:ext cx="1115714"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THIS BOOK</a:t>
            </a:r>
          </a:p>
        </p:txBody>
      </p:sp>
      <p:sp>
        <p:nvSpPr>
          <p:cNvPr id="20" name="TextBox 19"/>
          <p:cNvSpPr txBox="1"/>
          <p:nvPr/>
        </p:nvSpPr>
        <p:spPr>
          <a:xfrm>
            <a:off x="10240457" y="1783080"/>
            <a:ext cx="1036838"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EQUAL WEIGHT</a:t>
            </a:r>
          </a:p>
        </p:txBody>
      </p:sp>
      <p:sp>
        <p:nvSpPr>
          <p:cNvPr id="21" name="Rectangle 20"/>
          <p:cNvSpPr/>
          <p:nvPr/>
        </p:nvSpPr>
        <p:spPr>
          <a:xfrm>
            <a:off x="7406640" y="2039112"/>
            <a:ext cx="394380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9792" y="2084831"/>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5</a:t>
            </a:r>
          </a:p>
        </p:txBody>
      </p:sp>
      <p:sp>
        <p:nvSpPr>
          <p:cNvPr id="23" name="TextBox 22"/>
          <p:cNvSpPr txBox="1"/>
          <p:nvPr/>
        </p:nvSpPr>
        <p:spPr>
          <a:xfrm>
            <a:off x="8978438" y="2084831"/>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53%</a:t>
            </a:r>
          </a:p>
        </p:txBody>
      </p:sp>
      <p:sp>
        <p:nvSpPr>
          <p:cNvPr id="24" name="TextBox 23"/>
          <p:cNvSpPr txBox="1"/>
          <p:nvPr/>
        </p:nvSpPr>
        <p:spPr>
          <a:xfrm>
            <a:off x="10240457" y="2084831"/>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11%</a:t>
            </a:r>
          </a:p>
        </p:txBody>
      </p:sp>
      <p:sp>
        <p:nvSpPr>
          <p:cNvPr id="25" name="Rectangle 24"/>
          <p:cNvSpPr/>
          <p:nvPr/>
        </p:nvSpPr>
        <p:spPr>
          <a:xfrm>
            <a:off x="7406640" y="2395727"/>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9792" y="2414015"/>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10</a:t>
            </a:r>
          </a:p>
        </p:txBody>
      </p:sp>
      <p:sp>
        <p:nvSpPr>
          <p:cNvPr id="27" name="TextBox 26"/>
          <p:cNvSpPr txBox="1"/>
          <p:nvPr/>
        </p:nvSpPr>
        <p:spPr>
          <a:xfrm>
            <a:off x="8978438" y="2414015"/>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66%</a:t>
            </a:r>
          </a:p>
        </p:txBody>
      </p:sp>
      <p:sp>
        <p:nvSpPr>
          <p:cNvPr id="28" name="TextBox 27"/>
          <p:cNvSpPr txBox="1"/>
          <p:nvPr/>
        </p:nvSpPr>
        <p:spPr>
          <a:xfrm>
            <a:off x="10240457" y="2414015"/>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21%</a:t>
            </a:r>
          </a:p>
        </p:txBody>
      </p:sp>
      <p:sp>
        <p:nvSpPr>
          <p:cNvPr id="29" name="Rectangle 28"/>
          <p:cNvSpPr/>
          <p:nvPr/>
        </p:nvSpPr>
        <p:spPr>
          <a:xfrm>
            <a:off x="7406640" y="2724911"/>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2743199"/>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20</a:t>
            </a:r>
          </a:p>
        </p:txBody>
      </p:sp>
      <p:sp>
        <p:nvSpPr>
          <p:cNvPr id="31" name="TextBox 30"/>
          <p:cNvSpPr txBox="1"/>
          <p:nvPr/>
        </p:nvSpPr>
        <p:spPr>
          <a:xfrm>
            <a:off x="8978438" y="2743199"/>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84%</a:t>
            </a:r>
          </a:p>
        </p:txBody>
      </p:sp>
      <p:sp>
        <p:nvSpPr>
          <p:cNvPr id="32" name="TextBox 31"/>
          <p:cNvSpPr txBox="1"/>
          <p:nvPr/>
        </p:nvSpPr>
        <p:spPr>
          <a:xfrm>
            <a:off x="10240457" y="2743199"/>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43%</a:t>
            </a:r>
          </a:p>
        </p:txBody>
      </p:sp>
      <p:sp>
        <p:nvSpPr>
          <p:cNvPr id="33" name="Rectangle 32"/>
          <p:cNvSpPr/>
          <p:nvPr/>
        </p:nvSpPr>
        <p:spPr>
          <a:xfrm>
            <a:off x="7406640" y="3054095"/>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06640" y="3291840"/>
            <a:ext cx="3943807" cy="12801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0" y="3291840"/>
            <a:ext cx="54864" cy="12801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7808" y="341985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CURVE</a:t>
            </a:r>
          </a:p>
        </p:txBody>
      </p:sp>
      <p:sp>
        <p:nvSpPr>
          <p:cNvPr id="37" name="TextBox 36"/>
          <p:cNvSpPr txBox="1"/>
          <p:nvPr/>
        </p:nvSpPr>
        <p:spPr>
          <a:xfrm>
            <a:off x="7607808" y="3694176"/>
            <a:ext cx="3578047" cy="8229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faster the curve climbs, the more the book depends on its first few names. The dashed diagonal is a book of equal slices; the space between the two lines is the concentration, made visible.</a:t>
            </a:r>
          </a:p>
        </p:txBody>
      </p:sp>
      <p:sp>
        <p:nvSpPr>
          <p:cNvPr id="38" name="Rounded Rectangle 37"/>
          <p:cNvSpPr/>
          <p:nvPr/>
        </p:nvSpPr>
        <p:spPr>
          <a:xfrm>
            <a:off x="7406640" y="4709160"/>
            <a:ext cx="3943807" cy="12344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4709160"/>
            <a:ext cx="54864" cy="1234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07808" y="483717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41" name="TextBox 40"/>
          <p:cNvSpPr txBox="1"/>
          <p:nvPr/>
        </p:nvSpPr>
        <p:spPr>
          <a:xfrm>
            <a:off x="7607808" y="5111496"/>
            <a:ext cx="357804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alongside the 8% single-name cap in the IPS: 2 name(s) sit above the cap today, and the planned trims pull the front of this curve down toward the diagonal.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Cumulative weights of the 47 direct-equity holdings, largest first, as a share of the equity book; equal-weight line = 100/47 per name. Synthetic demo book. [ILLUSTRATIVE]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fast this book turns into cash</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Share of the book exitable per days-to-exit bucket, at 20% of daily volume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Whole book (equity + funds + cash) · as of 2026-07-25</a:t>
            </a:r>
          </a:p>
        </p:txBody>
      </p:sp>
      <p:sp>
        <p:nvSpPr>
          <p:cNvPr id="17" name="TextBox 16"/>
          <p:cNvSpPr txBox="1"/>
          <p:nvPr/>
        </p:nvSpPr>
        <p:spPr>
          <a:xfrm>
            <a:off x="841248"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61%</a:t>
            </a:r>
          </a:p>
        </p:txBody>
      </p:sp>
      <p:sp>
        <p:nvSpPr>
          <p:cNvPr id="18" name="TextBox 17"/>
          <p:cNvSpPr txBox="1"/>
          <p:nvPr/>
        </p:nvSpPr>
        <p:spPr>
          <a:xfrm>
            <a:off x="841248"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EXITABLE IN 1 DAY</a:t>
            </a:r>
          </a:p>
        </p:txBody>
      </p:sp>
      <p:sp>
        <p:nvSpPr>
          <p:cNvPr id="19" name="TextBox 18"/>
          <p:cNvSpPr txBox="1"/>
          <p:nvPr/>
        </p:nvSpPr>
        <p:spPr>
          <a:xfrm>
            <a:off x="4344314"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98%</a:t>
            </a:r>
          </a:p>
        </p:txBody>
      </p:sp>
      <p:sp>
        <p:nvSpPr>
          <p:cNvPr id="20" name="TextBox 19"/>
          <p:cNvSpPr txBox="1"/>
          <p:nvPr/>
        </p:nvSpPr>
        <p:spPr>
          <a:xfrm>
            <a:off x="4344314"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EXITABLE WITHIN A WEEK</a:t>
            </a:r>
          </a:p>
        </p:txBody>
      </p:sp>
      <p:sp>
        <p:nvSpPr>
          <p:cNvPr id="21" name="Rectangle 20"/>
          <p:cNvSpPr/>
          <p:nvPr/>
        </p:nvSpPr>
        <p:spPr>
          <a:xfrm>
            <a:off x="4289450"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73736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0.4%</a:t>
            </a:r>
          </a:p>
        </p:txBody>
      </p:sp>
      <p:sp>
        <p:nvSpPr>
          <p:cNvPr id="23" name="TextBox 22"/>
          <p:cNvSpPr txBox="1"/>
          <p:nvPr/>
        </p:nvSpPr>
        <p:spPr>
          <a:xfrm>
            <a:off x="7847380" y="221284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NEEDS OVER 10 DAYS</a:t>
            </a:r>
          </a:p>
        </p:txBody>
      </p:sp>
      <p:sp>
        <p:nvSpPr>
          <p:cNvPr id="24" name="Rectangle 23"/>
          <p:cNvSpPr/>
          <p:nvPr/>
        </p:nvSpPr>
        <p:spPr>
          <a:xfrm>
            <a:off x="7792516" y="178308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axa_liq.png"/>
          <p:cNvPicPr>
            <a:picLocks noChangeAspect="1"/>
          </p:cNvPicPr>
          <p:nvPr/>
        </p:nvPicPr>
        <p:blipFill>
          <a:blip r:embed="rId3"/>
          <a:stretch>
            <a:fillRect/>
          </a:stretch>
        </p:blipFill>
        <p:spPr>
          <a:xfrm>
            <a:off x="1271000" y="2743200"/>
            <a:ext cx="9649694" cy="1645920"/>
          </a:xfrm>
          <a:prstGeom prst="rect">
            <a:avLst/>
          </a:prstGeom>
        </p:spPr>
      </p:pic>
      <p:sp>
        <p:nvSpPr>
          <p:cNvPr id="26" name="Rounded Rectangle 25"/>
          <p:cNvSpPr/>
          <p:nvPr/>
        </p:nvSpPr>
        <p:spPr>
          <a:xfrm>
            <a:off x="841248" y="4526280"/>
            <a:ext cx="5138928" cy="14173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41248" y="4526280"/>
            <a:ext cx="54864" cy="14173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 y="4654296"/>
            <a:ext cx="4773168"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TWO BIG POSITIONS</a:t>
            </a:r>
          </a:p>
        </p:txBody>
      </p:sp>
      <p:sp>
        <p:nvSpPr>
          <p:cNvPr id="29" name="TextBox 28"/>
          <p:cNvSpPr txBox="1"/>
          <p:nvPr/>
        </p:nvSpPr>
        <p:spPr>
          <a:xfrm>
            <a:off x="1042416" y="4928616"/>
            <a:ext cx="4773168"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two largest positions, RELIANCE (12.4%) and TITAN (11.3%), sit in the 1-day bucket: their traded volumes are deep enough that size alone does not slow the exit. The slow tail is the clutter of small positions in thinner names, where the Sell list already concentrates.</a:t>
            </a:r>
          </a:p>
        </p:txBody>
      </p:sp>
      <p:sp>
        <p:nvSpPr>
          <p:cNvPr id="30" name="Rounded Rectangle 29"/>
          <p:cNvSpPr/>
          <p:nvPr/>
        </p:nvSpPr>
        <p:spPr>
          <a:xfrm>
            <a:off x="6117336" y="4526280"/>
            <a:ext cx="5233111"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17336" y="452628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18503" y="4654296"/>
            <a:ext cx="4867351"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20% OF DAILY VOLUME</a:t>
            </a:r>
          </a:p>
        </p:txBody>
      </p:sp>
      <p:sp>
        <p:nvSpPr>
          <p:cNvPr id="33" name="TextBox 32"/>
          <p:cNvSpPr txBox="1"/>
          <p:nvPr/>
        </p:nvSpPr>
        <p:spPr>
          <a:xfrm>
            <a:off x="6318503" y="4928616"/>
            <a:ext cx="4867351"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Exit math assumes taking at most a fifth of a day's traded volume, slow enough not to move the price against the book. Use this page before any large redemption plan: it sets a timetable the market can actually fill.</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Days-to-exit at 20% of assumed average daily volume per name; synthetic liquidity tiers assessed at pooled-mandate size, not this account alone; mutual funds mapped to T+2/T+3 redemption settlement. [ILLUSTRATIVE]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Revenue geography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book actually earns its money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look-through revenue by geography, sector-keyed splits [ILLUSTRATIVE] · as of 2026-07-25</a:t>
            </a:r>
          </a:p>
        </p:txBody>
      </p:sp>
      <p:pic>
        <p:nvPicPr>
          <p:cNvPr id="17" name="Picture 16" descr="annexb_geo.png"/>
          <p:cNvPicPr>
            <a:picLocks noChangeAspect="1"/>
          </p:cNvPicPr>
          <p:nvPr/>
        </p:nvPicPr>
        <p:blipFill>
          <a:blip r:embed="rId3"/>
          <a:stretch>
            <a:fillRect/>
          </a:stretch>
        </p:blipFill>
        <p:spPr>
          <a:xfrm>
            <a:off x="841248" y="1828800"/>
            <a:ext cx="6583680" cy="3307426"/>
          </a:xfrm>
          <a:prstGeom prst="rect">
            <a:avLst/>
          </a:prstGeom>
        </p:spPr>
      </p:pic>
      <p:sp>
        <p:nvSpPr>
          <p:cNvPr id="18" name="Rounded Rectangle 17"/>
          <p:cNvSpPr/>
          <p:nvPr/>
        </p:nvSpPr>
        <p:spPr>
          <a:xfrm>
            <a:off x="7607808" y="1828800"/>
            <a:ext cx="3742639" cy="1874519"/>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07808" y="1828800"/>
            <a:ext cx="54864" cy="1874519"/>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08976" y="1956816"/>
            <a:ext cx="3376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THE NATURAL FX HEDGE</a:t>
            </a:r>
          </a:p>
        </p:txBody>
      </p:sp>
      <p:sp>
        <p:nvSpPr>
          <p:cNvPr id="21" name="TextBox 20"/>
          <p:cNvSpPr txBox="1"/>
          <p:nvPr/>
        </p:nvSpPr>
        <p:spPr>
          <a:xfrm>
            <a:off x="7808976" y="2231136"/>
            <a:ext cx="337687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Roughly 18% of the book's underlying revenue is earned outside India, led by IT, healthcare and auto-component exporters. That is a real, if partial, currency hedge: a weaker rupee lifts those earnings without any action from us.</a:t>
            </a:r>
          </a:p>
        </p:txBody>
      </p:sp>
      <p:sp>
        <p:nvSpPr>
          <p:cNvPr id="22" name="Rounded Rectangle 21"/>
          <p:cNvSpPr/>
          <p:nvPr/>
        </p:nvSpPr>
        <p:spPr>
          <a:xfrm>
            <a:off x="7607808" y="3840480"/>
            <a:ext cx="3742639" cy="20574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07808" y="3840480"/>
            <a:ext cx="54864" cy="20574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08976" y="3968496"/>
            <a:ext cx="33768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WHY THE FOREIGN TARGET STILL STANDS</a:t>
            </a:r>
          </a:p>
        </p:txBody>
      </p:sp>
      <p:sp>
        <p:nvSpPr>
          <p:cNvPr id="25" name="TextBox 24"/>
          <p:cNvSpPr txBox="1"/>
          <p:nvPr/>
        </p:nvSpPr>
        <p:spPr>
          <a:xfrm>
            <a:off x="7808976" y="4242816"/>
            <a:ext cx="3376879" cy="1600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Export revenue does not close the foreign-equity gap (-12 pts vs the 15% IPS target). These shares still trade at India-market multiples and fall with the India market; owning foreign assets diversifies the market itself, which revenue geography cannot. The deployment plan funds the first foreign sleeve.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Revenue splits are sector-keyed illustrative estimates [ILLUSTRATIVE], pending company segment disclosures; book row is the weight-averaged look-through.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Market-cap migration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deployment plan does to the cap mix</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Equity sleeve only (gold and staged cash excluded) · as of 2026-07-25</a:t>
            </a:r>
          </a:p>
        </p:txBody>
      </p:sp>
      <p:pic>
        <p:nvPicPr>
          <p:cNvPr id="17" name="Picture 16" descr="annexb_mig.png"/>
          <p:cNvPicPr>
            <a:picLocks noChangeAspect="1"/>
          </p:cNvPicPr>
          <p:nvPr/>
        </p:nvPicPr>
        <p:blipFill>
          <a:blip r:embed="rId3"/>
          <a:stretch>
            <a:fillRect/>
          </a:stretch>
        </p:blipFill>
        <p:spPr>
          <a:xfrm>
            <a:off x="841248" y="1783080"/>
            <a:ext cx="4804727" cy="4114800"/>
          </a:xfrm>
          <a:prstGeom prst="rect">
            <a:avLst/>
          </a:prstGeom>
        </p:spPr>
      </p:pic>
      <p:sp>
        <p:nvSpPr>
          <p:cNvPr id="18" name="TextBox 17"/>
          <p:cNvSpPr txBox="1"/>
          <p:nvPr/>
        </p:nvSpPr>
        <p:spPr>
          <a:xfrm>
            <a:off x="7269480" y="1828800"/>
            <a:ext cx="1349178"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SEGMENT</a:t>
            </a:r>
          </a:p>
        </p:txBody>
      </p:sp>
      <p:sp>
        <p:nvSpPr>
          <p:cNvPr id="19" name="TextBox 18"/>
          <p:cNvSpPr txBox="1"/>
          <p:nvPr/>
        </p:nvSpPr>
        <p:spPr>
          <a:xfrm>
            <a:off x="8764962" y="1828800"/>
            <a:ext cx="684519"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BEFORE</a:t>
            </a:r>
          </a:p>
        </p:txBody>
      </p:sp>
      <p:sp>
        <p:nvSpPr>
          <p:cNvPr id="20" name="TextBox 19"/>
          <p:cNvSpPr txBox="1"/>
          <p:nvPr/>
        </p:nvSpPr>
        <p:spPr>
          <a:xfrm>
            <a:off x="9595786" y="1828800"/>
            <a:ext cx="684519"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AFTER</a:t>
            </a:r>
          </a:p>
        </p:txBody>
      </p:sp>
      <p:sp>
        <p:nvSpPr>
          <p:cNvPr id="21" name="TextBox 20"/>
          <p:cNvSpPr txBox="1"/>
          <p:nvPr/>
        </p:nvSpPr>
        <p:spPr>
          <a:xfrm>
            <a:off x="10426610" y="1828800"/>
            <a:ext cx="850684"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CHANGE</a:t>
            </a:r>
          </a:p>
        </p:txBody>
      </p:sp>
      <p:sp>
        <p:nvSpPr>
          <p:cNvPr id="22" name="Rectangle 21"/>
          <p:cNvSpPr/>
          <p:nvPr/>
        </p:nvSpPr>
        <p:spPr>
          <a:xfrm>
            <a:off x="7196328" y="2084832"/>
            <a:ext cx="415411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130552"/>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 cap</a:t>
            </a:r>
          </a:p>
        </p:txBody>
      </p:sp>
      <p:sp>
        <p:nvSpPr>
          <p:cNvPr id="24" name="TextBox 23"/>
          <p:cNvSpPr txBox="1"/>
          <p:nvPr/>
        </p:nvSpPr>
        <p:spPr>
          <a:xfrm>
            <a:off x="8764962" y="2130552"/>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98.5%</a:t>
            </a:r>
          </a:p>
        </p:txBody>
      </p:sp>
      <p:sp>
        <p:nvSpPr>
          <p:cNvPr id="25" name="TextBox 24"/>
          <p:cNvSpPr txBox="1"/>
          <p:nvPr/>
        </p:nvSpPr>
        <p:spPr>
          <a:xfrm>
            <a:off x="9595786" y="2130552"/>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89.9%</a:t>
            </a:r>
          </a:p>
        </p:txBody>
      </p:sp>
      <p:sp>
        <p:nvSpPr>
          <p:cNvPr id="26" name="TextBox 25"/>
          <p:cNvSpPr txBox="1"/>
          <p:nvPr/>
        </p:nvSpPr>
        <p:spPr>
          <a:xfrm>
            <a:off x="10426610" y="2130552"/>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-8.6 pt</a:t>
            </a:r>
          </a:p>
        </p:txBody>
      </p:sp>
      <p:sp>
        <p:nvSpPr>
          <p:cNvPr id="27" name="Rectangle 26"/>
          <p:cNvSpPr/>
          <p:nvPr/>
        </p:nvSpPr>
        <p:spPr>
          <a:xfrm>
            <a:off x="7196328" y="2423160"/>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9480" y="2441448"/>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 cap</a:t>
            </a:r>
          </a:p>
        </p:txBody>
      </p:sp>
      <p:sp>
        <p:nvSpPr>
          <p:cNvPr id="29" name="TextBox 28"/>
          <p:cNvSpPr txBox="1"/>
          <p:nvPr/>
        </p:nvSpPr>
        <p:spPr>
          <a:xfrm>
            <a:off x="8764962" y="2441448"/>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1.4%</a:t>
            </a:r>
          </a:p>
        </p:txBody>
      </p:sp>
      <p:sp>
        <p:nvSpPr>
          <p:cNvPr id="30" name="TextBox 29"/>
          <p:cNvSpPr txBox="1"/>
          <p:nvPr/>
        </p:nvSpPr>
        <p:spPr>
          <a:xfrm>
            <a:off x="9595786" y="2441448"/>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31" name="TextBox 30"/>
          <p:cNvSpPr txBox="1"/>
          <p:nvPr/>
        </p:nvSpPr>
        <p:spPr>
          <a:xfrm>
            <a:off x="10426610" y="2441448"/>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-1.4 pt</a:t>
            </a:r>
          </a:p>
        </p:txBody>
      </p:sp>
      <p:sp>
        <p:nvSpPr>
          <p:cNvPr id="32" name="Rectangle 31"/>
          <p:cNvSpPr/>
          <p:nvPr/>
        </p:nvSpPr>
        <p:spPr>
          <a:xfrm>
            <a:off x="7196328" y="2734056"/>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9480" y="2752344"/>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 cap</a:t>
            </a:r>
          </a:p>
        </p:txBody>
      </p:sp>
      <p:sp>
        <p:nvSpPr>
          <p:cNvPr id="34" name="TextBox 33"/>
          <p:cNvSpPr txBox="1"/>
          <p:nvPr/>
        </p:nvSpPr>
        <p:spPr>
          <a:xfrm>
            <a:off x="8764962" y="2752344"/>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0.1%</a:t>
            </a:r>
          </a:p>
        </p:txBody>
      </p:sp>
      <p:sp>
        <p:nvSpPr>
          <p:cNvPr id="35" name="TextBox 34"/>
          <p:cNvSpPr txBox="1"/>
          <p:nvPr/>
        </p:nvSpPr>
        <p:spPr>
          <a:xfrm>
            <a:off x="9595786" y="2752344"/>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0.1%</a:t>
            </a:r>
          </a:p>
        </p:txBody>
      </p:sp>
      <p:sp>
        <p:nvSpPr>
          <p:cNvPr id="36" name="TextBox 35"/>
          <p:cNvSpPr txBox="1"/>
          <p:nvPr/>
        </p:nvSpPr>
        <p:spPr>
          <a:xfrm>
            <a:off x="10426610" y="2752344"/>
            <a:ext cx="850684"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 pt</a:t>
            </a:r>
          </a:p>
        </p:txBody>
      </p:sp>
      <p:sp>
        <p:nvSpPr>
          <p:cNvPr id="37" name="Rectangle 36"/>
          <p:cNvSpPr/>
          <p:nvPr/>
        </p:nvSpPr>
        <p:spPr>
          <a:xfrm>
            <a:off x="7196328" y="3044951"/>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69480" y="3063239"/>
            <a:ext cx="1349178"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Foreign</a:t>
            </a:r>
          </a:p>
        </p:txBody>
      </p:sp>
      <p:sp>
        <p:nvSpPr>
          <p:cNvPr id="39" name="TextBox 38"/>
          <p:cNvSpPr txBox="1"/>
          <p:nvPr/>
        </p:nvSpPr>
        <p:spPr>
          <a:xfrm>
            <a:off x="8764962" y="3063239"/>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40" name="TextBox 39"/>
          <p:cNvSpPr txBox="1"/>
          <p:nvPr/>
        </p:nvSpPr>
        <p:spPr>
          <a:xfrm>
            <a:off x="9595786" y="3063239"/>
            <a:ext cx="684519" cy="310896"/>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9.9%</a:t>
            </a:r>
          </a:p>
        </p:txBody>
      </p:sp>
      <p:sp>
        <p:nvSpPr>
          <p:cNvPr id="41" name="TextBox 40"/>
          <p:cNvSpPr txBox="1"/>
          <p:nvPr/>
        </p:nvSpPr>
        <p:spPr>
          <a:xfrm>
            <a:off x="10426610" y="3063239"/>
            <a:ext cx="850684"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+9.9 pt</a:t>
            </a:r>
          </a:p>
        </p:txBody>
      </p:sp>
      <p:sp>
        <p:nvSpPr>
          <p:cNvPr id="42" name="Rectangle 41"/>
          <p:cNvSpPr/>
          <p:nvPr/>
        </p:nvSpPr>
        <p:spPr>
          <a:xfrm>
            <a:off x="7196328" y="3355847"/>
            <a:ext cx="415411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196328" y="3520440"/>
            <a:ext cx="4154119" cy="21488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96328" y="3520440"/>
            <a:ext cx="54864" cy="21488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97496" y="3648456"/>
            <a:ext cx="37883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TIED TO THE DEPLOYMENT PLAN</a:t>
            </a:r>
          </a:p>
        </p:txBody>
      </p:sp>
      <p:sp>
        <p:nvSpPr>
          <p:cNvPr id="46" name="TextBox 45"/>
          <p:cNvSpPr txBox="1"/>
          <p:nvPr/>
        </p:nvSpPr>
        <p:spPr>
          <a:xfrm>
            <a:off x="7397496" y="3922776"/>
            <a:ext cx="3788359" cy="1691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plan is a quality rotation, and the cap mix shows it: proceeds from the 10 Sells and the two concentration trims (~18.6% of the book, net of estimated tax) go back into a low-vol large-cap core and open the first foreign sleeve. Large-cap character is preserved; what changes is single-name risk and the zero foreign weight.</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Cap mix as % of the equity sleeve, before vs after the recommended actions; redeployment split per the deployment-plan sleeves; net of estimated tax leak.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500" b="1" i="0">
                <a:solidFill>
                  <a:srgbClr val="1B27A3"/>
                </a:solidFill>
                <a:latin typeface="Bahnschrift"/>
              </a:rPr>
              <a:t>What the book pays while it compounds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annual dividend income by holding · Rs lakhs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sleeve · position value x assumed dividend yield per name · as of 2026-07-25</a:t>
            </a:r>
          </a:p>
        </p:txBody>
      </p:sp>
      <p:pic>
        <p:nvPicPr>
          <p:cNvPr id="17" name="Picture 16" descr="axa_income.png"/>
          <p:cNvPicPr>
            <a:picLocks noChangeAspect="1"/>
          </p:cNvPicPr>
          <p:nvPr/>
        </p:nvPicPr>
        <p:blipFill>
          <a:blip r:embed="rId3"/>
          <a:stretch>
            <a:fillRect/>
          </a:stretch>
        </p:blipFill>
        <p:spPr>
          <a:xfrm>
            <a:off x="841248" y="1691640"/>
            <a:ext cx="6309360" cy="3731253"/>
          </a:xfrm>
          <a:prstGeom prst="rect">
            <a:avLst/>
          </a:prstGeom>
        </p:spPr>
      </p:pic>
      <p:sp>
        <p:nvSpPr>
          <p:cNvPr id="18" name="TextBox 17"/>
          <p:cNvSpPr txBox="1"/>
          <p:nvPr/>
        </p:nvSpPr>
        <p:spPr>
          <a:xfrm>
            <a:off x="7269480"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₹3.5 L</a:t>
            </a:r>
          </a:p>
        </p:txBody>
      </p:sp>
      <p:sp>
        <p:nvSpPr>
          <p:cNvPr id="19" name="TextBox 18"/>
          <p:cNvSpPr txBox="1"/>
          <p:nvPr/>
        </p:nvSpPr>
        <p:spPr>
          <a:xfrm>
            <a:off x="7269480"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EST. ANNUAL DIVIDENDS</a:t>
            </a:r>
          </a:p>
        </p:txBody>
      </p:sp>
      <p:sp>
        <p:nvSpPr>
          <p:cNvPr id="20" name="TextBox 19"/>
          <p:cNvSpPr txBox="1"/>
          <p:nvPr/>
        </p:nvSpPr>
        <p:spPr>
          <a:xfrm>
            <a:off x="9309963"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0.9%</a:t>
            </a:r>
          </a:p>
        </p:txBody>
      </p:sp>
      <p:sp>
        <p:nvSpPr>
          <p:cNvPr id="21" name="TextBox 20"/>
          <p:cNvSpPr txBox="1"/>
          <p:nvPr/>
        </p:nvSpPr>
        <p:spPr>
          <a:xfrm>
            <a:off x="9309963"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BLENDED EQUITY YIELD</a:t>
            </a:r>
          </a:p>
        </p:txBody>
      </p:sp>
      <p:sp>
        <p:nvSpPr>
          <p:cNvPr id="22" name="Rectangle 21"/>
          <p:cNvSpPr/>
          <p:nvPr/>
        </p:nvSpPr>
        <p:spPr>
          <a:xfrm>
            <a:off x="9255099"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9480" y="2926080"/>
            <a:ext cx="4080967" cy="14630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2926080"/>
            <a:ext cx="54864" cy="14630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8" y="30540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INCOME SITS</a:t>
            </a:r>
          </a:p>
        </p:txBody>
      </p:sp>
      <p:sp>
        <p:nvSpPr>
          <p:cNvPr id="26" name="TextBox 25"/>
          <p:cNvSpPr txBox="1"/>
          <p:nvPr/>
        </p:nvSpPr>
        <p:spPr>
          <a:xfrm>
            <a:off x="7470648" y="3328416"/>
            <a:ext cx="3715207" cy="10058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RELIANCE and ITC pay about 28% of the book's cash income; the growth names pay almost nothing by design. At 0.9% on the equity sleeve, dividends here are a byproduct of stock selection, never its purpose.</a:t>
            </a:r>
          </a:p>
        </p:txBody>
      </p:sp>
      <p:sp>
        <p:nvSpPr>
          <p:cNvPr id="27" name="Rounded Rectangle 26"/>
          <p:cNvSpPr/>
          <p:nvPr/>
        </p:nvSpPr>
        <p:spPr>
          <a:xfrm>
            <a:off x="7269480" y="4526280"/>
            <a:ext cx="4080967"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452628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0648" y="46542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30" name="TextBox 29"/>
          <p:cNvSpPr txBox="1"/>
          <p:nvPr/>
        </p:nvSpPr>
        <p:spPr>
          <a:xfrm>
            <a:off x="7470648" y="4928616"/>
            <a:ext cx="3715207"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When regular cash flow becomes a goal, this is the base it starts from. If income becomes a goal, it is funded through planned withdrawals or a dedicated income sleeve agreed in the IPS, rather than by tilting this growth book toward high-dividend names.</a:t>
            </a:r>
          </a:p>
        </p:txBody>
      </p:sp>
      <p:sp>
        <p:nvSpPr>
          <p:cNvPr id="31" name="TextBox 3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Estimated dividends: position value times an assumed per-name dividend yield (synthetic, patterned on typical payout levels); no forecast of actual distributions. [ILLUSTRATIVE]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Goal mapping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corpus already covers, goal by goal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Whole portfolio (Rs 6.8 Cr) vs illustrative goals [ILLUSTRATIVE, to be replaced by the family's confirmed goals] · as…</a:t>
            </a:r>
          </a:p>
        </p:txBody>
      </p:sp>
      <p:pic>
        <p:nvPicPr>
          <p:cNvPr id="17" name="Picture 16" descr="annexb_goalcone.png"/>
          <p:cNvPicPr>
            <a:picLocks noChangeAspect="1"/>
          </p:cNvPicPr>
          <p:nvPr/>
        </p:nvPicPr>
        <p:blipFill>
          <a:blip r:embed="rId3"/>
          <a:stretch>
            <a:fillRect/>
          </a:stretch>
        </p:blipFill>
        <p:spPr>
          <a:xfrm>
            <a:off x="841248" y="1737360"/>
            <a:ext cx="6550011" cy="3657600"/>
          </a:xfrm>
          <a:prstGeom prst="rect">
            <a:avLst/>
          </a:prstGeom>
        </p:spPr>
      </p:pic>
      <p:sp>
        <p:nvSpPr>
          <p:cNvPr id="18" name="TextBox 17"/>
          <p:cNvSpPr txBox="1"/>
          <p:nvPr/>
        </p:nvSpPr>
        <p:spPr>
          <a:xfrm>
            <a:off x="7772400" y="1783080"/>
            <a:ext cx="1022079" cy="219456"/>
          </a:xfrm>
          <a:prstGeom prst="rect">
            <a:avLst/>
          </a:prstGeom>
          <a:noFill/>
        </p:spPr>
        <p:txBody>
          <a:bodyPr wrap="square" anchor="ctr" lIns="0" rIns="0" tIns="0" bIns="0">
            <a:spAutoFit/>
          </a:bodyPr>
          <a:lstStyle/>
          <a:p>
            <a:pPr algn="l">
              <a:spcBef>
                <a:spcPts val="0"/>
              </a:spcBef>
              <a:spcAft>
                <a:spcPts val="0"/>
              </a:spcAft>
            </a:pPr>
            <a:r>
              <a:rPr sz="650" b="1" i="0" spc="200">
                <a:solidFill>
                  <a:srgbClr val="6B7280"/>
                </a:solidFill>
                <a:latin typeface="Bahnschrift"/>
              </a:rPr>
              <a:t>GOAL</a:t>
            </a:r>
          </a:p>
        </p:txBody>
      </p:sp>
      <p:sp>
        <p:nvSpPr>
          <p:cNvPr id="19" name="TextBox 18"/>
          <p:cNvSpPr txBox="1"/>
          <p:nvPr/>
        </p:nvSpPr>
        <p:spPr>
          <a:xfrm>
            <a:off x="8940783" y="1783080"/>
            <a:ext cx="693471"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THEN</a:t>
            </a:r>
          </a:p>
        </p:txBody>
      </p:sp>
      <p:sp>
        <p:nvSpPr>
          <p:cNvPr id="20" name="TextBox 19"/>
          <p:cNvSpPr txBox="1"/>
          <p:nvPr/>
        </p:nvSpPr>
        <p:spPr>
          <a:xfrm>
            <a:off x="9780559" y="1783080"/>
            <a:ext cx="766495"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TODAY AT 12%</a:t>
            </a:r>
          </a:p>
        </p:txBody>
      </p:sp>
      <p:sp>
        <p:nvSpPr>
          <p:cNvPr id="21" name="TextBox 20"/>
          <p:cNvSpPr txBox="1"/>
          <p:nvPr/>
        </p:nvSpPr>
        <p:spPr>
          <a:xfrm>
            <a:off x="10693359" y="1783080"/>
            <a:ext cx="583935" cy="219456"/>
          </a:xfrm>
          <a:prstGeom prst="rect">
            <a:avLst/>
          </a:prstGeom>
          <a:noFill/>
        </p:spPr>
        <p:txBody>
          <a:bodyPr wrap="square" anchor="ctr" lIns="0" rIns="0" tIns="0" bIns="0">
            <a:spAutoFit/>
          </a:bodyPr>
          <a:lstStyle/>
          <a:p>
            <a:pPr algn="ctr">
              <a:spcBef>
                <a:spcPts val="0"/>
              </a:spcBef>
              <a:spcAft>
                <a:spcPts val="0"/>
              </a:spcAft>
            </a:pPr>
            <a:r>
              <a:rPr sz="650" b="1" i="0" spc="200">
                <a:solidFill>
                  <a:srgbClr val="6B7280"/>
                </a:solidFill>
                <a:latin typeface="Bahnschrift"/>
              </a:rPr>
              <a:t>FUNDED TODAY</a:t>
            </a:r>
          </a:p>
        </p:txBody>
      </p:sp>
      <p:sp>
        <p:nvSpPr>
          <p:cNvPr id="22" name="Rectangle 21"/>
          <p:cNvSpPr/>
          <p:nvPr/>
        </p:nvSpPr>
        <p:spPr>
          <a:xfrm>
            <a:off x="7699248" y="2039112"/>
            <a:ext cx="3651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2084831"/>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Education (2031)</a:t>
            </a:r>
          </a:p>
        </p:txBody>
      </p:sp>
      <p:sp>
        <p:nvSpPr>
          <p:cNvPr id="24" name="TextBox 23"/>
          <p:cNvSpPr txBox="1"/>
          <p:nvPr/>
        </p:nvSpPr>
        <p:spPr>
          <a:xfrm>
            <a:off x="8940783" y="2084831"/>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1.5 Cr</a:t>
            </a:r>
          </a:p>
        </p:txBody>
      </p:sp>
      <p:sp>
        <p:nvSpPr>
          <p:cNvPr id="25" name="TextBox 24"/>
          <p:cNvSpPr txBox="1"/>
          <p:nvPr/>
        </p:nvSpPr>
        <p:spPr>
          <a:xfrm>
            <a:off x="9780559" y="2084831"/>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0.85 Cr</a:t>
            </a:r>
          </a:p>
        </p:txBody>
      </p:sp>
      <p:sp>
        <p:nvSpPr>
          <p:cNvPr id="26" name="TextBox 25"/>
          <p:cNvSpPr txBox="1"/>
          <p:nvPr/>
        </p:nvSpPr>
        <p:spPr>
          <a:xfrm>
            <a:off x="10693359" y="2084831"/>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1E9E6A"/>
                </a:solidFill>
                <a:latin typeface="Bahnschrift"/>
              </a:rPr>
              <a:t>100%</a:t>
            </a:r>
          </a:p>
        </p:txBody>
      </p:sp>
      <p:sp>
        <p:nvSpPr>
          <p:cNvPr id="27" name="Rectangle 26"/>
          <p:cNvSpPr/>
          <p:nvPr/>
        </p:nvSpPr>
        <p:spPr>
          <a:xfrm>
            <a:off x="7699248" y="2395727"/>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2414015"/>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Second home (2034)</a:t>
            </a:r>
          </a:p>
        </p:txBody>
      </p:sp>
      <p:sp>
        <p:nvSpPr>
          <p:cNvPr id="29" name="TextBox 28"/>
          <p:cNvSpPr txBox="1"/>
          <p:nvPr/>
        </p:nvSpPr>
        <p:spPr>
          <a:xfrm>
            <a:off x="8940783" y="2414015"/>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 Cr</a:t>
            </a:r>
          </a:p>
        </p:txBody>
      </p:sp>
      <p:sp>
        <p:nvSpPr>
          <p:cNvPr id="30" name="TextBox 29"/>
          <p:cNvSpPr txBox="1"/>
          <p:nvPr/>
        </p:nvSpPr>
        <p:spPr>
          <a:xfrm>
            <a:off x="9780559" y="2414015"/>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1.21 Cr</a:t>
            </a:r>
          </a:p>
        </p:txBody>
      </p:sp>
      <p:sp>
        <p:nvSpPr>
          <p:cNvPr id="31" name="TextBox 30"/>
          <p:cNvSpPr txBox="1"/>
          <p:nvPr/>
        </p:nvSpPr>
        <p:spPr>
          <a:xfrm>
            <a:off x="10693359" y="2414015"/>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1E9E6A"/>
                </a:solidFill>
                <a:latin typeface="Bahnschrift"/>
              </a:rPr>
              <a:t>100%</a:t>
            </a:r>
          </a:p>
        </p:txBody>
      </p:sp>
      <p:sp>
        <p:nvSpPr>
          <p:cNvPr id="32" name="Rectangle 31"/>
          <p:cNvSpPr/>
          <p:nvPr/>
        </p:nvSpPr>
        <p:spPr>
          <a:xfrm>
            <a:off x="7699248" y="2724911"/>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2743199"/>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Retirement (2041)</a:t>
            </a:r>
          </a:p>
        </p:txBody>
      </p:sp>
      <p:sp>
        <p:nvSpPr>
          <p:cNvPr id="34" name="TextBox 33"/>
          <p:cNvSpPr txBox="1"/>
          <p:nvPr/>
        </p:nvSpPr>
        <p:spPr>
          <a:xfrm>
            <a:off x="8940783" y="2743199"/>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30.0 Cr</a:t>
            </a:r>
          </a:p>
        </p:txBody>
      </p:sp>
      <p:sp>
        <p:nvSpPr>
          <p:cNvPr id="35" name="TextBox 34"/>
          <p:cNvSpPr txBox="1"/>
          <p:nvPr/>
        </p:nvSpPr>
        <p:spPr>
          <a:xfrm>
            <a:off x="9780559" y="2743199"/>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5.48 Cr</a:t>
            </a:r>
          </a:p>
        </p:txBody>
      </p:sp>
      <p:sp>
        <p:nvSpPr>
          <p:cNvPr id="36" name="TextBox 35"/>
          <p:cNvSpPr txBox="1"/>
          <p:nvPr/>
        </p:nvSpPr>
        <p:spPr>
          <a:xfrm>
            <a:off x="10693359" y="2743199"/>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86%</a:t>
            </a:r>
          </a:p>
        </p:txBody>
      </p:sp>
      <p:sp>
        <p:nvSpPr>
          <p:cNvPr id="37" name="Rectangle 36"/>
          <p:cNvSpPr/>
          <p:nvPr/>
        </p:nvSpPr>
        <p:spPr>
          <a:xfrm>
            <a:off x="7699248" y="3054095"/>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0" y="3072383"/>
            <a:ext cx="1022079" cy="329184"/>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All goals together</a:t>
            </a:r>
          </a:p>
        </p:txBody>
      </p:sp>
      <p:sp>
        <p:nvSpPr>
          <p:cNvPr id="39" name="TextBox 38"/>
          <p:cNvSpPr txBox="1"/>
          <p:nvPr/>
        </p:nvSpPr>
        <p:spPr>
          <a:xfrm>
            <a:off x="8940783" y="3072383"/>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34.5 Cr</a:t>
            </a:r>
          </a:p>
        </p:txBody>
      </p:sp>
      <p:sp>
        <p:nvSpPr>
          <p:cNvPr id="40" name="TextBox 39"/>
          <p:cNvSpPr txBox="1"/>
          <p:nvPr/>
        </p:nvSpPr>
        <p:spPr>
          <a:xfrm>
            <a:off x="9780559" y="3072383"/>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7.54 Cr</a:t>
            </a:r>
          </a:p>
        </p:txBody>
      </p:sp>
      <p:sp>
        <p:nvSpPr>
          <p:cNvPr id="41" name="TextBox 40"/>
          <p:cNvSpPr txBox="1"/>
          <p:nvPr/>
        </p:nvSpPr>
        <p:spPr>
          <a:xfrm>
            <a:off x="10693359" y="3072383"/>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90%</a:t>
            </a:r>
          </a:p>
        </p:txBody>
      </p:sp>
      <p:sp>
        <p:nvSpPr>
          <p:cNvPr id="42" name="Rectangle 41"/>
          <p:cNvSpPr/>
          <p:nvPr/>
        </p:nvSpPr>
        <p:spPr>
          <a:xfrm>
            <a:off x="7699248" y="3383279"/>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699248" y="3703320"/>
            <a:ext cx="3651199" cy="21031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99248" y="3703320"/>
            <a:ext cx="54864" cy="21031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00416" y="3831335"/>
            <a:ext cx="3285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TO READ FUNDED-TODAY</a:t>
            </a:r>
          </a:p>
        </p:txBody>
      </p:sp>
      <p:sp>
        <p:nvSpPr>
          <p:cNvPr id="46" name="TextBox 45"/>
          <p:cNvSpPr txBox="1"/>
          <p:nvPr/>
        </p:nvSpPr>
        <p:spPr>
          <a:xfrm>
            <a:off x="7900416" y="4105656"/>
            <a:ext cx="3285439" cy="16459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Funded-today discounts each goal at the assumed 12% return and fills goals nearest-first. Education and the home are fully covered by today's corpus; retirement is ~86% funded, a gap that ongoing savings and the 15-year horizon can close. A goal short of 100% calls for contributions or time, never for stretching the risk profile.</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at 12% p.a. return, 14% volatility; goal amounts and dates are placeholders [ILLUSTRATIVE], not advice or a forecast; outcomes will differ.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APPENDIX</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Methodology &amp; data sources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the numbers on these pages are built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74</a:t>
            </a:r>
          </a:p>
        </p:txBody>
      </p:sp>
      <p:sp>
        <p:nvSpPr>
          <p:cNvPr id="15" name="Rounded Rectangle 14"/>
          <p:cNvSpPr/>
          <p:nvPr/>
        </p:nvSpPr>
        <p:spPr>
          <a:xfrm>
            <a:off x="841248"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SCORING EQUITIES</a:t>
            </a:r>
          </a:p>
        </p:txBody>
      </p:sp>
      <p:sp>
        <p:nvSpPr>
          <p:cNvPr id="18" name="TextBox 17"/>
          <p:cNvSpPr txBox="1"/>
          <p:nvPr/>
        </p:nvSpPr>
        <p:spPr>
          <a:xfrm>
            <a:off x="1042416"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stock earns a 0-100 Ionic Score from two horizons, a 3-year, fundamentals-tilted view and a 1-year, trend-tilted view, combined across pillars (Quality &amp; Growth, Value, Trend &amp; Flow). Forensic / balance-sheet gates cap the score at 40. Below 40 on either horizon = Sell; 40-50 is a watch zone (Trim only with a concentration or risk flag); 50+ = Hold.</a:t>
            </a:r>
          </a:p>
        </p:txBody>
      </p:sp>
      <p:sp>
        <p:nvSpPr>
          <p:cNvPr id="19" name="Rounded Rectangle 18"/>
          <p:cNvSpPr/>
          <p:nvPr/>
        </p:nvSpPr>
        <p:spPr>
          <a:xfrm>
            <a:off x="6278727"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8727"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9895"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EVALUATING FUNDS</a:t>
            </a:r>
          </a:p>
        </p:txBody>
      </p:sp>
      <p:sp>
        <p:nvSpPr>
          <p:cNvPr id="22" name="TextBox 21"/>
          <p:cNvSpPr txBox="1"/>
          <p:nvPr/>
        </p:nvSpPr>
        <p:spPr>
          <a:xfrm>
            <a:off x="6479895"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Funds are scored 0-100 by the firm's fund-quality framework on Direct-plan NAV against total-return benchmarks, point-in-time. It rewards net-of-fee alpha, rolling-window consistency and downside cushioning, and penalises structural watch-outs. Verdicts: Hold / Trim / Switch / Redeem-to-Direct / Exit.</a:t>
            </a:r>
          </a:p>
        </p:txBody>
      </p:sp>
      <p:sp>
        <p:nvSpPr>
          <p:cNvPr id="23" name="Rounded Rectangle 22"/>
          <p:cNvSpPr/>
          <p:nvPr/>
        </p:nvSpPr>
        <p:spPr>
          <a:xfrm>
            <a:off x="841248" y="3931920"/>
            <a:ext cx="10509199" cy="1243584"/>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931920"/>
            <a:ext cx="54864" cy="124358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059935"/>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DATA SOURCES</a:t>
            </a:r>
          </a:p>
        </p:txBody>
      </p:sp>
      <p:sp>
        <p:nvSpPr>
          <p:cNvPr id="26" name="TextBox 25"/>
          <p:cNvSpPr txBox="1"/>
          <p:nvPr/>
        </p:nvSpPr>
        <p:spPr>
          <a:xfrm>
            <a:off x="1042416" y="433425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Scored universe: the firm's stock-scoring engine + per-stock analyst files (point-in-time).  ·  Fund NAVs: Direct-plan, total-return-benchmark relative.  ·  SEBI market-cap cut-offs and category rules.  ·  House-view sector / allocation bands.  ·  Official statutory tax rates, updated each Budget.  ·  Client IPS and holdings as supplied by the advisory desk.</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synthetic demo (ABXY Family); equity scores real, holdings &amp; funds synthetic.</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640080"/>
            <a:ext cx="10509199" cy="457200"/>
          </a:xfrm>
          <a:prstGeom prst="rect">
            <a:avLst/>
          </a:prstGeom>
          <a:noFill/>
        </p:spPr>
        <p:txBody>
          <a:bodyPr wrap="square" anchor="t" lIns="0" rIns="0" tIns="0" bIns="0">
            <a:spAutoFit/>
          </a:bodyPr>
          <a:lstStyle/>
          <a:p>
            <a:pPr algn="l">
              <a:spcBef>
                <a:spcPts val="0"/>
              </a:spcBef>
              <a:spcAft>
                <a:spcPts val="0"/>
              </a:spcAft>
            </a:pPr>
            <a:r>
              <a:rPr sz="2000" b="1" i="0">
                <a:solidFill>
                  <a:srgbClr val="FFFFFF"/>
                </a:solidFill>
                <a:latin typeface="Bahnschrift"/>
              </a:rPr>
              <a:t>Disclaimer &amp; basis of preparation</a:t>
            </a:r>
          </a:p>
        </p:txBody>
      </p:sp>
      <p:sp>
        <p:nvSpPr>
          <p:cNvPr id="4" name="Rectangle 3"/>
          <p:cNvSpPr/>
          <p:nvPr/>
        </p:nvSpPr>
        <p:spPr>
          <a:xfrm>
            <a:off x="841248" y="1143000"/>
            <a:ext cx="27432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554480"/>
            <a:ext cx="10509199" cy="2377440"/>
          </a:xfrm>
          <a:prstGeom prst="rect">
            <a:avLst/>
          </a:prstGeom>
          <a:noFill/>
        </p:spPr>
        <p:txBody>
          <a:bodyPr wrap="square" anchor="t" lIns="0" rIns="0" tIns="0" bIns="0">
            <a:spAutoFit/>
          </a:bodyPr>
          <a:lstStyle/>
          <a:p>
            <a:pPr algn="l">
              <a:lnSpc>
                <a:spcPct val="125000"/>
              </a:lnSpc>
              <a:spcBef>
                <a:spcPts val="0"/>
              </a:spcBef>
              <a:spcAft>
                <a:spcPts val="0"/>
              </a:spcAft>
            </a:pPr>
            <a:r>
              <a:rPr sz="1150" b="0" i="0">
                <a:solidFill>
                  <a:srgbClr val="C9CEF0"/>
                </a:solidFill>
                <a:latin typeface="Georgia"/>
              </a:rPr>
              <a:t>This document is a review of existing holdings prepared for the named client under a Non-Discretionary Portfolio Management mandate. Recommendations are Sell / Trim / Hold on current positions only and are not a solicitation or an offer to buy any security. Nothing is executed until the client authorises it. The Ionic Score is a quantitative input reviewed by the Portfolio Review team; it is not a guarantee of future performance. Tax characterisations are indicative · confirm with the client's tax adviser before dealing. Mutual-fund evaluation uses Direct-plan NAV against total-return benchmarks, point-in-time. Past performance is not indicative of future results. This is a synthetic demonstration document; the ABXY Family is fictional and no content constitutes advice on a real portfolio.</a:t>
            </a:r>
          </a:p>
        </p:txBody>
      </p:sp>
      <p:sp>
        <p:nvSpPr>
          <p:cNvPr id="6" name="TextBox 5"/>
          <p:cNvSpPr txBox="1"/>
          <p:nvPr/>
        </p:nvSpPr>
        <p:spPr>
          <a:xfrm>
            <a:off x="841248" y="4526280"/>
            <a:ext cx="10509199" cy="457200"/>
          </a:xfrm>
          <a:prstGeom prst="rect">
            <a:avLst/>
          </a:prstGeom>
          <a:noFill/>
        </p:spPr>
        <p:txBody>
          <a:bodyPr wrap="square" anchor="t" lIns="0" rIns="0" tIns="0" bIns="0">
            <a:spAutoFit/>
          </a:bodyPr>
          <a:lstStyle/>
          <a:p>
            <a:pPr algn="ctr">
              <a:spcBef>
                <a:spcPts val="0"/>
              </a:spcBef>
              <a:spcAft>
                <a:spcPts val="0"/>
              </a:spcAft>
            </a:pPr>
            <a:r>
              <a:rPr sz="2400" b="1" i="0" spc="300">
                <a:solidFill>
                  <a:srgbClr val="FFFFFF"/>
                </a:solidFill>
                <a:latin typeface="Bahnschrift"/>
              </a:rPr>
              <a:t>IONIC WEALTH</a:t>
            </a:r>
          </a:p>
        </p:txBody>
      </p:sp>
      <p:sp>
        <p:nvSpPr>
          <p:cNvPr id="7" name="Rectangle 6"/>
          <p:cNvSpPr/>
          <p:nvPr/>
        </p:nvSpPr>
        <p:spPr>
          <a:xfrm>
            <a:off x="5592927" y="5102352"/>
            <a:ext cx="1005840" cy="182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5285232"/>
            <a:ext cx="10509199" cy="274320"/>
          </a:xfrm>
          <a:prstGeom prst="rect">
            <a:avLst/>
          </a:prstGeom>
          <a:noFill/>
        </p:spPr>
        <p:txBody>
          <a:bodyPr wrap="square" anchor="t" lIns="0" rIns="0" tIns="0" bIns="0">
            <a:spAutoFit/>
          </a:bodyPr>
          <a:lstStyle/>
          <a:p>
            <a:pPr algn="ctr">
              <a:spcBef>
                <a:spcPts val="0"/>
              </a:spcBef>
              <a:spcAft>
                <a:spcPts val="0"/>
              </a:spcAft>
            </a:pPr>
            <a:r>
              <a:rPr sz="950" b="0" i="0" spc="60">
                <a:solidFill>
                  <a:srgbClr val="C9CEF0"/>
                </a:solidFill>
                <a:latin typeface="Bahnschrift"/>
              </a:rPr>
              <a:t>Private &amp; Confidential  ·  Prepared exclusively for the named client</a:t>
            </a:r>
          </a:p>
        </p:txBody>
      </p:sp>
      <p:sp>
        <p:nvSpPr>
          <p:cNvPr id="9" name="TextBox 8"/>
          <p:cNvSpPr txBox="1"/>
          <p:nvPr/>
        </p:nvSpPr>
        <p:spPr>
          <a:xfrm>
            <a:off x="841248" y="6309360"/>
            <a:ext cx="10509199" cy="274320"/>
          </a:xfrm>
          <a:prstGeom prst="rect">
            <a:avLst/>
          </a:prstGeom>
          <a:noFill/>
        </p:spPr>
        <p:txBody>
          <a:bodyPr wrap="square" anchor="t" lIns="0" rIns="0" tIns="0" bIns="0">
            <a:spAutoFit/>
          </a:bodyPr>
          <a:lstStyle/>
          <a:p>
            <a:pPr algn="l">
              <a:spcBef>
                <a:spcPts val="0"/>
              </a:spcBef>
              <a:spcAft>
                <a:spcPts val="0"/>
              </a:spcAft>
            </a:pPr>
            <a:r>
              <a:rPr sz="800" b="0" i="0">
                <a:solidFill>
                  <a:srgbClr val="C9CEF0"/>
                </a:solidFill>
                <a:latin typeface="Bahnschrift"/>
              </a:rPr>
              <a:t>Ionic Wealth by Angel One  ·  Portfolio Review  ·  Private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