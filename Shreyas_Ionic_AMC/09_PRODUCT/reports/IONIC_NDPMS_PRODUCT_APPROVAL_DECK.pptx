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ac_cover_art.png"/>
          <p:cNvPicPr>
            <a:picLocks noChangeAspect="1"/>
          </p:cNvPicPr>
          <p:nvPr/>
        </p:nvPicPr>
        <p:blipFill>
          <a:blip r:embed="rId2"/>
          <a:stretch>
            <a:fillRect/>
          </a:stretch>
        </p:blipFill>
        <p:spPr>
          <a:xfrm>
            <a:off x="7351775" y="91440"/>
            <a:ext cx="4846320" cy="6766560"/>
          </a:xfrm>
          <a:prstGeom prst="rect">
            <a:avLst/>
          </a:prstGeom>
        </p:spPr>
      </p:pic>
      <p:sp>
        <p:nvSpPr>
          <p:cNvPr id="4" name="Rectangle 3"/>
          <p:cNvSpPr/>
          <p:nvPr/>
        </p:nvSpPr>
        <p:spPr>
          <a:xfrm>
            <a:off x="0" y="0"/>
            <a:ext cx="12191695" cy="914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475488"/>
            <a:ext cx="4572000" cy="365760"/>
          </a:xfrm>
          <a:prstGeom prst="rect">
            <a:avLst/>
          </a:prstGeom>
          <a:noFill/>
        </p:spPr>
        <p:txBody>
          <a:bodyPr wrap="square" anchor="t" lIns="0" rIns="0" tIns="0" bIns="0">
            <a:spAutoFit/>
          </a:bodyPr>
          <a:lstStyle/>
          <a:p>
            <a:pPr algn="l">
              <a:spcBef>
                <a:spcPts val="0"/>
              </a:spcBef>
              <a:spcAft>
                <a:spcPts val="0"/>
              </a:spcAft>
            </a:pPr>
            <a:r>
              <a:rPr sz="1700" b="1" i="0" spc="100">
                <a:solidFill>
                  <a:srgbClr val="FFFFFF"/>
                </a:solidFill>
                <a:latin typeface="Bahnschrift"/>
              </a:rPr>
              <a:t>IONIC </a:t>
            </a:r>
            <a:r>
              <a:rPr sz="1700" b="0" i="0" spc="100">
                <a:solidFill>
                  <a:srgbClr val="C9CEF0"/>
                </a:solidFill>
                <a:latin typeface="Bahnschrift"/>
              </a:rPr>
              <a:t>WEALTH</a:t>
            </a:r>
          </a:p>
        </p:txBody>
      </p:sp>
      <p:sp>
        <p:nvSpPr>
          <p:cNvPr id="6" name="TextBox 5"/>
          <p:cNvSpPr txBox="1"/>
          <p:nvPr/>
        </p:nvSpPr>
        <p:spPr>
          <a:xfrm>
            <a:off x="841248" y="841248"/>
            <a:ext cx="4572000" cy="201168"/>
          </a:xfrm>
          <a:prstGeom prst="rect">
            <a:avLst/>
          </a:prstGeom>
          <a:noFill/>
        </p:spPr>
        <p:txBody>
          <a:bodyPr wrap="square" anchor="t" lIns="0" rIns="0" tIns="0" bIns="0">
            <a:spAutoFit/>
          </a:bodyPr>
          <a:lstStyle/>
          <a:p>
            <a:pPr algn="l">
              <a:spcBef>
                <a:spcPts val="0"/>
              </a:spcBef>
              <a:spcAft>
                <a:spcPts val="0"/>
              </a:spcAft>
            </a:pPr>
            <a:r>
              <a:rPr sz="750" b="1" i="0" spc="260">
                <a:solidFill>
                  <a:srgbClr val="F2A93C"/>
                </a:solidFill>
                <a:latin typeface="Bahnschrift"/>
              </a:rPr>
              <a:t>BY ANGEL ONE</a:t>
            </a:r>
          </a:p>
        </p:txBody>
      </p:sp>
      <p:sp>
        <p:nvSpPr>
          <p:cNvPr id="7" name="TextBox 6"/>
          <p:cNvSpPr txBox="1"/>
          <p:nvPr/>
        </p:nvSpPr>
        <p:spPr>
          <a:xfrm>
            <a:off x="841248" y="1920240"/>
            <a:ext cx="6583680" cy="777240"/>
          </a:xfrm>
          <a:prstGeom prst="rect">
            <a:avLst/>
          </a:prstGeom>
          <a:noFill/>
        </p:spPr>
        <p:txBody>
          <a:bodyPr wrap="square" anchor="t" lIns="0" rIns="0" tIns="0" bIns="0">
            <a:spAutoFit/>
          </a:bodyPr>
          <a:lstStyle/>
          <a:p>
            <a:pPr algn="l">
              <a:spcBef>
                <a:spcPts val="0"/>
              </a:spcBef>
              <a:spcAft>
                <a:spcPts val="0"/>
              </a:spcAft>
            </a:pPr>
            <a:r>
              <a:rPr sz="3600" b="1" i="0">
                <a:solidFill>
                  <a:srgbClr val="FFFFFF"/>
                </a:solidFill>
                <a:latin typeface="Bahnschrift"/>
              </a:rPr>
              <a:t>Portfolio Review </a:t>
            </a:r>
            <a:r>
              <a:rPr sz="3600" b="1" i="0">
                <a:solidFill>
                  <a:srgbClr val="F2A93C"/>
                </a:solidFill>
                <a:latin typeface="Bahnschrift"/>
              </a:rPr>
              <a:t>Engine</a:t>
            </a:r>
          </a:p>
        </p:txBody>
      </p:sp>
      <p:sp>
        <p:nvSpPr>
          <p:cNvPr id="8" name="TextBox 7"/>
          <p:cNvSpPr txBox="1"/>
          <p:nvPr/>
        </p:nvSpPr>
        <p:spPr>
          <a:xfrm>
            <a:off x="841248" y="2834640"/>
            <a:ext cx="6583680" cy="457200"/>
          </a:xfrm>
          <a:prstGeom prst="rect">
            <a:avLst/>
          </a:prstGeom>
          <a:noFill/>
        </p:spPr>
        <p:txBody>
          <a:bodyPr wrap="square" anchor="t" lIns="0" rIns="0" tIns="0" bIns="0">
            <a:spAutoFit/>
          </a:bodyPr>
          <a:lstStyle/>
          <a:p>
            <a:pPr algn="l">
              <a:spcBef>
                <a:spcPts val="0"/>
              </a:spcBef>
              <a:spcAft>
                <a:spcPts val="0"/>
              </a:spcAft>
            </a:pPr>
            <a:r>
              <a:rPr sz="1500" b="0" i="1">
                <a:solidFill>
                  <a:srgbClr val="C9CEF0"/>
                </a:solidFill>
                <a:latin typeface="Georgia"/>
              </a:rPr>
              <a:t>An NDPMS client-reporting product, end to end</a:t>
            </a:r>
          </a:p>
        </p:txBody>
      </p:sp>
      <p:sp>
        <p:nvSpPr>
          <p:cNvPr id="9" name="TextBox 8"/>
          <p:cNvSpPr txBox="1"/>
          <p:nvPr/>
        </p:nvSpPr>
        <p:spPr>
          <a:xfrm>
            <a:off x="841248" y="3611880"/>
            <a:ext cx="6583680" cy="274320"/>
          </a:xfrm>
          <a:prstGeom prst="rect">
            <a:avLst/>
          </a:prstGeom>
          <a:noFill/>
        </p:spPr>
        <p:txBody>
          <a:bodyPr wrap="square" anchor="t" lIns="0" rIns="0" tIns="0" bIns="0">
            <a:spAutoFit/>
          </a:bodyPr>
          <a:lstStyle/>
          <a:p>
            <a:pPr algn="l">
              <a:spcBef>
                <a:spcPts val="0"/>
              </a:spcBef>
              <a:spcAft>
                <a:spcPts val="0"/>
              </a:spcAft>
            </a:pPr>
            <a:r>
              <a:rPr sz="1000" b="1" i="0" spc="260">
                <a:solidFill>
                  <a:srgbClr val="8C95DE"/>
                </a:solidFill>
                <a:latin typeface="Bahnschrift"/>
              </a:rPr>
              <a:t>FOR REVIEW BY</a:t>
            </a:r>
          </a:p>
        </p:txBody>
      </p:sp>
      <p:sp>
        <p:nvSpPr>
          <p:cNvPr id="10" name="TextBox 9"/>
          <p:cNvSpPr txBox="1"/>
          <p:nvPr/>
        </p:nvSpPr>
        <p:spPr>
          <a:xfrm>
            <a:off x="841248" y="3904487"/>
            <a:ext cx="6583680" cy="411480"/>
          </a:xfrm>
          <a:prstGeom prst="rect">
            <a:avLst/>
          </a:prstGeom>
          <a:noFill/>
        </p:spPr>
        <p:txBody>
          <a:bodyPr wrap="square" anchor="t" lIns="0" rIns="0" tIns="0" bIns="0">
            <a:spAutoFit/>
          </a:bodyPr>
          <a:lstStyle/>
          <a:p>
            <a:pPr algn="l">
              <a:spcBef>
                <a:spcPts val="0"/>
              </a:spcBef>
              <a:spcAft>
                <a:spcPts val="0"/>
              </a:spcAft>
            </a:pPr>
            <a:r>
              <a:rPr sz="1900" b="1" i="0">
                <a:solidFill>
                  <a:srgbClr val="FFFFFF"/>
                </a:solidFill>
                <a:latin typeface="Bahnschrift"/>
              </a:rPr>
              <a:t>Product Approval Committee</a:t>
            </a:r>
          </a:p>
        </p:txBody>
      </p:sp>
      <p:sp>
        <p:nvSpPr>
          <p:cNvPr id="11" name="Rectangle 10"/>
          <p:cNvSpPr/>
          <p:nvPr/>
        </p:nvSpPr>
        <p:spPr>
          <a:xfrm>
            <a:off x="841248" y="4462272"/>
            <a:ext cx="3108960" cy="2743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45152"/>
            <a:ext cx="6583680" cy="365760"/>
          </a:xfrm>
          <a:prstGeom prst="rect">
            <a:avLst/>
          </a:prstGeom>
          <a:noFill/>
        </p:spPr>
        <p:txBody>
          <a:bodyPr wrap="square" anchor="t" lIns="0" rIns="0" tIns="0" bIns="0">
            <a:spAutoFit/>
          </a:bodyPr>
          <a:lstStyle/>
          <a:p>
            <a:pPr algn="l">
              <a:spcBef>
                <a:spcPts val="0"/>
              </a:spcBef>
              <a:spcAft>
                <a:spcPts val="0"/>
              </a:spcAft>
            </a:pPr>
            <a:r>
              <a:rPr sz="1200" b="0" i="1">
                <a:solidFill>
                  <a:srgbClr val="C9CEF0"/>
                </a:solidFill>
                <a:latin typeface="Georgia"/>
              </a:rPr>
              <a:t>Methodology, workflow, controls, and the deliverable itself</a:t>
            </a:r>
          </a:p>
        </p:txBody>
      </p:sp>
      <p:sp>
        <p:nvSpPr>
          <p:cNvPr id="13" name="TextBox 12"/>
          <p:cNvSpPr txBox="1"/>
          <p:nvPr/>
        </p:nvSpPr>
        <p:spPr>
          <a:xfrm>
            <a:off x="841248" y="5980176"/>
            <a:ext cx="6766560" cy="457200"/>
          </a:xfrm>
          <a:prstGeom prst="rect">
            <a:avLst/>
          </a:prstGeom>
          <a:noFill/>
        </p:spPr>
        <p:txBody>
          <a:bodyPr wrap="square" anchor="t" lIns="0" rIns="0" tIns="0" bIns="0">
            <a:spAutoFit/>
          </a:bodyPr>
          <a:lstStyle/>
          <a:p>
            <a:pPr algn="l">
              <a:spcBef>
                <a:spcPts val="0"/>
              </a:spcBef>
              <a:spcAft>
                <a:spcPts val="0"/>
              </a:spcAft>
            </a:pPr>
            <a:r>
              <a:rPr sz="850" b="1" i="0" spc="120">
                <a:solidFill>
                  <a:srgbClr val="F2A93C"/>
                </a:solidFill>
                <a:latin typeface="Bahnschrift"/>
              </a:rPr>
              <a:t>INTERNAL   ·   </a:t>
            </a:r>
            <a:r>
              <a:rPr sz="850" b="0" i="0">
                <a:solidFill>
                  <a:srgbClr val="8C95DE"/>
                </a:solidFill>
                <a:latin typeface="Bahnschrift"/>
              </a:rPr>
              <a:t>Prepared by the Portfolio Review desk   ·   As of 2026-08-04   ·   Sample pages use a synthetic demo book, never a real client's holdings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00 · THE PROPOSAL</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is being approved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00" b="1" i="0">
                <a:solidFill>
                  <a:srgbClr val="F2A93C"/>
                </a:solidFill>
                <a:latin typeface="Bahnschrift"/>
              </a:rPr>
              <a:t>A scored, evidence-backed portfolio review, produced as a repeatable product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02</a:t>
            </a:r>
          </a:p>
        </p:txBody>
      </p:sp>
      <p:sp>
        <p:nvSpPr>
          <p:cNvPr id="15" name="TextBox 14"/>
          <p:cNvSpPr txBox="1"/>
          <p:nvPr/>
        </p:nvSpPr>
        <p:spPr>
          <a:xfrm>
            <a:off x="841248" y="1627632"/>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B27A3"/>
                </a:solidFill>
                <a:latin typeface="Bahnschrift"/>
              </a:rPr>
              <a:t>751 / 751</a:t>
            </a:r>
          </a:p>
        </p:txBody>
      </p:sp>
      <p:sp>
        <p:nvSpPr>
          <p:cNvPr id="16" name="TextBox 15"/>
          <p:cNvSpPr txBox="1"/>
          <p:nvPr/>
        </p:nvSpPr>
        <p:spPr>
          <a:xfrm>
            <a:off x="841248" y="2103120"/>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STOCKS SCORED</a:t>
            </a:r>
          </a:p>
        </p:txBody>
      </p:sp>
      <p:sp>
        <p:nvSpPr>
          <p:cNvPr id="17" name="TextBox 16"/>
          <p:cNvSpPr txBox="1"/>
          <p:nvPr/>
        </p:nvSpPr>
        <p:spPr>
          <a:xfrm>
            <a:off x="841248" y="2286000"/>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quant + analyst</a:t>
            </a:r>
          </a:p>
        </p:txBody>
      </p:sp>
      <p:sp>
        <p:nvSpPr>
          <p:cNvPr id="18" name="TextBox 17"/>
          <p:cNvSpPr txBox="1"/>
          <p:nvPr/>
        </p:nvSpPr>
        <p:spPr>
          <a:xfrm>
            <a:off x="3468547" y="1627632"/>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a:t>
            </a:r>
          </a:p>
        </p:txBody>
      </p:sp>
      <p:sp>
        <p:nvSpPr>
          <p:cNvPr id="19" name="TextBox 18"/>
          <p:cNvSpPr txBox="1"/>
          <p:nvPr/>
        </p:nvSpPr>
        <p:spPr>
          <a:xfrm>
            <a:off x="3468547" y="2103120"/>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CLIENT TIERS</a:t>
            </a:r>
          </a:p>
        </p:txBody>
      </p:sp>
      <p:sp>
        <p:nvSpPr>
          <p:cNvPr id="20" name="TextBox 19"/>
          <p:cNvSpPr txBox="1"/>
          <p:nvPr/>
        </p:nvSpPr>
        <p:spPr>
          <a:xfrm>
            <a:off x="3468547" y="2286000"/>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depth by audience</a:t>
            </a:r>
          </a:p>
        </p:txBody>
      </p:sp>
      <p:sp>
        <p:nvSpPr>
          <p:cNvPr id="21" name="Rectangle 20"/>
          <p:cNvSpPr/>
          <p:nvPr/>
        </p:nvSpPr>
        <p:spPr>
          <a:xfrm>
            <a:off x="3413683" y="1673352"/>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1627632"/>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60</a:t>
            </a:r>
          </a:p>
        </p:txBody>
      </p:sp>
      <p:sp>
        <p:nvSpPr>
          <p:cNvPr id="23" name="TextBox 22"/>
          <p:cNvSpPr txBox="1"/>
          <p:nvPr/>
        </p:nvSpPr>
        <p:spPr>
          <a:xfrm>
            <a:off x="6095847" y="2103120"/>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PAGE MODULES</a:t>
            </a:r>
          </a:p>
        </p:txBody>
      </p:sp>
      <p:sp>
        <p:nvSpPr>
          <p:cNvPr id="24" name="TextBox 23"/>
          <p:cNvSpPr txBox="1"/>
          <p:nvPr/>
        </p:nvSpPr>
        <p:spPr>
          <a:xfrm>
            <a:off x="6095847" y="2286000"/>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one library</a:t>
            </a:r>
          </a:p>
        </p:txBody>
      </p:sp>
      <p:sp>
        <p:nvSpPr>
          <p:cNvPr id="25" name="Rectangle 24"/>
          <p:cNvSpPr/>
          <p:nvPr/>
        </p:nvSpPr>
        <p:spPr>
          <a:xfrm>
            <a:off x="6040983" y="1673352"/>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23147" y="1627632"/>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E9E6A"/>
                </a:solidFill>
                <a:latin typeface="Bahnschrift"/>
              </a:rPr>
              <a:t>4</a:t>
            </a:r>
          </a:p>
        </p:txBody>
      </p:sp>
      <p:sp>
        <p:nvSpPr>
          <p:cNvPr id="27" name="TextBox 26"/>
          <p:cNvSpPr txBox="1"/>
          <p:nvPr/>
        </p:nvSpPr>
        <p:spPr>
          <a:xfrm>
            <a:off x="8723147" y="2103120"/>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QA GATE LAYERS</a:t>
            </a:r>
          </a:p>
        </p:txBody>
      </p:sp>
      <p:sp>
        <p:nvSpPr>
          <p:cNvPr id="28" name="TextBox 27"/>
          <p:cNvSpPr txBox="1"/>
          <p:nvPr/>
        </p:nvSpPr>
        <p:spPr>
          <a:xfrm>
            <a:off x="8723147" y="2286000"/>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all must pass</a:t>
            </a:r>
          </a:p>
        </p:txBody>
      </p:sp>
      <p:sp>
        <p:nvSpPr>
          <p:cNvPr id="29" name="Rectangle 28"/>
          <p:cNvSpPr/>
          <p:nvPr/>
        </p:nvSpPr>
        <p:spPr>
          <a:xfrm>
            <a:off x="8668283" y="1673352"/>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41248" y="2852927"/>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0704" y="2756915"/>
            <a:ext cx="4894783" cy="475488"/>
          </a:xfrm>
          <a:prstGeom prst="rect">
            <a:avLst/>
          </a:prstGeom>
          <a:noFill/>
        </p:spPr>
        <p:txBody>
          <a:bodyPr wrap="square" anchor="t" lIns="0" rIns="0" tIns="0" bIns="0">
            <a:spAutoFit/>
          </a:bodyPr>
          <a:lstStyle/>
          <a:p>
            <a:pPr algn="l">
              <a:lnSpc>
                <a:spcPct val="106000"/>
              </a:lnSpc>
              <a:spcBef>
                <a:spcPts val="0"/>
              </a:spcBef>
              <a:spcAft>
                <a:spcPts val="0"/>
              </a:spcAft>
            </a:pPr>
            <a:r>
              <a:rPr sz="1100" b="0" i="0">
                <a:solidFill>
                  <a:srgbClr val="16233B"/>
                </a:solidFill>
                <a:latin typeface="Georgia"/>
              </a:rPr>
              <a:t>The product is a client portfolio review: every direct holding and every fund carries a score, a call and a written reason.</a:t>
            </a:r>
          </a:p>
        </p:txBody>
      </p:sp>
      <p:sp>
        <p:nvSpPr>
          <p:cNvPr id="32" name="Rectangle 31"/>
          <p:cNvSpPr/>
          <p:nvPr/>
        </p:nvSpPr>
        <p:spPr>
          <a:xfrm>
            <a:off x="841248" y="3419856"/>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0704" y="3323844"/>
            <a:ext cx="4894783" cy="475488"/>
          </a:xfrm>
          <a:prstGeom prst="rect">
            <a:avLst/>
          </a:prstGeom>
          <a:noFill/>
        </p:spPr>
        <p:txBody>
          <a:bodyPr wrap="square" anchor="t" lIns="0" rIns="0" tIns="0" bIns="0">
            <a:spAutoFit/>
          </a:bodyPr>
          <a:lstStyle/>
          <a:p>
            <a:pPr algn="l">
              <a:lnSpc>
                <a:spcPct val="106000"/>
              </a:lnSpc>
              <a:spcBef>
                <a:spcPts val="0"/>
              </a:spcBef>
              <a:spcAft>
                <a:spcPts val="0"/>
              </a:spcAft>
            </a:pPr>
            <a:r>
              <a:rPr sz="1100" b="0" i="0">
                <a:solidFill>
                  <a:srgbClr val="16233B"/>
                </a:solidFill>
                <a:latin typeface="Georgia"/>
              </a:rPr>
              <a:t>The engine is frozen and rerunnable. The same holdings file produces the same deck, and every number traces to a source.</a:t>
            </a:r>
          </a:p>
        </p:txBody>
      </p:sp>
      <p:sp>
        <p:nvSpPr>
          <p:cNvPr id="34" name="Rectangle 33"/>
          <p:cNvSpPr/>
          <p:nvPr/>
        </p:nvSpPr>
        <p:spPr>
          <a:xfrm>
            <a:off x="841248" y="3986784"/>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0704" y="3890772"/>
            <a:ext cx="4894783" cy="274320"/>
          </a:xfrm>
          <a:prstGeom prst="rect">
            <a:avLst/>
          </a:prstGeom>
          <a:noFill/>
        </p:spPr>
        <p:txBody>
          <a:bodyPr wrap="square" anchor="t" lIns="0" rIns="0" tIns="0" bIns="0">
            <a:spAutoFit/>
          </a:bodyPr>
          <a:lstStyle/>
          <a:p>
            <a:pPr algn="l">
              <a:lnSpc>
                <a:spcPct val="106000"/>
              </a:lnSpc>
              <a:spcBef>
                <a:spcPts val="0"/>
              </a:spcBef>
              <a:spcAft>
                <a:spcPts val="0"/>
              </a:spcAft>
            </a:pPr>
            <a:r>
              <a:rPr sz="1100" b="0" i="0">
                <a:solidFill>
                  <a:srgbClr val="16233B"/>
                </a:solidFill>
                <a:latin typeface="Georgia"/>
              </a:rPr>
              <a:t>It reviews existing holdings only, and the vocabulary is Sell, Trim or Hold.</a:t>
            </a:r>
          </a:p>
        </p:txBody>
      </p:sp>
      <p:sp>
        <p:nvSpPr>
          <p:cNvPr id="36" name="Rectangle 35"/>
          <p:cNvSpPr/>
          <p:nvPr/>
        </p:nvSpPr>
        <p:spPr>
          <a:xfrm>
            <a:off x="841248" y="4370832"/>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0704" y="4274820"/>
            <a:ext cx="4894783" cy="475488"/>
          </a:xfrm>
          <a:prstGeom prst="rect">
            <a:avLst/>
          </a:prstGeom>
          <a:noFill/>
        </p:spPr>
        <p:txBody>
          <a:bodyPr wrap="square" anchor="t" lIns="0" rIns="0" tIns="0" bIns="0">
            <a:spAutoFit/>
          </a:bodyPr>
          <a:lstStyle/>
          <a:p>
            <a:pPr algn="l">
              <a:lnSpc>
                <a:spcPct val="106000"/>
              </a:lnSpc>
              <a:spcBef>
                <a:spcPts val="0"/>
              </a:spcBef>
              <a:spcAft>
                <a:spcPts val="0"/>
              </a:spcAft>
            </a:pPr>
            <a:r>
              <a:rPr sz="1100" b="0" i="0">
                <a:solidFill>
                  <a:srgbClr val="16233B"/>
                </a:solidFill>
                <a:latin typeface="Georgia"/>
              </a:rPr>
              <a:t>Three depth tiers serve a family office, a typical NDPMS client and an RM-led conversation from one module library.</a:t>
            </a:r>
          </a:p>
        </p:txBody>
      </p:sp>
      <p:sp>
        <p:nvSpPr>
          <p:cNvPr id="38" name="Rounded Rectangle 37"/>
          <p:cNvSpPr/>
          <p:nvPr/>
        </p:nvSpPr>
        <p:spPr>
          <a:xfrm>
            <a:off x="6229807" y="2788920"/>
            <a:ext cx="5120640" cy="1581912"/>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9807" y="2788920"/>
            <a:ext cx="54864" cy="15819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0975" y="2916936"/>
            <a:ext cx="47548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APPROVAL SOUGHT</a:t>
            </a:r>
          </a:p>
        </p:txBody>
      </p:sp>
      <p:sp>
        <p:nvSpPr>
          <p:cNvPr id="41" name="TextBox 40"/>
          <p:cNvSpPr txBox="1"/>
          <p:nvPr/>
        </p:nvSpPr>
        <p:spPr>
          <a:xfrm>
            <a:off x="6430975" y="3191256"/>
            <a:ext cx="4754879" cy="11247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Sign-off to use this engine as the standard NDPMS review deliverable for onboarding and periodic reviews, on the frozen methodology and the four-layer quality gate described here. Two real client books have already been produced end to end under this process.</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Coverage as of 2026-08-03. Sample pages in this deck are rendered from a synthetic demo book.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00 · THE PROPOSAL</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Input and output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One holdings statement in, one reviewed and signed deck out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03</a:t>
            </a:r>
          </a:p>
        </p:txBody>
      </p:sp>
      <p:sp>
        <p:nvSpPr>
          <p:cNvPr id="15" name="Oval 14"/>
          <p:cNvSpPr/>
          <p:nvPr/>
        </p:nvSpPr>
        <p:spPr>
          <a:xfrm>
            <a:off x="841248" y="1828800"/>
            <a:ext cx="365760" cy="365760"/>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1828800"/>
            <a:ext cx="365760" cy="365760"/>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Bahnschrift"/>
              </a:rPr>
              <a:t>1</a:t>
            </a:r>
          </a:p>
        </p:txBody>
      </p:sp>
      <p:sp>
        <p:nvSpPr>
          <p:cNvPr id="17" name="TextBox 16"/>
          <p:cNvSpPr txBox="1"/>
          <p:nvPr/>
        </p:nvSpPr>
        <p:spPr>
          <a:xfrm>
            <a:off x="1371600" y="1783080"/>
            <a:ext cx="3200400" cy="256032"/>
          </a:xfrm>
          <a:prstGeom prst="rect">
            <a:avLst/>
          </a:prstGeom>
          <a:noFill/>
        </p:spPr>
        <p:txBody>
          <a:bodyPr wrap="square" anchor="t" lIns="0" rIns="0" tIns="0" bIns="0">
            <a:spAutoFit/>
          </a:bodyPr>
          <a:lstStyle/>
          <a:p>
            <a:pPr algn="l">
              <a:spcBef>
                <a:spcPts val="0"/>
              </a:spcBef>
              <a:spcAft>
                <a:spcPts val="0"/>
              </a:spcAft>
            </a:pPr>
            <a:r>
              <a:rPr sz="1200" b="1" i="0">
                <a:solidFill>
                  <a:srgbClr val="16233B"/>
                </a:solidFill>
                <a:latin typeface="Bahnschrift"/>
              </a:rPr>
              <a:t>Holdings statement</a:t>
            </a:r>
          </a:p>
        </p:txBody>
      </p:sp>
      <p:sp>
        <p:nvSpPr>
          <p:cNvPr id="18" name="TextBox 17"/>
          <p:cNvSpPr txBox="1"/>
          <p:nvPr/>
        </p:nvSpPr>
        <p:spPr>
          <a:xfrm>
            <a:off x="4681728" y="1773936"/>
            <a:ext cx="6668719" cy="512064"/>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6B7280"/>
                </a:solidFill>
                <a:latin typeface="Georgia"/>
              </a:rPr>
              <a:t>A client's CAS, demat or CAMS/Kfintech statement. Parsed to a validated holdings table, with corrupted or unmatched rows flagged to the RM rather than dropped.</a:t>
            </a:r>
          </a:p>
        </p:txBody>
      </p:sp>
      <p:sp>
        <p:nvSpPr>
          <p:cNvPr id="19" name="Rectangle 18"/>
          <p:cNvSpPr/>
          <p:nvPr/>
        </p:nvSpPr>
        <p:spPr>
          <a:xfrm>
            <a:off x="841248" y="22951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2432303"/>
            <a:ext cx="365760" cy="365760"/>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2432303"/>
            <a:ext cx="365760" cy="365760"/>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Bahnschrift"/>
              </a:rPr>
              <a:t>2</a:t>
            </a:r>
          </a:p>
        </p:txBody>
      </p:sp>
      <p:sp>
        <p:nvSpPr>
          <p:cNvPr id="22" name="TextBox 21"/>
          <p:cNvSpPr txBox="1"/>
          <p:nvPr/>
        </p:nvSpPr>
        <p:spPr>
          <a:xfrm>
            <a:off x="1371600" y="2386584"/>
            <a:ext cx="3200400" cy="256032"/>
          </a:xfrm>
          <a:prstGeom prst="rect">
            <a:avLst/>
          </a:prstGeom>
          <a:noFill/>
        </p:spPr>
        <p:txBody>
          <a:bodyPr wrap="square" anchor="t" lIns="0" rIns="0" tIns="0" bIns="0">
            <a:spAutoFit/>
          </a:bodyPr>
          <a:lstStyle/>
          <a:p>
            <a:pPr algn="l">
              <a:spcBef>
                <a:spcPts val="0"/>
              </a:spcBef>
              <a:spcAft>
                <a:spcPts val="0"/>
              </a:spcAft>
            </a:pPr>
            <a:r>
              <a:rPr sz="1200" b="1" i="0">
                <a:solidFill>
                  <a:srgbClr val="16233B"/>
                </a:solidFill>
                <a:latin typeface="Bahnschrift"/>
              </a:rPr>
              <a:t>Match to coverage</a:t>
            </a:r>
          </a:p>
        </p:txBody>
      </p:sp>
      <p:sp>
        <p:nvSpPr>
          <p:cNvPr id="23" name="TextBox 22"/>
          <p:cNvSpPr txBox="1"/>
          <p:nvPr/>
        </p:nvSpPr>
        <p:spPr>
          <a:xfrm>
            <a:off x="4681728" y="2377440"/>
            <a:ext cx="6668719" cy="512064"/>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6B7280"/>
                </a:solidFill>
                <a:latin typeface="Georgia"/>
              </a:rPr>
              <a:t>Equity matched by ISIN to the scored universe; funds matched by verified scheme identity to the fund frameworks. Anything unmatched is disclosed, never guessed.</a:t>
            </a:r>
          </a:p>
        </p:txBody>
      </p:sp>
      <p:sp>
        <p:nvSpPr>
          <p:cNvPr id="24" name="Rectangle 23"/>
          <p:cNvSpPr/>
          <p:nvPr/>
        </p:nvSpPr>
        <p:spPr>
          <a:xfrm>
            <a:off x="841248" y="28986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3035808"/>
            <a:ext cx="365760" cy="365760"/>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3035808"/>
            <a:ext cx="365760" cy="365760"/>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Bahnschrift"/>
              </a:rPr>
              <a:t>3</a:t>
            </a:r>
          </a:p>
        </p:txBody>
      </p:sp>
      <p:sp>
        <p:nvSpPr>
          <p:cNvPr id="27" name="TextBox 26"/>
          <p:cNvSpPr txBox="1"/>
          <p:nvPr/>
        </p:nvSpPr>
        <p:spPr>
          <a:xfrm>
            <a:off x="1371600" y="2990088"/>
            <a:ext cx="3200400" cy="256032"/>
          </a:xfrm>
          <a:prstGeom prst="rect">
            <a:avLst/>
          </a:prstGeom>
          <a:noFill/>
        </p:spPr>
        <p:txBody>
          <a:bodyPr wrap="square" anchor="t" lIns="0" rIns="0" tIns="0" bIns="0">
            <a:spAutoFit/>
          </a:bodyPr>
          <a:lstStyle/>
          <a:p>
            <a:pPr algn="l">
              <a:spcBef>
                <a:spcPts val="0"/>
              </a:spcBef>
              <a:spcAft>
                <a:spcPts val="0"/>
              </a:spcAft>
            </a:pPr>
            <a:r>
              <a:rPr sz="1200" b="1" i="0">
                <a:solidFill>
                  <a:srgbClr val="16233B"/>
                </a:solidFill>
                <a:latin typeface="Bahnschrift"/>
              </a:rPr>
              <a:t>Score and read</a:t>
            </a:r>
          </a:p>
        </p:txBody>
      </p:sp>
      <p:sp>
        <p:nvSpPr>
          <p:cNvPr id="28" name="TextBox 27"/>
          <p:cNvSpPr txBox="1"/>
          <p:nvPr/>
        </p:nvSpPr>
        <p:spPr>
          <a:xfrm>
            <a:off x="4681728" y="2980944"/>
            <a:ext cx="6668719" cy="512064"/>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6B7280"/>
                </a:solidFill>
                <a:latin typeface="Georgia"/>
              </a:rPr>
              <a:t>Frozen scoring engine produces the numbers; a sector analyst writes the case. The analyst can rescue a score-driven Sell to Hold, and cannot force the reverse.</a:t>
            </a:r>
          </a:p>
        </p:txBody>
      </p:sp>
      <p:sp>
        <p:nvSpPr>
          <p:cNvPr id="29" name="Rectangle 28"/>
          <p:cNvSpPr/>
          <p:nvPr/>
        </p:nvSpPr>
        <p:spPr>
          <a:xfrm>
            <a:off x="841248" y="350215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1248" y="3639312"/>
            <a:ext cx="365760" cy="365760"/>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 y="3639312"/>
            <a:ext cx="365760" cy="365760"/>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Bahnschrift"/>
              </a:rPr>
              <a:t>4</a:t>
            </a:r>
          </a:p>
        </p:txBody>
      </p:sp>
      <p:sp>
        <p:nvSpPr>
          <p:cNvPr id="32" name="TextBox 31"/>
          <p:cNvSpPr txBox="1"/>
          <p:nvPr/>
        </p:nvSpPr>
        <p:spPr>
          <a:xfrm>
            <a:off x="1371600" y="3593592"/>
            <a:ext cx="3200400" cy="256032"/>
          </a:xfrm>
          <a:prstGeom prst="rect">
            <a:avLst/>
          </a:prstGeom>
          <a:noFill/>
        </p:spPr>
        <p:txBody>
          <a:bodyPr wrap="square" anchor="t" lIns="0" rIns="0" tIns="0" bIns="0">
            <a:spAutoFit/>
          </a:bodyPr>
          <a:lstStyle/>
          <a:p>
            <a:pPr algn="l">
              <a:spcBef>
                <a:spcPts val="0"/>
              </a:spcBef>
              <a:spcAft>
                <a:spcPts val="0"/>
              </a:spcAft>
            </a:pPr>
            <a:r>
              <a:rPr sz="1200" b="1" i="0">
                <a:solidFill>
                  <a:srgbClr val="16233B"/>
                </a:solidFill>
                <a:latin typeface="Bahnschrift"/>
              </a:rPr>
              <a:t>Assemble the deck</a:t>
            </a:r>
          </a:p>
        </p:txBody>
      </p:sp>
      <p:sp>
        <p:nvSpPr>
          <p:cNvPr id="33" name="TextBox 32"/>
          <p:cNvSpPr txBox="1"/>
          <p:nvPr/>
        </p:nvSpPr>
        <p:spPr>
          <a:xfrm>
            <a:off x="4681728" y="3584448"/>
            <a:ext cx="6668719" cy="512064"/>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6B7280"/>
                </a:solidFill>
                <a:latin typeface="Georgia"/>
              </a:rPr>
              <a:t>The module library renders the tier the client's audience needs, computing every narrative sentence from the data rather than from stored prose.</a:t>
            </a:r>
          </a:p>
        </p:txBody>
      </p:sp>
      <p:sp>
        <p:nvSpPr>
          <p:cNvPr id="34" name="Rectangle 33"/>
          <p:cNvSpPr/>
          <p:nvPr/>
        </p:nvSpPr>
        <p:spPr>
          <a:xfrm>
            <a:off x="841248" y="410565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41248" y="4242816"/>
            <a:ext cx="365760" cy="365760"/>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 y="4242816"/>
            <a:ext cx="365760" cy="365760"/>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Bahnschrift"/>
              </a:rPr>
              <a:t>5</a:t>
            </a:r>
          </a:p>
        </p:txBody>
      </p:sp>
      <p:sp>
        <p:nvSpPr>
          <p:cNvPr id="37" name="TextBox 36"/>
          <p:cNvSpPr txBox="1"/>
          <p:nvPr/>
        </p:nvSpPr>
        <p:spPr>
          <a:xfrm>
            <a:off x="1371600" y="4197096"/>
            <a:ext cx="3200400" cy="256032"/>
          </a:xfrm>
          <a:prstGeom prst="rect">
            <a:avLst/>
          </a:prstGeom>
          <a:noFill/>
        </p:spPr>
        <p:txBody>
          <a:bodyPr wrap="square" anchor="t" lIns="0" rIns="0" tIns="0" bIns="0">
            <a:spAutoFit/>
          </a:bodyPr>
          <a:lstStyle/>
          <a:p>
            <a:pPr algn="l">
              <a:spcBef>
                <a:spcPts val="0"/>
              </a:spcBef>
              <a:spcAft>
                <a:spcPts val="0"/>
              </a:spcAft>
            </a:pPr>
            <a:r>
              <a:rPr sz="1200" b="1" i="0">
                <a:solidFill>
                  <a:srgbClr val="16233B"/>
                </a:solidFill>
                <a:latin typeface="Bahnschrift"/>
              </a:rPr>
              <a:t>Prove it</a:t>
            </a:r>
          </a:p>
        </p:txBody>
      </p:sp>
      <p:sp>
        <p:nvSpPr>
          <p:cNvPr id="38" name="TextBox 37"/>
          <p:cNvSpPr txBox="1"/>
          <p:nvPr/>
        </p:nvSpPr>
        <p:spPr>
          <a:xfrm>
            <a:off x="4681728" y="4187952"/>
            <a:ext cx="6668719" cy="512064"/>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6B7280"/>
                </a:solidFill>
                <a:latin typeface="Georgia"/>
              </a:rPr>
              <a:t>Four QA layers: two geometry checks, a client-copy scan, and a visual read of the rendered pages. All must pass.</a:t>
            </a:r>
          </a:p>
        </p:txBody>
      </p:sp>
      <p:sp>
        <p:nvSpPr>
          <p:cNvPr id="39" name="Rectangle 38"/>
          <p:cNvSpPr/>
          <p:nvPr/>
        </p:nvSpPr>
        <p:spPr>
          <a:xfrm>
            <a:off x="841248" y="47091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41248" y="4846320"/>
            <a:ext cx="365760" cy="365760"/>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1248" y="4846320"/>
            <a:ext cx="365760" cy="365760"/>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Bahnschrift"/>
              </a:rPr>
              <a:t>6</a:t>
            </a:r>
          </a:p>
        </p:txBody>
      </p:sp>
      <p:sp>
        <p:nvSpPr>
          <p:cNvPr id="42" name="TextBox 41"/>
          <p:cNvSpPr txBox="1"/>
          <p:nvPr/>
        </p:nvSpPr>
        <p:spPr>
          <a:xfrm>
            <a:off x="1371600" y="4800600"/>
            <a:ext cx="3200400" cy="256032"/>
          </a:xfrm>
          <a:prstGeom prst="rect">
            <a:avLst/>
          </a:prstGeom>
          <a:noFill/>
        </p:spPr>
        <p:txBody>
          <a:bodyPr wrap="square" anchor="t" lIns="0" rIns="0" tIns="0" bIns="0">
            <a:spAutoFit/>
          </a:bodyPr>
          <a:lstStyle/>
          <a:p>
            <a:pPr algn="l">
              <a:spcBef>
                <a:spcPts val="0"/>
              </a:spcBef>
              <a:spcAft>
                <a:spcPts val="0"/>
              </a:spcAft>
            </a:pPr>
            <a:r>
              <a:rPr sz="1200" b="1" i="0">
                <a:solidFill>
                  <a:srgbClr val="16233B"/>
                </a:solidFill>
                <a:latin typeface="Bahnschrift"/>
              </a:rPr>
              <a:t>Analyst sign-off</a:t>
            </a:r>
          </a:p>
        </p:txBody>
      </p:sp>
      <p:sp>
        <p:nvSpPr>
          <p:cNvPr id="43" name="TextBox 42"/>
          <p:cNvSpPr txBox="1"/>
          <p:nvPr/>
        </p:nvSpPr>
        <p:spPr>
          <a:xfrm>
            <a:off x="4681728" y="4791456"/>
            <a:ext cx="6668719" cy="512064"/>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6B7280"/>
                </a:solidFill>
                <a:latin typeface="Georgia"/>
              </a:rPr>
              <a:t>The reviewing analyst confirms the pack, name by name, before it goes to the client.</a:t>
            </a:r>
          </a:p>
        </p:txBody>
      </p:sp>
      <p:sp>
        <p:nvSpPr>
          <p:cNvPr id="44" name="Rectangle 43"/>
          <p:cNvSpPr/>
          <p:nvPr/>
        </p:nvSpPr>
        <p:spPr>
          <a:xfrm>
            <a:off x="841248" y="531266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41248" y="5504688"/>
            <a:ext cx="10509199" cy="530352"/>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41248" y="5504688"/>
            <a:ext cx="54864" cy="530352"/>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2416" y="5632703"/>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POINT</a:t>
            </a:r>
          </a:p>
        </p:txBody>
      </p:sp>
      <p:sp>
        <p:nvSpPr>
          <p:cNvPr id="48" name="TextBox 47"/>
          <p:cNvSpPr txBox="1"/>
          <p:nvPr/>
        </p:nvSpPr>
        <p:spPr>
          <a:xfrm>
            <a:off x="1042416" y="5907024"/>
            <a:ext cx="10143439" cy="73151"/>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judgment stays human. What the engine removes is the variance.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00 · THE PROPOSAL</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400" b="1" i="0">
                <a:solidFill>
                  <a:srgbClr val="1B27A3"/>
                </a:solidFill>
                <a:latin typeface="Bahnschrift"/>
              </a:rPr>
              <a:t>Engine-led review against a manual one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same judgment, reached faster and applied to everything the client owns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04</a:t>
            </a:r>
          </a:p>
        </p:txBody>
      </p:sp>
      <p:sp>
        <p:nvSpPr>
          <p:cNvPr id="15" name="TextBox 14"/>
          <p:cNvSpPr txBox="1"/>
          <p:nvPr/>
        </p:nvSpPr>
        <p:spPr>
          <a:xfrm>
            <a:off x="914400" y="1783080"/>
            <a:ext cx="258608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
            </a:r>
          </a:p>
        </p:txBody>
      </p:sp>
      <p:sp>
        <p:nvSpPr>
          <p:cNvPr id="16" name="TextBox 15"/>
          <p:cNvSpPr txBox="1"/>
          <p:nvPr/>
        </p:nvSpPr>
        <p:spPr>
          <a:xfrm>
            <a:off x="3646791" y="1783080"/>
            <a:ext cx="374209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A MANUAL REVIEW</a:t>
            </a:r>
          </a:p>
        </p:txBody>
      </p:sp>
      <p:sp>
        <p:nvSpPr>
          <p:cNvPr id="17" name="TextBox 16"/>
          <p:cNvSpPr txBox="1"/>
          <p:nvPr/>
        </p:nvSpPr>
        <p:spPr>
          <a:xfrm>
            <a:off x="7535195" y="1783080"/>
            <a:ext cx="374209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THIS ENGINE</a:t>
            </a:r>
          </a:p>
        </p:txBody>
      </p:sp>
      <p:sp>
        <p:nvSpPr>
          <p:cNvPr id="18" name="Rectangle 17"/>
          <p:cNvSpPr/>
          <p:nvPr/>
        </p:nvSpPr>
        <p:spPr>
          <a:xfrm>
            <a:off x="841248" y="203911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084831"/>
            <a:ext cx="2586087" cy="402336"/>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Turnaround per client</a:t>
            </a:r>
          </a:p>
        </p:txBody>
      </p:sp>
      <p:sp>
        <p:nvSpPr>
          <p:cNvPr id="20" name="TextBox 19"/>
          <p:cNvSpPr txBox="1"/>
          <p:nvPr/>
        </p:nvSpPr>
        <p:spPr>
          <a:xfrm>
            <a:off x="3646791" y="2084831"/>
            <a:ext cx="3742099" cy="402336"/>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About a week</a:t>
            </a:r>
          </a:p>
        </p:txBody>
      </p:sp>
      <p:sp>
        <p:nvSpPr>
          <p:cNvPr id="21" name="TextBox 20"/>
          <p:cNvSpPr txBox="1"/>
          <p:nvPr/>
        </p:nvSpPr>
        <p:spPr>
          <a:xfrm>
            <a:off x="7535195" y="2084831"/>
            <a:ext cx="3742099" cy="402336"/>
          </a:xfrm>
          <a:prstGeom prst="rect">
            <a:avLst/>
          </a:prstGeom>
          <a:noFill/>
        </p:spPr>
        <p:txBody>
          <a:bodyPr wrap="square" anchor="ctr" lIns="0" rIns="0" tIns="0" bIns="0">
            <a:spAutoFit/>
          </a:bodyPr>
          <a:lstStyle/>
          <a:p>
            <a:pPr algn="l">
              <a:spcBef>
                <a:spcPts val="0"/>
              </a:spcBef>
              <a:spcAft>
                <a:spcPts val="0"/>
              </a:spcAft>
            </a:pPr>
            <a:r>
              <a:rPr sz="1000" b="1" i="0">
                <a:solidFill>
                  <a:srgbClr val="1E9E6A"/>
                </a:solidFill>
                <a:latin typeface="Bahnschrift"/>
              </a:rPr>
              <a:t>A few hours</a:t>
            </a:r>
          </a:p>
        </p:txBody>
      </p:sp>
      <p:sp>
        <p:nvSpPr>
          <p:cNvPr id="22" name="Rectangle 21"/>
          <p:cNvSpPr/>
          <p:nvPr/>
        </p:nvSpPr>
        <p:spPr>
          <a:xfrm>
            <a:off x="841248" y="2468879"/>
            <a:ext cx="10509199" cy="402336"/>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2487168"/>
            <a:ext cx="2586087" cy="402336"/>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Holdings covered</a:t>
            </a:r>
          </a:p>
        </p:txBody>
      </p:sp>
      <p:sp>
        <p:nvSpPr>
          <p:cNvPr id="24" name="TextBox 23"/>
          <p:cNvSpPr txBox="1"/>
          <p:nvPr/>
        </p:nvSpPr>
        <p:spPr>
          <a:xfrm>
            <a:off x="3646791" y="2487168"/>
            <a:ext cx="3742099" cy="402336"/>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The larger names, sampled</a:t>
            </a:r>
          </a:p>
        </p:txBody>
      </p:sp>
      <p:sp>
        <p:nvSpPr>
          <p:cNvPr id="25" name="TextBox 24"/>
          <p:cNvSpPr txBox="1"/>
          <p:nvPr/>
        </p:nvSpPr>
        <p:spPr>
          <a:xfrm>
            <a:off x="7535195" y="2487168"/>
            <a:ext cx="3742099" cy="402336"/>
          </a:xfrm>
          <a:prstGeom prst="rect">
            <a:avLst/>
          </a:prstGeom>
          <a:noFill/>
        </p:spPr>
        <p:txBody>
          <a:bodyPr wrap="square" anchor="ctr" lIns="0" rIns="0" tIns="0" bIns="0">
            <a:spAutoFit/>
          </a:bodyPr>
          <a:lstStyle/>
          <a:p>
            <a:pPr algn="l">
              <a:spcBef>
                <a:spcPts val="0"/>
              </a:spcBef>
              <a:spcAft>
                <a:spcPts val="0"/>
              </a:spcAft>
            </a:pPr>
            <a:r>
              <a:rPr sz="1000" b="1" i="0">
                <a:solidFill>
                  <a:srgbClr val="1E9E6A"/>
                </a:solidFill>
                <a:latin typeface="Bahnschrift"/>
              </a:rPr>
              <a:t>Every holding, no sampling</a:t>
            </a:r>
          </a:p>
        </p:txBody>
      </p:sp>
      <p:sp>
        <p:nvSpPr>
          <p:cNvPr id="26" name="TextBox 25"/>
          <p:cNvSpPr txBox="1"/>
          <p:nvPr/>
        </p:nvSpPr>
        <p:spPr>
          <a:xfrm>
            <a:off x="914400" y="2889503"/>
            <a:ext cx="2586087" cy="402336"/>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Scored universe behind it</a:t>
            </a:r>
          </a:p>
        </p:txBody>
      </p:sp>
      <p:sp>
        <p:nvSpPr>
          <p:cNvPr id="27" name="TextBox 26"/>
          <p:cNvSpPr txBox="1"/>
          <p:nvPr/>
        </p:nvSpPr>
        <p:spPr>
          <a:xfrm>
            <a:off x="3646791" y="2889503"/>
            <a:ext cx="3742099" cy="402336"/>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None maintained</a:t>
            </a:r>
          </a:p>
        </p:txBody>
      </p:sp>
      <p:sp>
        <p:nvSpPr>
          <p:cNvPr id="28" name="TextBox 27"/>
          <p:cNvSpPr txBox="1"/>
          <p:nvPr/>
        </p:nvSpPr>
        <p:spPr>
          <a:xfrm>
            <a:off x="7535195" y="2889503"/>
            <a:ext cx="3742099" cy="402336"/>
          </a:xfrm>
          <a:prstGeom prst="rect">
            <a:avLst/>
          </a:prstGeom>
          <a:noFill/>
        </p:spPr>
        <p:txBody>
          <a:bodyPr wrap="square" anchor="ctr" lIns="0" rIns="0" tIns="0" bIns="0">
            <a:spAutoFit/>
          </a:bodyPr>
          <a:lstStyle/>
          <a:p>
            <a:pPr algn="l">
              <a:spcBef>
                <a:spcPts val="0"/>
              </a:spcBef>
              <a:spcAft>
                <a:spcPts val="0"/>
              </a:spcAft>
            </a:pPr>
            <a:r>
              <a:rPr sz="1000" b="1" i="0">
                <a:solidFill>
                  <a:srgbClr val="1E9E6A"/>
                </a:solidFill>
                <a:latin typeface="Bahnschrift"/>
              </a:rPr>
              <a:t>751 names, refreshed weekly</a:t>
            </a:r>
          </a:p>
        </p:txBody>
      </p:sp>
      <p:sp>
        <p:nvSpPr>
          <p:cNvPr id="29" name="Rectangle 28"/>
          <p:cNvSpPr/>
          <p:nvPr/>
        </p:nvSpPr>
        <p:spPr>
          <a:xfrm>
            <a:off x="841248" y="3273551"/>
            <a:ext cx="10509199" cy="402336"/>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3291839"/>
            <a:ext cx="2586087" cy="402336"/>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Consistency between reviewers</a:t>
            </a:r>
          </a:p>
        </p:txBody>
      </p:sp>
      <p:sp>
        <p:nvSpPr>
          <p:cNvPr id="31" name="TextBox 30"/>
          <p:cNvSpPr txBox="1"/>
          <p:nvPr/>
        </p:nvSpPr>
        <p:spPr>
          <a:xfrm>
            <a:off x="3646791" y="3291839"/>
            <a:ext cx="3742099" cy="402336"/>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Varies with who does it</a:t>
            </a:r>
          </a:p>
        </p:txBody>
      </p:sp>
      <p:sp>
        <p:nvSpPr>
          <p:cNvPr id="32" name="TextBox 31"/>
          <p:cNvSpPr txBox="1"/>
          <p:nvPr/>
        </p:nvSpPr>
        <p:spPr>
          <a:xfrm>
            <a:off x="7535195" y="3291839"/>
            <a:ext cx="3742099" cy="402336"/>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One weight set, applied identically</a:t>
            </a:r>
          </a:p>
        </p:txBody>
      </p:sp>
      <p:sp>
        <p:nvSpPr>
          <p:cNvPr id="33" name="TextBox 32"/>
          <p:cNvSpPr txBox="1"/>
          <p:nvPr/>
        </p:nvSpPr>
        <p:spPr>
          <a:xfrm>
            <a:off x="914400" y="3694176"/>
            <a:ext cx="2586087" cy="402336"/>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Audit trail</a:t>
            </a:r>
          </a:p>
        </p:txBody>
      </p:sp>
      <p:sp>
        <p:nvSpPr>
          <p:cNvPr id="34" name="TextBox 33"/>
          <p:cNvSpPr txBox="1"/>
          <p:nvPr/>
        </p:nvSpPr>
        <p:spPr>
          <a:xfrm>
            <a:off x="3646791" y="3694176"/>
            <a:ext cx="3742099" cy="402336"/>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Notes, if they were kept</a:t>
            </a:r>
          </a:p>
        </p:txBody>
      </p:sp>
      <p:sp>
        <p:nvSpPr>
          <p:cNvPr id="35" name="TextBox 34"/>
          <p:cNvSpPr txBox="1"/>
          <p:nvPr/>
        </p:nvSpPr>
        <p:spPr>
          <a:xfrm>
            <a:off x="7535195" y="3694176"/>
            <a:ext cx="3742099" cy="402336"/>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Dated research and journalled state, per name</a:t>
            </a:r>
          </a:p>
        </p:txBody>
      </p:sp>
      <p:sp>
        <p:nvSpPr>
          <p:cNvPr id="36" name="Rectangle 35"/>
          <p:cNvSpPr/>
          <p:nvPr/>
        </p:nvSpPr>
        <p:spPr>
          <a:xfrm>
            <a:off x="841248" y="4078224"/>
            <a:ext cx="10509199" cy="402336"/>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4096512"/>
            <a:ext cx="2586087" cy="402336"/>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Cost of the next client</a:t>
            </a:r>
          </a:p>
        </p:txBody>
      </p:sp>
      <p:sp>
        <p:nvSpPr>
          <p:cNvPr id="38" name="TextBox 37"/>
          <p:cNvSpPr txBox="1"/>
          <p:nvPr/>
        </p:nvSpPr>
        <p:spPr>
          <a:xfrm>
            <a:off x="3646791" y="4096512"/>
            <a:ext cx="3742099" cy="402336"/>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Another full cycle</a:t>
            </a:r>
          </a:p>
        </p:txBody>
      </p:sp>
      <p:sp>
        <p:nvSpPr>
          <p:cNvPr id="39" name="TextBox 38"/>
          <p:cNvSpPr txBox="1"/>
          <p:nvPr/>
        </p:nvSpPr>
        <p:spPr>
          <a:xfrm>
            <a:off x="7535195" y="4096512"/>
            <a:ext cx="3742099" cy="402336"/>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Assembly is scripted; research is incremental</a:t>
            </a:r>
          </a:p>
        </p:txBody>
      </p:sp>
      <p:sp>
        <p:nvSpPr>
          <p:cNvPr id="40" name="TextBox 39"/>
          <p:cNvSpPr txBox="1"/>
          <p:nvPr/>
        </p:nvSpPr>
        <p:spPr>
          <a:xfrm>
            <a:off x="914400" y="4498848"/>
            <a:ext cx="2586087" cy="402336"/>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What stays human</a:t>
            </a:r>
          </a:p>
        </p:txBody>
      </p:sp>
      <p:sp>
        <p:nvSpPr>
          <p:cNvPr id="41" name="TextBox 40"/>
          <p:cNvSpPr txBox="1"/>
          <p:nvPr/>
        </p:nvSpPr>
        <p:spPr>
          <a:xfrm>
            <a:off x="3646791" y="4498848"/>
            <a:ext cx="3742099" cy="402336"/>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Everything</a:t>
            </a:r>
          </a:p>
        </p:txBody>
      </p:sp>
      <p:sp>
        <p:nvSpPr>
          <p:cNvPr id="42" name="TextBox 41"/>
          <p:cNvSpPr txBox="1"/>
          <p:nvPr/>
        </p:nvSpPr>
        <p:spPr>
          <a:xfrm>
            <a:off x="7535195" y="4498848"/>
            <a:ext cx="3742099" cy="402336"/>
          </a:xfrm>
          <a:prstGeom prst="rect">
            <a:avLst/>
          </a:prstGeom>
          <a:noFill/>
        </p:spPr>
        <p:txBody>
          <a:bodyPr wrap="square" anchor="ctr" lIns="0" rIns="0" tIns="0" bIns="0">
            <a:spAutoFit/>
          </a:bodyPr>
          <a:lstStyle/>
          <a:p>
            <a:pPr algn="l">
              <a:spcBef>
                <a:spcPts val="0"/>
              </a:spcBef>
              <a:spcAft>
                <a:spcPts val="0"/>
              </a:spcAft>
            </a:pPr>
            <a:r>
              <a:rPr sz="1000" b="1" i="0">
                <a:solidFill>
                  <a:srgbClr val="1B27A3"/>
                </a:solidFill>
                <a:latin typeface="Bahnschrift"/>
              </a:rPr>
              <a:t>The call, the override, the sign-off</a:t>
            </a:r>
          </a:p>
        </p:txBody>
      </p:sp>
      <p:sp>
        <p:nvSpPr>
          <p:cNvPr id="43" name="Rounded Rectangle 42"/>
          <p:cNvSpPr/>
          <p:nvPr/>
        </p:nvSpPr>
        <p:spPr>
          <a:xfrm>
            <a:off x="841248" y="4992624"/>
            <a:ext cx="10509199" cy="804672"/>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41248" y="4992624"/>
            <a:ext cx="54864" cy="80467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2416" y="5120640"/>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THIS COMPARISON IS NOT SAYING</a:t>
            </a:r>
          </a:p>
        </p:txBody>
      </p:sp>
      <p:sp>
        <p:nvSpPr>
          <p:cNvPr id="46" name="TextBox 45"/>
          <p:cNvSpPr txBox="1"/>
          <p:nvPr/>
        </p:nvSpPr>
        <p:spPr>
          <a:xfrm>
            <a:off x="1042416" y="5394960"/>
            <a:ext cx="10143439" cy="34747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Not that the engine reviews better than an analyst. That the analyst should spend their time on judgment rather than assembling arithmetic, and a client with 98 holdings should get all 98 looked at. The week-versus-hours figure is our own estimate, not a measured benchmark.</a:t>
            </a:r>
          </a:p>
        </p:txBody>
      </p:sp>
      <p:sp>
        <p:nvSpPr>
          <p:cNvPr id="47" name="TextBox 4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Turnaround and coverage for the engine are observed from the two client books produced to date; the manual baseline is an internal estimate and is labelled as such.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1.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01</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01</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The model</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What produces a score, what produces a call, and what the evidence shows</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Scoring architecture</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Where the weights come from</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Gates and the call</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one number a client sees</a:t>
            </a:r>
          </a:p>
        </p:txBody>
      </p:sp>
      <p:sp>
        <p:nvSpPr>
          <p:cNvPr id="14" name="TextBox 13"/>
          <p:cNvSpPr txBox="1"/>
          <p:nvPr/>
        </p:nvSpPr>
        <p:spPr>
          <a:xfrm>
            <a:off x="841248" y="6080759"/>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Coverage, and does it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THE MODEL</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Scoring architecture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Two horizons, seven pillars, never blended at the analyst's desk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06</a:t>
            </a:r>
          </a:p>
        </p:txBody>
      </p:sp>
      <p:sp>
        <p:nvSpPr>
          <p:cNvPr id="15" name="TextBox 14"/>
          <p:cNvSpPr txBox="1"/>
          <p:nvPr/>
        </p:nvSpPr>
        <p:spPr>
          <a:xfrm>
            <a:off x="914400" y="1783080"/>
            <a:ext cx="300645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PILLAR</a:t>
            </a:r>
          </a:p>
        </p:txBody>
      </p:sp>
      <p:sp>
        <p:nvSpPr>
          <p:cNvPr id="16" name="TextBox 15"/>
          <p:cNvSpPr txBox="1"/>
          <p:nvPr/>
        </p:nvSpPr>
        <p:spPr>
          <a:xfrm>
            <a:off x="4067159" y="1783080"/>
            <a:ext cx="426755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IT MEASURES</a:t>
            </a:r>
          </a:p>
        </p:txBody>
      </p:sp>
      <p:sp>
        <p:nvSpPr>
          <p:cNvPr id="17" name="TextBox 16"/>
          <p:cNvSpPr txBox="1"/>
          <p:nvPr/>
        </p:nvSpPr>
        <p:spPr>
          <a:xfrm>
            <a:off x="8481023" y="1783080"/>
            <a:ext cx="1324983"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3-YEAR WEIGHT</a:t>
            </a:r>
          </a:p>
        </p:txBody>
      </p:sp>
      <p:sp>
        <p:nvSpPr>
          <p:cNvPr id="18" name="TextBox 17"/>
          <p:cNvSpPr txBox="1"/>
          <p:nvPr/>
        </p:nvSpPr>
        <p:spPr>
          <a:xfrm>
            <a:off x="9952311" y="1783080"/>
            <a:ext cx="1324983"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1-YEAR WEIGHT</a:t>
            </a:r>
          </a:p>
        </p:txBody>
      </p:sp>
      <p:sp>
        <p:nvSpPr>
          <p:cNvPr id="19" name="Rectangle 18"/>
          <p:cNvSpPr/>
          <p:nvPr/>
        </p:nvSpPr>
        <p:spPr>
          <a:xfrm>
            <a:off x="841248" y="203911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084831"/>
            <a:ext cx="3006455" cy="365760"/>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Quality</a:t>
            </a:r>
          </a:p>
        </p:txBody>
      </p:sp>
      <p:sp>
        <p:nvSpPr>
          <p:cNvPr id="21" name="TextBox 20"/>
          <p:cNvSpPr txBox="1"/>
          <p:nvPr/>
        </p:nvSpPr>
        <p:spPr>
          <a:xfrm>
            <a:off x="4067159" y="2084831"/>
            <a:ext cx="4267559" cy="365760"/>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Return on equity and capital, ranked within sector</a:t>
            </a:r>
          </a:p>
        </p:txBody>
      </p:sp>
      <p:sp>
        <p:nvSpPr>
          <p:cNvPr id="22" name="TextBox 21"/>
          <p:cNvSpPr txBox="1"/>
          <p:nvPr/>
        </p:nvSpPr>
        <p:spPr>
          <a:xfrm>
            <a:off x="8481023" y="2084831"/>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20%</a:t>
            </a:r>
          </a:p>
        </p:txBody>
      </p:sp>
      <p:sp>
        <p:nvSpPr>
          <p:cNvPr id="23" name="TextBox 22"/>
          <p:cNvSpPr txBox="1"/>
          <p:nvPr/>
        </p:nvSpPr>
        <p:spPr>
          <a:xfrm>
            <a:off x="9952311" y="2084831"/>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16%</a:t>
            </a:r>
          </a:p>
        </p:txBody>
      </p:sp>
      <p:sp>
        <p:nvSpPr>
          <p:cNvPr id="24" name="Rectangle 23"/>
          <p:cNvSpPr/>
          <p:nvPr/>
        </p:nvSpPr>
        <p:spPr>
          <a:xfrm>
            <a:off x="841248" y="2432303"/>
            <a:ext cx="10509199" cy="36576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450591"/>
            <a:ext cx="3006455" cy="365760"/>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Growth</a:t>
            </a:r>
          </a:p>
        </p:txBody>
      </p:sp>
      <p:sp>
        <p:nvSpPr>
          <p:cNvPr id="26" name="TextBox 25"/>
          <p:cNvSpPr txBox="1"/>
          <p:nvPr/>
        </p:nvSpPr>
        <p:spPr>
          <a:xfrm>
            <a:off x="4067159" y="2450591"/>
            <a:ext cx="4267559" cy="365760"/>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Revenue compounding, three-year and trailing-twelve-month</a:t>
            </a:r>
          </a:p>
        </p:txBody>
      </p:sp>
      <p:sp>
        <p:nvSpPr>
          <p:cNvPr id="27" name="TextBox 26"/>
          <p:cNvSpPr txBox="1"/>
          <p:nvPr/>
        </p:nvSpPr>
        <p:spPr>
          <a:xfrm>
            <a:off x="8481023" y="2450591"/>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20%</a:t>
            </a:r>
          </a:p>
        </p:txBody>
      </p:sp>
      <p:sp>
        <p:nvSpPr>
          <p:cNvPr id="28" name="TextBox 27"/>
          <p:cNvSpPr txBox="1"/>
          <p:nvPr/>
        </p:nvSpPr>
        <p:spPr>
          <a:xfrm>
            <a:off x="9952311" y="2450591"/>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16%</a:t>
            </a:r>
          </a:p>
        </p:txBody>
      </p:sp>
      <p:sp>
        <p:nvSpPr>
          <p:cNvPr id="29" name="TextBox 28"/>
          <p:cNvSpPr txBox="1"/>
          <p:nvPr/>
        </p:nvSpPr>
        <p:spPr>
          <a:xfrm>
            <a:off x="914400" y="2816351"/>
            <a:ext cx="3006455" cy="365760"/>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Value</a:t>
            </a:r>
          </a:p>
        </p:txBody>
      </p:sp>
      <p:sp>
        <p:nvSpPr>
          <p:cNvPr id="30" name="TextBox 29"/>
          <p:cNvSpPr txBox="1"/>
          <p:nvPr/>
        </p:nvSpPr>
        <p:spPr>
          <a:xfrm>
            <a:off x="4067159" y="2816351"/>
            <a:ext cx="4267559" cy="365760"/>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Earnings, book and cash-flow yield versus sector and size peers</a:t>
            </a:r>
          </a:p>
        </p:txBody>
      </p:sp>
      <p:sp>
        <p:nvSpPr>
          <p:cNvPr id="31" name="TextBox 30"/>
          <p:cNvSpPr txBox="1"/>
          <p:nvPr/>
        </p:nvSpPr>
        <p:spPr>
          <a:xfrm>
            <a:off x="8481023" y="2816351"/>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18%</a:t>
            </a:r>
          </a:p>
        </p:txBody>
      </p:sp>
      <p:sp>
        <p:nvSpPr>
          <p:cNvPr id="32" name="TextBox 31"/>
          <p:cNvSpPr txBox="1"/>
          <p:nvPr/>
        </p:nvSpPr>
        <p:spPr>
          <a:xfrm>
            <a:off x="9952311" y="2816351"/>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16%</a:t>
            </a:r>
          </a:p>
        </p:txBody>
      </p:sp>
      <p:sp>
        <p:nvSpPr>
          <p:cNvPr id="33" name="Rectangle 32"/>
          <p:cNvSpPr/>
          <p:nvPr/>
        </p:nvSpPr>
        <p:spPr>
          <a:xfrm>
            <a:off x="841248" y="3163823"/>
            <a:ext cx="10509199" cy="36576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182111"/>
            <a:ext cx="3006455" cy="365760"/>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Stage / technical</a:t>
            </a:r>
          </a:p>
        </p:txBody>
      </p:sp>
      <p:sp>
        <p:nvSpPr>
          <p:cNvPr id="35" name="TextBox 34"/>
          <p:cNvSpPr txBox="1"/>
          <p:nvPr/>
        </p:nvSpPr>
        <p:spPr>
          <a:xfrm>
            <a:off x="4067159" y="3182111"/>
            <a:ext cx="4267559" cy="365760"/>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Price trend against its own history and its sector</a:t>
            </a:r>
          </a:p>
        </p:txBody>
      </p:sp>
      <p:sp>
        <p:nvSpPr>
          <p:cNvPr id="36" name="TextBox 35"/>
          <p:cNvSpPr txBox="1"/>
          <p:nvPr/>
        </p:nvSpPr>
        <p:spPr>
          <a:xfrm>
            <a:off x="8481023" y="3182111"/>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14%</a:t>
            </a:r>
          </a:p>
        </p:txBody>
      </p:sp>
      <p:sp>
        <p:nvSpPr>
          <p:cNvPr id="37" name="TextBox 36"/>
          <p:cNvSpPr txBox="1"/>
          <p:nvPr/>
        </p:nvSpPr>
        <p:spPr>
          <a:xfrm>
            <a:off x="9952311" y="3182111"/>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26%</a:t>
            </a:r>
          </a:p>
        </p:txBody>
      </p:sp>
      <p:sp>
        <p:nvSpPr>
          <p:cNvPr id="38" name="TextBox 37"/>
          <p:cNvSpPr txBox="1"/>
          <p:nvPr/>
        </p:nvSpPr>
        <p:spPr>
          <a:xfrm>
            <a:off x="914400" y="3547871"/>
            <a:ext cx="3006455" cy="365760"/>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Sector &amp; macro</a:t>
            </a:r>
          </a:p>
        </p:txBody>
      </p:sp>
      <p:sp>
        <p:nvSpPr>
          <p:cNvPr id="39" name="TextBox 38"/>
          <p:cNvSpPr txBox="1"/>
          <p:nvPr/>
        </p:nvSpPr>
        <p:spPr>
          <a:xfrm>
            <a:off x="4067159" y="3547871"/>
            <a:ext cx="4267559" cy="365760"/>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Sector strength, adjusted for cyclicality in the current regime</a:t>
            </a:r>
          </a:p>
        </p:txBody>
      </p:sp>
      <p:sp>
        <p:nvSpPr>
          <p:cNvPr id="40" name="TextBox 39"/>
          <p:cNvSpPr txBox="1"/>
          <p:nvPr/>
        </p:nvSpPr>
        <p:spPr>
          <a:xfrm>
            <a:off x="8481023" y="3547871"/>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11%</a:t>
            </a:r>
          </a:p>
        </p:txBody>
      </p:sp>
      <p:sp>
        <p:nvSpPr>
          <p:cNvPr id="41" name="TextBox 40"/>
          <p:cNvSpPr txBox="1"/>
          <p:nvPr/>
        </p:nvSpPr>
        <p:spPr>
          <a:xfrm>
            <a:off x="9952311" y="3547871"/>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13%</a:t>
            </a:r>
          </a:p>
        </p:txBody>
      </p:sp>
      <p:sp>
        <p:nvSpPr>
          <p:cNvPr id="42" name="Rectangle 41"/>
          <p:cNvSpPr/>
          <p:nvPr/>
        </p:nvSpPr>
        <p:spPr>
          <a:xfrm>
            <a:off x="841248" y="3895344"/>
            <a:ext cx="10509199" cy="36576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3913631"/>
            <a:ext cx="3006455" cy="365760"/>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Ownership flow</a:t>
            </a:r>
          </a:p>
        </p:txBody>
      </p:sp>
      <p:sp>
        <p:nvSpPr>
          <p:cNvPr id="44" name="TextBox 43"/>
          <p:cNvSpPr txBox="1"/>
          <p:nvPr/>
        </p:nvSpPr>
        <p:spPr>
          <a:xfrm>
            <a:off x="4067159" y="3913631"/>
            <a:ext cx="4267559" cy="365760"/>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Institutional buying and selling across recent quarters</a:t>
            </a:r>
          </a:p>
        </p:txBody>
      </p:sp>
      <p:sp>
        <p:nvSpPr>
          <p:cNvPr id="45" name="TextBox 44"/>
          <p:cNvSpPr txBox="1"/>
          <p:nvPr/>
        </p:nvSpPr>
        <p:spPr>
          <a:xfrm>
            <a:off x="8481023" y="3913631"/>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9%</a:t>
            </a:r>
          </a:p>
        </p:txBody>
      </p:sp>
      <p:sp>
        <p:nvSpPr>
          <p:cNvPr id="46" name="TextBox 45"/>
          <p:cNvSpPr txBox="1"/>
          <p:nvPr/>
        </p:nvSpPr>
        <p:spPr>
          <a:xfrm>
            <a:off x="9952311" y="3913631"/>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8%</a:t>
            </a:r>
          </a:p>
        </p:txBody>
      </p:sp>
      <p:sp>
        <p:nvSpPr>
          <p:cNvPr id="47" name="TextBox 46"/>
          <p:cNvSpPr txBox="1"/>
          <p:nvPr/>
        </p:nvSpPr>
        <p:spPr>
          <a:xfrm>
            <a:off x="914400" y="4279392"/>
            <a:ext cx="3006455" cy="365760"/>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Accumulation</a:t>
            </a:r>
          </a:p>
        </p:txBody>
      </p:sp>
      <p:sp>
        <p:nvSpPr>
          <p:cNvPr id="48" name="TextBox 47"/>
          <p:cNvSpPr txBox="1"/>
          <p:nvPr/>
        </p:nvSpPr>
        <p:spPr>
          <a:xfrm>
            <a:off x="4067159" y="4279392"/>
            <a:ext cx="4267559" cy="365760"/>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Volume-flow trend behind the price</a:t>
            </a:r>
          </a:p>
        </p:txBody>
      </p:sp>
      <p:sp>
        <p:nvSpPr>
          <p:cNvPr id="49" name="TextBox 48"/>
          <p:cNvSpPr txBox="1"/>
          <p:nvPr/>
        </p:nvSpPr>
        <p:spPr>
          <a:xfrm>
            <a:off x="8481023" y="4279392"/>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8%</a:t>
            </a:r>
          </a:p>
        </p:txBody>
      </p:sp>
      <p:sp>
        <p:nvSpPr>
          <p:cNvPr id="50" name="TextBox 49"/>
          <p:cNvSpPr txBox="1"/>
          <p:nvPr/>
        </p:nvSpPr>
        <p:spPr>
          <a:xfrm>
            <a:off x="9952311" y="4279392"/>
            <a:ext cx="1324983"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5%</a:t>
            </a:r>
          </a:p>
        </p:txBody>
      </p:sp>
      <p:sp>
        <p:nvSpPr>
          <p:cNvPr id="51" name="Rounded Rectangle 50"/>
          <p:cNvSpPr/>
          <p:nvPr/>
        </p:nvSpPr>
        <p:spPr>
          <a:xfrm>
            <a:off x="841248" y="4590288"/>
            <a:ext cx="511743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41248" y="4590288"/>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42416" y="4718303"/>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WHY TWO HORIZONS</a:t>
            </a:r>
          </a:p>
        </p:txBody>
      </p:sp>
      <p:sp>
        <p:nvSpPr>
          <p:cNvPr id="54" name="TextBox 53"/>
          <p:cNvSpPr txBox="1"/>
          <p:nvPr/>
        </p:nvSpPr>
        <p:spPr>
          <a:xfrm>
            <a:off x="1042416" y="4992624"/>
            <a:ext cx="475167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three-year score leans on fundamentals; a one-year score leans on market behaviour. Keeping them apart means a good business in a bad tape and a weak business in a strong tape read differently, instead of averaging into the same middle.</a:t>
            </a:r>
          </a:p>
        </p:txBody>
      </p:sp>
      <p:sp>
        <p:nvSpPr>
          <p:cNvPr id="55" name="Rounded Rectangle 54"/>
          <p:cNvSpPr/>
          <p:nvPr/>
        </p:nvSpPr>
        <p:spPr>
          <a:xfrm>
            <a:off x="6233007" y="4590288"/>
            <a:ext cx="511743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233007" y="4590288"/>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34175" y="4718303"/>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DISCIPLINE BEHIND THE RANKS</a:t>
            </a:r>
          </a:p>
        </p:txBody>
      </p:sp>
      <p:sp>
        <p:nvSpPr>
          <p:cNvPr id="58" name="TextBox 57"/>
          <p:cNvSpPr txBox="1"/>
          <p:nvPr/>
        </p:nvSpPr>
        <p:spPr>
          <a:xfrm>
            <a:off x="6434175" y="4992624"/>
            <a:ext cx="475167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Every input is winsorised before ranking, so one outlier cannot claim an extreme percentile. Value ranks within sector and size tier, because a cement multiple and a software multiple are not comparable numbers.</a:t>
            </a:r>
          </a:p>
        </p:txBody>
      </p:sp>
      <p:sp>
        <p:nvSpPr>
          <p:cNvPr id="59" name="TextBox 5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Frozen scoring contract; discounted-cash-flow is deliberately excluded as a mechanical pillar and lives as the analyst's own reverse-DCF judgment.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THE MODEL</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Where the weights come from</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Set by judgment, not fitted to returns, and we would rather say so</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07</a:t>
            </a:r>
          </a:p>
        </p:txBody>
      </p:sp>
      <p:sp>
        <p:nvSpPr>
          <p:cNvPr id="15" name="TextBox 14"/>
          <p:cNvSpPr txBox="1"/>
          <p:nvPr/>
        </p:nvSpPr>
        <p:spPr>
          <a:xfrm>
            <a:off x="841248" y="1627632"/>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B27A3"/>
                </a:solidFill>
                <a:latin typeface="Bahnschrift"/>
              </a:rPr>
              <a:t>58 / 42</a:t>
            </a:r>
          </a:p>
        </p:txBody>
      </p:sp>
      <p:sp>
        <p:nvSpPr>
          <p:cNvPr id="16" name="TextBox 15"/>
          <p:cNvSpPr txBox="1"/>
          <p:nvPr/>
        </p:nvSpPr>
        <p:spPr>
          <a:xfrm>
            <a:off x="841248" y="2103120"/>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3-YEAR SPLIT</a:t>
            </a:r>
          </a:p>
        </p:txBody>
      </p:sp>
      <p:sp>
        <p:nvSpPr>
          <p:cNvPr id="17" name="TextBox 16"/>
          <p:cNvSpPr txBox="1"/>
          <p:nvPr/>
        </p:nvSpPr>
        <p:spPr>
          <a:xfrm>
            <a:off x="841248" y="2286000"/>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fundamentals / market</a:t>
            </a:r>
          </a:p>
        </p:txBody>
      </p:sp>
      <p:sp>
        <p:nvSpPr>
          <p:cNvPr id="18" name="TextBox 17"/>
          <p:cNvSpPr txBox="1"/>
          <p:nvPr/>
        </p:nvSpPr>
        <p:spPr>
          <a:xfrm>
            <a:off x="3468547" y="1627632"/>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B27A3"/>
                </a:solidFill>
                <a:latin typeface="Bahnschrift"/>
              </a:rPr>
              <a:t>48 / 52</a:t>
            </a:r>
          </a:p>
        </p:txBody>
      </p:sp>
      <p:sp>
        <p:nvSpPr>
          <p:cNvPr id="19" name="TextBox 18"/>
          <p:cNvSpPr txBox="1"/>
          <p:nvPr/>
        </p:nvSpPr>
        <p:spPr>
          <a:xfrm>
            <a:off x="3468547" y="2103120"/>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1-YEAR SPLIT</a:t>
            </a:r>
          </a:p>
        </p:txBody>
      </p:sp>
      <p:sp>
        <p:nvSpPr>
          <p:cNvPr id="20" name="TextBox 19"/>
          <p:cNvSpPr txBox="1"/>
          <p:nvPr/>
        </p:nvSpPr>
        <p:spPr>
          <a:xfrm>
            <a:off x="3468547" y="2286000"/>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fundamentals / market</a:t>
            </a:r>
          </a:p>
        </p:txBody>
      </p:sp>
      <p:sp>
        <p:nvSpPr>
          <p:cNvPr id="21" name="Rectangle 20"/>
          <p:cNvSpPr/>
          <p:nvPr/>
        </p:nvSpPr>
        <p:spPr>
          <a:xfrm>
            <a:off x="3413683" y="1673352"/>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1627632"/>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E0402F"/>
                </a:solidFill>
                <a:latin typeface="Bahnschrift"/>
              </a:rPr>
              <a:t>0</a:t>
            </a:r>
          </a:p>
        </p:txBody>
      </p:sp>
      <p:sp>
        <p:nvSpPr>
          <p:cNvPr id="23" name="TextBox 22"/>
          <p:cNvSpPr txBox="1"/>
          <p:nvPr/>
        </p:nvSpPr>
        <p:spPr>
          <a:xfrm>
            <a:off x="6095847" y="2103120"/>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WEIGHTS FITTED TO RETURNS</a:t>
            </a:r>
          </a:p>
        </p:txBody>
      </p:sp>
      <p:sp>
        <p:nvSpPr>
          <p:cNvPr id="24" name="TextBox 23"/>
          <p:cNvSpPr txBox="1"/>
          <p:nvPr/>
        </p:nvSpPr>
        <p:spPr>
          <a:xfrm>
            <a:off x="6095847" y="2286000"/>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none optimised</a:t>
            </a:r>
          </a:p>
        </p:txBody>
      </p:sp>
      <p:sp>
        <p:nvSpPr>
          <p:cNvPr id="25" name="Rectangle 24"/>
          <p:cNvSpPr/>
          <p:nvPr/>
        </p:nvSpPr>
        <p:spPr>
          <a:xfrm>
            <a:off x="6040983" y="1673352"/>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23147" y="1627632"/>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92400E"/>
                </a:solidFill>
                <a:latin typeface="Bahnschrift"/>
              </a:rPr>
              <a:t>8</a:t>
            </a:r>
          </a:p>
        </p:txBody>
      </p:sp>
      <p:sp>
        <p:nvSpPr>
          <p:cNvPr id="27" name="TextBox 26"/>
          <p:cNvSpPr txBox="1"/>
          <p:nvPr/>
        </p:nvSpPr>
        <p:spPr>
          <a:xfrm>
            <a:off x="8723147" y="2103120"/>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QUARTERLY REBALANCES</a:t>
            </a:r>
          </a:p>
        </p:txBody>
      </p:sp>
      <p:sp>
        <p:nvSpPr>
          <p:cNvPr id="28" name="TextBox 27"/>
          <p:cNvSpPr txBox="1"/>
          <p:nvPr/>
        </p:nvSpPr>
        <p:spPr>
          <a:xfrm>
            <a:off x="8723147" y="2286000"/>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of clean point-in-time data</a:t>
            </a:r>
          </a:p>
        </p:txBody>
      </p:sp>
      <p:sp>
        <p:nvSpPr>
          <p:cNvPr id="29" name="Rectangle 28"/>
          <p:cNvSpPr/>
          <p:nvPr/>
        </p:nvSpPr>
        <p:spPr>
          <a:xfrm>
            <a:off x="8668283" y="1673352"/>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41248" y="2852927"/>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0704" y="2756915"/>
            <a:ext cx="4894783" cy="475488"/>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weights encode a stated view: over three years fundamentals should dominate, over one year market behaviour should. The shipped weights deliver exactly that, at 58/42 and 48/52.</a:t>
            </a:r>
          </a:p>
        </p:txBody>
      </p:sp>
      <p:sp>
        <p:nvSpPr>
          <p:cNvPr id="32" name="Rectangle 31"/>
          <p:cNvSpPr/>
          <p:nvPr/>
        </p:nvSpPr>
        <p:spPr>
          <a:xfrm>
            <a:off x="841248" y="3456432"/>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0704" y="3360420"/>
            <a:ext cx="4894783" cy="475488"/>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No weight was fitted to maximise a backtested return. With eight quarterly rebalances of clean history, optimising would be curve-fitting dressed as rigour.</a:t>
            </a:r>
          </a:p>
        </p:txBody>
      </p:sp>
      <p:sp>
        <p:nvSpPr>
          <p:cNvPr id="34" name="Rectangle 33"/>
          <p:cNvSpPr/>
          <p:nvPr/>
        </p:nvSpPr>
        <p:spPr>
          <a:xfrm>
            <a:off x="841248" y="4059936"/>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0704" y="3963924"/>
            <a:ext cx="4894783" cy="475488"/>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What we do claim is narrower and checkable: one set of weights applied identically to every name, frozen, versioned, and changeable only by signed amendment.</a:t>
            </a:r>
          </a:p>
        </p:txBody>
      </p:sp>
      <p:sp>
        <p:nvSpPr>
          <p:cNvPr id="36" name="Rectangle 35"/>
          <p:cNvSpPr/>
          <p:nvPr/>
        </p:nvSpPr>
        <p:spPr>
          <a:xfrm>
            <a:off x="841248" y="4663440"/>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0704" y="4567428"/>
            <a:ext cx="4894783" cy="2743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weights are a hypothesis the forward record will judge, not a proven finding.</a:t>
            </a:r>
          </a:p>
        </p:txBody>
      </p:sp>
      <p:sp>
        <p:nvSpPr>
          <p:cNvPr id="38" name="Rounded Rectangle 37"/>
          <p:cNvSpPr/>
          <p:nvPr/>
        </p:nvSpPr>
        <p:spPr>
          <a:xfrm>
            <a:off x="6229807" y="2788920"/>
            <a:ext cx="5120640" cy="132588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9807" y="2788920"/>
            <a:ext cx="54864" cy="13258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0975" y="2916936"/>
            <a:ext cx="47548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LIVE QUESTION ON THIS PAGE</a:t>
            </a:r>
          </a:p>
        </p:txBody>
      </p:sp>
      <p:sp>
        <p:nvSpPr>
          <p:cNvPr id="41" name="TextBox 40"/>
          <p:cNvSpPr txBox="1"/>
          <p:nvPr/>
        </p:nvSpPr>
        <p:spPr>
          <a:xfrm>
            <a:off x="6430975" y="3191256"/>
            <a:ext cx="4754879" cy="8686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Value sits at 18% of the three-year score, the smallest of the three fundamental pillars, which is arguably wrong for a discipline whose job is deciding what to exit. Raising it is under consideration.</a:t>
            </a:r>
          </a:p>
        </p:txBody>
      </p:sp>
      <p:sp>
        <p:nvSpPr>
          <p:cNvPr id="42" name="Rounded Rectangle 41"/>
          <p:cNvSpPr/>
          <p:nvPr/>
        </p:nvSpPr>
        <p:spPr>
          <a:xfrm>
            <a:off x="6229807" y="4261104"/>
            <a:ext cx="5120640"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29807" y="4261104"/>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30975" y="4389120"/>
            <a:ext cx="47548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WE HAVE NOT SIMPLY RAISED IT</a:t>
            </a:r>
          </a:p>
        </p:txBody>
      </p:sp>
      <p:sp>
        <p:nvSpPr>
          <p:cNvPr id="45" name="TextBox 44"/>
          <p:cNvSpPr txBox="1"/>
          <p:nvPr/>
        </p:nvSpPr>
        <p:spPr>
          <a:xfrm>
            <a:off x="6430975" y="4663440"/>
            <a:ext cx="47548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Sixty per cent of the Value pillar is price-to-earnings by construction, so moving Value from 18% to 25% would take that one ratio from 10.8% to 15.0% of the whole score, and a low-multiple tilt in India loads onto public-sector and cyclical names. Valuation also already enters twice more, through the analyst's own reverse-DCF and the forward adjustment. We would rather test it on the point-in-time harness than assert it.</a:t>
            </a:r>
          </a:p>
        </p:txBody>
      </p:sp>
      <p:sp>
        <p:nvSpPr>
          <p:cNvPr id="46" name="TextBox 4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Splits are the fundamentals block (quality, growth, value) against the market block (stage, sector and macro, ownership, accumulation), computed from the shipped weights on the previous page.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THE MODEL</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Gates, penalties, and the call</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 score can be capped by risk before it is ever compared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08</a:t>
            </a:r>
          </a:p>
        </p:txBody>
      </p:sp>
      <p:sp>
        <p:nvSpPr>
          <p:cNvPr id="15" name="TextBox 14"/>
          <p:cNvSpPr txBox="1"/>
          <p:nvPr/>
        </p:nvSpPr>
        <p:spPr>
          <a:xfrm>
            <a:off x="841248" y="1737360"/>
            <a:ext cx="10509199" cy="274320"/>
          </a:xfrm>
          <a:prstGeom prst="rect">
            <a:avLst/>
          </a:prstGeom>
          <a:noFill/>
        </p:spPr>
        <p:txBody>
          <a:bodyPr wrap="square" anchor="t" lIns="0" rIns="0" tIns="0" bIns="0">
            <a:spAutoFit/>
          </a:bodyPr>
          <a:lstStyle/>
          <a:p>
            <a:pPr algn="l">
              <a:spcBef>
                <a:spcPts val="0"/>
              </a:spcBef>
              <a:spcAft>
                <a:spcPts val="0"/>
              </a:spcAft>
            </a:pPr>
            <a:r>
              <a:rPr sz="1100" b="0" i="1">
                <a:solidFill>
                  <a:srgbClr val="16233B"/>
                </a:solidFill>
                <a:latin typeface="Georgia"/>
              </a:rPr>
              <a:t>Overlay gates apply after the weighted composite and can cap a score outright.</a:t>
            </a:r>
          </a:p>
        </p:txBody>
      </p:sp>
      <p:sp>
        <p:nvSpPr>
          <p:cNvPr id="16" name="TextBox 15"/>
          <p:cNvSpPr txBox="1"/>
          <p:nvPr/>
        </p:nvSpPr>
        <p:spPr>
          <a:xfrm>
            <a:off x="914400" y="2084831"/>
            <a:ext cx="216571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GATE</a:t>
            </a:r>
          </a:p>
        </p:txBody>
      </p:sp>
      <p:sp>
        <p:nvSpPr>
          <p:cNvPr id="17" name="TextBox 16"/>
          <p:cNvSpPr txBox="1"/>
          <p:nvPr/>
        </p:nvSpPr>
        <p:spPr>
          <a:xfrm>
            <a:off x="3226423" y="2084831"/>
            <a:ext cx="447774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TRIPS WHEN</a:t>
            </a:r>
          </a:p>
        </p:txBody>
      </p:sp>
      <p:sp>
        <p:nvSpPr>
          <p:cNvPr id="18" name="TextBox 17"/>
          <p:cNvSpPr txBox="1"/>
          <p:nvPr/>
        </p:nvSpPr>
        <p:spPr>
          <a:xfrm>
            <a:off x="7850471" y="2084831"/>
            <a:ext cx="342682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EFFECT</a:t>
            </a:r>
          </a:p>
        </p:txBody>
      </p:sp>
      <p:sp>
        <p:nvSpPr>
          <p:cNvPr id="19" name="Rectangle 18"/>
          <p:cNvSpPr/>
          <p:nvPr/>
        </p:nvSpPr>
        <p:spPr>
          <a:xfrm>
            <a:off x="841248" y="2340863"/>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386584"/>
            <a:ext cx="2165719" cy="38404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Balance-sheet safety</a:t>
            </a:r>
          </a:p>
        </p:txBody>
      </p:sp>
      <p:sp>
        <p:nvSpPr>
          <p:cNvPr id="21" name="TextBox 20"/>
          <p:cNvSpPr txBox="1"/>
          <p:nvPr/>
        </p:nvSpPr>
        <p:spPr>
          <a:xfrm>
            <a:off x="3226423" y="2386584"/>
            <a:ext cx="4477743"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Debt/equity above 2.5x or interest cover below 1.5x</a:t>
            </a:r>
          </a:p>
        </p:txBody>
      </p:sp>
      <p:sp>
        <p:nvSpPr>
          <p:cNvPr id="22" name="TextBox 21"/>
          <p:cNvSpPr txBox="1"/>
          <p:nvPr/>
        </p:nvSpPr>
        <p:spPr>
          <a:xfrm>
            <a:off x="7850471" y="2386584"/>
            <a:ext cx="3426823" cy="384048"/>
          </a:xfrm>
          <a:prstGeom prst="rect">
            <a:avLst/>
          </a:prstGeom>
          <a:noFill/>
        </p:spPr>
        <p:txBody>
          <a:bodyPr wrap="square" anchor="ctr" lIns="0" rIns="0" tIns="0" bIns="0">
            <a:spAutoFit/>
          </a:bodyPr>
          <a:lstStyle/>
          <a:p>
            <a:pPr algn="l">
              <a:spcBef>
                <a:spcPts val="0"/>
              </a:spcBef>
              <a:spcAft>
                <a:spcPts val="0"/>
              </a:spcAft>
            </a:pPr>
            <a:r>
              <a:rPr sz="1000" b="0" i="0">
                <a:solidFill>
                  <a:srgbClr val="E0402F"/>
                </a:solidFill>
                <a:latin typeface="Bahnschrift"/>
              </a:rPr>
              <a:t>Caps the score at 40</a:t>
            </a:r>
          </a:p>
        </p:txBody>
      </p:sp>
      <p:sp>
        <p:nvSpPr>
          <p:cNvPr id="23" name="Rectangle 22"/>
          <p:cNvSpPr/>
          <p:nvPr/>
        </p:nvSpPr>
        <p:spPr>
          <a:xfrm>
            <a:off x="841248" y="27523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770632"/>
            <a:ext cx="2165719" cy="38404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Balance-sheet caution</a:t>
            </a:r>
          </a:p>
        </p:txBody>
      </p:sp>
      <p:sp>
        <p:nvSpPr>
          <p:cNvPr id="25" name="TextBox 24"/>
          <p:cNvSpPr txBox="1"/>
          <p:nvPr/>
        </p:nvSpPr>
        <p:spPr>
          <a:xfrm>
            <a:off x="3226423" y="2770632"/>
            <a:ext cx="4477743"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Debt/equity above 1.5x or interest cover below 3x</a:t>
            </a:r>
          </a:p>
        </p:txBody>
      </p:sp>
      <p:sp>
        <p:nvSpPr>
          <p:cNvPr id="26" name="TextBox 25"/>
          <p:cNvSpPr txBox="1"/>
          <p:nvPr/>
        </p:nvSpPr>
        <p:spPr>
          <a:xfrm>
            <a:off x="7850471" y="2770632"/>
            <a:ext cx="3426823" cy="384048"/>
          </a:xfrm>
          <a:prstGeom prst="rect">
            <a:avLst/>
          </a:prstGeom>
          <a:noFill/>
        </p:spPr>
        <p:txBody>
          <a:bodyPr wrap="square" anchor="ctr" lIns="0" rIns="0" tIns="0" bIns="0">
            <a:spAutoFit/>
          </a:bodyPr>
          <a:lstStyle/>
          <a:p>
            <a:pPr algn="l">
              <a:spcBef>
                <a:spcPts val="0"/>
              </a:spcBef>
              <a:spcAft>
                <a:spcPts val="0"/>
              </a:spcAft>
            </a:pPr>
            <a:r>
              <a:rPr sz="1000" b="0" i="0">
                <a:solidFill>
                  <a:srgbClr val="92400E"/>
                </a:solidFill>
                <a:latin typeface="Bahnschrift"/>
              </a:rPr>
              <a:t>Multiplies the score by 0.85</a:t>
            </a:r>
          </a:p>
        </p:txBody>
      </p:sp>
      <p:sp>
        <p:nvSpPr>
          <p:cNvPr id="27" name="Rectangle 26"/>
          <p:cNvSpPr/>
          <p:nvPr/>
        </p:nvSpPr>
        <p:spPr>
          <a:xfrm>
            <a:off x="841248" y="3136391"/>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3154679"/>
            <a:ext cx="2165719" cy="38404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Liquidity</a:t>
            </a:r>
          </a:p>
        </p:txBody>
      </p:sp>
      <p:sp>
        <p:nvSpPr>
          <p:cNvPr id="29" name="TextBox 28"/>
          <p:cNvSpPr txBox="1"/>
          <p:nvPr/>
        </p:nvSpPr>
        <p:spPr>
          <a:xfrm>
            <a:off x="3226423" y="3154679"/>
            <a:ext cx="4477743"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Median traded value below the bar for the stock's size tier</a:t>
            </a:r>
          </a:p>
        </p:txBody>
      </p:sp>
      <p:sp>
        <p:nvSpPr>
          <p:cNvPr id="30" name="TextBox 29"/>
          <p:cNvSpPr txBox="1"/>
          <p:nvPr/>
        </p:nvSpPr>
        <p:spPr>
          <a:xfrm>
            <a:off x="7850471" y="3154679"/>
            <a:ext cx="3426823" cy="384048"/>
          </a:xfrm>
          <a:prstGeom prst="rect">
            <a:avLst/>
          </a:prstGeom>
          <a:noFill/>
        </p:spPr>
        <p:txBody>
          <a:bodyPr wrap="square" anchor="ctr" lIns="0" rIns="0" tIns="0" bIns="0">
            <a:spAutoFit/>
          </a:bodyPr>
          <a:lstStyle/>
          <a:p>
            <a:pPr algn="l">
              <a:spcBef>
                <a:spcPts val="0"/>
              </a:spcBef>
              <a:spcAft>
                <a:spcPts val="0"/>
              </a:spcAft>
            </a:pPr>
            <a:r>
              <a:rPr sz="1000" b="0" i="0">
                <a:solidFill>
                  <a:srgbClr val="E0402F"/>
                </a:solidFill>
                <a:latin typeface="Bahnschrift"/>
              </a:rPr>
              <a:t>Caps the score at 40</a:t>
            </a:r>
          </a:p>
        </p:txBody>
      </p:sp>
      <p:sp>
        <p:nvSpPr>
          <p:cNvPr id="31" name="Rectangle 30"/>
          <p:cNvSpPr/>
          <p:nvPr/>
        </p:nvSpPr>
        <p:spPr>
          <a:xfrm>
            <a:off x="841248" y="3520439"/>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41248" y="3602736"/>
            <a:ext cx="5117439" cy="969264"/>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3602736"/>
            <a:ext cx="54864" cy="969264"/>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3730752"/>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THE LENDERS EXEMPTION</a:t>
            </a:r>
          </a:p>
        </p:txBody>
      </p:sp>
      <p:sp>
        <p:nvSpPr>
          <p:cNvPr id="35" name="TextBox 34"/>
          <p:cNvSpPr txBox="1"/>
          <p:nvPr/>
        </p:nvSpPr>
        <p:spPr>
          <a:xfrm>
            <a:off x="1042416" y="4005072"/>
            <a:ext cx="4751679" cy="512064"/>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Banks, NBFCs and insurers are exempt from the debt/equity trigger: leverage is their business model, not distress. They are judged on asset quality instead.</a:t>
            </a:r>
          </a:p>
        </p:txBody>
      </p:sp>
      <p:sp>
        <p:nvSpPr>
          <p:cNvPr id="36" name="Rounded Rectangle 35"/>
          <p:cNvSpPr/>
          <p:nvPr/>
        </p:nvSpPr>
        <p:spPr>
          <a:xfrm>
            <a:off x="6233007" y="3602736"/>
            <a:ext cx="5117439" cy="969264"/>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3602736"/>
            <a:ext cx="54864" cy="969264"/>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3730752"/>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RED FLAGS COMPOUND</a:t>
            </a:r>
          </a:p>
        </p:txBody>
      </p:sp>
      <p:sp>
        <p:nvSpPr>
          <p:cNvPr id="39" name="TextBox 38"/>
          <p:cNvSpPr txBox="1"/>
          <p:nvPr/>
        </p:nvSpPr>
        <p:spPr>
          <a:xfrm>
            <a:off x="6434175" y="4005072"/>
            <a:ext cx="4751679" cy="512064"/>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Penalties scale non-linearly, so several problems are punished far harder than one blemish. A clean bill of health earns a small capped boost.</a:t>
            </a:r>
          </a:p>
        </p:txBody>
      </p:sp>
      <p:sp>
        <p:nvSpPr>
          <p:cNvPr id="40" name="TextBox 39"/>
          <p:cNvSpPr txBox="1"/>
          <p:nvPr/>
        </p:nvSpPr>
        <p:spPr>
          <a:xfrm>
            <a:off x="841248" y="4736592"/>
            <a:ext cx="10509199" cy="256032"/>
          </a:xfrm>
          <a:prstGeom prst="rect">
            <a:avLst/>
          </a:prstGeom>
          <a:noFill/>
        </p:spPr>
        <p:txBody>
          <a:bodyPr wrap="square" anchor="t" lIns="0" rIns="0" tIns="0" bIns="0">
            <a:spAutoFit/>
          </a:bodyPr>
          <a:lstStyle/>
          <a:p>
            <a:pPr algn="l">
              <a:spcBef>
                <a:spcPts val="0"/>
              </a:spcBef>
              <a:spcAft>
                <a:spcPts val="0"/>
              </a:spcAft>
            </a:pPr>
            <a:r>
              <a:rPr sz="900" b="1" i="0" spc="200">
                <a:solidFill>
                  <a:srgbClr val="6B7280"/>
                </a:solidFill>
                <a:latin typeface="Bahnschrift"/>
              </a:rPr>
              <a:t>THE CALL</a:t>
            </a:r>
          </a:p>
        </p:txBody>
      </p:sp>
      <p:sp>
        <p:nvSpPr>
          <p:cNvPr id="41" name="Rounded Rectangle 40"/>
          <p:cNvSpPr/>
          <p:nvPr/>
        </p:nvSpPr>
        <p:spPr>
          <a:xfrm>
            <a:off x="841248" y="5010912"/>
            <a:ext cx="3320186" cy="475488"/>
          </a:xfrm>
          <a:prstGeom prst="roundRect">
            <a:avLst>
              <a:gd name="adj" fmla="val 6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5010912"/>
            <a:ext cx="1948586" cy="47548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Score below 40, on either horizon</a:t>
            </a:r>
          </a:p>
        </p:txBody>
      </p:sp>
      <p:sp>
        <p:nvSpPr>
          <p:cNvPr id="43" name="Rounded Rectangle 42"/>
          <p:cNvSpPr/>
          <p:nvPr/>
        </p:nvSpPr>
        <p:spPr>
          <a:xfrm>
            <a:off x="3018434" y="5120640"/>
            <a:ext cx="96012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18434" y="5115153"/>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5" name="Rounded Rectangle 44"/>
          <p:cNvSpPr/>
          <p:nvPr/>
        </p:nvSpPr>
        <p:spPr>
          <a:xfrm>
            <a:off x="4435754" y="5010912"/>
            <a:ext cx="3320186" cy="475488"/>
          </a:xfrm>
          <a:prstGeom prst="roundRect">
            <a:avLst>
              <a:gd name="adj" fmla="val 6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82058" y="5010912"/>
            <a:ext cx="1948586" cy="47548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40 to 50, with a concentration or risk flag</a:t>
            </a:r>
          </a:p>
        </p:txBody>
      </p:sp>
      <p:sp>
        <p:nvSpPr>
          <p:cNvPr id="47" name="Rounded Rectangle 46"/>
          <p:cNvSpPr/>
          <p:nvPr/>
        </p:nvSpPr>
        <p:spPr>
          <a:xfrm>
            <a:off x="6612940" y="5120640"/>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12940" y="5115153"/>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49" name="Rounded Rectangle 48"/>
          <p:cNvSpPr/>
          <p:nvPr/>
        </p:nvSpPr>
        <p:spPr>
          <a:xfrm>
            <a:off x="8030260" y="5010912"/>
            <a:ext cx="3320186" cy="475488"/>
          </a:xfrm>
          <a:prstGeom prst="roundRect">
            <a:avLst>
              <a:gd name="adj" fmla="val 6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176564" y="5010912"/>
            <a:ext cx="1948586" cy="47548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50 and above</a:t>
            </a:r>
          </a:p>
        </p:txBody>
      </p:sp>
      <p:sp>
        <p:nvSpPr>
          <p:cNvPr id="51" name="Rounded Rectangle 50"/>
          <p:cNvSpPr/>
          <p:nvPr/>
        </p:nvSpPr>
        <p:spPr>
          <a:xfrm>
            <a:off x="10207447" y="5120640"/>
            <a:ext cx="96012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207447" y="5115153"/>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3" name="Rounded Rectangle 52"/>
          <p:cNvSpPr/>
          <p:nvPr/>
        </p:nvSpPr>
        <p:spPr>
          <a:xfrm>
            <a:off x="841248" y="5596128"/>
            <a:ext cx="10509199" cy="4572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41248" y="5596128"/>
            <a:ext cx="54864" cy="4572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42416" y="5724144"/>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ONE-WAY OVERRIDE</a:t>
            </a:r>
          </a:p>
        </p:txBody>
      </p:sp>
      <p:sp>
        <p:nvSpPr>
          <p:cNvPr id="56" name="TextBox 55"/>
          <p:cNvSpPr txBox="1"/>
          <p:nvPr/>
        </p:nvSpPr>
        <p:spPr>
          <a:xfrm>
            <a:off x="1042416" y="5998464"/>
            <a:ext cx="10143439" cy="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Sell can be rescued to Hold with a written reason. A Hold cannot be forced to Sell; it escalates.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THE MODEL</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one number a client sees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 blended score, then a bounded forward adjustment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09</a:t>
            </a:r>
          </a:p>
        </p:txBody>
      </p:sp>
      <p:sp>
        <p:nvSpPr>
          <p:cNvPr id="15" name="Rounded Rectangle 14"/>
          <p:cNvSpPr/>
          <p:nvPr/>
        </p:nvSpPr>
        <p:spPr>
          <a:xfrm>
            <a:off x="841248" y="1755648"/>
            <a:ext cx="10509199" cy="658368"/>
          </a:xfrm>
          <a:prstGeom prst="roundRect">
            <a:avLst>
              <a:gd name="adj" fmla="val 6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5568" y="1755648"/>
            <a:ext cx="9960559" cy="658368"/>
          </a:xfrm>
          <a:prstGeom prst="rect">
            <a:avLst/>
          </a:prstGeom>
          <a:noFill/>
        </p:spPr>
        <p:txBody>
          <a:bodyPr wrap="square" anchor="ctr" lIns="0" rIns="0" tIns="0" bIns="0">
            <a:spAutoFit/>
          </a:bodyPr>
          <a:lstStyle/>
          <a:p>
            <a:pPr algn="l">
              <a:spcBef>
                <a:spcPts val="0"/>
              </a:spcBef>
              <a:spcAft>
                <a:spcPts val="0"/>
              </a:spcAft>
            </a:pPr>
            <a:r>
              <a:rPr sz="1400" b="1" i="0">
                <a:solidFill>
                  <a:srgbClr val="1B27A3"/>
                </a:solidFill>
                <a:latin typeface="Bahnschrift"/>
              </a:rPr>
              <a:t>Ionic Score   =   0.60 x three-year score   +   0.40 x one-year score   +   forward adjustment</a:t>
            </a:r>
          </a:p>
        </p:txBody>
      </p:sp>
      <p:sp>
        <p:nvSpPr>
          <p:cNvPr id="17" name="TextBox 16"/>
          <p:cNvSpPr txBox="1"/>
          <p:nvPr/>
        </p:nvSpPr>
        <p:spPr>
          <a:xfrm>
            <a:off x="841248" y="2615184"/>
            <a:ext cx="10509199" cy="256032"/>
          </a:xfrm>
          <a:prstGeom prst="rect">
            <a:avLst/>
          </a:prstGeom>
          <a:noFill/>
        </p:spPr>
        <p:txBody>
          <a:bodyPr wrap="square" anchor="t" lIns="0" rIns="0" tIns="0" bIns="0">
            <a:spAutoFit/>
          </a:bodyPr>
          <a:lstStyle/>
          <a:p>
            <a:pPr algn="l">
              <a:spcBef>
                <a:spcPts val="0"/>
              </a:spcBef>
              <a:spcAft>
                <a:spcPts val="0"/>
              </a:spcAft>
            </a:pPr>
            <a:r>
              <a:rPr sz="1100" b="0" i="1">
                <a:solidFill>
                  <a:srgbClr val="16233B"/>
                </a:solidFill>
                <a:latin typeface="Georgia"/>
              </a:rPr>
              <a:t>The adjustment makes the number forward-looking. It is bounded, and it can never flatter a name we are telling the client to exit.</a:t>
            </a:r>
          </a:p>
        </p:txBody>
      </p:sp>
      <p:sp>
        <p:nvSpPr>
          <p:cNvPr id="18" name="TextBox 17"/>
          <p:cNvSpPr txBox="1"/>
          <p:nvPr/>
        </p:nvSpPr>
        <p:spPr>
          <a:xfrm>
            <a:off x="914400" y="2962656"/>
            <a:ext cx="237449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ANALYST'S FORWARD GROWTH VIEW</a:t>
            </a:r>
          </a:p>
        </p:txBody>
      </p:sp>
      <p:sp>
        <p:nvSpPr>
          <p:cNvPr id="19" name="TextBox 18"/>
          <p:cNvSpPr txBox="1"/>
          <p:nvPr/>
        </p:nvSpPr>
        <p:spPr>
          <a:xfrm>
            <a:off x="3435199" y="2962656"/>
            <a:ext cx="1059295"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ADJUSTMENT</a:t>
            </a:r>
          </a:p>
        </p:txBody>
      </p:sp>
      <p:sp>
        <p:nvSpPr>
          <p:cNvPr id="20" name="TextBox 19"/>
          <p:cNvSpPr txBox="1"/>
          <p:nvPr/>
        </p:nvSpPr>
        <p:spPr>
          <a:xfrm>
            <a:off x="4640799" y="2962656"/>
            <a:ext cx="160729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READING</a:t>
            </a:r>
          </a:p>
        </p:txBody>
      </p:sp>
      <p:sp>
        <p:nvSpPr>
          <p:cNvPr id="21" name="Rectangle 20"/>
          <p:cNvSpPr/>
          <p:nvPr/>
        </p:nvSpPr>
        <p:spPr>
          <a:xfrm>
            <a:off x="841248" y="3218688"/>
            <a:ext cx="54799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264408"/>
            <a:ext cx="2374495" cy="329184"/>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Below 5%</a:t>
            </a:r>
          </a:p>
        </p:txBody>
      </p:sp>
      <p:sp>
        <p:nvSpPr>
          <p:cNvPr id="23" name="TextBox 22"/>
          <p:cNvSpPr txBox="1"/>
          <p:nvPr/>
        </p:nvSpPr>
        <p:spPr>
          <a:xfrm>
            <a:off x="3435199" y="3264408"/>
            <a:ext cx="1059295" cy="329184"/>
          </a:xfrm>
          <a:prstGeom prst="rect">
            <a:avLst/>
          </a:prstGeom>
          <a:noFill/>
        </p:spPr>
        <p:txBody>
          <a:bodyPr wrap="square" anchor="ctr" lIns="0" rIns="0" tIns="0" bIns="0">
            <a:spAutoFit/>
          </a:bodyPr>
          <a:lstStyle/>
          <a:p>
            <a:pPr algn="ctr">
              <a:spcBef>
                <a:spcPts val="0"/>
              </a:spcBef>
              <a:spcAft>
                <a:spcPts val="0"/>
              </a:spcAft>
            </a:pPr>
            <a:r>
              <a:rPr sz="950" b="0" i="0">
                <a:solidFill>
                  <a:srgbClr val="E0402F"/>
                </a:solidFill>
                <a:latin typeface="Bahnschrift"/>
              </a:rPr>
              <a:t>-15</a:t>
            </a:r>
          </a:p>
        </p:txBody>
      </p:sp>
      <p:sp>
        <p:nvSpPr>
          <p:cNvPr id="24" name="TextBox 23"/>
          <p:cNvSpPr txBox="1"/>
          <p:nvPr/>
        </p:nvSpPr>
        <p:spPr>
          <a:xfrm>
            <a:off x="4640799" y="3264408"/>
            <a:ext cx="1607295"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Structurally stagnant or declining</a:t>
            </a:r>
          </a:p>
        </p:txBody>
      </p:sp>
      <p:sp>
        <p:nvSpPr>
          <p:cNvPr id="25" name="Rectangle 24"/>
          <p:cNvSpPr/>
          <p:nvPr/>
        </p:nvSpPr>
        <p:spPr>
          <a:xfrm>
            <a:off x="841248" y="3575304"/>
            <a:ext cx="5479999" cy="32918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593592"/>
            <a:ext cx="2374495" cy="329184"/>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5 to 10%</a:t>
            </a:r>
          </a:p>
        </p:txBody>
      </p:sp>
      <p:sp>
        <p:nvSpPr>
          <p:cNvPr id="27" name="TextBox 26"/>
          <p:cNvSpPr txBox="1"/>
          <p:nvPr/>
        </p:nvSpPr>
        <p:spPr>
          <a:xfrm>
            <a:off x="3435199" y="3593592"/>
            <a:ext cx="1059295" cy="329184"/>
          </a:xfrm>
          <a:prstGeom prst="rect">
            <a:avLst/>
          </a:prstGeom>
          <a:noFill/>
        </p:spPr>
        <p:txBody>
          <a:bodyPr wrap="square" anchor="ctr" lIns="0" rIns="0" tIns="0" bIns="0">
            <a:spAutoFit/>
          </a:bodyPr>
          <a:lstStyle/>
          <a:p>
            <a:pPr algn="ctr">
              <a:spcBef>
                <a:spcPts val="0"/>
              </a:spcBef>
              <a:spcAft>
                <a:spcPts val="0"/>
              </a:spcAft>
            </a:pPr>
            <a:r>
              <a:rPr sz="950" b="0" i="0">
                <a:solidFill>
                  <a:srgbClr val="E0402F"/>
                </a:solidFill>
                <a:latin typeface="Bahnschrift"/>
              </a:rPr>
              <a:t>-5</a:t>
            </a:r>
          </a:p>
        </p:txBody>
      </p:sp>
      <p:sp>
        <p:nvSpPr>
          <p:cNvPr id="28" name="TextBox 27"/>
          <p:cNvSpPr txBox="1"/>
          <p:nvPr/>
        </p:nvSpPr>
        <p:spPr>
          <a:xfrm>
            <a:off x="4640799" y="3593592"/>
            <a:ext cx="1607295"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Below nominal growth in the economy</a:t>
            </a:r>
          </a:p>
        </p:txBody>
      </p:sp>
      <p:sp>
        <p:nvSpPr>
          <p:cNvPr id="29" name="TextBox 28"/>
          <p:cNvSpPr txBox="1"/>
          <p:nvPr/>
        </p:nvSpPr>
        <p:spPr>
          <a:xfrm>
            <a:off x="914400" y="3922776"/>
            <a:ext cx="2374495" cy="329184"/>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10 to 15%</a:t>
            </a:r>
          </a:p>
        </p:txBody>
      </p:sp>
      <p:sp>
        <p:nvSpPr>
          <p:cNvPr id="30" name="TextBox 29"/>
          <p:cNvSpPr txBox="1"/>
          <p:nvPr/>
        </p:nvSpPr>
        <p:spPr>
          <a:xfrm>
            <a:off x="3435199" y="3922776"/>
            <a:ext cx="1059295" cy="329184"/>
          </a:xfrm>
          <a:prstGeom prst="rect">
            <a:avLst/>
          </a:prstGeom>
          <a:noFill/>
        </p:spPr>
        <p:txBody>
          <a:bodyPr wrap="square" anchor="ctr" lIns="0" rIns="0" tIns="0" bIns="0">
            <a:spAutoFit/>
          </a:bodyPr>
          <a:lstStyle/>
          <a:p>
            <a:pPr algn="ctr">
              <a:spcBef>
                <a:spcPts val="0"/>
              </a:spcBef>
              <a:spcAft>
                <a:spcPts val="0"/>
              </a:spcAft>
            </a:pPr>
            <a:r>
              <a:rPr sz="950" b="0" i="0">
                <a:solidFill>
                  <a:srgbClr val="6B7280"/>
                </a:solidFill>
                <a:latin typeface="Bahnschrift"/>
              </a:rPr>
              <a:t>0</a:t>
            </a:r>
          </a:p>
        </p:txBody>
      </p:sp>
      <p:sp>
        <p:nvSpPr>
          <p:cNvPr id="31" name="TextBox 30"/>
          <p:cNvSpPr txBox="1"/>
          <p:nvPr/>
        </p:nvSpPr>
        <p:spPr>
          <a:xfrm>
            <a:off x="4640799" y="3922776"/>
            <a:ext cx="1607295"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Steady compounder, the neutral zone</a:t>
            </a:r>
          </a:p>
        </p:txBody>
      </p:sp>
      <p:sp>
        <p:nvSpPr>
          <p:cNvPr id="32" name="Rectangle 31"/>
          <p:cNvSpPr/>
          <p:nvPr/>
        </p:nvSpPr>
        <p:spPr>
          <a:xfrm>
            <a:off x="841248" y="4233672"/>
            <a:ext cx="5479999" cy="32918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251960"/>
            <a:ext cx="2374495" cy="329184"/>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15 to 20%</a:t>
            </a:r>
          </a:p>
        </p:txBody>
      </p:sp>
      <p:sp>
        <p:nvSpPr>
          <p:cNvPr id="34" name="TextBox 33"/>
          <p:cNvSpPr txBox="1"/>
          <p:nvPr/>
        </p:nvSpPr>
        <p:spPr>
          <a:xfrm>
            <a:off x="3435199" y="4251960"/>
            <a:ext cx="1059295" cy="329184"/>
          </a:xfrm>
          <a:prstGeom prst="rect">
            <a:avLst/>
          </a:prstGeom>
          <a:noFill/>
        </p:spPr>
        <p:txBody>
          <a:bodyPr wrap="square" anchor="ctr" lIns="0" rIns="0" tIns="0" bIns="0">
            <a:spAutoFit/>
          </a:bodyPr>
          <a:lstStyle/>
          <a:p>
            <a:pPr algn="ctr">
              <a:spcBef>
                <a:spcPts val="0"/>
              </a:spcBef>
              <a:spcAft>
                <a:spcPts val="0"/>
              </a:spcAft>
            </a:pPr>
            <a:r>
              <a:rPr sz="950" b="0" i="0">
                <a:solidFill>
                  <a:srgbClr val="1E9E6A"/>
                </a:solidFill>
                <a:latin typeface="Bahnschrift"/>
              </a:rPr>
              <a:t>+5</a:t>
            </a:r>
          </a:p>
        </p:txBody>
      </p:sp>
      <p:sp>
        <p:nvSpPr>
          <p:cNvPr id="35" name="TextBox 34"/>
          <p:cNvSpPr txBox="1"/>
          <p:nvPr/>
        </p:nvSpPr>
        <p:spPr>
          <a:xfrm>
            <a:off x="4640799" y="4251960"/>
            <a:ext cx="1607295"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Strong</a:t>
            </a:r>
          </a:p>
        </p:txBody>
      </p:sp>
      <p:sp>
        <p:nvSpPr>
          <p:cNvPr id="36" name="TextBox 35"/>
          <p:cNvSpPr txBox="1"/>
          <p:nvPr/>
        </p:nvSpPr>
        <p:spPr>
          <a:xfrm>
            <a:off x="914400" y="4581144"/>
            <a:ext cx="2374495" cy="329184"/>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20 to 25%</a:t>
            </a:r>
          </a:p>
        </p:txBody>
      </p:sp>
      <p:sp>
        <p:nvSpPr>
          <p:cNvPr id="37" name="TextBox 36"/>
          <p:cNvSpPr txBox="1"/>
          <p:nvPr/>
        </p:nvSpPr>
        <p:spPr>
          <a:xfrm>
            <a:off x="3435199" y="4581144"/>
            <a:ext cx="1059295" cy="329184"/>
          </a:xfrm>
          <a:prstGeom prst="rect">
            <a:avLst/>
          </a:prstGeom>
          <a:noFill/>
        </p:spPr>
        <p:txBody>
          <a:bodyPr wrap="square" anchor="ctr" lIns="0" rIns="0" tIns="0" bIns="0">
            <a:spAutoFit/>
          </a:bodyPr>
          <a:lstStyle/>
          <a:p>
            <a:pPr algn="ctr">
              <a:spcBef>
                <a:spcPts val="0"/>
              </a:spcBef>
              <a:spcAft>
                <a:spcPts val="0"/>
              </a:spcAft>
            </a:pPr>
            <a:r>
              <a:rPr sz="950" b="0" i="0">
                <a:solidFill>
                  <a:srgbClr val="1E9E6A"/>
                </a:solidFill>
                <a:latin typeface="Bahnschrift"/>
              </a:rPr>
              <a:t>+10</a:t>
            </a:r>
          </a:p>
        </p:txBody>
      </p:sp>
      <p:sp>
        <p:nvSpPr>
          <p:cNvPr id="38" name="TextBox 37"/>
          <p:cNvSpPr txBox="1"/>
          <p:nvPr/>
        </p:nvSpPr>
        <p:spPr>
          <a:xfrm>
            <a:off x="4640799" y="4581144"/>
            <a:ext cx="1607295"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Exceptional momentum</a:t>
            </a:r>
          </a:p>
        </p:txBody>
      </p:sp>
      <p:sp>
        <p:nvSpPr>
          <p:cNvPr id="39" name="Rectangle 38"/>
          <p:cNvSpPr/>
          <p:nvPr/>
        </p:nvSpPr>
        <p:spPr>
          <a:xfrm>
            <a:off x="841248" y="4892040"/>
            <a:ext cx="5479999" cy="32918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910328"/>
            <a:ext cx="2374495" cy="329184"/>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25% and above</a:t>
            </a:r>
          </a:p>
        </p:txBody>
      </p:sp>
      <p:sp>
        <p:nvSpPr>
          <p:cNvPr id="41" name="TextBox 40"/>
          <p:cNvSpPr txBox="1"/>
          <p:nvPr/>
        </p:nvSpPr>
        <p:spPr>
          <a:xfrm>
            <a:off x="3435199" y="4910328"/>
            <a:ext cx="1059295" cy="329184"/>
          </a:xfrm>
          <a:prstGeom prst="rect">
            <a:avLst/>
          </a:prstGeom>
          <a:noFill/>
        </p:spPr>
        <p:txBody>
          <a:bodyPr wrap="square" anchor="ctr" lIns="0" rIns="0" tIns="0" bIns="0">
            <a:spAutoFit/>
          </a:bodyPr>
          <a:lstStyle/>
          <a:p>
            <a:pPr algn="ctr">
              <a:spcBef>
                <a:spcPts val="0"/>
              </a:spcBef>
              <a:spcAft>
                <a:spcPts val="0"/>
              </a:spcAft>
            </a:pPr>
            <a:r>
              <a:rPr sz="950" b="0" i="0">
                <a:solidFill>
                  <a:srgbClr val="1E9E6A"/>
                </a:solidFill>
                <a:latin typeface="Bahnschrift"/>
              </a:rPr>
              <a:t>+15</a:t>
            </a:r>
          </a:p>
        </p:txBody>
      </p:sp>
      <p:sp>
        <p:nvSpPr>
          <p:cNvPr id="42" name="TextBox 41"/>
          <p:cNvSpPr txBox="1"/>
          <p:nvPr/>
        </p:nvSpPr>
        <p:spPr>
          <a:xfrm>
            <a:off x="4640799" y="4910328"/>
            <a:ext cx="1607295"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Hypergrowth, evidence required</a:t>
            </a:r>
          </a:p>
        </p:txBody>
      </p:sp>
      <p:sp>
        <p:nvSpPr>
          <p:cNvPr id="43" name="Rounded Rectangle 42"/>
          <p:cNvSpPr/>
          <p:nvPr/>
        </p:nvSpPr>
        <p:spPr>
          <a:xfrm>
            <a:off x="6595567" y="2962656"/>
            <a:ext cx="4754880" cy="1581912"/>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95567" y="2962656"/>
            <a:ext cx="54864" cy="1581912"/>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96735" y="3090672"/>
            <a:ext cx="4389120"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TWO COHERENCE CAPS</a:t>
            </a:r>
          </a:p>
        </p:txBody>
      </p:sp>
      <p:sp>
        <p:nvSpPr>
          <p:cNvPr id="46" name="TextBox 45"/>
          <p:cNvSpPr txBox="1"/>
          <p:nvPr/>
        </p:nvSpPr>
        <p:spPr>
          <a:xfrm>
            <a:off x="6796735" y="3364992"/>
            <a:ext cx="4389120" cy="11247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name growing below 10% can be marked down but never up. And a name the analyst rates Sell can never be lifted by the adjustment. Both caps exist because earlier versions could perversely raise the score of a name we were recommending the client exit.</a:t>
            </a:r>
          </a:p>
        </p:txBody>
      </p:sp>
      <p:sp>
        <p:nvSpPr>
          <p:cNvPr id="47" name="Rounded Rectangle 46"/>
          <p:cNvSpPr/>
          <p:nvPr/>
        </p:nvSpPr>
        <p:spPr>
          <a:xfrm>
            <a:off x="6595567" y="4352544"/>
            <a:ext cx="4754880" cy="1243584"/>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595567" y="4352544"/>
            <a:ext cx="54864" cy="1243584"/>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96735" y="4480559"/>
            <a:ext cx="4389120"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CONVICTION, PRICED</a:t>
            </a:r>
          </a:p>
        </p:txBody>
      </p:sp>
      <p:sp>
        <p:nvSpPr>
          <p:cNvPr id="50" name="TextBox 49"/>
          <p:cNvSpPr txBox="1"/>
          <p:nvPr/>
        </p:nvSpPr>
        <p:spPr>
          <a:xfrm>
            <a:off x="6796735" y="4754880"/>
            <a:ext cx="4389120"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Where the analyst and the engine disagree, the disagreement itself moves the score: a rescued Sell earns a small credit, an analyst Sell a small debit. Agreement moves nothing.</a:t>
            </a:r>
          </a:p>
        </p:txBody>
      </p:sp>
      <p:sp>
        <p:nvSpPr>
          <p:cNvPr id="51" name="TextBox 5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Growth is the analyst's forward three-to-five-year view, explicitly not trailing growth. Parroting trailing growth into this field is a named failure mode in the analyst brief.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THE MODEL</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fund frameworks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Two independent engines, and a deliberately hard bar to sell a fund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10</a:t>
            </a:r>
          </a:p>
        </p:txBody>
      </p:sp>
      <p:sp>
        <p:nvSpPr>
          <p:cNvPr id="15" name="Rounded Rectangle 14"/>
          <p:cNvSpPr/>
          <p:nvPr/>
        </p:nvSpPr>
        <p:spPr>
          <a:xfrm>
            <a:off x="841248" y="1755648"/>
            <a:ext cx="5117439" cy="1481328"/>
          </a:xfrm>
          <a:prstGeom prst="roundRect">
            <a:avLst>
              <a:gd name="adj" fmla="val 6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755648"/>
            <a:ext cx="54864" cy="148132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1865376"/>
            <a:ext cx="4660239" cy="274320"/>
          </a:xfrm>
          <a:prstGeom prst="rect">
            <a:avLst/>
          </a:prstGeom>
          <a:noFill/>
        </p:spPr>
        <p:txBody>
          <a:bodyPr wrap="square" anchor="t" lIns="0" rIns="0" tIns="0" bIns="0">
            <a:spAutoFit/>
          </a:bodyPr>
          <a:lstStyle/>
          <a:p>
            <a:pPr algn="l">
              <a:spcBef>
                <a:spcPts val="0"/>
              </a:spcBef>
              <a:spcAft>
                <a:spcPts val="0"/>
              </a:spcAft>
            </a:pPr>
            <a:r>
              <a:rPr sz="900" b="1" i="0" spc="150">
                <a:solidFill>
                  <a:srgbClr val="1B27A3"/>
                </a:solidFill>
                <a:latin typeface="Bahnschrift"/>
              </a:rPr>
              <a:t>QFRA-1</a:t>
            </a:r>
            <a:r>
              <a:rPr sz="900" b="1" i="0" spc="150">
                <a:solidFill>
                  <a:srgbClr val="6B7280"/>
                </a:solidFill>
                <a:latin typeface="Bahnschrift"/>
              </a:rPr>
              <a:t>   ·   SHORT-TERM FRAMEWORK</a:t>
            </a:r>
          </a:p>
        </p:txBody>
      </p:sp>
      <p:sp>
        <p:nvSpPr>
          <p:cNvPr id="18" name="TextBox 17"/>
          <p:cNvSpPr txBox="1"/>
          <p:nvPr/>
        </p:nvSpPr>
        <p:spPr>
          <a:xfrm>
            <a:off x="1060704" y="2139696"/>
            <a:ext cx="4660239" cy="10058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Ranks every fund in a category on how much of its benchmark's rise it captures versus how much of the fall, over a common six-month window, then applies a downside filter after ranking. Covers 181 funds across six categories.</a:t>
            </a:r>
          </a:p>
        </p:txBody>
      </p:sp>
      <p:sp>
        <p:nvSpPr>
          <p:cNvPr id="19" name="Rounded Rectangle 18"/>
          <p:cNvSpPr/>
          <p:nvPr/>
        </p:nvSpPr>
        <p:spPr>
          <a:xfrm>
            <a:off x="6233007" y="1755648"/>
            <a:ext cx="5117439" cy="1481328"/>
          </a:xfrm>
          <a:prstGeom prst="roundRect">
            <a:avLst>
              <a:gd name="adj" fmla="val 6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3007" y="1755648"/>
            <a:ext cx="54864" cy="1481328"/>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2463" y="1865376"/>
            <a:ext cx="4660239" cy="274320"/>
          </a:xfrm>
          <a:prstGeom prst="rect">
            <a:avLst/>
          </a:prstGeom>
          <a:noFill/>
        </p:spPr>
        <p:txBody>
          <a:bodyPr wrap="square" anchor="t" lIns="0" rIns="0" tIns="0" bIns="0">
            <a:spAutoFit/>
          </a:bodyPr>
          <a:lstStyle/>
          <a:p>
            <a:pPr algn="l">
              <a:spcBef>
                <a:spcPts val="0"/>
              </a:spcBef>
              <a:spcAft>
                <a:spcPts val="0"/>
              </a:spcAft>
            </a:pPr>
            <a:r>
              <a:rPr sz="900" b="1" i="0" spc="150">
                <a:solidFill>
                  <a:srgbClr val="F2A93C"/>
                </a:solidFill>
                <a:latin typeface="Bahnschrift"/>
              </a:rPr>
              <a:t>QFRA-2</a:t>
            </a:r>
            <a:r>
              <a:rPr sz="900" b="1" i="0" spc="150">
                <a:solidFill>
                  <a:srgbClr val="6B7280"/>
                </a:solidFill>
                <a:latin typeface="Bahnschrift"/>
              </a:rPr>
              <a:t>   ·   LONG-TERM FRAMEWORK</a:t>
            </a:r>
          </a:p>
        </p:txBody>
      </p:sp>
      <p:sp>
        <p:nvSpPr>
          <p:cNvPr id="22" name="TextBox 21"/>
          <p:cNvSpPr txBox="1"/>
          <p:nvPr/>
        </p:nvSpPr>
        <p:spPr>
          <a:xfrm>
            <a:off x="6452463" y="2139696"/>
            <a:ext cx="4660239" cy="10058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curated shortlist of 40 funds across eight categories, scored 0-100 with a letter grade and a conviction level, built for a multi-year holding rather than a six-month window. Its only two verdicts are Active and Index-core: it has NO sell verdict, by design.</a:t>
            </a:r>
          </a:p>
        </p:txBody>
      </p:sp>
      <p:sp>
        <p:nvSpPr>
          <p:cNvPr id="23" name="Rounded Rectangle 22"/>
          <p:cNvSpPr/>
          <p:nvPr/>
        </p:nvSpPr>
        <p:spPr>
          <a:xfrm>
            <a:off x="841248" y="3401568"/>
            <a:ext cx="10509199" cy="932688"/>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 y="3401568"/>
            <a:ext cx="54864" cy="932688"/>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6" y="3529584"/>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HOW A FUND ACTUALLY GETS SOLD, STATED PRECISELY</a:t>
            </a:r>
          </a:p>
        </p:txBody>
      </p:sp>
      <p:sp>
        <p:nvSpPr>
          <p:cNvPr id="26" name="TextBox 25"/>
          <p:cNvSpPr txBox="1"/>
          <p:nvPr/>
        </p:nvSpPr>
        <p:spPr>
          <a:xfrm>
            <a:off x="1042416" y="3803904"/>
            <a:ext cx="10143439" cy="475488"/>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QFRA-1 is the only engine that can originate a sell, because it is the only one with a sell verdict. QFRA-2 cannot vote to sell; it can only veto one, since an Active rating is evidence against exiting. Absence from its curated forty is not a negative signal. Disagreement defaults to Hold.</a:t>
            </a:r>
          </a:p>
        </p:txBody>
      </p:sp>
      <p:sp>
        <p:nvSpPr>
          <p:cNvPr id="27" name="Rectangle 26"/>
          <p:cNvSpPr/>
          <p:nvPr/>
        </p:nvSpPr>
        <p:spPr>
          <a:xfrm>
            <a:off x="841248" y="4562856"/>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4466844"/>
            <a:ext cx="10289743" cy="475488"/>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Category coverage is honest: hybrid, sectoral, index, liquid and debt funds sit outside both frameworks and are reported as No View, never given a manufactured score.</a:t>
            </a:r>
          </a:p>
        </p:txBody>
      </p:sp>
      <p:sp>
        <p:nvSpPr>
          <p:cNvPr id="29" name="Rectangle 28"/>
          <p:cNvSpPr/>
          <p:nvPr/>
        </p:nvSpPr>
        <p:spPr>
          <a:xfrm>
            <a:off x="841248" y="5111496"/>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0704" y="5015483"/>
            <a:ext cx="10289743" cy="475488"/>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Scheme identity is verified fund by fund, with the fund house and mandate confirmed. Name-similarity matching is prohibited after it produced real mis-matches.</a:t>
            </a:r>
          </a:p>
        </p:txBody>
      </p:sp>
      <p:sp>
        <p:nvSpPr>
          <p:cNvPr id="31" name="Rectangle 30"/>
          <p:cNvSpPr/>
          <p:nvPr/>
        </p:nvSpPr>
        <p:spPr>
          <a:xfrm>
            <a:off x="841248" y="5660136"/>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0704" y="5564123"/>
            <a:ext cx="10289743" cy="2743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fund with under seven months of record gets No View regardless of what the engines compute.</a:t>
            </a:r>
          </a:p>
        </p:txBody>
      </p:sp>
      <p:sp>
        <p:nvSpPr>
          <p:cNvPr id="33" name="TextBox 3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Fund models re-run at April-end and October-end; monthly net-asset-value history accrues in between so each run has a full window.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THE MODEL</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Coverage today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is actually scored, as of this review</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11</a:t>
            </a:r>
          </a:p>
        </p:txBody>
      </p:sp>
      <p:sp>
        <p:nvSpPr>
          <p:cNvPr id="15" name="TextBox 14"/>
          <p:cNvSpPr txBox="1"/>
          <p:nvPr/>
        </p:nvSpPr>
        <p:spPr>
          <a:xfrm>
            <a:off x="841248"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B27A3"/>
                </a:solidFill>
                <a:latin typeface="Bahnschrift"/>
              </a:rPr>
              <a:t>751</a:t>
            </a:r>
          </a:p>
        </p:txBody>
      </p:sp>
      <p:sp>
        <p:nvSpPr>
          <p:cNvPr id="16" name="TextBox 15"/>
          <p:cNvSpPr txBox="1"/>
          <p:nvPr/>
        </p:nvSpPr>
        <p:spPr>
          <a:xfrm>
            <a:off x="841248"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STOCKS IN THE UNIVERSE</a:t>
            </a:r>
          </a:p>
        </p:txBody>
      </p:sp>
      <p:sp>
        <p:nvSpPr>
          <p:cNvPr id="17" name="TextBox 16"/>
          <p:cNvSpPr txBox="1"/>
          <p:nvPr/>
        </p:nvSpPr>
        <p:spPr>
          <a:xfrm>
            <a:off x="841248" y="2304288"/>
            <a:ext cx="196467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quant layer complete</a:t>
            </a:r>
          </a:p>
        </p:txBody>
      </p:sp>
      <p:sp>
        <p:nvSpPr>
          <p:cNvPr id="18" name="TextBox 17"/>
          <p:cNvSpPr txBox="1"/>
          <p:nvPr/>
        </p:nvSpPr>
        <p:spPr>
          <a:xfrm>
            <a:off x="294308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E9E6A"/>
                </a:solidFill>
                <a:latin typeface="Bahnschrift"/>
              </a:rPr>
              <a:t>751</a:t>
            </a:r>
          </a:p>
        </p:txBody>
      </p:sp>
      <p:sp>
        <p:nvSpPr>
          <p:cNvPr id="19" name="TextBox 18"/>
          <p:cNvSpPr txBox="1"/>
          <p:nvPr/>
        </p:nvSpPr>
        <p:spPr>
          <a:xfrm>
            <a:off x="294308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WITH ANALYST RESEARCH</a:t>
            </a:r>
          </a:p>
        </p:txBody>
      </p:sp>
      <p:sp>
        <p:nvSpPr>
          <p:cNvPr id="20" name="TextBox 19"/>
          <p:cNvSpPr txBox="1"/>
          <p:nvPr/>
        </p:nvSpPr>
        <p:spPr>
          <a:xfrm>
            <a:off x="2943087" y="2304288"/>
            <a:ext cx="196467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100% coverage</a:t>
            </a:r>
          </a:p>
        </p:txBody>
      </p:sp>
      <p:sp>
        <p:nvSpPr>
          <p:cNvPr id="21" name="Rectangle 20"/>
          <p:cNvSpPr/>
          <p:nvPr/>
        </p:nvSpPr>
        <p:spPr>
          <a:xfrm>
            <a:off x="288822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4492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560 / 191</a:t>
            </a:r>
          </a:p>
        </p:txBody>
      </p:sp>
      <p:sp>
        <p:nvSpPr>
          <p:cNvPr id="23" name="TextBox 22"/>
          <p:cNvSpPr txBox="1"/>
          <p:nvPr/>
        </p:nvSpPr>
        <p:spPr>
          <a:xfrm>
            <a:off x="504492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HOLD / SELL</a:t>
            </a:r>
          </a:p>
        </p:txBody>
      </p:sp>
      <p:sp>
        <p:nvSpPr>
          <p:cNvPr id="24" name="TextBox 23"/>
          <p:cNvSpPr txBox="1"/>
          <p:nvPr/>
        </p:nvSpPr>
        <p:spPr>
          <a:xfrm>
            <a:off x="5044927" y="2304288"/>
            <a:ext cx="196467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the current book of calls</a:t>
            </a:r>
          </a:p>
        </p:txBody>
      </p:sp>
      <p:sp>
        <p:nvSpPr>
          <p:cNvPr id="25" name="Rectangle 24"/>
          <p:cNvSpPr/>
          <p:nvPr/>
        </p:nvSpPr>
        <p:spPr>
          <a:xfrm>
            <a:off x="499006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4676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92400E"/>
                </a:solidFill>
                <a:latin typeface="Bahnschrift"/>
              </a:rPr>
              <a:t>126</a:t>
            </a:r>
          </a:p>
        </p:txBody>
      </p:sp>
      <p:sp>
        <p:nvSpPr>
          <p:cNvPr id="27" name="TextBox 26"/>
          <p:cNvSpPr txBox="1"/>
          <p:nvPr/>
        </p:nvSpPr>
        <p:spPr>
          <a:xfrm>
            <a:off x="714676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ESCALATIONS</a:t>
            </a:r>
          </a:p>
        </p:txBody>
      </p:sp>
      <p:sp>
        <p:nvSpPr>
          <p:cNvPr id="28" name="TextBox 27"/>
          <p:cNvSpPr txBox="1"/>
          <p:nvPr/>
        </p:nvSpPr>
        <p:spPr>
          <a:xfrm>
            <a:off x="7146767" y="2304288"/>
            <a:ext cx="196467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open for desk ruling</a:t>
            </a:r>
          </a:p>
        </p:txBody>
      </p:sp>
      <p:sp>
        <p:nvSpPr>
          <p:cNvPr id="29" name="Rectangle 28"/>
          <p:cNvSpPr/>
          <p:nvPr/>
        </p:nvSpPr>
        <p:spPr>
          <a:xfrm>
            <a:off x="709190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4860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B27A3"/>
                </a:solidFill>
                <a:latin typeface="Bahnschrift"/>
              </a:rPr>
              <a:t>2</a:t>
            </a:r>
          </a:p>
        </p:txBody>
      </p:sp>
      <p:sp>
        <p:nvSpPr>
          <p:cNvPr id="31" name="TextBox 30"/>
          <p:cNvSpPr txBox="1"/>
          <p:nvPr/>
        </p:nvSpPr>
        <p:spPr>
          <a:xfrm>
            <a:off x="924860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CLIENT BOOKS SHIPPED</a:t>
            </a:r>
          </a:p>
        </p:txBody>
      </p:sp>
      <p:sp>
        <p:nvSpPr>
          <p:cNvPr id="32" name="TextBox 31"/>
          <p:cNvSpPr txBox="1"/>
          <p:nvPr/>
        </p:nvSpPr>
        <p:spPr>
          <a:xfrm>
            <a:off x="9248607" y="2304288"/>
            <a:ext cx="196467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end to end</a:t>
            </a:r>
          </a:p>
        </p:txBody>
      </p:sp>
      <p:sp>
        <p:nvSpPr>
          <p:cNvPr id="33" name="Rectangle 32"/>
          <p:cNvSpPr/>
          <p:nvPr/>
        </p:nvSpPr>
        <p:spPr>
          <a:xfrm>
            <a:off x="919374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1248" y="2898648"/>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0704" y="2802636"/>
            <a:ext cx="4803343" cy="475488"/>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Full analyst coverage was reached on 3 August 2026: all 751 names carry an engine score and a written human case.</a:t>
            </a:r>
          </a:p>
        </p:txBody>
      </p:sp>
      <p:sp>
        <p:nvSpPr>
          <p:cNvPr id="36" name="Rectangle 35"/>
          <p:cNvSpPr/>
          <p:nvPr/>
        </p:nvSpPr>
        <p:spPr>
          <a:xfrm>
            <a:off x="841248" y="3483864"/>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0704" y="3387852"/>
            <a:ext cx="4803343" cy="475488"/>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191 Sells against 560 Holds is about a quarter of the universe, in line with the engine's historical rate. Far below that would suggest override leakage.</a:t>
            </a:r>
          </a:p>
        </p:txBody>
      </p:sp>
      <p:sp>
        <p:nvSpPr>
          <p:cNvPr id="38" name="Rectangle 37"/>
          <p:cNvSpPr/>
          <p:nvPr/>
        </p:nvSpPr>
        <p:spPr>
          <a:xfrm>
            <a:off x="841248" y="4069080"/>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0704" y="3973068"/>
            <a:ext cx="4803343" cy="475488"/>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126 escalations are a feature, not a backlog: cases where an analyst thinks a passing score is wrong and is barred from forcing the change.</a:t>
            </a:r>
          </a:p>
        </p:txBody>
      </p:sp>
      <p:sp>
        <p:nvSpPr>
          <p:cNvPr id="40" name="Rectangle 39"/>
          <p:cNvSpPr/>
          <p:nvPr/>
        </p:nvSpPr>
        <p:spPr>
          <a:xfrm>
            <a:off x="841248" y="4654296"/>
            <a:ext cx="68580" cy="685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0704" y="4558283"/>
            <a:ext cx="4803343" cy="2743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Two real client books already run on this exact process.</a:t>
            </a:r>
          </a:p>
        </p:txBody>
      </p:sp>
      <p:sp>
        <p:nvSpPr>
          <p:cNvPr id="42" name="Rounded Rectangle 41"/>
          <p:cNvSpPr/>
          <p:nvPr/>
        </p:nvSpPr>
        <p:spPr>
          <a:xfrm>
            <a:off x="6138367" y="2834640"/>
            <a:ext cx="5212080" cy="1243584"/>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38367" y="2834640"/>
            <a:ext cx="54864" cy="1243584"/>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39535" y="2962656"/>
            <a:ext cx="4846320"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REFRESH, NOT REBUILD</a:t>
            </a:r>
          </a:p>
        </p:txBody>
      </p:sp>
      <p:sp>
        <p:nvSpPr>
          <p:cNvPr id="45" name="TextBox 44"/>
          <p:cNvSpPr txBox="1"/>
          <p:nvPr/>
        </p:nvSpPr>
        <p:spPr>
          <a:xfrm>
            <a:off x="6339535" y="3236976"/>
            <a:ext cx="4846320"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Coverage is maintained weekly by an incremental router, not a full re-run: names that reported get fresh research, news-only names get a cheap delta look, the rest carry forward.</a:t>
            </a:r>
          </a:p>
        </p:txBody>
      </p:sp>
      <p:sp>
        <p:nvSpPr>
          <p:cNvPr id="46" name="Rounded Rectangle 45"/>
          <p:cNvSpPr/>
          <p:nvPr/>
        </p:nvSpPr>
        <p:spPr>
          <a:xfrm>
            <a:off x="6138367" y="4242816"/>
            <a:ext cx="5212080" cy="109728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38367" y="4242816"/>
            <a:ext cx="54864" cy="109728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39535" y="4370831"/>
            <a:ext cx="4846320"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WHAT IS NOT CLAIMED</a:t>
            </a:r>
          </a:p>
        </p:txBody>
      </p:sp>
      <p:sp>
        <p:nvSpPr>
          <p:cNvPr id="49" name="TextBox 48"/>
          <p:cNvSpPr txBox="1"/>
          <p:nvPr/>
        </p:nvSpPr>
        <p:spPr>
          <a:xfrm>
            <a:off x="6339535" y="4645152"/>
            <a:ext cx="4846320" cy="6400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Coverage is not a track record. These are point-in-time reviews, and the engine has not yet run through a full market cycle under this operating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THE MODEL</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Does it work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point-in-time test shows, and what it does not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12</a:t>
            </a:r>
          </a:p>
        </p:txBody>
      </p:sp>
      <p:sp>
        <p:nvSpPr>
          <p:cNvPr id="15" name="TextBox 14"/>
          <p:cNvSpPr txBox="1"/>
          <p:nvPr/>
        </p:nvSpPr>
        <p:spPr>
          <a:xfrm>
            <a:off x="914400" y="1755648"/>
            <a:ext cx="447774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BASKET, EQUAL-WEIGHT, QUARTERLY REBALANCE</a:t>
            </a:r>
          </a:p>
        </p:txBody>
      </p:sp>
      <p:sp>
        <p:nvSpPr>
          <p:cNvPr id="16" name="TextBox 15"/>
          <p:cNvSpPr txBox="1"/>
          <p:nvPr/>
        </p:nvSpPr>
        <p:spPr>
          <a:xfrm>
            <a:off x="5538447" y="1755648"/>
            <a:ext cx="1745351"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CAGR</a:t>
            </a:r>
          </a:p>
        </p:txBody>
      </p:sp>
      <p:sp>
        <p:nvSpPr>
          <p:cNvPr id="17" name="TextBox 16"/>
          <p:cNvSpPr txBox="1"/>
          <p:nvPr/>
        </p:nvSpPr>
        <p:spPr>
          <a:xfrm>
            <a:off x="7430103" y="1755648"/>
            <a:ext cx="1745351"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SHARPE</a:t>
            </a:r>
          </a:p>
        </p:txBody>
      </p:sp>
      <p:sp>
        <p:nvSpPr>
          <p:cNvPr id="18" name="TextBox 17"/>
          <p:cNvSpPr txBox="1"/>
          <p:nvPr/>
        </p:nvSpPr>
        <p:spPr>
          <a:xfrm>
            <a:off x="9321759" y="1755648"/>
            <a:ext cx="1955535"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MAX DRAWDOWN</a:t>
            </a:r>
          </a:p>
        </p:txBody>
      </p:sp>
      <p:sp>
        <p:nvSpPr>
          <p:cNvPr id="19" name="Rectangle 18"/>
          <p:cNvSpPr/>
          <p:nvPr/>
        </p:nvSpPr>
        <p:spPr>
          <a:xfrm>
            <a:off x="841248" y="201168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057400"/>
            <a:ext cx="4477743" cy="365760"/>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Top 10 by score</a:t>
            </a:r>
          </a:p>
        </p:txBody>
      </p:sp>
      <p:sp>
        <p:nvSpPr>
          <p:cNvPr id="21" name="TextBox 20"/>
          <p:cNvSpPr txBox="1"/>
          <p:nvPr/>
        </p:nvSpPr>
        <p:spPr>
          <a:xfrm>
            <a:off x="5538447" y="2057400"/>
            <a:ext cx="1745351" cy="365760"/>
          </a:xfrm>
          <a:prstGeom prst="rect">
            <a:avLst/>
          </a:prstGeom>
          <a:noFill/>
        </p:spPr>
        <p:txBody>
          <a:bodyPr wrap="square" anchor="ctr" lIns="0" rIns="0" tIns="0" bIns="0">
            <a:spAutoFit/>
          </a:bodyPr>
          <a:lstStyle/>
          <a:p>
            <a:pPr algn="r">
              <a:spcBef>
                <a:spcPts val="0"/>
              </a:spcBef>
              <a:spcAft>
                <a:spcPts val="0"/>
              </a:spcAft>
            </a:pPr>
            <a:r>
              <a:rPr sz="1000" b="1" i="0">
                <a:solidFill>
                  <a:srgbClr val="1E9E6A"/>
                </a:solidFill>
                <a:latin typeface="Bahnschrift"/>
              </a:rPr>
              <a:t>41.3%</a:t>
            </a:r>
          </a:p>
        </p:txBody>
      </p:sp>
      <p:sp>
        <p:nvSpPr>
          <p:cNvPr id="22" name="TextBox 21"/>
          <p:cNvSpPr txBox="1"/>
          <p:nvPr/>
        </p:nvSpPr>
        <p:spPr>
          <a:xfrm>
            <a:off x="7430103" y="2057400"/>
            <a:ext cx="1745351"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1.28</a:t>
            </a:r>
          </a:p>
        </p:txBody>
      </p:sp>
      <p:sp>
        <p:nvSpPr>
          <p:cNvPr id="23" name="TextBox 22"/>
          <p:cNvSpPr txBox="1"/>
          <p:nvPr/>
        </p:nvSpPr>
        <p:spPr>
          <a:xfrm>
            <a:off x="9321759" y="2057400"/>
            <a:ext cx="1955535" cy="365760"/>
          </a:xfrm>
          <a:prstGeom prst="rect">
            <a:avLst/>
          </a:prstGeom>
          <a:noFill/>
        </p:spPr>
        <p:txBody>
          <a:bodyPr wrap="square" anchor="ctr" lIns="0" rIns="0" tIns="0" bIns="0">
            <a:spAutoFit/>
          </a:bodyPr>
          <a:lstStyle/>
          <a:p>
            <a:pPr algn="r">
              <a:spcBef>
                <a:spcPts val="0"/>
              </a:spcBef>
              <a:spcAft>
                <a:spcPts val="0"/>
              </a:spcAft>
            </a:pPr>
            <a:r>
              <a:rPr sz="1000" b="1" i="0">
                <a:solidFill>
                  <a:srgbClr val="1E9E6A"/>
                </a:solidFill>
                <a:latin typeface="Bahnschrift"/>
              </a:rPr>
              <a:t>-2.3%</a:t>
            </a:r>
          </a:p>
        </p:txBody>
      </p:sp>
      <p:sp>
        <p:nvSpPr>
          <p:cNvPr id="24" name="Rectangle 23"/>
          <p:cNvSpPr/>
          <p:nvPr/>
        </p:nvSpPr>
        <p:spPr>
          <a:xfrm>
            <a:off x="841248" y="2404872"/>
            <a:ext cx="10509199" cy="36576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423160"/>
            <a:ext cx="4477743" cy="365760"/>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Bottom 10 by score</a:t>
            </a:r>
          </a:p>
        </p:txBody>
      </p:sp>
      <p:sp>
        <p:nvSpPr>
          <p:cNvPr id="26" name="TextBox 25"/>
          <p:cNvSpPr txBox="1"/>
          <p:nvPr/>
        </p:nvSpPr>
        <p:spPr>
          <a:xfrm>
            <a:off x="5538447" y="2423160"/>
            <a:ext cx="1745351"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32.4%</a:t>
            </a:r>
          </a:p>
        </p:txBody>
      </p:sp>
      <p:sp>
        <p:nvSpPr>
          <p:cNvPr id="27" name="TextBox 26"/>
          <p:cNvSpPr txBox="1"/>
          <p:nvPr/>
        </p:nvSpPr>
        <p:spPr>
          <a:xfrm>
            <a:off x="7430103" y="2423160"/>
            <a:ext cx="1745351"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0.89</a:t>
            </a:r>
          </a:p>
        </p:txBody>
      </p:sp>
      <p:sp>
        <p:nvSpPr>
          <p:cNvPr id="28" name="TextBox 27"/>
          <p:cNvSpPr txBox="1"/>
          <p:nvPr/>
        </p:nvSpPr>
        <p:spPr>
          <a:xfrm>
            <a:off x="9321759" y="2423160"/>
            <a:ext cx="1955535" cy="365760"/>
          </a:xfrm>
          <a:prstGeom prst="rect">
            <a:avLst/>
          </a:prstGeom>
          <a:noFill/>
        </p:spPr>
        <p:txBody>
          <a:bodyPr wrap="square" anchor="ctr" lIns="0" rIns="0" tIns="0" bIns="0">
            <a:spAutoFit/>
          </a:bodyPr>
          <a:lstStyle/>
          <a:p>
            <a:pPr algn="r">
              <a:spcBef>
                <a:spcPts val="0"/>
              </a:spcBef>
              <a:spcAft>
                <a:spcPts val="0"/>
              </a:spcAft>
            </a:pPr>
            <a:r>
              <a:rPr sz="1000" b="0" i="0">
                <a:solidFill>
                  <a:srgbClr val="E0402F"/>
                </a:solidFill>
                <a:latin typeface="Bahnschrift"/>
              </a:rPr>
              <a:t>-12.6%</a:t>
            </a:r>
          </a:p>
        </p:txBody>
      </p:sp>
      <p:sp>
        <p:nvSpPr>
          <p:cNvPr id="29" name="TextBox 28"/>
          <p:cNvSpPr txBox="1"/>
          <p:nvPr/>
        </p:nvSpPr>
        <p:spPr>
          <a:xfrm>
            <a:off x="914400" y="2788920"/>
            <a:ext cx="4477743" cy="365760"/>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Nifty 500, cap-weighted total return</a:t>
            </a:r>
          </a:p>
        </p:txBody>
      </p:sp>
      <p:sp>
        <p:nvSpPr>
          <p:cNvPr id="30" name="TextBox 29"/>
          <p:cNvSpPr txBox="1"/>
          <p:nvPr/>
        </p:nvSpPr>
        <p:spPr>
          <a:xfrm>
            <a:off x="5538447" y="2788920"/>
            <a:ext cx="1745351"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30.3%</a:t>
            </a:r>
          </a:p>
        </p:txBody>
      </p:sp>
      <p:sp>
        <p:nvSpPr>
          <p:cNvPr id="31" name="TextBox 30"/>
          <p:cNvSpPr txBox="1"/>
          <p:nvPr/>
        </p:nvSpPr>
        <p:spPr>
          <a:xfrm>
            <a:off x="7430103" y="2788920"/>
            <a:ext cx="1745351"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1.75</a:t>
            </a:r>
          </a:p>
        </p:txBody>
      </p:sp>
      <p:sp>
        <p:nvSpPr>
          <p:cNvPr id="32" name="TextBox 31"/>
          <p:cNvSpPr txBox="1"/>
          <p:nvPr/>
        </p:nvSpPr>
        <p:spPr>
          <a:xfrm>
            <a:off x="9321759" y="2788920"/>
            <a:ext cx="195553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-5.6%</a:t>
            </a:r>
          </a:p>
        </p:txBody>
      </p:sp>
      <p:sp>
        <p:nvSpPr>
          <p:cNvPr id="33" name="Rectangle 32"/>
          <p:cNvSpPr/>
          <p:nvPr/>
        </p:nvSpPr>
        <p:spPr>
          <a:xfrm>
            <a:off x="841248" y="3136391"/>
            <a:ext cx="10509199" cy="36576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154679"/>
            <a:ext cx="4477743" cy="365760"/>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Eligible universe, equal-weighted</a:t>
            </a:r>
          </a:p>
        </p:txBody>
      </p:sp>
      <p:sp>
        <p:nvSpPr>
          <p:cNvPr id="35" name="TextBox 34"/>
          <p:cNvSpPr txBox="1"/>
          <p:nvPr/>
        </p:nvSpPr>
        <p:spPr>
          <a:xfrm>
            <a:off x="5538447" y="3154679"/>
            <a:ext cx="1745351" cy="365760"/>
          </a:xfrm>
          <a:prstGeom prst="rect">
            <a:avLst/>
          </a:prstGeom>
          <a:noFill/>
        </p:spPr>
        <p:txBody>
          <a:bodyPr wrap="square" anchor="ctr" lIns="0" rIns="0" tIns="0" bIns="0">
            <a:spAutoFit/>
          </a:bodyPr>
          <a:lstStyle/>
          <a:p>
            <a:pPr algn="r">
              <a:spcBef>
                <a:spcPts val="0"/>
              </a:spcBef>
              <a:spcAft>
                <a:spcPts val="0"/>
              </a:spcAft>
            </a:pPr>
            <a:r>
              <a:rPr sz="1000" b="0" i="0">
                <a:solidFill>
                  <a:srgbClr val="92400E"/>
                </a:solidFill>
                <a:latin typeface="Bahnschrift"/>
              </a:rPr>
              <a:t>44.3%</a:t>
            </a:r>
          </a:p>
        </p:txBody>
      </p:sp>
      <p:sp>
        <p:nvSpPr>
          <p:cNvPr id="36" name="TextBox 35"/>
          <p:cNvSpPr txBox="1"/>
          <p:nvPr/>
        </p:nvSpPr>
        <p:spPr>
          <a:xfrm>
            <a:off x="7430103" y="3154679"/>
            <a:ext cx="1745351"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2.00</a:t>
            </a:r>
          </a:p>
        </p:txBody>
      </p:sp>
      <p:sp>
        <p:nvSpPr>
          <p:cNvPr id="37" name="TextBox 36"/>
          <p:cNvSpPr txBox="1"/>
          <p:nvPr/>
        </p:nvSpPr>
        <p:spPr>
          <a:xfrm>
            <a:off x="9321759" y="3154679"/>
            <a:ext cx="195553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-6.2%</a:t>
            </a:r>
          </a:p>
        </p:txBody>
      </p:sp>
      <p:sp>
        <p:nvSpPr>
          <p:cNvPr id="38" name="TextBox 37"/>
          <p:cNvSpPr txBox="1"/>
          <p:nvPr/>
        </p:nvSpPr>
        <p:spPr>
          <a:xfrm>
            <a:off x="841248" y="3584448"/>
            <a:ext cx="10509199"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December 2021 to September 2024, 8 quarterly rebalances. Survivorship-safe universe, fundamentals lagged 90 days, entry lagged one session, regime tilt switched off.</a:t>
            </a:r>
          </a:p>
        </p:txBody>
      </p:sp>
      <p:sp>
        <p:nvSpPr>
          <p:cNvPr id="39" name="Rounded Rectangle 38"/>
          <p:cNvSpPr/>
          <p:nvPr/>
        </p:nvSpPr>
        <p:spPr>
          <a:xfrm>
            <a:off x="841248" y="3877056"/>
            <a:ext cx="5117439" cy="1225296"/>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41248" y="3877056"/>
            <a:ext cx="54864" cy="1225296"/>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2416" y="4005072"/>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WHAT THE TEST DOES SUPPORT</a:t>
            </a:r>
          </a:p>
        </p:txBody>
      </p:sp>
      <p:sp>
        <p:nvSpPr>
          <p:cNvPr id="42" name="TextBox 41"/>
          <p:cNvSpPr txBox="1"/>
          <p:nvPr/>
        </p:nvSpPr>
        <p:spPr>
          <a:xfrm>
            <a:off x="1042416" y="4279392"/>
            <a:ext cx="4751679" cy="76809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top decile beat the bottom by 9 points of CAGR and the index by 11, at a fraction of the drawdown: 2.3% against 12.6% and 5.6%. That gap is what we defend, because it follows from what the gates screen out.</a:t>
            </a:r>
          </a:p>
        </p:txBody>
      </p:sp>
      <p:sp>
        <p:nvSpPr>
          <p:cNvPr id="43" name="Rounded Rectangle 42"/>
          <p:cNvSpPr/>
          <p:nvPr/>
        </p:nvSpPr>
        <p:spPr>
          <a:xfrm>
            <a:off x="6233007" y="3877056"/>
            <a:ext cx="5117439" cy="1225296"/>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33007" y="3877056"/>
            <a:ext cx="54864" cy="1225296"/>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34175" y="4005072"/>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WHAT IT DOES NOT SUPPORT</a:t>
            </a:r>
          </a:p>
        </p:txBody>
      </p:sp>
      <p:sp>
        <p:nvSpPr>
          <p:cNvPr id="46" name="TextBox 45"/>
          <p:cNvSpPr txBox="1"/>
          <p:nvPr/>
        </p:nvSpPr>
        <p:spPr>
          <a:xfrm>
            <a:off x="6434175" y="4279392"/>
            <a:ext cx="4751679" cy="76809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It is not a return edge. Against 2,000 random ten-name baskets the top decile sat at the 44th percentile, long-short Sharpe was about zero, and it trailed an equal-weighted universe by 2.8 points a year. Eight quarters is underpowered.</a:t>
            </a:r>
          </a:p>
        </p:txBody>
      </p:sp>
      <p:sp>
        <p:nvSpPr>
          <p:cNvPr id="47" name="Rounded Rectangle 46"/>
          <p:cNvSpPr/>
          <p:nvPr/>
        </p:nvSpPr>
        <p:spPr>
          <a:xfrm>
            <a:off x="841248" y="5230368"/>
            <a:ext cx="10509199" cy="585216"/>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41248" y="5230368"/>
            <a:ext cx="54864" cy="585216"/>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2416" y="5358383"/>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LINE WE WILL ACTUALLY SAY</a:t>
            </a:r>
          </a:p>
        </p:txBody>
      </p:sp>
      <p:sp>
        <p:nvSpPr>
          <p:cNvPr id="50" name="TextBox 49"/>
          <p:cNvSpPr txBox="1"/>
          <p:nvPr/>
        </p:nvSpPr>
        <p:spPr>
          <a:xfrm>
            <a:off x="1042416" y="5632704"/>
            <a:ext cx="10143439" cy="12801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downside-protection tilt, but no statistically significant return selection. The analyst overlay is the real product, and it is only testable forward.</a:t>
            </a:r>
          </a:p>
        </p:txBody>
      </p:sp>
      <p:sp>
        <p:nvSpPr>
          <p:cNvPr id="51" name="TextBox 5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Quant core only: the analyst layer is present-day judgment and cannot be rebuilt point-in-time, so it is excluded from every figure above. Red-teamed; an earlier version of this test was invalid and was corrected.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THE MODEL</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500" b="1" i="0">
                <a:solidFill>
                  <a:srgbClr val="1B27A3"/>
                </a:solidFill>
                <a:latin typeface="Bahnschrift"/>
              </a:rPr>
              <a:t>The top and bottom of the book, named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score is actually saying about real holdings today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13</a:t>
            </a:r>
          </a:p>
        </p:txBody>
      </p:sp>
      <p:sp>
        <p:nvSpPr>
          <p:cNvPr id="15" name="TextBox 14"/>
          <p:cNvSpPr txBox="1"/>
          <p:nvPr/>
        </p:nvSpPr>
        <p:spPr>
          <a:xfrm>
            <a:off x="841248" y="1737360"/>
            <a:ext cx="5117439" cy="219456"/>
          </a:xfrm>
          <a:prstGeom prst="rect">
            <a:avLst/>
          </a:prstGeom>
          <a:noFill/>
        </p:spPr>
        <p:txBody>
          <a:bodyPr wrap="square" anchor="t" lIns="0" rIns="0" tIns="0" bIns="0">
            <a:spAutoFit/>
          </a:bodyPr>
          <a:lstStyle/>
          <a:p>
            <a:pPr algn="l">
              <a:spcBef>
                <a:spcPts val="0"/>
              </a:spcBef>
              <a:spcAft>
                <a:spcPts val="0"/>
              </a:spcAft>
            </a:pPr>
            <a:r>
              <a:rPr sz="900" b="1" i="0" spc="120">
                <a:solidFill>
                  <a:srgbClr val="1E9E6A"/>
                </a:solidFill>
                <a:latin typeface="Bahnschrift"/>
              </a:rPr>
              <a:t>TOP 5 BY BLENDED SCORE</a:t>
            </a:r>
          </a:p>
        </p:txBody>
      </p:sp>
      <p:sp>
        <p:nvSpPr>
          <p:cNvPr id="16" name="TextBox 15"/>
          <p:cNvSpPr txBox="1"/>
          <p:nvPr/>
        </p:nvSpPr>
        <p:spPr>
          <a:xfrm>
            <a:off x="914400" y="1993392"/>
            <a:ext cx="1286579"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STOCK</a:t>
            </a:r>
          </a:p>
        </p:txBody>
      </p:sp>
      <p:sp>
        <p:nvSpPr>
          <p:cNvPr id="17" name="TextBox 16"/>
          <p:cNvSpPr txBox="1"/>
          <p:nvPr/>
        </p:nvSpPr>
        <p:spPr>
          <a:xfrm>
            <a:off x="2347283" y="1993392"/>
            <a:ext cx="1388927"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SECTOR</a:t>
            </a:r>
          </a:p>
        </p:txBody>
      </p:sp>
      <p:sp>
        <p:nvSpPr>
          <p:cNvPr id="18" name="TextBox 17"/>
          <p:cNvSpPr txBox="1"/>
          <p:nvPr/>
        </p:nvSpPr>
        <p:spPr>
          <a:xfrm>
            <a:off x="3882514" y="1993392"/>
            <a:ext cx="467788"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a:t>
            </a:r>
          </a:p>
        </p:txBody>
      </p:sp>
      <p:sp>
        <p:nvSpPr>
          <p:cNvPr id="19" name="TextBox 18"/>
          <p:cNvSpPr txBox="1"/>
          <p:nvPr/>
        </p:nvSpPr>
        <p:spPr>
          <a:xfrm>
            <a:off x="4496607" y="1993392"/>
            <a:ext cx="467788"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1Y</a:t>
            </a:r>
          </a:p>
        </p:txBody>
      </p:sp>
      <p:sp>
        <p:nvSpPr>
          <p:cNvPr id="20" name="TextBox 19"/>
          <p:cNvSpPr txBox="1"/>
          <p:nvPr/>
        </p:nvSpPr>
        <p:spPr>
          <a:xfrm>
            <a:off x="5110700" y="1993392"/>
            <a:ext cx="774835"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CALL</a:t>
            </a:r>
          </a:p>
        </p:txBody>
      </p:sp>
      <p:sp>
        <p:nvSpPr>
          <p:cNvPr id="21" name="Rectangle 20"/>
          <p:cNvSpPr/>
          <p:nvPr/>
        </p:nvSpPr>
        <p:spPr>
          <a:xfrm>
            <a:off x="841248" y="2249424"/>
            <a:ext cx="511743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2295144"/>
            <a:ext cx="1286579" cy="31089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EMMVEE  78.8</a:t>
            </a:r>
          </a:p>
        </p:txBody>
      </p:sp>
      <p:sp>
        <p:nvSpPr>
          <p:cNvPr id="23" name="TextBox 22"/>
          <p:cNvSpPr txBox="1"/>
          <p:nvPr/>
        </p:nvSpPr>
        <p:spPr>
          <a:xfrm>
            <a:off x="2347283" y="2295144"/>
            <a:ext cx="1388927" cy="31089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Capital Goods</a:t>
            </a:r>
          </a:p>
        </p:txBody>
      </p:sp>
      <p:sp>
        <p:nvSpPr>
          <p:cNvPr id="24" name="TextBox 23"/>
          <p:cNvSpPr txBox="1"/>
          <p:nvPr/>
        </p:nvSpPr>
        <p:spPr>
          <a:xfrm>
            <a:off x="3882514" y="2295144"/>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77.9</a:t>
            </a:r>
          </a:p>
        </p:txBody>
      </p:sp>
      <p:sp>
        <p:nvSpPr>
          <p:cNvPr id="25" name="TextBox 24"/>
          <p:cNvSpPr txBox="1"/>
          <p:nvPr/>
        </p:nvSpPr>
        <p:spPr>
          <a:xfrm>
            <a:off x="4496607" y="2295144"/>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80.2</a:t>
            </a:r>
          </a:p>
        </p:txBody>
      </p:sp>
      <p:sp>
        <p:nvSpPr>
          <p:cNvPr id="26" name="Rounded Rectangle 25"/>
          <p:cNvSpPr/>
          <p:nvPr/>
        </p:nvSpPr>
        <p:spPr>
          <a:xfrm>
            <a:off x="5110700" y="2331720"/>
            <a:ext cx="77483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10700" y="2326233"/>
            <a:ext cx="77483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8" name="Rectangle 27"/>
          <p:cNvSpPr/>
          <p:nvPr/>
        </p:nvSpPr>
        <p:spPr>
          <a:xfrm>
            <a:off x="841248" y="2587752"/>
            <a:ext cx="5117439" cy="310896"/>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2606040"/>
            <a:ext cx="1286579" cy="31089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SKFINDUS  76.8</a:t>
            </a:r>
          </a:p>
        </p:txBody>
      </p:sp>
      <p:sp>
        <p:nvSpPr>
          <p:cNvPr id="30" name="TextBox 29"/>
          <p:cNvSpPr txBox="1"/>
          <p:nvPr/>
        </p:nvSpPr>
        <p:spPr>
          <a:xfrm>
            <a:off x="2347283" y="2606040"/>
            <a:ext cx="1388927" cy="31089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Capital Goods</a:t>
            </a:r>
          </a:p>
        </p:txBody>
      </p:sp>
      <p:sp>
        <p:nvSpPr>
          <p:cNvPr id="31" name="TextBox 30"/>
          <p:cNvSpPr txBox="1"/>
          <p:nvPr/>
        </p:nvSpPr>
        <p:spPr>
          <a:xfrm>
            <a:off x="3882514" y="2606040"/>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79.8</a:t>
            </a:r>
          </a:p>
        </p:txBody>
      </p:sp>
      <p:sp>
        <p:nvSpPr>
          <p:cNvPr id="32" name="TextBox 31"/>
          <p:cNvSpPr txBox="1"/>
          <p:nvPr/>
        </p:nvSpPr>
        <p:spPr>
          <a:xfrm>
            <a:off x="4496607" y="2606040"/>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72.3</a:t>
            </a:r>
          </a:p>
        </p:txBody>
      </p:sp>
      <p:sp>
        <p:nvSpPr>
          <p:cNvPr id="33" name="Rounded Rectangle 32"/>
          <p:cNvSpPr/>
          <p:nvPr/>
        </p:nvSpPr>
        <p:spPr>
          <a:xfrm>
            <a:off x="5110700" y="2642616"/>
            <a:ext cx="77483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10700" y="2637129"/>
            <a:ext cx="77483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5" name="TextBox 34"/>
          <p:cNvSpPr txBox="1"/>
          <p:nvPr/>
        </p:nvSpPr>
        <p:spPr>
          <a:xfrm>
            <a:off x="914400" y="2916936"/>
            <a:ext cx="1286579" cy="31089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SAATVIKGL  76.6</a:t>
            </a:r>
          </a:p>
        </p:txBody>
      </p:sp>
      <p:sp>
        <p:nvSpPr>
          <p:cNvPr id="36" name="TextBox 35"/>
          <p:cNvSpPr txBox="1"/>
          <p:nvPr/>
        </p:nvSpPr>
        <p:spPr>
          <a:xfrm>
            <a:off x="2347283" y="2916936"/>
            <a:ext cx="1388927" cy="31089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Capital Goods</a:t>
            </a:r>
          </a:p>
        </p:txBody>
      </p:sp>
      <p:sp>
        <p:nvSpPr>
          <p:cNvPr id="37" name="TextBox 36"/>
          <p:cNvSpPr txBox="1"/>
          <p:nvPr/>
        </p:nvSpPr>
        <p:spPr>
          <a:xfrm>
            <a:off x="3882514" y="2916936"/>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79.4</a:t>
            </a:r>
          </a:p>
        </p:txBody>
      </p:sp>
      <p:sp>
        <p:nvSpPr>
          <p:cNvPr id="38" name="TextBox 37"/>
          <p:cNvSpPr txBox="1"/>
          <p:nvPr/>
        </p:nvSpPr>
        <p:spPr>
          <a:xfrm>
            <a:off x="4496607" y="2916936"/>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72.4</a:t>
            </a:r>
          </a:p>
        </p:txBody>
      </p:sp>
      <p:sp>
        <p:nvSpPr>
          <p:cNvPr id="39" name="Rounded Rectangle 38"/>
          <p:cNvSpPr/>
          <p:nvPr/>
        </p:nvSpPr>
        <p:spPr>
          <a:xfrm>
            <a:off x="5110700" y="2953512"/>
            <a:ext cx="77483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10700" y="2948025"/>
            <a:ext cx="77483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1" name="Rectangle 40"/>
          <p:cNvSpPr/>
          <p:nvPr/>
        </p:nvSpPr>
        <p:spPr>
          <a:xfrm>
            <a:off x="841248" y="3209544"/>
            <a:ext cx="5117439" cy="310896"/>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3227832"/>
            <a:ext cx="1286579" cy="31089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WELCORP  74.5</a:t>
            </a:r>
          </a:p>
        </p:txBody>
      </p:sp>
      <p:sp>
        <p:nvSpPr>
          <p:cNvPr id="43" name="TextBox 42"/>
          <p:cNvSpPr txBox="1"/>
          <p:nvPr/>
        </p:nvSpPr>
        <p:spPr>
          <a:xfrm>
            <a:off x="2347283" y="3227832"/>
            <a:ext cx="1388927" cy="31089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Capital Goods</a:t>
            </a:r>
          </a:p>
        </p:txBody>
      </p:sp>
      <p:sp>
        <p:nvSpPr>
          <p:cNvPr id="44" name="TextBox 43"/>
          <p:cNvSpPr txBox="1"/>
          <p:nvPr/>
        </p:nvSpPr>
        <p:spPr>
          <a:xfrm>
            <a:off x="3882514" y="3227832"/>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73.2</a:t>
            </a:r>
          </a:p>
        </p:txBody>
      </p:sp>
      <p:sp>
        <p:nvSpPr>
          <p:cNvPr id="45" name="TextBox 44"/>
          <p:cNvSpPr txBox="1"/>
          <p:nvPr/>
        </p:nvSpPr>
        <p:spPr>
          <a:xfrm>
            <a:off x="4496607" y="3227832"/>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76.5</a:t>
            </a:r>
          </a:p>
        </p:txBody>
      </p:sp>
      <p:sp>
        <p:nvSpPr>
          <p:cNvPr id="46" name="Rounded Rectangle 45"/>
          <p:cNvSpPr/>
          <p:nvPr/>
        </p:nvSpPr>
        <p:spPr>
          <a:xfrm>
            <a:off x="5110700" y="3264408"/>
            <a:ext cx="77483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10700" y="3258921"/>
            <a:ext cx="77483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8" name="TextBox 47"/>
          <p:cNvSpPr txBox="1"/>
          <p:nvPr/>
        </p:nvSpPr>
        <p:spPr>
          <a:xfrm>
            <a:off x="914400" y="3538727"/>
            <a:ext cx="1286579" cy="31089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SUZLON  73.6</a:t>
            </a:r>
          </a:p>
        </p:txBody>
      </p:sp>
      <p:sp>
        <p:nvSpPr>
          <p:cNvPr id="49" name="TextBox 48"/>
          <p:cNvSpPr txBox="1"/>
          <p:nvPr/>
        </p:nvSpPr>
        <p:spPr>
          <a:xfrm>
            <a:off x="2347283" y="3538727"/>
            <a:ext cx="1388927" cy="31089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Capital Goods</a:t>
            </a:r>
          </a:p>
        </p:txBody>
      </p:sp>
      <p:sp>
        <p:nvSpPr>
          <p:cNvPr id="50" name="TextBox 49"/>
          <p:cNvSpPr txBox="1"/>
          <p:nvPr/>
        </p:nvSpPr>
        <p:spPr>
          <a:xfrm>
            <a:off x="3882514" y="3538727"/>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75.8</a:t>
            </a:r>
          </a:p>
        </p:txBody>
      </p:sp>
      <p:sp>
        <p:nvSpPr>
          <p:cNvPr id="51" name="TextBox 50"/>
          <p:cNvSpPr txBox="1"/>
          <p:nvPr/>
        </p:nvSpPr>
        <p:spPr>
          <a:xfrm>
            <a:off x="4496607" y="3538727"/>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70.3</a:t>
            </a:r>
          </a:p>
        </p:txBody>
      </p:sp>
      <p:sp>
        <p:nvSpPr>
          <p:cNvPr id="52" name="Rounded Rectangle 51"/>
          <p:cNvSpPr/>
          <p:nvPr/>
        </p:nvSpPr>
        <p:spPr>
          <a:xfrm>
            <a:off x="5110700" y="3575304"/>
            <a:ext cx="77483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110700" y="3569817"/>
            <a:ext cx="77483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4" name="TextBox 53"/>
          <p:cNvSpPr txBox="1"/>
          <p:nvPr/>
        </p:nvSpPr>
        <p:spPr>
          <a:xfrm>
            <a:off x="6233007" y="1737360"/>
            <a:ext cx="5117439" cy="219456"/>
          </a:xfrm>
          <a:prstGeom prst="rect">
            <a:avLst/>
          </a:prstGeom>
          <a:noFill/>
        </p:spPr>
        <p:txBody>
          <a:bodyPr wrap="square" anchor="t" lIns="0" rIns="0" tIns="0" bIns="0">
            <a:spAutoFit/>
          </a:bodyPr>
          <a:lstStyle/>
          <a:p>
            <a:pPr algn="l">
              <a:spcBef>
                <a:spcPts val="0"/>
              </a:spcBef>
              <a:spcAft>
                <a:spcPts val="0"/>
              </a:spcAft>
            </a:pPr>
            <a:r>
              <a:rPr sz="900" b="1" i="0" spc="120">
                <a:solidFill>
                  <a:srgbClr val="E0402F"/>
                </a:solidFill>
                <a:latin typeface="Bahnschrift"/>
              </a:rPr>
              <a:t>BOTTOM 5 BY BLENDED SCORE</a:t>
            </a:r>
          </a:p>
        </p:txBody>
      </p:sp>
      <p:sp>
        <p:nvSpPr>
          <p:cNvPr id="55" name="TextBox 54"/>
          <p:cNvSpPr txBox="1"/>
          <p:nvPr/>
        </p:nvSpPr>
        <p:spPr>
          <a:xfrm>
            <a:off x="6306159" y="1993392"/>
            <a:ext cx="1286579"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STOCK</a:t>
            </a:r>
          </a:p>
        </p:txBody>
      </p:sp>
      <p:sp>
        <p:nvSpPr>
          <p:cNvPr id="56" name="TextBox 55"/>
          <p:cNvSpPr txBox="1"/>
          <p:nvPr/>
        </p:nvSpPr>
        <p:spPr>
          <a:xfrm>
            <a:off x="7739042" y="1993392"/>
            <a:ext cx="1388927"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SECTOR</a:t>
            </a:r>
          </a:p>
        </p:txBody>
      </p:sp>
      <p:sp>
        <p:nvSpPr>
          <p:cNvPr id="57" name="TextBox 56"/>
          <p:cNvSpPr txBox="1"/>
          <p:nvPr/>
        </p:nvSpPr>
        <p:spPr>
          <a:xfrm>
            <a:off x="9274274" y="1993392"/>
            <a:ext cx="467788"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a:t>
            </a:r>
          </a:p>
        </p:txBody>
      </p:sp>
      <p:sp>
        <p:nvSpPr>
          <p:cNvPr id="58" name="TextBox 57"/>
          <p:cNvSpPr txBox="1"/>
          <p:nvPr/>
        </p:nvSpPr>
        <p:spPr>
          <a:xfrm>
            <a:off x="9888367" y="1993392"/>
            <a:ext cx="467788"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1Y</a:t>
            </a:r>
          </a:p>
        </p:txBody>
      </p:sp>
      <p:sp>
        <p:nvSpPr>
          <p:cNvPr id="59" name="TextBox 58"/>
          <p:cNvSpPr txBox="1"/>
          <p:nvPr/>
        </p:nvSpPr>
        <p:spPr>
          <a:xfrm>
            <a:off x="10502460" y="1993392"/>
            <a:ext cx="774835"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CALL</a:t>
            </a:r>
          </a:p>
        </p:txBody>
      </p:sp>
      <p:sp>
        <p:nvSpPr>
          <p:cNvPr id="60" name="Rectangle 59"/>
          <p:cNvSpPr/>
          <p:nvPr/>
        </p:nvSpPr>
        <p:spPr>
          <a:xfrm>
            <a:off x="6233007" y="2249424"/>
            <a:ext cx="511743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06159" y="2295144"/>
            <a:ext cx="1286579" cy="31089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RVNL  15.1</a:t>
            </a:r>
          </a:p>
        </p:txBody>
      </p:sp>
      <p:sp>
        <p:nvSpPr>
          <p:cNvPr id="62" name="TextBox 61"/>
          <p:cNvSpPr txBox="1"/>
          <p:nvPr/>
        </p:nvSpPr>
        <p:spPr>
          <a:xfrm>
            <a:off x="7739042" y="2295144"/>
            <a:ext cx="1388927" cy="31089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Construction</a:t>
            </a:r>
          </a:p>
        </p:txBody>
      </p:sp>
      <p:sp>
        <p:nvSpPr>
          <p:cNvPr id="63" name="TextBox 62"/>
          <p:cNvSpPr txBox="1"/>
          <p:nvPr/>
        </p:nvSpPr>
        <p:spPr>
          <a:xfrm>
            <a:off x="9274274" y="2295144"/>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14.2</a:t>
            </a:r>
          </a:p>
        </p:txBody>
      </p:sp>
      <p:sp>
        <p:nvSpPr>
          <p:cNvPr id="64" name="TextBox 63"/>
          <p:cNvSpPr txBox="1"/>
          <p:nvPr/>
        </p:nvSpPr>
        <p:spPr>
          <a:xfrm>
            <a:off x="9888367" y="2295144"/>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16.4</a:t>
            </a:r>
          </a:p>
        </p:txBody>
      </p:sp>
      <p:sp>
        <p:nvSpPr>
          <p:cNvPr id="65" name="Rounded Rectangle 64"/>
          <p:cNvSpPr/>
          <p:nvPr/>
        </p:nvSpPr>
        <p:spPr>
          <a:xfrm>
            <a:off x="10502460" y="2331720"/>
            <a:ext cx="77483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502460" y="2326233"/>
            <a:ext cx="77483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67" name="Rectangle 66"/>
          <p:cNvSpPr/>
          <p:nvPr/>
        </p:nvSpPr>
        <p:spPr>
          <a:xfrm>
            <a:off x="6233007" y="2587752"/>
            <a:ext cx="5117439" cy="310896"/>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306159" y="2606040"/>
            <a:ext cx="1286579" cy="31089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VIPIND  17.9</a:t>
            </a:r>
          </a:p>
        </p:txBody>
      </p:sp>
      <p:sp>
        <p:nvSpPr>
          <p:cNvPr id="69" name="TextBox 68"/>
          <p:cNvSpPr txBox="1"/>
          <p:nvPr/>
        </p:nvSpPr>
        <p:spPr>
          <a:xfrm>
            <a:off x="7739042" y="2606040"/>
            <a:ext cx="1388927" cy="31089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Consumer Durables</a:t>
            </a:r>
          </a:p>
        </p:txBody>
      </p:sp>
      <p:sp>
        <p:nvSpPr>
          <p:cNvPr id="70" name="TextBox 69"/>
          <p:cNvSpPr txBox="1"/>
          <p:nvPr/>
        </p:nvSpPr>
        <p:spPr>
          <a:xfrm>
            <a:off x="9274274" y="2606040"/>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17.4</a:t>
            </a:r>
          </a:p>
        </p:txBody>
      </p:sp>
      <p:sp>
        <p:nvSpPr>
          <p:cNvPr id="71" name="TextBox 70"/>
          <p:cNvSpPr txBox="1"/>
          <p:nvPr/>
        </p:nvSpPr>
        <p:spPr>
          <a:xfrm>
            <a:off x="9888367" y="2606040"/>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18.7</a:t>
            </a:r>
          </a:p>
        </p:txBody>
      </p:sp>
      <p:sp>
        <p:nvSpPr>
          <p:cNvPr id="72" name="Rounded Rectangle 71"/>
          <p:cNvSpPr/>
          <p:nvPr/>
        </p:nvSpPr>
        <p:spPr>
          <a:xfrm>
            <a:off x="10502460" y="2642616"/>
            <a:ext cx="77483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502460" y="2637129"/>
            <a:ext cx="77483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74" name="TextBox 73"/>
          <p:cNvSpPr txBox="1"/>
          <p:nvPr/>
        </p:nvSpPr>
        <p:spPr>
          <a:xfrm>
            <a:off x="6306159" y="2916936"/>
            <a:ext cx="1286579" cy="31089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DBL  19.3</a:t>
            </a:r>
          </a:p>
        </p:txBody>
      </p:sp>
      <p:sp>
        <p:nvSpPr>
          <p:cNvPr id="75" name="TextBox 74"/>
          <p:cNvSpPr txBox="1"/>
          <p:nvPr/>
        </p:nvSpPr>
        <p:spPr>
          <a:xfrm>
            <a:off x="7739042" y="2916936"/>
            <a:ext cx="1388927" cy="31089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Construction</a:t>
            </a:r>
          </a:p>
        </p:txBody>
      </p:sp>
      <p:sp>
        <p:nvSpPr>
          <p:cNvPr id="76" name="TextBox 75"/>
          <p:cNvSpPr txBox="1"/>
          <p:nvPr/>
        </p:nvSpPr>
        <p:spPr>
          <a:xfrm>
            <a:off x="9274274" y="2916936"/>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19.6</a:t>
            </a:r>
          </a:p>
        </p:txBody>
      </p:sp>
      <p:sp>
        <p:nvSpPr>
          <p:cNvPr id="77" name="TextBox 76"/>
          <p:cNvSpPr txBox="1"/>
          <p:nvPr/>
        </p:nvSpPr>
        <p:spPr>
          <a:xfrm>
            <a:off x="9888367" y="2916936"/>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18.8</a:t>
            </a:r>
          </a:p>
        </p:txBody>
      </p:sp>
      <p:sp>
        <p:nvSpPr>
          <p:cNvPr id="78" name="Rounded Rectangle 77"/>
          <p:cNvSpPr/>
          <p:nvPr/>
        </p:nvSpPr>
        <p:spPr>
          <a:xfrm>
            <a:off x="10502460" y="2953512"/>
            <a:ext cx="77483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502460" y="2948025"/>
            <a:ext cx="77483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80" name="Rectangle 79"/>
          <p:cNvSpPr/>
          <p:nvPr/>
        </p:nvSpPr>
        <p:spPr>
          <a:xfrm>
            <a:off x="6233007" y="3209544"/>
            <a:ext cx="5117439" cy="310896"/>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06159" y="3227832"/>
            <a:ext cx="1286579" cy="31089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NETWORK18  21.5</a:t>
            </a:r>
          </a:p>
        </p:txBody>
      </p:sp>
      <p:sp>
        <p:nvSpPr>
          <p:cNvPr id="82" name="TextBox 81"/>
          <p:cNvSpPr txBox="1"/>
          <p:nvPr/>
        </p:nvSpPr>
        <p:spPr>
          <a:xfrm>
            <a:off x="7739042" y="3227832"/>
            <a:ext cx="1388927" cy="31089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Media</a:t>
            </a:r>
          </a:p>
        </p:txBody>
      </p:sp>
      <p:sp>
        <p:nvSpPr>
          <p:cNvPr id="83" name="TextBox 82"/>
          <p:cNvSpPr txBox="1"/>
          <p:nvPr/>
        </p:nvSpPr>
        <p:spPr>
          <a:xfrm>
            <a:off x="9274274" y="3227832"/>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22.0</a:t>
            </a:r>
          </a:p>
        </p:txBody>
      </p:sp>
      <p:sp>
        <p:nvSpPr>
          <p:cNvPr id="84" name="TextBox 83"/>
          <p:cNvSpPr txBox="1"/>
          <p:nvPr/>
        </p:nvSpPr>
        <p:spPr>
          <a:xfrm>
            <a:off x="9888367" y="3227832"/>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20.7</a:t>
            </a:r>
          </a:p>
        </p:txBody>
      </p:sp>
      <p:sp>
        <p:nvSpPr>
          <p:cNvPr id="85" name="Rounded Rectangle 84"/>
          <p:cNvSpPr/>
          <p:nvPr/>
        </p:nvSpPr>
        <p:spPr>
          <a:xfrm>
            <a:off x="10502460" y="3264408"/>
            <a:ext cx="77483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502460" y="3258921"/>
            <a:ext cx="77483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87" name="TextBox 86"/>
          <p:cNvSpPr txBox="1"/>
          <p:nvPr/>
        </p:nvSpPr>
        <p:spPr>
          <a:xfrm>
            <a:off x="6306159" y="3538727"/>
            <a:ext cx="1286579" cy="31089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ICICIPRULI  22.0</a:t>
            </a:r>
          </a:p>
        </p:txBody>
      </p:sp>
      <p:sp>
        <p:nvSpPr>
          <p:cNvPr id="88" name="TextBox 87"/>
          <p:cNvSpPr txBox="1"/>
          <p:nvPr/>
        </p:nvSpPr>
        <p:spPr>
          <a:xfrm>
            <a:off x="7739042" y="3538727"/>
            <a:ext cx="1388927" cy="31089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Financial Services</a:t>
            </a:r>
          </a:p>
        </p:txBody>
      </p:sp>
      <p:sp>
        <p:nvSpPr>
          <p:cNvPr id="89" name="TextBox 88"/>
          <p:cNvSpPr txBox="1"/>
          <p:nvPr/>
        </p:nvSpPr>
        <p:spPr>
          <a:xfrm>
            <a:off x="9274274" y="3538727"/>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25.9</a:t>
            </a:r>
          </a:p>
        </p:txBody>
      </p:sp>
      <p:sp>
        <p:nvSpPr>
          <p:cNvPr id="90" name="TextBox 89"/>
          <p:cNvSpPr txBox="1"/>
          <p:nvPr/>
        </p:nvSpPr>
        <p:spPr>
          <a:xfrm>
            <a:off x="9888367" y="3538727"/>
            <a:ext cx="467788" cy="310896"/>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16.1</a:t>
            </a:r>
          </a:p>
        </p:txBody>
      </p:sp>
      <p:sp>
        <p:nvSpPr>
          <p:cNvPr id="91" name="Rounded Rectangle 90"/>
          <p:cNvSpPr/>
          <p:nvPr/>
        </p:nvSpPr>
        <p:spPr>
          <a:xfrm>
            <a:off x="10502460" y="3575304"/>
            <a:ext cx="77483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0502460" y="3569817"/>
            <a:ext cx="77483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93" name="Rounded Rectangle 92"/>
          <p:cNvSpPr/>
          <p:nvPr/>
        </p:nvSpPr>
        <p:spPr>
          <a:xfrm>
            <a:off x="841248" y="4023360"/>
            <a:ext cx="5117439" cy="1280160"/>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841248" y="4023360"/>
            <a:ext cx="54864" cy="1280160"/>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42416" y="415137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THE LAST ROW IS THE OVERRIDE, WORKING</a:t>
            </a:r>
          </a:p>
        </p:txBody>
      </p:sp>
      <p:sp>
        <p:nvSpPr>
          <p:cNvPr id="96" name="TextBox 95"/>
          <p:cNvSpPr txBox="1"/>
          <p:nvPr/>
        </p:nvSpPr>
        <p:spPr>
          <a:xfrm>
            <a:off x="1042416" y="4425696"/>
            <a:ext cx="4751679" cy="82295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ICICIPRULI scores 22 and the analyst still says Hold, on sector-aware reasoning about an insurer that the score cannot see. That rescue is written down against the name, and it is the only direction an analyst is allowed to move a call.</a:t>
            </a:r>
          </a:p>
        </p:txBody>
      </p:sp>
      <p:sp>
        <p:nvSpPr>
          <p:cNvPr id="97" name="Rounded Rectangle 96"/>
          <p:cNvSpPr/>
          <p:nvPr/>
        </p:nvSpPr>
        <p:spPr>
          <a:xfrm>
            <a:off x="6233007" y="4023360"/>
            <a:ext cx="5117439" cy="12801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233007" y="4023360"/>
            <a:ext cx="54864" cy="12801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434175" y="415137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AND A CONCENTRATION WE SHOULD OWN</a:t>
            </a:r>
          </a:p>
        </p:txBody>
      </p:sp>
      <p:sp>
        <p:nvSpPr>
          <p:cNvPr id="100" name="TextBox 99"/>
          <p:cNvSpPr txBox="1"/>
          <p:nvPr/>
        </p:nvSpPr>
        <p:spPr>
          <a:xfrm>
            <a:off x="6434175" y="4425696"/>
            <a:ext cx="4751679" cy="82295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All five top names are Capital Goods. That is the regime tilt and the trend pillars pulling in the same direction, and it is exactly why the score flags candidates for review rather than being used to build a portfolio.</a:t>
            </a:r>
          </a:p>
        </p:txBody>
      </p:sp>
      <p:sp>
        <p:nvSpPr>
          <p:cNvPr id="101" name="TextBox 10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Blended = 0.60 x three-year plus 0.40 x one-year, before the analyst forward adjustment. Scored universe of 751 names, full range 15.1 to 78.8. Internal page: these are live calls on real names.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2.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02</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02</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The workflow</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What runs when, and who owns each step</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Cadence and ownership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THE WORKFLOW</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Cadence and ownership</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runs when, and who owns it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15</a:t>
            </a:r>
          </a:p>
        </p:txBody>
      </p:sp>
      <p:sp>
        <p:nvSpPr>
          <p:cNvPr id="15" name="TextBox 14"/>
          <p:cNvSpPr txBox="1"/>
          <p:nvPr/>
        </p:nvSpPr>
        <p:spPr>
          <a:xfrm>
            <a:off x="914400" y="1783080"/>
            <a:ext cx="153516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CADENCE</a:t>
            </a:r>
          </a:p>
        </p:txBody>
      </p:sp>
      <p:sp>
        <p:nvSpPr>
          <p:cNvPr id="16" name="TextBox 15"/>
          <p:cNvSpPr txBox="1"/>
          <p:nvPr/>
        </p:nvSpPr>
        <p:spPr>
          <a:xfrm>
            <a:off x="2595871" y="1783080"/>
            <a:ext cx="468792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RUNS</a:t>
            </a:r>
          </a:p>
        </p:txBody>
      </p:sp>
      <p:sp>
        <p:nvSpPr>
          <p:cNvPr id="17" name="TextBox 16"/>
          <p:cNvSpPr txBox="1"/>
          <p:nvPr/>
        </p:nvSpPr>
        <p:spPr>
          <a:xfrm>
            <a:off x="7430103" y="1783080"/>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OWNER</a:t>
            </a:r>
          </a:p>
        </p:txBody>
      </p:sp>
      <p:sp>
        <p:nvSpPr>
          <p:cNvPr id="18" name="TextBox 17"/>
          <p:cNvSpPr txBox="1"/>
          <p:nvPr/>
        </p:nvSpPr>
        <p:spPr>
          <a:xfrm>
            <a:off x="9531943" y="1783080"/>
            <a:ext cx="1745351"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AUTOMATED</a:t>
            </a:r>
          </a:p>
        </p:txBody>
      </p:sp>
      <p:sp>
        <p:nvSpPr>
          <p:cNvPr id="19" name="Rectangle 18"/>
          <p:cNvSpPr/>
          <p:nvPr/>
        </p:nvSpPr>
        <p:spPr>
          <a:xfrm>
            <a:off x="841248" y="203911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084831"/>
            <a:ext cx="1535167" cy="38404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Weekly</a:t>
            </a:r>
          </a:p>
        </p:txBody>
      </p:sp>
      <p:sp>
        <p:nvSpPr>
          <p:cNvPr id="21" name="TextBox 20"/>
          <p:cNvSpPr txBox="1"/>
          <p:nvPr/>
        </p:nvSpPr>
        <p:spPr>
          <a:xfrm>
            <a:off x="2595871" y="2084831"/>
            <a:ext cx="4687927"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Stock re-score through the incremental router</a:t>
            </a:r>
          </a:p>
        </p:txBody>
      </p:sp>
      <p:sp>
        <p:nvSpPr>
          <p:cNvPr id="22" name="TextBox 21"/>
          <p:cNvSpPr txBox="1"/>
          <p:nvPr/>
        </p:nvSpPr>
        <p:spPr>
          <a:xfrm>
            <a:off x="7430103" y="2084831"/>
            <a:ext cx="195553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Portfolio Review desk</a:t>
            </a:r>
          </a:p>
        </p:txBody>
      </p:sp>
      <p:sp>
        <p:nvSpPr>
          <p:cNvPr id="23" name="TextBox 22"/>
          <p:cNvSpPr txBox="1"/>
          <p:nvPr/>
        </p:nvSpPr>
        <p:spPr>
          <a:xfrm>
            <a:off x="9531943" y="2084831"/>
            <a:ext cx="1745351" cy="384048"/>
          </a:xfrm>
          <a:prstGeom prst="rect">
            <a:avLst/>
          </a:prstGeom>
          <a:noFill/>
        </p:spPr>
        <p:txBody>
          <a:bodyPr wrap="square" anchor="ctr" lIns="0" rIns="0" tIns="0" bIns="0">
            <a:spAutoFit/>
          </a:bodyPr>
          <a:lstStyle/>
          <a:p>
            <a:pPr algn="ctr">
              <a:spcBef>
                <a:spcPts val="0"/>
              </a:spcBef>
              <a:spcAft>
                <a:spcPts val="0"/>
              </a:spcAft>
            </a:pPr>
            <a:r>
              <a:rPr sz="1000" b="0" i="0">
                <a:solidFill>
                  <a:srgbClr val="1E9E6A"/>
                </a:solidFill>
                <a:latin typeface="Bahnschrift"/>
              </a:rPr>
              <a:t>Yes</a:t>
            </a:r>
          </a:p>
        </p:txBody>
      </p:sp>
      <p:sp>
        <p:nvSpPr>
          <p:cNvPr id="24" name="Rectangle 23"/>
          <p:cNvSpPr/>
          <p:nvPr/>
        </p:nvSpPr>
        <p:spPr>
          <a:xfrm>
            <a:off x="841248" y="2450591"/>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468879"/>
            <a:ext cx="1535167" cy="38404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Weekly</a:t>
            </a:r>
          </a:p>
        </p:txBody>
      </p:sp>
      <p:sp>
        <p:nvSpPr>
          <p:cNvPr id="26" name="TextBox 25"/>
          <p:cNvSpPr txBox="1"/>
          <p:nvPr/>
        </p:nvSpPr>
        <p:spPr>
          <a:xfrm>
            <a:off x="2595871" y="2468879"/>
            <a:ext cx="4687927"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Paper reconciliation and the risk pack</a:t>
            </a:r>
          </a:p>
        </p:txBody>
      </p:sp>
      <p:sp>
        <p:nvSpPr>
          <p:cNvPr id="27" name="TextBox 26"/>
          <p:cNvSpPr txBox="1"/>
          <p:nvPr/>
        </p:nvSpPr>
        <p:spPr>
          <a:xfrm>
            <a:off x="7430103" y="2468879"/>
            <a:ext cx="195553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Risk</a:t>
            </a:r>
          </a:p>
        </p:txBody>
      </p:sp>
      <p:sp>
        <p:nvSpPr>
          <p:cNvPr id="28" name="TextBox 27"/>
          <p:cNvSpPr txBox="1"/>
          <p:nvPr/>
        </p:nvSpPr>
        <p:spPr>
          <a:xfrm>
            <a:off x="9531943" y="2468879"/>
            <a:ext cx="1745351" cy="384048"/>
          </a:xfrm>
          <a:prstGeom prst="rect">
            <a:avLst/>
          </a:prstGeom>
          <a:noFill/>
        </p:spPr>
        <p:txBody>
          <a:bodyPr wrap="square" anchor="ctr" lIns="0" rIns="0" tIns="0" bIns="0">
            <a:spAutoFit/>
          </a:bodyPr>
          <a:lstStyle/>
          <a:p>
            <a:pPr algn="ctr">
              <a:spcBef>
                <a:spcPts val="0"/>
              </a:spcBef>
              <a:spcAft>
                <a:spcPts val="0"/>
              </a:spcAft>
            </a:pPr>
            <a:r>
              <a:rPr sz="1000" b="0" i="0">
                <a:solidFill>
                  <a:srgbClr val="1E9E6A"/>
                </a:solidFill>
                <a:latin typeface="Bahnschrift"/>
              </a:rPr>
              <a:t>Yes</a:t>
            </a:r>
          </a:p>
        </p:txBody>
      </p:sp>
      <p:sp>
        <p:nvSpPr>
          <p:cNvPr id="29" name="TextBox 28"/>
          <p:cNvSpPr txBox="1"/>
          <p:nvPr/>
        </p:nvSpPr>
        <p:spPr>
          <a:xfrm>
            <a:off x="914400" y="2852927"/>
            <a:ext cx="1535167" cy="38404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Monthly</a:t>
            </a:r>
          </a:p>
        </p:txBody>
      </p:sp>
      <p:sp>
        <p:nvSpPr>
          <p:cNvPr id="30" name="TextBox 29"/>
          <p:cNvSpPr txBox="1"/>
          <p:nvPr/>
        </p:nvSpPr>
        <p:spPr>
          <a:xfrm>
            <a:off x="2595871" y="2852927"/>
            <a:ext cx="4687927"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Fund net-asset-value history refresh</a:t>
            </a:r>
          </a:p>
        </p:txBody>
      </p:sp>
      <p:sp>
        <p:nvSpPr>
          <p:cNvPr id="31" name="TextBox 30"/>
          <p:cNvSpPr txBox="1"/>
          <p:nvPr/>
        </p:nvSpPr>
        <p:spPr>
          <a:xfrm>
            <a:off x="7430103" y="2852927"/>
            <a:ext cx="195553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Data</a:t>
            </a:r>
          </a:p>
        </p:txBody>
      </p:sp>
      <p:sp>
        <p:nvSpPr>
          <p:cNvPr id="32" name="TextBox 31"/>
          <p:cNvSpPr txBox="1"/>
          <p:nvPr/>
        </p:nvSpPr>
        <p:spPr>
          <a:xfrm>
            <a:off x="9531943" y="2852927"/>
            <a:ext cx="1745351" cy="384048"/>
          </a:xfrm>
          <a:prstGeom prst="rect">
            <a:avLst/>
          </a:prstGeom>
          <a:noFill/>
        </p:spPr>
        <p:txBody>
          <a:bodyPr wrap="square" anchor="ctr" lIns="0" rIns="0" tIns="0" bIns="0">
            <a:spAutoFit/>
          </a:bodyPr>
          <a:lstStyle/>
          <a:p>
            <a:pPr algn="ctr">
              <a:spcBef>
                <a:spcPts val="0"/>
              </a:spcBef>
              <a:spcAft>
                <a:spcPts val="0"/>
              </a:spcAft>
            </a:pPr>
            <a:r>
              <a:rPr sz="1000" b="0" i="0">
                <a:solidFill>
                  <a:srgbClr val="1E9E6A"/>
                </a:solidFill>
                <a:latin typeface="Bahnschrift"/>
              </a:rPr>
              <a:t>Yes</a:t>
            </a:r>
          </a:p>
        </p:txBody>
      </p:sp>
      <p:sp>
        <p:nvSpPr>
          <p:cNvPr id="33" name="Rectangle 32"/>
          <p:cNvSpPr/>
          <p:nvPr/>
        </p:nvSpPr>
        <p:spPr>
          <a:xfrm>
            <a:off x="841248" y="3218687"/>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236975"/>
            <a:ext cx="1535167" cy="38404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Monthly</a:t>
            </a:r>
          </a:p>
        </p:txBody>
      </p:sp>
      <p:sp>
        <p:nvSpPr>
          <p:cNvPr id="35" name="TextBox 34"/>
          <p:cNvSpPr txBox="1"/>
          <p:nvPr/>
        </p:nvSpPr>
        <p:spPr>
          <a:xfrm>
            <a:off x="2595871" y="3236975"/>
            <a:ext cx="4687927"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Month-end checkpoint and analytics pack</a:t>
            </a:r>
          </a:p>
        </p:txBody>
      </p:sp>
      <p:sp>
        <p:nvSpPr>
          <p:cNvPr id="36" name="TextBox 35"/>
          <p:cNvSpPr txBox="1"/>
          <p:nvPr/>
        </p:nvSpPr>
        <p:spPr>
          <a:xfrm>
            <a:off x="7430103" y="3236975"/>
            <a:ext cx="195553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CEO office</a:t>
            </a:r>
          </a:p>
        </p:txBody>
      </p:sp>
      <p:sp>
        <p:nvSpPr>
          <p:cNvPr id="37" name="TextBox 36"/>
          <p:cNvSpPr txBox="1"/>
          <p:nvPr/>
        </p:nvSpPr>
        <p:spPr>
          <a:xfrm>
            <a:off x="9531943" y="3236975"/>
            <a:ext cx="1745351" cy="384048"/>
          </a:xfrm>
          <a:prstGeom prst="rect">
            <a:avLst/>
          </a:prstGeom>
          <a:noFill/>
        </p:spPr>
        <p:txBody>
          <a:bodyPr wrap="square" anchor="ctr" lIns="0" rIns="0" tIns="0" bIns="0">
            <a:spAutoFit/>
          </a:bodyPr>
          <a:lstStyle/>
          <a:p>
            <a:pPr algn="ctr">
              <a:spcBef>
                <a:spcPts val="0"/>
              </a:spcBef>
              <a:spcAft>
                <a:spcPts val="0"/>
              </a:spcAft>
            </a:pPr>
            <a:r>
              <a:rPr sz="1000" b="0" i="0">
                <a:solidFill>
                  <a:srgbClr val="1E9E6A"/>
                </a:solidFill>
                <a:latin typeface="Bahnschrift"/>
              </a:rPr>
              <a:t>Yes</a:t>
            </a:r>
          </a:p>
        </p:txBody>
      </p:sp>
      <p:sp>
        <p:nvSpPr>
          <p:cNvPr id="38" name="TextBox 37"/>
          <p:cNvSpPr txBox="1"/>
          <p:nvPr/>
        </p:nvSpPr>
        <p:spPr>
          <a:xfrm>
            <a:off x="914400" y="3621023"/>
            <a:ext cx="1535167" cy="38404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Apr / Oct</a:t>
            </a:r>
          </a:p>
        </p:txBody>
      </p:sp>
      <p:sp>
        <p:nvSpPr>
          <p:cNvPr id="39" name="TextBox 38"/>
          <p:cNvSpPr txBox="1"/>
          <p:nvPr/>
        </p:nvSpPr>
        <p:spPr>
          <a:xfrm>
            <a:off x="2595871" y="3621023"/>
            <a:ext cx="4687927"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Full fund-model re-run and reconciliation</a:t>
            </a:r>
          </a:p>
        </p:txBody>
      </p:sp>
      <p:sp>
        <p:nvSpPr>
          <p:cNvPr id="40" name="TextBox 39"/>
          <p:cNvSpPr txBox="1"/>
          <p:nvPr/>
        </p:nvSpPr>
        <p:spPr>
          <a:xfrm>
            <a:off x="7430103" y="3621023"/>
            <a:ext cx="195553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Fund desk</a:t>
            </a:r>
          </a:p>
        </p:txBody>
      </p:sp>
      <p:sp>
        <p:nvSpPr>
          <p:cNvPr id="41" name="TextBox 40"/>
          <p:cNvSpPr txBox="1"/>
          <p:nvPr/>
        </p:nvSpPr>
        <p:spPr>
          <a:xfrm>
            <a:off x="9531943" y="3621023"/>
            <a:ext cx="1745351" cy="384048"/>
          </a:xfrm>
          <a:prstGeom prst="rect">
            <a:avLst/>
          </a:prstGeom>
          <a:noFill/>
        </p:spPr>
        <p:txBody>
          <a:bodyPr wrap="square" anchor="ctr" lIns="0" rIns="0" tIns="0" bIns="0">
            <a:spAutoFit/>
          </a:bodyPr>
          <a:lstStyle/>
          <a:p>
            <a:pPr algn="ctr">
              <a:spcBef>
                <a:spcPts val="0"/>
              </a:spcBef>
              <a:spcAft>
                <a:spcPts val="0"/>
              </a:spcAft>
            </a:pPr>
            <a:r>
              <a:rPr sz="1000" b="0" i="0">
                <a:solidFill>
                  <a:srgbClr val="1E9E6A"/>
                </a:solidFill>
                <a:latin typeface="Bahnschrift"/>
              </a:rPr>
              <a:t>Yes</a:t>
            </a:r>
          </a:p>
        </p:txBody>
      </p:sp>
      <p:sp>
        <p:nvSpPr>
          <p:cNvPr id="42" name="Rectangle 41"/>
          <p:cNvSpPr/>
          <p:nvPr/>
        </p:nvSpPr>
        <p:spPr>
          <a:xfrm>
            <a:off x="841248" y="3986784"/>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005072"/>
            <a:ext cx="1535167" cy="38404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Apr / Oct</a:t>
            </a:r>
          </a:p>
        </p:txBody>
      </p:sp>
      <p:sp>
        <p:nvSpPr>
          <p:cNvPr id="44" name="TextBox 43"/>
          <p:cNvSpPr txBox="1"/>
          <p:nvPr/>
        </p:nvSpPr>
        <p:spPr>
          <a:xfrm>
            <a:off x="2595871" y="4005072"/>
            <a:ext cx="4687927"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Client deck rebuild for every active mandate</a:t>
            </a:r>
          </a:p>
        </p:txBody>
      </p:sp>
      <p:sp>
        <p:nvSpPr>
          <p:cNvPr id="45" name="TextBox 44"/>
          <p:cNvSpPr txBox="1"/>
          <p:nvPr/>
        </p:nvSpPr>
        <p:spPr>
          <a:xfrm>
            <a:off x="7430103" y="4005072"/>
            <a:ext cx="195553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Portfolio Review desk</a:t>
            </a:r>
          </a:p>
        </p:txBody>
      </p:sp>
      <p:sp>
        <p:nvSpPr>
          <p:cNvPr id="46" name="TextBox 45"/>
          <p:cNvSpPr txBox="1"/>
          <p:nvPr/>
        </p:nvSpPr>
        <p:spPr>
          <a:xfrm>
            <a:off x="9531943" y="4005072"/>
            <a:ext cx="1745351" cy="384048"/>
          </a:xfrm>
          <a:prstGeom prst="rect">
            <a:avLst/>
          </a:prstGeom>
          <a:noFill/>
        </p:spPr>
        <p:txBody>
          <a:bodyPr wrap="square" anchor="ctr" lIns="0" rIns="0" tIns="0" bIns="0">
            <a:spAutoFit/>
          </a:bodyPr>
          <a:lstStyle/>
          <a:p>
            <a:pPr algn="ctr">
              <a:spcBef>
                <a:spcPts val="0"/>
              </a:spcBef>
              <a:spcAft>
                <a:spcPts val="0"/>
              </a:spcAft>
            </a:pPr>
            <a:r>
              <a:rPr sz="1000" b="0" i="0">
                <a:solidFill>
                  <a:srgbClr val="92400E"/>
                </a:solidFill>
                <a:latin typeface="Bahnschrift"/>
              </a:rPr>
              <a:t>Draft only</a:t>
            </a:r>
          </a:p>
        </p:txBody>
      </p:sp>
      <p:sp>
        <p:nvSpPr>
          <p:cNvPr id="47" name="TextBox 46"/>
          <p:cNvSpPr txBox="1"/>
          <p:nvPr/>
        </p:nvSpPr>
        <p:spPr>
          <a:xfrm>
            <a:off x="914400" y="4389120"/>
            <a:ext cx="1535167" cy="38404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Per client</a:t>
            </a:r>
          </a:p>
        </p:txBody>
      </p:sp>
      <p:sp>
        <p:nvSpPr>
          <p:cNvPr id="48" name="TextBox 47"/>
          <p:cNvSpPr txBox="1"/>
          <p:nvPr/>
        </p:nvSpPr>
        <p:spPr>
          <a:xfrm>
            <a:off x="2595871" y="4389120"/>
            <a:ext cx="4687927"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Onboarding review on a new statement</a:t>
            </a:r>
          </a:p>
        </p:txBody>
      </p:sp>
      <p:sp>
        <p:nvSpPr>
          <p:cNvPr id="49" name="TextBox 48"/>
          <p:cNvSpPr txBox="1"/>
          <p:nvPr/>
        </p:nvSpPr>
        <p:spPr>
          <a:xfrm>
            <a:off x="7430103" y="4389120"/>
            <a:ext cx="195553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Relationship manager</a:t>
            </a:r>
          </a:p>
        </p:txBody>
      </p:sp>
      <p:sp>
        <p:nvSpPr>
          <p:cNvPr id="50" name="TextBox 49"/>
          <p:cNvSpPr txBox="1"/>
          <p:nvPr/>
        </p:nvSpPr>
        <p:spPr>
          <a:xfrm>
            <a:off x="9531943" y="4389120"/>
            <a:ext cx="1745351" cy="384048"/>
          </a:xfrm>
          <a:prstGeom prst="rect">
            <a:avLst/>
          </a:prstGeom>
          <a:noFill/>
        </p:spPr>
        <p:txBody>
          <a:bodyPr wrap="square" anchor="ctr" lIns="0" rIns="0" tIns="0" bIns="0">
            <a:spAutoFit/>
          </a:bodyPr>
          <a:lstStyle/>
          <a:p>
            <a:pPr algn="ctr">
              <a:spcBef>
                <a:spcPts val="0"/>
              </a:spcBef>
              <a:spcAft>
                <a:spcPts val="0"/>
              </a:spcAft>
            </a:pPr>
            <a:r>
              <a:rPr sz="1000" b="0" i="0">
                <a:solidFill>
                  <a:srgbClr val="6B7280"/>
                </a:solidFill>
                <a:latin typeface="Bahnschrift"/>
              </a:rPr>
              <a:t>On demand</a:t>
            </a:r>
          </a:p>
        </p:txBody>
      </p:sp>
      <p:sp>
        <p:nvSpPr>
          <p:cNvPr id="51" name="Rounded Rectangle 50"/>
          <p:cNvSpPr/>
          <p:nvPr/>
        </p:nvSpPr>
        <p:spPr>
          <a:xfrm>
            <a:off x="841248" y="4645152"/>
            <a:ext cx="10509199" cy="1074419"/>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41248" y="4645152"/>
            <a:ext cx="54864" cy="1074419"/>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42416" y="477316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ONE DELIBERATE MANUAL GATE</a:t>
            </a:r>
          </a:p>
        </p:txBody>
      </p:sp>
      <p:sp>
        <p:nvSpPr>
          <p:cNvPr id="54" name="TextBox 53"/>
          <p:cNvSpPr txBox="1"/>
          <p:nvPr/>
        </p:nvSpPr>
        <p:spPr>
          <a:xfrm>
            <a:off x="1042416" y="5047488"/>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Deck rebuilds are automated only as far as a marked draft. A client copy requires a human countersignature every single time. That gate is not an efficiency gap left to close later; it is the control that keeps an automated pipeline from ever speaking to a client on its own.</a:t>
            </a:r>
          </a:p>
        </p:txBody>
      </p:sp>
      <p:sp>
        <p:nvSpPr>
          <p:cNvPr id="55" name="TextBox 5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Scheduled jobs are re-armed each working session from the operating calendar, which is the source of truth if the two ever disagree.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3.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03</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03</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Quality control</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What stops a wrong page reaching a client</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gate stack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QUALITY CONTROL</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gate stack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Four layers, each catching what the others cannot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17</a:t>
            </a:r>
          </a:p>
        </p:txBody>
      </p:sp>
      <p:sp>
        <p:nvSpPr>
          <p:cNvPr id="15" name="Oval 14"/>
          <p:cNvSpPr/>
          <p:nvPr/>
        </p:nvSpPr>
        <p:spPr>
          <a:xfrm>
            <a:off x="841248" y="1828800"/>
            <a:ext cx="365760" cy="365760"/>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1828800"/>
            <a:ext cx="365760" cy="365760"/>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Bahnschrift"/>
              </a:rPr>
              <a:t>1</a:t>
            </a:r>
          </a:p>
        </p:txBody>
      </p:sp>
      <p:sp>
        <p:nvSpPr>
          <p:cNvPr id="17" name="TextBox 16"/>
          <p:cNvSpPr txBox="1"/>
          <p:nvPr/>
        </p:nvSpPr>
        <p:spPr>
          <a:xfrm>
            <a:off x="1371600" y="1783080"/>
            <a:ext cx="3200400" cy="256032"/>
          </a:xfrm>
          <a:prstGeom prst="rect">
            <a:avLst/>
          </a:prstGeom>
          <a:noFill/>
        </p:spPr>
        <p:txBody>
          <a:bodyPr wrap="square" anchor="t" lIns="0" rIns="0" tIns="0" bIns="0">
            <a:spAutoFit/>
          </a:bodyPr>
          <a:lstStyle/>
          <a:p>
            <a:pPr algn="l">
              <a:spcBef>
                <a:spcPts val="0"/>
              </a:spcBef>
              <a:spcAft>
                <a:spcPts val="0"/>
              </a:spcAft>
            </a:pPr>
            <a:r>
              <a:rPr sz="1200" b="1" i="0">
                <a:solidFill>
                  <a:srgbClr val="16233B"/>
                </a:solidFill>
                <a:latin typeface="Bahnschrift"/>
              </a:rPr>
              <a:t>Geometry</a:t>
            </a:r>
          </a:p>
        </p:txBody>
      </p:sp>
      <p:sp>
        <p:nvSpPr>
          <p:cNvPr id="18" name="TextBox 17"/>
          <p:cNvSpPr txBox="1"/>
          <p:nvPr/>
        </p:nvSpPr>
        <p:spPr>
          <a:xfrm>
            <a:off x="4681728" y="1773936"/>
            <a:ext cx="6668719" cy="512064"/>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6B7280"/>
                </a:solidFill>
                <a:latin typeface="Georgia"/>
              </a:rPr>
              <a:t>Two independent checks for text overflowing its box, elements overlapping, and content spilling past the page frame. Machine-checkable, run on every build.</a:t>
            </a:r>
          </a:p>
        </p:txBody>
      </p:sp>
      <p:sp>
        <p:nvSpPr>
          <p:cNvPr id="19" name="Rectangle 18"/>
          <p:cNvSpPr/>
          <p:nvPr/>
        </p:nvSpPr>
        <p:spPr>
          <a:xfrm>
            <a:off x="841248" y="253288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2670048"/>
            <a:ext cx="365760" cy="365760"/>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2670048"/>
            <a:ext cx="365760" cy="365760"/>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Bahnschrift"/>
              </a:rPr>
              <a:t>2</a:t>
            </a:r>
          </a:p>
        </p:txBody>
      </p:sp>
      <p:sp>
        <p:nvSpPr>
          <p:cNvPr id="22" name="TextBox 21"/>
          <p:cNvSpPr txBox="1"/>
          <p:nvPr/>
        </p:nvSpPr>
        <p:spPr>
          <a:xfrm>
            <a:off x="1371600" y="2624328"/>
            <a:ext cx="3200400" cy="256032"/>
          </a:xfrm>
          <a:prstGeom prst="rect">
            <a:avLst/>
          </a:prstGeom>
          <a:noFill/>
        </p:spPr>
        <p:txBody>
          <a:bodyPr wrap="square" anchor="t" lIns="0" rIns="0" tIns="0" bIns="0">
            <a:spAutoFit/>
          </a:bodyPr>
          <a:lstStyle/>
          <a:p>
            <a:pPr algn="l">
              <a:spcBef>
                <a:spcPts val="0"/>
              </a:spcBef>
              <a:spcAft>
                <a:spcPts val="0"/>
              </a:spcAft>
            </a:pPr>
            <a:r>
              <a:rPr sz="1200" b="1" i="0">
                <a:solidFill>
                  <a:srgbClr val="16233B"/>
                </a:solidFill>
                <a:latin typeface="Bahnschrift"/>
              </a:rPr>
              <a:t>Client copy</a:t>
            </a:r>
          </a:p>
        </p:txBody>
      </p:sp>
      <p:sp>
        <p:nvSpPr>
          <p:cNvPr id="23" name="TextBox 22"/>
          <p:cNvSpPr txBox="1"/>
          <p:nvPr/>
        </p:nvSpPr>
        <p:spPr>
          <a:xfrm>
            <a:off x="4681728" y="2615184"/>
            <a:ext cx="6668719" cy="512064"/>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6B7280"/>
                </a:solidFill>
                <a:latin typeface="Georgia"/>
              </a:rPr>
              <a:t>A scan for internal vocabulary, engine codenames, source citations, recommendation language we do not use, and unrenderable characters. Also run against the data file, because a scrub at render time cannot rescue a whole sentence of internal audit trail.</a:t>
            </a:r>
          </a:p>
        </p:txBody>
      </p:sp>
      <p:sp>
        <p:nvSpPr>
          <p:cNvPr id="24" name="Rectangle 23"/>
          <p:cNvSpPr/>
          <p:nvPr/>
        </p:nvSpPr>
        <p:spPr>
          <a:xfrm>
            <a:off x="841248" y="337413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3511296"/>
            <a:ext cx="365760" cy="365760"/>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3511296"/>
            <a:ext cx="365760" cy="365760"/>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Bahnschrift"/>
              </a:rPr>
              <a:t>3</a:t>
            </a:r>
          </a:p>
        </p:txBody>
      </p:sp>
      <p:sp>
        <p:nvSpPr>
          <p:cNvPr id="27" name="TextBox 26"/>
          <p:cNvSpPr txBox="1"/>
          <p:nvPr/>
        </p:nvSpPr>
        <p:spPr>
          <a:xfrm>
            <a:off x="1371600" y="3465576"/>
            <a:ext cx="3200400" cy="256032"/>
          </a:xfrm>
          <a:prstGeom prst="rect">
            <a:avLst/>
          </a:prstGeom>
          <a:noFill/>
        </p:spPr>
        <p:txBody>
          <a:bodyPr wrap="square" anchor="t" lIns="0" rIns="0" tIns="0" bIns="0">
            <a:spAutoFit/>
          </a:bodyPr>
          <a:lstStyle/>
          <a:p>
            <a:pPr algn="l">
              <a:spcBef>
                <a:spcPts val="0"/>
              </a:spcBef>
              <a:spcAft>
                <a:spcPts val="0"/>
              </a:spcAft>
            </a:pPr>
            <a:r>
              <a:rPr sz="1200" b="1" i="0">
                <a:solidFill>
                  <a:srgbClr val="16233B"/>
                </a:solidFill>
                <a:latin typeface="Bahnschrift"/>
              </a:rPr>
              <a:t>Visual read</a:t>
            </a:r>
          </a:p>
        </p:txBody>
      </p:sp>
      <p:sp>
        <p:nvSpPr>
          <p:cNvPr id="28" name="TextBox 27"/>
          <p:cNvSpPr txBox="1"/>
          <p:nvPr/>
        </p:nvSpPr>
        <p:spPr>
          <a:xfrm>
            <a:off x="4681728" y="3456432"/>
            <a:ext cx="6668719" cy="512064"/>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6B7280"/>
                </a:solidFill>
                <a:latin typeface="Georgia"/>
              </a:rPr>
              <a:t>The deck is converted to PDF and pages are actually looked at. This layer exists because the geometry checks inspect declared shape positions, not rendered pixels, and a real clipped table survived both of them.</a:t>
            </a:r>
          </a:p>
        </p:txBody>
      </p:sp>
      <p:sp>
        <p:nvSpPr>
          <p:cNvPr id="29" name="Rectangle 28"/>
          <p:cNvSpPr/>
          <p:nvPr/>
        </p:nvSpPr>
        <p:spPr>
          <a:xfrm>
            <a:off x="841248" y="42153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1248" y="4352544"/>
            <a:ext cx="365760" cy="365760"/>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 y="4352544"/>
            <a:ext cx="365760" cy="365760"/>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Bahnschrift"/>
              </a:rPr>
              <a:t>4</a:t>
            </a:r>
          </a:p>
        </p:txBody>
      </p:sp>
      <p:sp>
        <p:nvSpPr>
          <p:cNvPr id="32" name="TextBox 31"/>
          <p:cNvSpPr txBox="1"/>
          <p:nvPr/>
        </p:nvSpPr>
        <p:spPr>
          <a:xfrm>
            <a:off x="1371600" y="4306824"/>
            <a:ext cx="3200400" cy="256032"/>
          </a:xfrm>
          <a:prstGeom prst="rect">
            <a:avLst/>
          </a:prstGeom>
          <a:noFill/>
        </p:spPr>
        <p:txBody>
          <a:bodyPr wrap="square" anchor="t" lIns="0" rIns="0" tIns="0" bIns="0">
            <a:spAutoFit/>
          </a:bodyPr>
          <a:lstStyle/>
          <a:p>
            <a:pPr algn="l">
              <a:spcBef>
                <a:spcPts val="0"/>
              </a:spcBef>
              <a:spcAft>
                <a:spcPts val="0"/>
              </a:spcAft>
            </a:pPr>
            <a:r>
              <a:rPr sz="1200" b="1" i="0">
                <a:solidFill>
                  <a:srgbClr val="16233B"/>
                </a:solidFill>
                <a:latin typeface="Bahnschrift"/>
              </a:rPr>
              <a:t>Reconciliation</a:t>
            </a:r>
          </a:p>
        </p:txBody>
      </p:sp>
      <p:sp>
        <p:nvSpPr>
          <p:cNvPr id="33" name="TextBox 32"/>
          <p:cNvSpPr txBox="1"/>
          <p:nvPr/>
        </p:nvSpPr>
        <p:spPr>
          <a:xfrm>
            <a:off x="4681728" y="4297680"/>
            <a:ext cx="6668719" cy="512064"/>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6B7280"/>
                </a:solidFill>
                <a:latin typeface="Georgia"/>
              </a:rPr>
              <a:t>Any figure appearing on two pages must reconcile or be explicitly scoped. Counts on a summary page are computed from the same source as the detail pages, never retyped.</a:t>
            </a:r>
          </a:p>
        </p:txBody>
      </p:sp>
      <p:sp>
        <p:nvSpPr>
          <p:cNvPr id="34" name="Rectangle 33"/>
          <p:cNvSpPr/>
          <p:nvPr/>
        </p:nvSpPr>
        <p:spPr>
          <a:xfrm>
            <a:off x="841248" y="505663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41248" y="5321808"/>
            <a:ext cx="10509199" cy="905256"/>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41248" y="5321808"/>
            <a:ext cx="54864" cy="905256"/>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2416" y="5449824"/>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THEN, AND ONLY THEN, A PERSON</a:t>
            </a:r>
          </a:p>
        </p:txBody>
      </p:sp>
      <p:sp>
        <p:nvSpPr>
          <p:cNvPr id="38" name="TextBox 37"/>
          <p:cNvSpPr txBox="1"/>
          <p:nvPr/>
        </p:nvSpPr>
        <p:spPr>
          <a:xfrm>
            <a:off x="1042416" y="5724144"/>
            <a:ext cx="10143439" cy="44805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Passing all four gates makes a deck eligible for review, not approved. The Principal or CEO countersignature is the fifth layer, and it is the one that actually authorises a client copy.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4.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04</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04</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The deliverable</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Real rendered pages from the review deck</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Understanding the mandate</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portfolio x-ray</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equity book</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fund book</a:t>
            </a:r>
          </a:p>
        </p:txBody>
      </p:sp>
      <p:sp>
        <p:nvSpPr>
          <p:cNvPr id="14" name="TextBox 13"/>
          <p:cNvSpPr txBox="1"/>
          <p:nvPr/>
        </p:nvSpPr>
        <p:spPr>
          <a:xfrm>
            <a:off x="841248" y="6080759"/>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Recommendations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THE DELIVERABLE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Sample pages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How it looks in the client's hands  (1 of 7)</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19</a:t>
            </a:r>
          </a:p>
        </p:txBody>
      </p:sp>
      <p:sp>
        <p:nvSpPr>
          <p:cNvPr id="15" name="Rectangle 14"/>
          <p:cNvSpPr/>
          <p:nvPr/>
        </p:nvSpPr>
        <p:spPr>
          <a:xfrm>
            <a:off x="841248"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nap_00_p001.png"/>
          <p:cNvPicPr>
            <a:picLocks noChangeAspect="1"/>
          </p:cNvPicPr>
          <p:nvPr/>
        </p:nvPicPr>
        <p:blipFill>
          <a:blip r:embed="rId3"/>
          <a:stretch>
            <a:fillRect/>
          </a:stretch>
        </p:blipFill>
        <p:spPr>
          <a:xfrm>
            <a:off x="859536" y="1802511"/>
            <a:ext cx="5035143" cy="2832268"/>
          </a:xfrm>
          <a:prstGeom prst="rect">
            <a:avLst/>
          </a:prstGeom>
        </p:spPr>
      </p:pic>
      <p:sp>
        <p:nvSpPr>
          <p:cNvPr id="17" name="TextBox 16"/>
          <p:cNvSpPr txBox="1"/>
          <p:nvPr/>
        </p:nvSpPr>
        <p:spPr>
          <a:xfrm>
            <a:off x="841248"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1</a:t>
            </a:r>
          </a:p>
        </p:txBody>
      </p:sp>
      <p:sp>
        <p:nvSpPr>
          <p:cNvPr id="18" name="TextBox 17"/>
          <p:cNvSpPr txBox="1"/>
          <p:nvPr/>
        </p:nvSpPr>
        <p:spPr>
          <a:xfrm>
            <a:off x="841248"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Cover. Client, mandate and as-of date, with the synthetic-book label printed on the page.</a:t>
            </a:r>
          </a:p>
        </p:txBody>
      </p:sp>
      <p:sp>
        <p:nvSpPr>
          <p:cNvPr id="19" name="Rectangle 18"/>
          <p:cNvSpPr/>
          <p:nvPr/>
        </p:nvSpPr>
        <p:spPr>
          <a:xfrm>
            <a:off x="6278727"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nap_01_p003.png"/>
          <p:cNvPicPr>
            <a:picLocks noChangeAspect="1"/>
          </p:cNvPicPr>
          <p:nvPr/>
        </p:nvPicPr>
        <p:blipFill>
          <a:blip r:embed="rId4"/>
          <a:stretch>
            <a:fillRect/>
          </a:stretch>
        </p:blipFill>
        <p:spPr>
          <a:xfrm>
            <a:off x="6297015" y="1802511"/>
            <a:ext cx="5035143" cy="2832268"/>
          </a:xfrm>
          <a:prstGeom prst="rect">
            <a:avLst/>
          </a:prstGeom>
        </p:spPr>
      </p:pic>
      <p:sp>
        <p:nvSpPr>
          <p:cNvPr id="21" name="TextBox 20"/>
          <p:cNvSpPr txBox="1"/>
          <p:nvPr/>
        </p:nvSpPr>
        <p:spPr>
          <a:xfrm>
            <a:off x="6278727"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3</a:t>
            </a:r>
          </a:p>
        </p:txBody>
      </p:sp>
      <p:sp>
        <p:nvSpPr>
          <p:cNvPr id="22" name="TextBox 21"/>
          <p:cNvSpPr txBox="1"/>
          <p:nvPr/>
        </p:nvSpPr>
        <p:spPr>
          <a:xfrm>
            <a:off x="6278727"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The mandate page. Every parameter's Current column is computed live from the holdings, never typed.</a:t>
            </a:r>
          </a:p>
        </p:txBody>
      </p:sp>
      <p:sp>
        <p:nvSpPr>
          <p:cNvPr id="23" name="TextBox 2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Rendered from the house demo book on an aggressive mandate. Synthetic holdings, real engine, real template.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THE DELIVERABLE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Sample pages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How it looks in the client's hands  (2 of 7)</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20</a:t>
            </a:r>
          </a:p>
        </p:txBody>
      </p:sp>
      <p:sp>
        <p:nvSpPr>
          <p:cNvPr id="15" name="Rectangle 14"/>
          <p:cNvSpPr/>
          <p:nvPr/>
        </p:nvSpPr>
        <p:spPr>
          <a:xfrm>
            <a:off x="841248"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nap_02_p004.png"/>
          <p:cNvPicPr>
            <a:picLocks noChangeAspect="1"/>
          </p:cNvPicPr>
          <p:nvPr/>
        </p:nvPicPr>
        <p:blipFill>
          <a:blip r:embed="rId3"/>
          <a:stretch>
            <a:fillRect/>
          </a:stretch>
        </p:blipFill>
        <p:spPr>
          <a:xfrm>
            <a:off x="859536" y="1802511"/>
            <a:ext cx="5035143" cy="2832268"/>
          </a:xfrm>
          <a:prstGeom prst="rect">
            <a:avLst/>
          </a:prstGeom>
        </p:spPr>
      </p:pic>
      <p:sp>
        <p:nvSpPr>
          <p:cNvPr id="17" name="TextBox 16"/>
          <p:cNvSpPr txBox="1"/>
          <p:nvPr/>
        </p:nvSpPr>
        <p:spPr>
          <a:xfrm>
            <a:off x="841248"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4</a:t>
            </a:r>
          </a:p>
        </p:txBody>
      </p:sp>
      <p:sp>
        <p:nvSpPr>
          <p:cNvPr id="18" name="TextBox 17"/>
          <p:cNvSpPr txBox="1"/>
          <p:nvPr/>
        </p:nvSpPr>
        <p:spPr>
          <a:xfrm>
            <a:off x="841248"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Executive summary. Five gaps, each with one action and a pointer to the page that proves it.</a:t>
            </a:r>
          </a:p>
        </p:txBody>
      </p:sp>
      <p:sp>
        <p:nvSpPr>
          <p:cNvPr id="19" name="Rectangle 18"/>
          <p:cNvSpPr/>
          <p:nvPr/>
        </p:nvSpPr>
        <p:spPr>
          <a:xfrm>
            <a:off x="6278727"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nap_03_p007.png"/>
          <p:cNvPicPr>
            <a:picLocks noChangeAspect="1"/>
          </p:cNvPicPr>
          <p:nvPr/>
        </p:nvPicPr>
        <p:blipFill>
          <a:blip r:embed="rId4"/>
          <a:stretch>
            <a:fillRect/>
          </a:stretch>
        </p:blipFill>
        <p:spPr>
          <a:xfrm>
            <a:off x="6297015" y="1802511"/>
            <a:ext cx="5035143" cy="2832268"/>
          </a:xfrm>
          <a:prstGeom prst="rect">
            <a:avLst/>
          </a:prstGeom>
        </p:spPr>
      </p:pic>
      <p:sp>
        <p:nvSpPr>
          <p:cNvPr id="21" name="TextBox 20"/>
          <p:cNvSpPr txBox="1"/>
          <p:nvPr/>
        </p:nvSpPr>
        <p:spPr>
          <a:xfrm>
            <a:off x="6278727"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7</a:t>
            </a:r>
          </a:p>
        </p:txBody>
      </p:sp>
      <p:sp>
        <p:nvSpPr>
          <p:cNvPr id="22" name="TextBox 21"/>
          <p:cNvSpPr txBox="1"/>
          <p:nvPr/>
        </p:nvSpPr>
        <p:spPr>
          <a:xfrm>
            <a:off x="6278727"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Snapshot. Composition, and an explicit statement of what is in scope versus out.</a:t>
            </a:r>
          </a:p>
        </p:txBody>
      </p:sp>
      <p:sp>
        <p:nvSpPr>
          <p:cNvPr id="23" name="TextBox 2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Rendered from the house demo book on an aggressive mandate. Synthetic holdings, real engine, real template.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THE DELIVERABLE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Sample pages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How it looks in the client's hands  (3 of 7)</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21</a:t>
            </a:r>
          </a:p>
        </p:txBody>
      </p:sp>
      <p:sp>
        <p:nvSpPr>
          <p:cNvPr id="15" name="Rectangle 14"/>
          <p:cNvSpPr/>
          <p:nvPr/>
        </p:nvSpPr>
        <p:spPr>
          <a:xfrm>
            <a:off x="841248"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nap_04_p009.png"/>
          <p:cNvPicPr>
            <a:picLocks noChangeAspect="1"/>
          </p:cNvPicPr>
          <p:nvPr/>
        </p:nvPicPr>
        <p:blipFill>
          <a:blip r:embed="rId3"/>
          <a:stretch>
            <a:fillRect/>
          </a:stretch>
        </p:blipFill>
        <p:spPr>
          <a:xfrm>
            <a:off x="859536" y="1802511"/>
            <a:ext cx="5035143" cy="2832268"/>
          </a:xfrm>
          <a:prstGeom prst="rect">
            <a:avLst/>
          </a:prstGeom>
        </p:spPr>
      </p:pic>
      <p:sp>
        <p:nvSpPr>
          <p:cNvPr id="17" name="TextBox 16"/>
          <p:cNvSpPr txBox="1"/>
          <p:nvPr/>
        </p:nvSpPr>
        <p:spPr>
          <a:xfrm>
            <a:off x="841248"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9</a:t>
            </a:r>
          </a:p>
        </p:txBody>
      </p:sp>
      <p:sp>
        <p:nvSpPr>
          <p:cNvPr id="18" name="TextBox 17"/>
          <p:cNvSpPr txBox="1"/>
          <p:nvPr/>
        </p:nvSpPr>
        <p:spPr>
          <a:xfrm>
            <a:off x="841248"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Concentration, measured against this mandate's own cap rather than a generic rule.</a:t>
            </a:r>
          </a:p>
        </p:txBody>
      </p:sp>
      <p:sp>
        <p:nvSpPr>
          <p:cNvPr id="19" name="Rectangle 18"/>
          <p:cNvSpPr/>
          <p:nvPr/>
        </p:nvSpPr>
        <p:spPr>
          <a:xfrm>
            <a:off x="6278727"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nap_05_p010.png"/>
          <p:cNvPicPr>
            <a:picLocks noChangeAspect="1"/>
          </p:cNvPicPr>
          <p:nvPr/>
        </p:nvPicPr>
        <p:blipFill>
          <a:blip r:embed="rId4"/>
          <a:stretch>
            <a:fillRect/>
          </a:stretch>
        </p:blipFill>
        <p:spPr>
          <a:xfrm>
            <a:off x="6297015" y="1802511"/>
            <a:ext cx="5035143" cy="2832268"/>
          </a:xfrm>
          <a:prstGeom prst="rect">
            <a:avLst/>
          </a:prstGeom>
        </p:spPr>
      </p:pic>
      <p:sp>
        <p:nvSpPr>
          <p:cNvPr id="21" name="TextBox 20"/>
          <p:cNvSpPr txBox="1"/>
          <p:nvPr/>
        </p:nvSpPr>
        <p:spPr>
          <a:xfrm>
            <a:off x="6278727"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10</a:t>
            </a:r>
          </a:p>
        </p:txBody>
      </p:sp>
      <p:sp>
        <p:nvSpPr>
          <p:cNvPr id="22" name="TextBox 21"/>
          <p:cNvSpPr txBox="1"/>
          <p:nvPr/>
        </p:nvSpPr>
        <p:spPr>
          <a:xfrm>
            <a:off x="6278727"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Sector weights, with a standing note that the fund sleeve is not looked through here.</a:t>
            </a:r>
          </a:p>
        </p:txBody>
      </p:sp>
      <p:sp>
        <p:nvSpPr>
          <p:cNvPr id="23" name="TextBox 2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Rendered from the house demo book on an aggressive mandate. Synthetic holdings, real engine, real template.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THE DELIVERABLE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Sample pages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How it looks in the client's hands  (4 of 7)</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22</a:t>
            </a:r>
          </a:p>
        </p:txBody>
      </p:sp>
      <p:sp>
        <p:nvSpPr>
          <p:cNvPr id="15" name="Rectangle 14"/>
          <p:cNvSpPr/>
          <p:nvPr/>
        </p:nvSpPr>
        <p:spPr>
          <a:xfrm>
            <a:off x="841248"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nap_06_p013.png"/>
          <p:cNvPicPr>
            <a:picLocks noChangeAspect="1"/>
          </p:cNvPicPr>
          <p:nvPr/>
        </p:nvPicPr>
        <p:blipFill>
          <a:blip r:embed="rId3"/>
          <a:stretch>
            <a:fillRect/>
          </a:stretch>
        </p:blipFill>
        <p:spPr>
          <a:xfrm>
            <a:off x="859536" y="1802511"/>
            <a:ext cx="5035143" cy="2832268"/>
          </a:xfrm>
          <a:prstGeom prst="rect">
            <a:avLst/>
          </a:prstGeom>
        </p:spPr>
      </p:pic>
      <p:sp>
        <p:nvSpPr>
          <p:cNvPr id="17" name="TextBox 16"/>
          <p:cNvSpPr txBox="1"/>
          <p:nvPr/>
        </p:nvSpPr>
        <p:spPr>
          <a:xfrm>
            <a:off x="841248"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13</a:t>
            </a:r>
          </a:p>
        </p:txBody>
      </p:sp>
      <p:sp>
        <p:nvSpPr>
          <p:cNvPr id="18" name="TextBox 17"/>
          <p:cNvSpPr txBox="1"/>
          <p:nvPr/>
        </p:nvSpPr>
        <p:spPr>
          <a:xfrm>
            <a:off x="841248"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The scoring method, explained to the client in plain language.</a:t>
            </a:r>
          </a:p>
        </p:txBody>
      </p:sp>
      <p:sp>
        <p:nvSpPr>
          <p:cNvPr id="19" name="Rectangle 18"/>
          <p:cNvSpPr/>
          <p:nvPr/>
        </p:nvSpPr>
        <p:spPr>
          <a:xfrm>
            <a:off x="6278727"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nap_07_p014.png"/>
          <p:cNvPicPr>
            <a:picLocks noChangeAspect="1"/>
          </p:cNvPicPr>
          <p:nvPr/>
        </p:nvPicPr>
        <p:blipFill>
          <a:blip r:embed="rId4"/>
          <a:stretch>
            <a:fillRect/>
          </a:stretch>
        </p:blipFill>
        <p:spPr>
          <a:xfrm>
            <a:off x="6297015" y="1802511"/>
            <a:ext cx="5035143" cy="2832268"/>
          </a:xfrm>
          <a:prstGeom prst="rect">
            <a:avLst/>
          </a:prstGeom>
        </p:spPr>
      </p:pic>
      <p:sp>
        <p:nvSpPr>
          <p:cNvPr id="21" name="TextBox 20"/>
          <p:cNvSpPr txBox="1"/>
          <p:nvPr/>
        </p:nvSpPr>
        <p:spPr>
          <a:xfrm>
            <a:off x="6278727"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14</a:t>
            </a:r>
          </a:p>
        </p:txBody>
      </p:sp>
      <p:sp>
        <p:nvSpPr>
          <p:cNvPr id="22" name="TextBox 21"/>
          <p:cNvSpPr txBox="1"/>
          <p:nvPr/>
        </p:nvSpPr>
        <p:spPr>
          <a:xfrm>
            <a:off x="6278727"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Every holding with its score, its call, and the desk's one-line read.</a:t>
            </a:r>
          </a:p>
        </p:txBody>
      </p:sp>
      <p:sp>
        <p:nvSpPr>
          <p:cNvPr id="23" name="TextBox 2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Rendered from the house demo book on an aggressive mandate. Synthetic holdings, real engine, real template.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THE DELIVERABLE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Sample pages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How it looks in the client's hands  (5 of 7)</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23</a:t>
            </a:r>
          </a:p>
        </p:txBody>
      </p:sp>
      <p:sp>
        <p:nvSpPr>
          <p:cNvPr id="15" name="Rectangle 14"/>
          <p:cNvSpPr/>
          <p:nvPr/>
        </p:nvSpPr>
        <p:spPr>
          <a:xfrm>
            <a:off x="841248"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nap_08_p016.png"/>
          <p:cNvPicPr>
            <a:picLocks noChangeAspect="1"/>
          </p:cNvPicPr>
          <p:nvPr/>
        </p:nvPicPr>
        <p:blipFill>
          <a:blip r:embed="rId3"/>
          <a:stretch>
            <a:fillRect/>
          </a:stretch>
        </p:blipFill>
        <p:spPr>
          <a:xfrm>
            <a:off x="859536" y="1802511"/>
            <a:ext cx="5035143" cy="2832268"/>
          </a:xfrm>
          <a:prstGeom prst="rect">
            <a:avLst/>
          </a:prstGeom>
        </p:spPr>
      </p:pic>
      <p:sp>
        <p:nvSpPr>
          <p:cNvPr id="17" name="TextBox 16"/>
          <p:cNvSpPr txBox="1"/>
          <p:nvPr/>
        </p:nvSpPr>
        <p:spPr>
          <a:xfrm>
            <a:off x="841248"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16</a:t>
            </a:r>
          </a:p>
        </p:txBody>
      </p:sp>
      <p:sp>
        <p:nvSpPr>
          <p:cNvPr id="18" name="TextBox 17"/>
          <p:cNvSpPr txBox="1"/>
          <p:nvPr/>
        </p:nvSpPr>
        <p:spPr>
          <a:xfrm>
            <a:off x="841248"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The sell list. Confirmed sells only, each linked to its full rationale page.</a:t>
            </a:r>
          </a:p>
        </p:txBody>
      </p:sp>
      <p:sp>
        <p:nvSpPr>
          <p:cNvPr id="19" name="Rectangle 18"/>
          <p:cNvSpPr/>
          <p:nvPr/>
        </p:nvSpPr>
        <p:spPr>
          <a:xfrm>
            <a:off x="6278727"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nap_09_p020.png"/>
          <p:cNvPicPr>
            <a:picLocks noChangeAspect="1"/>
          </p:cNvPicPr>
          <p:nvPr/>
        </p:nvPicPr>
        <p:blipFill>
          <a:blip r:embed="rId4"/>
          <a:stretch>
            <a:fillRect/>
          </a:stretch>
        </p:blipFill>
        <p:spPr>
          <a:xfrm>
            <a:off x="6297015" y="1802511"/>
            <a:ext cx="5035143" cy="2832268"/>
          </a:xfrm>
          <a:prstGeom prst="rect">
            <a:avLst/>
          </a:prstGeom>
        </p:spPr>
      </p:pic>
      <p:sp>
        <p:nvSpPr>
          <p:cNvPr id="21" name="TextBox 20"/>
          <p:cNvSpPr txBox="1"/>
          <p:nvPr/>
        </p:nvSpPr>
        <p:spPr>
          <a:xfrm>
            <a:off x="6278727"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20</a:t>
            </a:r>
          </a:p>
        </p:txBody>
      </p:sp>
      <p:sp>
        <p:nvSpPr>
          <p:cNvPr id="22" name="TextBox 21"/>
          <p:cNvSpPr txBox="1"/>
          <p:nvPr/>
        </p:nvSpPr>
        <p:spPr>
          <a:xfrm>
            <a:off x="6278727"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The fund book: a 0-100 quality score and a grade for every scheme.</a:t>
            </a:r>
          </a:p>
        </p:txBody>
      </p:sp>
      <p:sp>
        <p:nvSpPr>
          <p:cNvPr id="23" name="TextBox 2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Rendered from the house demo book on an aggressive mandate. Synthetic holdings, real engine, real template.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THE DELIVERABLE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Sample pages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How it looks in the client's hands  (6 of 7)</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24</a:t>
            </a:r>
          </a:p>
        </p:txBody>
      </p:sp>
      <p:sp>
        <p:nvSpPr>
          <p:cNvPr id="15" name="Rectangle 14"/>
          <p:cNvSpPr/>
          <p:nvPr/>
        </p:nvSpPr>
        <p:spPr>
          <a:xfrm>
            <a:off x="841248"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nap_10_p027.png"/>
          <p:cNvPicPr>
            <a:picLocks noChangeAspect="1"/>
          </p:cNvPicPr>
          <p:nvPr/>
        </p:nvPicPr>
        <p:blipFill>
          <a:blip r:embed="rId3"/>
          <a:stretch>
            <a:fillRect/>
          </a:stretch>
        </p:blipFill>
        <p:spPr>
          <a:xfrm>
            <a:off x="859536" y="1802511"/>
            <a:ext cx="5035143" cy="2832268"/>
          </a:xfrm>
          <a:prstGeom prst="rect">
            <a:avLst/>
          </a:prstGeom>
        </p:spPr>
      </p:pic>
      <p:sp>
        <p:nvSpPr>
          <p:cNvPr id="17" name="TextBox 16"/>
          <p:cNvSpPr txBox="1"/>
          <p:nvPr/>
        </p:nvSpPr>
        <p:spPr>
          <a:xfrm>
            <a:off x="841248"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27</a:t>
            </a:r>
          </a:p>
        </p:txBody>
      </p:sp>
      <p:sp>
        <p:nvSpPr>
          <p:cNvPr id="18" name="TextBox 17"/>
          <p:cNvSpPr txBox="1"/>
          <p:nvPr/>
        </p:nvSpPr>
        <p:spPr>
          <a:xfrm>
            <a:off x="841248"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Tax. Fund actions on the left, the direct-equity plan on the right, each scope named.</a:t>
            </a:r>
          </a:p>
        </p:txBody>
      </p:sp>
      <p:sp>
        <p:nvSpPr>
          <p:cNvPr id="19" name="Rectangle 18"/>
          <p:cNvSpPr/>
          <p:nvPr/>
        </p:nvSpPr>
        <p:spPr>
          <a:xfrm>
            <a:off x="6278727"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nap_11_p028.png"/>
          <p:cNvPicPr>
            <a:picLocks noChangeAspect="1"/>
          </p:cNvPicPr>
          <p:nvPr/>
        </p:nvPicPr>
        <p:blipFill>
          <a:blip r:embed="rId4"/>
          <a:stretch>
            <a:fillRect/>
          </a:stretch>
        </p:blipFill>
        <p:spPr>
          <a:xfrm>
            <a:off x="6297015" y="1802511"/>
            <a:ext cx="5035143" cy="2832268"/>
          </a:xfrm>
          <a:prstGeom prst="rect">
            <a:avLst/>
          </a:prstGeom>
        </p:spPr>
      </p:pic>
      <p:sp>
        <p:nvSpPr>
          <p:cNvPr id="21" name="TextBox 20"/>
          <p:cNvSpPr txBox="1"/>
          <p:nvPr/>
        </p:nvSpPr>
        <p:spPr>
          <a:xfrm>
            <a:off x="6278727"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28</a:t>
            </a:r>
          </a:p>
        </p:txBody>
      </p:sp>
      <p:sp>
        <p:nvSpPr>
          <p:cNvPr id="22" name="TextBox 21"/>
          <p:cNvSpPr txBox="1"/>
          <p:nvPr/>
        </p:nvSpPr>
        <p:spPr>
          <a:xfrm>
            <a:off x="6278727"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The action plan, in order, with amounts and an authorisation line.</a:t>
            </a:r>
          </a:p>
        </p:txBody>
      </p:sp>
      <p:sp>
        <p:nvSpPr>
          <p:cNvPr id="23" name="TextBox 2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Rendered from the house demo book on an aggressive mandate. Synthetic holdings, real engine, real template.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THE DELIVERABLE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Sample pages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How it looks in the client's hands  (7 of 7)</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25</a:t>
            </a:r>
          </a:p>
        </p:txBody>
      </p:sp>
      <p:sp>
        <p:nvSpPr>
          <p:cNvPr id="15" name="Rectangle 14"/>
          <p:cNvSpPr/>
          <p:nvPr/>
        </p:nvSpPr>
        <p:spPr>
          <a:xfrm>
            <a:off x="841248"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nap_12_p039.png"/>
          <p:cNvPicPr>
            <a:picLocks noChangeAspect="1"/>
          </p:cNvPicPr>
          <p:nvPr/>
        </p:nvPicPr>
        <p:blipFill>
          <a:blip r:embed="rId3"/>
          <a:stretch>
            <a:fillRect/>
          </a:stretch>
        </p:blipFill>
        <p:spPr>
          <a:xfrm>
            <a:off x="859536" y="1802511"/>
            <a:ext cx="5035143" cy="2832268"/>
          </a:xfrm>
          <a:prstGeom prst="rect">
            <a:avLst/>
          </a:prstGeom>
        </p:spPr>
      </p:pic>
      <p:sp>
        <p:nvSpPr>
          <p:cNvPr id="17" name="TextBox 16"/>
          <p:cNvSpPr txBox="1"/>
          <p:nvPr/>
        </p:nvSpPr>
        <p:spPr>
          <a:xfrm>
            <a:off x="841248"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39</a:t>
            </a:r>
          </a:p>
        </p:txBody>
      </p:sp>
      <p:sp>
        <p:nvSpPr>
          <p:cNvPr id="18" name="TextBox 17"/>
          <p:cNvSpPr txBox="1"/>
          <p:nvPr/>
        </p:nvSpPr>
        <p:spPr>
          <a:xfrm>
            <a:off x="841248"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One card per sell: the case, the bull we rejected, the reverse-DCF, and the exit test.</a:t>
            </a:r>
          </a:p>
        </p:txBody>
      </p:sp>
      <p:sp>
        <p:nvSpPr>
          <p:cNvPr id="19" name="Rectangle 18"/>
          <p:cNvSpPr/>
          <p:nvPr/>
        </p:nvSpPr>
        <p:spPr>
          <a:xfrm>
            <a:off x="6278727" y="1773936"/>
            <a:ext cx="5071719" cy="2889418"/>
          </a:xfrm>
          <a:prstGeom prst="rect">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nap_13_p049.png"/>
          <p:cNvPicPr>
            <a:picLocks noChangeAspect="1"/>
          </p:cNvPicPr>
          <p:nvPr/>
        </p:nvPicPr>
        <p:blipFill>
          <a:blip r:embed="rId4"/>
          <a:stretch>
            <a:fillRect/>
          </a:stretch>
        </p:blipFill>
        <p:spPr>
          <a:xfrm>
            <a:off x="6297015" y="1802511"/>
            <a:ext cx="5035143" cy="2832268"/>
          </a:xfrm>
          <a:prstGeom prst="rect">
            <a:avLst/>
          </a:prstGeom>
        </p:spPr>
      </p:pic>
      <p:sp>
        <p:nvSpPr>
          <p:cNvPr id="21" name="TextBox 20"/>
          <p:cNvSpPr txBox="1"/>
          <p:nvPr/>
        </p:nvSpPr>
        <p:spPr>
          <a:xfrm>
            <a:off x="6278727" y="4773082"/>
            <a:ext cx="5071719" cy="219456"/>
          </a:xfrm>
          <a:prstGeom prst="rect">
            <a:avLst/>
          </a:prstGeom>
          <a:noFill/>
        </p:spPr>
        <p:txBody>
          <a:bodyPr wrap="square" anchor="t" lIns="0" rIns="0" tIns="0" bIns="0">
            <a:spAutoFit/>
          </a:bodyPr>
          <a:lstStyle/>
          <a:p>
            <a:pPr algn="l">
              <a:spcBef>
                <a:spcPts val="0"/>
              </a:spcBef>
              <a:spcAft>
                <a:spcPts val="0"/>
              </a:spcAft>
            </a:pPr>
            <a:r>
              <a:rPr sz="800" b="1" i="0" spc="200">
                <a:solidFill>
                  <a:srgbClr val="F2A93C"/>
                </a:solidFill>
                <a:latin typeface="Bahnschrift"/>
              </a:rPr>
              <a:t>PAGE 49</a:t>
            </a:r>
          </a:p>
        </p:txBody>
      </p:sp>
      <p:sp>
        <p:nvSpPr>
          <p:cNvPr id="22" name="TextBox 21"/>
          <p:cNvSpPr txBox="1"/>
          <p:nvPr/>
        </p:nvSpPr>
        <p:spPr>
          <a:xfrm>
            <a:off x="6278727" y="4992538"/>
            <a:ext cx="5071719" cy="777240"/>
          </a:xfrm>
          <a:prstGeom prst="rect">
            <a:avLst/>
          </a:prstGeom>
          <a:noFill/>
        </p:spPr>
        <p:txBody>
          <a:bodyPr wrap="square" anchor="t" lIns="0" rIns="0" tIns="0" bIns="0">
            <a:spAutoFit/>
          </a:bodyPr>
          <a:lstStyle/>
          <a:p>
            <a:pPr algn="l">
              <a:lnSpc>
                <a:spcPct val="106000"/>
              </a:lnSpc>
              <a:spcBef>
                <a:spcPts val="0"/>
              </a:spcBef>
              <a:spcAft>
                <a:spcPts val="0"/>
              </a:spcAft>
            </a:pPr>
            <a:r>
              <a:rPr sz="1000" b="0" i="0">
                <a:solidFill>
                  <a:srgbClr val="16233B"/>
                </a:solidFill>
                <a:latin typeface="Georgia"/>
              </a:rPr>
              <a:t>One scorecard per fund action, showing the metric battery behind the call.</a:t>
            </a:r>
          </a:p>
        </p:txBody>
      </p:sp>
      <p:sp>
        <p:nvSpPr>
          <p:cNvPr id="23" name="TextBox 2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Rendered from the house demo book on an aggressive mandate. Synthetic holdings, real engine, real template.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5.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05</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05</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Controls</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The compliance posture this product is built to</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Compliance posture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CONTROLS AND THE ASK</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Compliance posture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Built for a non-discretionary mandate, and constrained accordingly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27</a:t>
            </a:r>
          </a:p>
        </p:txBody>
      </p:sp>
      <p:sp>
        <p:nvSpPr>
          <p:cNvPr id="15" name="TextBox 14"/>
          <p:cNvSpPr txBox="1"/>
          <p:nvPr/>
        </p:nvSpPr>
        <p:spPr>
          <a:xfrm>
            <a:off x="914400" y="1755648"/>
            <a:ext cx="300645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CONTROL</a:t>
            </a:r>
          </a:p>
        </p:txBody>
      </p:sp>
      <p:sp>
        <p:nvSpPr>
          <p:cNvPr id="16" name="TextBox 15"/>
          <p:cNvSpPr txBox="1"/>
          <p:nvPr/>
        </p:nvSpPr>
        <p:spPr>
          <a:xfrm>
            <a:off x="4067159" y="1755648"/>
            <a:ext cx="72101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HOW IT IS ENFORCED</a:t>
            </a:r>
          </a:p>
        </p:txBody>
      </p:sp>
      <p:sp>
        <p:nvSpPr>
          <p:cNvPr id="17" name="Rectangle 16"/>
          <p:cNvSpPr/>
          <p:nvPr/>
        </p:nvSpPr>
        <p:spPr>
          <a:xfrm>
            <a:off x="841248" y="201168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2057400"/>
            <a:ext cx="3006455" cy="47548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No buy recommendations</a:t>
            </a:r>
          </a:p>
        </p:txBody>
      </p:sp>
      <p:sp>
        <p:nvSpPr>
          <p:cNvPr id="19" name="TextBox 18"/>
          <p:cNvSpPr txBox="1"/>
          <p:nvPr/>
        </p:nvSpPr>
        <p:spPr>
          <a:xfrm>
            <a:off x="4067159" y="2057400"/>
            <a:ext cx="7210135" cy="47548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The vocabulary is Sell, Trim or Hold. This is a review of holdings the client already owns, not a solicitation. The word is blocked by the client-copy scan.</a:t>
            </a:r>
          </a:p>
        </p:txBody>
      </p:sp>
      <p:sp>
        <p:nvSpPr>
          <p:cNvPr id="20" name="Rectangle 19"/>
          <p:cNvSpPr/>
          <p:nvPr/>
        </p:nvSpPr>
        <p:spPr>
          <a:xfrm>
            <a:off x="841248" y="2514600"/>
            <a:ext cx="10509199" cy="47548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532888"/>
            <a:ext cx="3006455" cy="47548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No target prices</a:t>
            </a:r>
          </a:p>
        </p:txBody>
      </p:sp>
      <p:sp>
        <p:nvSpPr>
          <p:cNvPr id="22" name="TextBox 21"/>
          <p:cNvSpPr txBox="1"/>
          <p:nvPr/>
        </p:nvSpPr>
        <p:spPr>
          <a:xfrm>
            <a:off x="4067159" y="2532888"/>
            <a:ext cx="7210135" cy="47548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No page carries a price objective or an implied return promise. Valuation is expressed as a judgment on what the multiple already assumes.</a:t>
            </a:r>
          </a:p>
        </p:txBody>
      </p:sp>
      <p:sp>
        <p:nvSpPr>
          <p:cNvPr id="23" name="TextBox 22"/>
          <p:cNvSpPr txBox="1"/>
          <p:nvPr/>
        </p:nvSpPr>
        <p:spPr>
          <a:xfrm>
            <a:off x="914400" y="3008376"/>
            <a:ext cx="3006455" cy="47548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Tax is flagged as an estimate</a:t>
            </a:r>
          </a:p>
        </p:txBody>
      </p:sp>
      <p:sp>
        <p:nvSpPr>
          <p:cNvPr id="24" name="TextBox 23"/>
          <p:cNvSpPr txBox="1"/>
          <p:nvPr/>
        </p:nvSpPr>
        <p:spPr>
          <a:xfrm>
            <a:off x="4067159" y="3008376"/>
            <a:ext cx="7210135" cy="47548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Tax characterisations are labelled indicative, with the client's own adviser named as the authority before dealing.</a:t>
            </a:r>
          </a:p>
        </p:txBody>
      </p:sp>
      <p:sp>
        <p:nvSpPr>
          <p:cNvPr id="25" name="Rectangle 24"/>
          <p:cNvSpPr/>
          <p:nvPr/>
        </p:nvSpPr>
        <p:spPr>
          <a:xfrm>
            <a:off x="841248" y="3465576"/>
            <a:ext cx="10509199" cy="47548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483864"/>
            <a:ext cx="3006455" cy="47548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Gaps are disclosed, not filled</a:t>
            </a:r>
          </a:p>
        </p:txBody>
      </p:sp>
      <p:sp>
        <p:nvSpPr>
          <p:cNvPr id="27" name="TextBox 26"/>
          <p:cNvSpPr txBox="1"/>
          <p:nvPr/>
        </p:nvSpPr>
        <p:spPr>
          <a:xfrm>
            <a:off x="4067159" y="3483864"/>
            <a:ext cx="7210135" cy="47548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Where cost basis, coverage or fund data is missing, the deck says so on the page rather than substituting an assumption.</a:t>
            </a:r>
          </a:p>
        </p:txBody>
      </p:sp>
      <p:sp>
        <p:nvSpPr>
          <p:cNvPr id="28" name="TextBox 27"/>
          <p:cNvSpPr txBox="1"/>
          <p:nvPr/>
        </p:nvSpPr>
        <p:spPr>
          <a:xfrm>
            <a:off x="914400" y="3959352"/>
            <a:ext cx="3006455" cy="475488"/>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Every client copy is signed</a:t>
            </a:r>
          </a:p>
        </p:txBody>
      </p:sp>
      <p:sp>
        <p:nvSpPr>
          <p:cNvPr id="29" name="TextBox 28"/>
          <p:cNvSpPr txBox="1"/>
          <p:nvPr/>
        </p:nvSpPr>
        <p:spPr>
          <a:xfrm>
            <a:off x="4067159" y="3959352"/>
            <a:ext cx="7210135" cy="47548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Principal or CEO countersignature, with no standing exemption for a repeat client or a routine refresh.</a:t>
            </a:r>
          </a:p>
        </p:txBody>
      </p:sp>
      <p:sp>
        <p:nvSpPr>
          <p:cNvPr id="30" name="Rounded Rectangle 29"/>
          <p:cNvSpPr/>
          <p:nvPr/>
        </p:nvSpPr>
        <p:spPr>
          <a:xfrm>
            <a:off x="841248" y="4581144"/>
            <a:ext cx="10509199" cy="786384"/>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41248" y="4581144"/>
            <a:ext cx="54864" cy="78638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2416" y="4709159"/>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STANDING RULE BEHIND ALL OF IT</a:t>
            </a:r>
          </a:p>
        </p:txBody>
      </p:sp>
      <p:sp>
        <p:nvSpPr>
          <p:cNvPr id="33" name="TextBox 32"/>
          <p:cNvSpPr txBox="1"/>
          <p:nvPr/>
        </p:nvSpPr>
        <p:spPr>
          <a:xfrm>
            <a:off x="1042416" y="4983480"/>
            <a:ext cx="10143439" cy="329184"/>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We do not fabricate. An estimate is labelled an estimate, a gap is shown as a gap, and a number we cannot source does not go on a client page. Every control above follows from that one commitment.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