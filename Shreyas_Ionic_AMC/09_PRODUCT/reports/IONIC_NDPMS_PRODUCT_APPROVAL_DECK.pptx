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9.png"/><Relationship Id="rId4"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1.png"/><Relationship Id="rId4"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3.png"/><Relationship Id="rId4" Type="http://schemas.openxmlformats.org/officeDocument/2006/relationships/image" Target="../media/image1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5.png"/><Relationship Id="rId4" Type="http://schemas.openxmlformats.org/officeDocument/2006/relationships/image" Target="../media/image1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7.png"/><Relationship Id="rId4" Type="http://schemas.openxmlformats.org/officeDocument/2006/relationships/image" Target="../media/image1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9.png"/><Relationship Id="rId4" Type="http://schemas.openxmlformats.org/officeDocument/2006/relationships/image" Target="../media/image2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ac_cover_art.png"/>
          <p:cNvPicPr>
            <a:picLocks noChangeAspect="1"/>
          </p:cNvPicPr>
          <p:nvPr/>
        </p:nvPicPr>
        <p:blipFill>
          <a:blip r:embed="rId2"/>
          <a:stretch>
            <a:fillRect/>
          </a:stretch>
        </p:blipFill>
        <p:spPr>
          <a:xfrm>
            <a:off x="7351775" y="91440"/>
            <a:ext cx="4846320" cy="6766560"/>
          </a:xfrm>
          <a:prstGeom prst="rect">
            <a:avLst/>
          </a:prstGeom>
        </p:spPr>
      </p:pic>
      <p:sp>
        <p:nvSpPr>
          <p:cNvPr id="4" name="Rectangle 3"/>
          <p:cNvSpPr/>
          <p:nvPr/>
        </p:nvSpPr>
        <p:spPr>
          <a:xfrm>
            <a:off x="0" y="0"/>
            <a:ext cx="12191695" cy="9144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475488"/>
            <a:ext cx="4572000" cy="365760"/>
          </a:xfrm>
          <a:prstGeom prst="rect">
            <a:avLst/>
          </a:prstGeom>
          <a:noFill/>
        </p:spPr>
        <p:txBody>
          <a:bodyPr wrap="square" anchor="t" lIns="0" rIns="0" tIns="0" bIns="0">
            <a:spAutoFit/>
          </a:bodyPr>
          <a:lstStyle/>
          <a:p>
            <a:pPr algn="l">
              <a:spcBef>
                <a:spcPts val="0"/>
              </a:spcBef>
              <a:spcAft>
                <a:spcPts val="0"/>
              </a:spcAft>
            </a:pPr>
            <a:r>
              <a:rPr sz="1700" b="1" i="0" spc="100">
                <a:solidFill>
                  <a:srgbClr val="FFFFFF"/>
                </a:solidFill>
                <a:latin typeface="Bahnschrift"/>
              </a:rPr>
              <a:t>IONIC </a:t>
            </a:r>
            <a:r>
              <a:rPr sz="1700" b="0" i="0" spc="100">
                <a:solidFill>
                  <a:srgbClr val="C9CEF0"/>
                </a:solidFill>
                <a:latin typeface="Bahnschrift"/>
              </a:rPr>
              <a:t>WEALTH</a:t>
            </a:r>
          </a:p>
        </p:txBody>
      </p:sp>
      <p:sp>
        <p:nvSpPr>
          <p:cNvPr id="6" name="TextBox 5"/>
          <p:cNvSpPr txBox="1"/>
          <p:nvPr/>
        </p:nvSpPr>
        <p:spPr>
          <a:xfrm>
            <a:off x="841248" y="841248"/>
            <a:ext cx="4572000" cy="201168"/>
          </a:xfrm>
          <a:prstGeom prst="rect">
            <a:avLst/>
          </a:prstGeom>
          <a:noFill/>
        </p:spPr>
        <p:txBody>
          <a:bodyPr wrap="square" anchor="t" lIns="0" rIns="0" tIns="0" bIns="0">
            <a:spAutoFit/>
          </a:bodyPr>
          <a:lstStyle/>
          <a:p>
            <a:pPr algn="l">
              <a:spcBef>
                <a:spcPts val="0"/>
              </a:spcBef>
              <a:spcAft>
                <a:spcPts val="0"/>
              </a:spcAft>
            </a:pPr>
            <a:r>
              <a:rPr sz="750" b="1" i="0" spc="260">
                <a:solidFill>
                  <a:srgbClr val="F2A93C"/>
                </a:solidFill>
                <a:latin typeface="Bahnschrift"/>
              </a:rPr>
              <a:t>BY ANGEL ONE</a:t>
            </a:r>
          </a:p>
        </p:txBody>
      </p:sp>
      <p:sp>
        <p:nvSpPr>
          <p:cNvPr id="7" name="TextBox 6"/>
          <p:cNvSpPr txBox="1"/>
          <p:nvPr/>
        </p:nvSpPr>
        <p:spPr>
          <a:xfrm>
            <a:off x="841248" y="1920240"/>
            <a:ext cx="6583680" cy="777240"/>
          </a:xfrm>
          <a:prstGeom prst="rect">
            <a:avLst/>
          </a:prstGeom>
          <a:noFill/>
        </p:spPr>
        <p:txBody>
          <a:bodyPr wrap="square" anchor="t" lIns="0" rIns="0" tIns="0" bIns="0">
            <a:spAutoFit/>
          </a:bodyPr>
          <a:lstStyle/>
          <a:p>
            <a:pPr algn="l">
              <a:spcBef>
                <a:spcPts val="0"/>
              </a:spcBef>
              <a:spcAft>
                <a:spcPts val="0"/>
              </a:spcAft>
            </a:pPr>
            <a:r>
              <a:rPr sz="3600" b="1" i="0">
                <a:solidFill>
                  <a:srgbClr val="FFFFFF"/>
                </a:solidFill>
                <a:latin typeface="Bahnschrift"/>
              </a:rPr>
              <a:t>Portfolio Review </a:t>
            </a:r>
            <a:r>
              <a:rPr sz="3600" b="1" i="0">
                <a:solidFill>
                  <a:srgbClr val="F2A93C"/>
                </a:solidFill>
                <a:latin typeface="Bahnschrift"/>
              </a:rPr>
              <a:t>Engine</a:t>
            </a:r>
          </a:p>
        </p:txBody>
      </p:sp>
      <p:sp>
        <p:nvSpPr>
          <p:cNvPr id="8" name="TextBox 7"/>
          <p:cNvSpPr txBox="1"/>
          <p:nvPr/>
        </p:nvSpPr>
        <p:spPr>
          <a:xfrm>
            <a:off x="841248" y="2834640"/>
            <a:ext cx="6583680" cy="457200"/>
          </a:xfrm>
          <a:prstGeom prst="rect">
            <a:avLst/>
          </a:prstGeom>
          <a:noFill/>
        </p:spPr>
        <p:txBody>
          <a:bodyPr wrap="square" anchor="t" lIns="0" rIns="0" tIns="0" bIns="0">
            <a:spAutoFit/>
          </a:bodyPr>
          <a:lstStyle/>
          <a:p>
            <a:pPr algn="l">
              <a:spcBef>
                <a:spcPts val="0"/>
              </a:spcBef>
              <a:spcAft>
                <a:spcPts val="0"/>
              </a:spcAft>
            </a:pPr>
            <a:r>
              <a:rPr sz="1500" b="0" i="1">
                <a:solidFill>
                  <a:srgbClr val="C9CEF0"/>
                </a:solidFill>
                <a:latin typeface="Georgia"/>
              </a:rPr>
              <a:t>An NDPMS client-reporting product, end to end</a:t>
            </a:r>
          </a:p>
        </p:txBody>
      </p:sp>
      <p:sp>
        <p:nvSpPr>
          <p:cNvPr id="9" name="TextBox 8"/>
          <p:cNvSpPr txBox="1"/>
          <p:nvPr/>
        </p:nvSpPr>
        <p:spPr>
          <a:xfrm>
            <a:off x="841248" y="3611880"/>
            <a:ext cx="6583680" cy="274320"/>
          </a:xfrm>
          <a:prstGeom prst="rect">
            <a:avLst/>
          </a:prstGeom>
          <a:noFill/>
        </p:spPr>
        <p:txBody>
          <a:bodyPr wrap="square" anchor="t" lIns="0" rIns="0" tIns="0" bIns="0">
            <a:spAutoFit/>
          </a:bodyPr>
          <a:lstStyle/>
          <a:p>
            <a:pPr algn="l">
              <a:spcBef>
                <a:spcPts val="0"/>
              </a:spcBef>
              <a:spcAft>
                <a:spcPts val="0"/>
              </a:spcAft>
            </a:pPr>
            <a:r>
              <a:rPr sz="1000" b="1" i="0" spc="260">
                <a:solidFill>
                  <a:srgbClr val="8C95DE"/>
                </a:solidFill>
                <a:latin typeface="Bahnschrift"/>
              </a:rPr>
              <a:t>FOR REVIEW BY</a:t>
            </a:r>
          </a:p>
        </p:txBody>
      </p:sp>
      <p:sp>
        <p:nvSpPr>
          <p:cNvPr id="10" name="TextBox 9"/>
          <p:cNvSpPr txBox="1"/>
          <p:nvPr/>
        </p:nvSpPr>
        <p:spPr>
          <a:xfrm>
            <a:off x="841248" y="3904487"/>
            <a:ext cx="6583680" cy="411480"/>
          </a:xfrm>
          <a:prstGeom prst="rect">
            <a:avLst/>
          </a:prstGeom>
          <a:noFill/>
        </p:spPr>
        <p:txBody>
          <a:bodyPr wrap="square" anchor="t" lIns="0" rIns="0" tIns="0" bIns="0">
            <a:spAutoFit/>
          </a:bodyPr>
          <a:lstStyle/>
          <a:p>
            <a:pPr algn="l">
              <a:spcBef>
                <a:spcPts val="0"/>
              </a:spcBef>
              <a:spcAft>
                <a:spcPts val="0"/>
              </a:spcAft>
            </a:pPr>
            <a:r>
              <a:rPr sz="1900" b="1" i="0">
                <a:solidFill>
                  <a:srgbClr val="FFFFFF"/>
                </a:solidFill>
                <a:latin typeface="Bahnschrift"/>
              </a:rPr>
              <a:t>Product Approval Committee  ·  CEO</a:t>
            </a:r>
          </a:p>
        </p:txBody>
      </p:sp>
      <p:sp>
        <p:nvSpPr>
          <p:cNvPr id="11" name="Rectangle 10"/>
          <p:cNvSpPr/>
          <p:nvPr/>
        </p:nvSpPr>
        <p:spPr>
          <a:xfrm>
            <a:off x="841248" y="4462272"/>
            <a:ext cx="3108960" cy="27432"/>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8" y="4645152"/>
            <a:ext cx="6583680" cy="365760"/>
          </a:xfrm>
          <a:prstGeom prst="rect">
            <a:avLst/>
          </a:prstGeom>
          <a:noFill/>
        </p:spPr>
        <p:txBody>
          <a:bodyPr wrap="square" anchor="t" lIns="0" rIns="0" tIns="0" bIns="0">
            <a:spAutoFit/>
          </a:bodyPr>
          <a:lstStyle/>
          <a:p>
            <a:pPr algn="l">
              <a:spcBef>
                <a:spcPts val="0"/>
              </a:spcBef>
              <a:spcAft>
                <a:spcPts val="0"/>
              </a:spcAft>
            </a:pPr>
            <a:r>
              <a:rPr sz="1200" b="0" i="1">
                <a:solidFill>
                  <a:srgbClr val="C9CEF0"/>
                </a:solidFill>
                <a:latin typeface="Georgia"/>
              </a:rPr>
              <a:t>Methodology, workflow, controls, and the deliverable itself</a:t>
            </a:r>
          </a:p>
        </p:txBody>
      </p:sp>
      <p:sp>
        <p:nvSpPr>
          <p:cNvPr id="13" name="TextBox 12"/>
          <p:cNvSpPr txBox="1"/>
          <p:nvPr/>
        </p:nvSpPr>
        <p:spPr>
          <a:xfrm>
            <a:off x="841248" y="6053328"/>
            <a:ext cx="6766560" cy="457200"/>
          </a:xfrm>
          <a:prstGeom prst="rect">
            <a:avLst/>
          </a:prstGeom>
          <a:noFill/>
        </p:spPr>
        <p:txBody>
          <a:bodyPr wrap="square" anchor="t" lIns="0" rIns="0" tIns="0" bIns="0">
            <a:spAutoFit/>
          </a:bodyPr>
          <a:lstStyle/>
          <a:p>
            <a:pPr algn="l">
              <a:spcBef>
                <a:spcPts val="0"/>
              </a:spcBef>
              <a:spcAft>
                <a:spcPts val="0"/>
              </a:spcAft>
            </a:pPr>
            <a:r>
              <a:rPr sz="850" b="1" i="0" spc="120">
                <a:solidFill>
                  <a:srgbClr val="F2A93C"/>
                </a:solidFill>
                <a:latin typeface="Bahnschrift"/>
              </a:rPr>
              <a:t>INTERNAL   ·   </a:t>
            </a:r>
            <a:r>
              <a:rPr sz="850" b="0" i="0">
                <a:solidFill>
                  <a:srgbClr val="8C95DE"/>
                </a:solidFill>
                <a:latin typeface="Bahnschrift"/>
              </a:rPr>
              <a:t>Prepared by the Portfolio Review desk   ·   As of 2026-08-03   ·   Sample pages use a synthetic demo book, never a real client's holdings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00 · THE PROPOSAL</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What is being approved</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00" b="1" i="0">
                <a:solidFill>
                  <a:srgbClr val="F2A93C"/>
                </a:solidFill>
                <a:latin typeface="Bahnschrift"/>
              </a:rPr>
              <a:t>A scored, evidence-backed portfolio review, produced as a repeatable product</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02</a:t>
            </a:r>
          </a:p>
        </p:txBody>
      </p:sp>
      <p:sp>
        <p:nvSpPr>
          <p:cNvPr id="15" name="TextBox 14"/>
          <p:cNvSpPr txBox="1"/>
          <p:nvPr/>
        </p:nvSpPr>
        <p:spPr>
          <a:xfrm>
            <a:off x="841248" y="1627632"/>
            <a:ext cx="1964679" cy="457200"/>
          </a:xfrm>
          <a:prstGeom prst="rect">
            <a:avLst/>
          </a:prstGeom>
          <a:noFill/>
        </p:spPr>
        <p:txBody>
          <a:bodyPr wrap="square" anchor="t" lIns="0" rIns="0" tIns="0" bIns="0">
            <a:spAutoFit/>
          </a:bodyPr>
          <a:lstStyle/>
          <a:p>
            <a:pPr algn="l">
              <a:spcBef>
                <a:spcPts val="0"/>
              </a:spcBef>
              <a:spcAft>
                <a:spcPts val="0"/>
              </a:spcAft>
            </a:pPr>
            <a:r>
              <a:rPr sz="2700" b="0" i="0">
                <a:solidFill>
                  <a:srgbClr val="1B27A3"/>
                </a:solidFill>
                <a:latin typeface="Bahnschrift"/>
              </a:rPr>
              <a:t>751 / 751</a:t>
            </a:r>
          </a:p>
        </p:txBody>
      </p:sp>
      <p:sp>
        <p:nvSpPr>
          <p:cNvPr id="16" name="TextBox 15"/>
          <p:cNvSpPr txBox="1"/>
          <p:nvPr/>
        </p:nvSpPr>
        <p:spPr>
          <a:xfrm>
            <a:off x="841248" y="2103120"/>
            <a:ext cx="196467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STOCKS SCORED</a:t>
            </a:r>
          </a:p>
        </p:txBody>
      </p:sp>
      <p:sp>
        <p:nvSpPr>
          <p:cNvPr id="17" name="TextBox 16"/>
          <p:cNvSpPr txBox="1"/>
          <p:nvPr/>
        </p:nvSpPr>
        <p:spPr>
          <a:xfrm>
            <a:off x="841248" y="2286000"/>
            <a:ext cx="1964679" cy="182880"/>
          </a:xfrm>
          <a:prstGeom prst="rect">
            <a:avLst/>
          </a:prstGeom>
          <a:noFill/>
        </p:spPr>
        <p:txBody>
          <a:bodyPr wrap="square" anchor="t" lIns="0" rIns="0" tIns="0" bIns="0">
            <a:spAutoFit/>
          </a:bodyPr>
          <a:lstStyle/>
          <a:p>
            <a:pPr algn="l">
              <a:spcBef>
                <a:spcPts val="0"/>
              </a:spcBef>
              <a:spcAft>
                <a:spcPts val="0"/>
              </a:spcAft>
            </a:pPr>
            <a:r>
              <a:rPr sz="800" b="0" i="0">
                <a:solidFill>
                  <a:srgbClr val="8C95DE"/>
                </a:solidFill>
                <a:latin typeface="Bahnschrift"/>
              </a:rPr>
              <a:t>quant + analyst</a:t>
            </a:r>
          </a:p>
        </p:txBody>
      </p:sp>
      <p:sp>
        <p:nvSpPr>
          <p:cNvPr id="18" name="TextBox 17"/>
          <p:cNvSpPr txBox="1"/>
          <p:nvPr/>
        </p:nvSpPr>
        <p:spPr>
          <a:xfrm>
            <a:off x="2943087" y="1627632"/>
            <a:ext cx="1964679"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3</a:t>
            </a:r>
          </a:p>
        </p:txBody>
      </p:sp>
      <p:sp>
        <p:nvSpPr>
          <p:cNvPr id="19" name="TextBox 18"/>
          <p:cNvSpPr txBox="1"/>
          <p:nvPr/>
        </p:nvSpPr>
        <p:spPr>
          <a:xfrm>
            <a:off x="2943087" y="2103120"/>
            <a:ext cx="196467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CLIENT TIERS</a:t>
            </a:r>
          </a:p>
        </p:txBody>
      </p:sp>
      <p:sp>
        <p:nvSpPr>
          <p:cNvPr id="20" name="TextBox 19"/>
          <p:cNvSpPr txBox="1"/>
          <p:nvPr/>
        </p:nvSpPr>
        <p:spPr>
          <a:xfrm>
            <a:off x="2943087" y="2286000"/>
            <a:ext cx="1964679" cy="182880"/>
          </a:xfrm>
          <a:prstGeom prst="rect">
            <a:avLst/>
          </a:prstGeom>
          <a:noFill/>
        </p:spPr>
        <p:txBody>
          <a:bodyPr wrap="square" anchor="t" lIns="0" rIns="0" tIns="0" bIns="0">
            <a:spAutoFit/>
          </a:bodyPr>
          <a:lstStyle/>
          <a:p>
            <a:pPr algn="l">
              <a:spcBef>
                <a:spcPts val="0"/>
              </a:spcBef>
              <a:spcAft>
                <a:spcPts val="0"/>
              </a:spcAft>
            </a:pPr>
            <a:r>
              <a:rPr sz="800" b="0" i="0">
                <a:solidFill>
                  <a:srgbClr val="8C95DE"/>
                </a:solidFill>
                <a:latin typeface="Bahnschrift"/>
              </a:rPr>
              <a:t>depth by audience</a:t>
            </a:r>
          </a:p>
        </p:txBody>
      </p:sp>
      <p:sp>
        <p:nvSpPr>
          <p:cNvPr id="21" name="Rectangle 20"/>
          <p:cNvSpPr/>
          <p:nvPr/>
        </p:nvSpPr>
        <p:spPr>
          <a:xfrm>
            <a:off x="2888223" y="1673352"/>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4927" y="1627632"/>
            <a:ext cx="1964679"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60</a:t>
            </a:r>
          </a:p>
        </p:txBody>
      </p:sp>
      <p:sp>
        <p:nvSpPr>
          <p:cNvPr id="23" name="TextBox 22"/>
          <p:cNvSpPr txBox="1"/>
          <p:nvPr/>
        </p:nvSpPr>
        <p:spPr>
          <a:xfrm>
            <a:off x="5044927" y="2103120"/>
            <a:ext cx="196467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PAGE MODULES</a:t>
            </a:r>
          </a:p>
        </p:txBody>
      </p:sp>
      <p:sp>
        <p:nvSpPr>
          <p:cNvPr id="24" name="TextBox 23"/>
          <p:cNvSpPr txBox="1"/>
          <p:nvPr/>
        </p:nvSpPr>
        <p:spPr>
          <a:xfrm>
            <a:off x="5044927" y="2286000"/>
            <a:ext cx="1964679" cy="182880"/>
          </a:xfrm>
          <a:prstGeom prst="rect">
            <a:avLst/>
          </a:prstGeom>
          <a:noFill/>
        </p:spPr>
        <p:txBody>
          <a:bodyPr wrap="square" anchor="t" lIns="0" rIns="0" tIns="0" bIns="0">
            <a:spAutoFit/>
          </a:bodyPr>
          <a:lstStyle/>
          <a:p>
            <a:pPr algn="l">
              <a:spcBef>
                <a:spcPts val="0"/>
              </a:spcBef>
              <a:spcAft>
                <a:spcPts val="0"/>
              </a:spcAft>
            </a:pPr>
            <a:r>
              <a:rPr sz="800" b="0" i="0">
                <a:solidFill>
                  <a:srgbClr val="8C95DE"/>
                </a:solidFill>
                <a:latin typeface="Bahnschrift"/>
              </a:rPr>
              <a:t>one library</a:t>
            </a:r>
          </a:p>
        </p:txBody>
      </p:sp>
      <p:sp>
        <p:nvSpPr>
          <p:cNvPr id="25" name="Rectangle 24"/>
          <p:cNvSpPr/>
          <p:nvPr/>
        </p:nvSpPr>
        <p:spPr>
          <a:xfrm>
            <a:off x="4990063" y="1673352"/>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46767" y="1627632"/>
            <a:ext cx="1964679" cy="457200"/>
          </a:xfrm>
          <a:prstGeom prst="rect">
            <a:avLst/>
          </a:prstGeom>
          <a:noFill/>
        </p:spPr>
        <p:txBody>
          <a:bodyPr wrap="square" anchor="t" lIns="0" rIns="0" tIns="0" bIns="0">
            <a:spAutoFit/>
          </a:bodyPr>
          <a:lstStyle/>
          <a:p>
            <a:pPr algn="l">
              <a:spcBef>
                <a:spcPts val="0"/>
              </a:spcBef>
              <a:spcAft>
                <a:spcPts val="0"/>
              </a:spcAft>
            </a:pPr>
            <a:r>
              <a:rPr sz="2700" b="0" i="0">
                <a:solidFill>
                  <a:srgbClr val="1E9E6A"/>
                </a:solidFill>
                <a:latin typeface="Bahnschrift"/>
              </a:rPr>
              <a:t>4</a:t>
            </a:r>
          </a:p>
        </p:txBody>
      </p:sp>
      <p:sp>
        <p:nvSpPr>
          <p:cNvPr id="27" name="TextBox 26"/>
          <p:cNvSpPr txBox="1"/>
          <p:nvPr/>
        </p:nvSpPr>
        <p:spPr>
          <a:xfrm>
            <a:off x="7146767" y="2103120"/>
            <a:ext cx="196467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QA GATE LAYERS</a:t>
            </a:r>
          </a:p>
        </p:txBody>
      </p:sp>
      <p:sp>
        <p:nvSpPr>
          <p:cNvPr id="28" name="TextBox 27"/>
          <p:cNvSpPr txBox="1"/>
          <p:nvPr/>
        </p:nvSpPr>
        <p:spPr>
          <a:xfrm>
            <a:off x="7146767" y="2286000"/>
            <a:ext cx="1964679" cy="182880"/>
          </a:xfrm>
          <a:prstGeom prst="rect">
            <a:avLst/>
          </a:prstGeom>
          <a:noFill/>
        </p:spPr>
        <p:txBody>
          <a:bodyPr wrap="square" anchor="t" lIns="0" rIns="0" tIns="0" bIns="0">
            <a:spAutoFit/>
          </a:bodyPr>
          <a:lstStyle/>
          <a:p>
            <a:pPr algn="l">
              <a:spcBef>
                <a:spcPts val="0"/>
              </a:spcBef>
              <a:spcAft>
                <a:spcPts val="0"/>
              </a:spcAft>
            </a:pPr>
            <a:r>
              <a:rPr sz="800" b="0" i="0">
                <a:solidFill>
                  <a:srgbClr val="8C95DE"/>
                </a:solidFill>
                <a:latin typeface="Bahnschrift"/>
              </a:rPr>
              <a:t>all must pass</a:t>
            </a:r>
          </a:p>
        </p:txBody>
      </p:sp>
      <p:sp>
        <p:nvSpPr>
          <p:cNvPr id="29" name="Rectangle 28"/>
          <p:cNvSpPr/>
          <p:nvPr/>
        </p:nvSpPr>
        <p:spPr>
          <a:xfrm>
            <a:off x="7091903" y="1673352"/>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248607" y="1627632"/>
            <a:ext cx="1964679" cy="457200"/>
          </a:xfrm>
          <a:prstGeom prst="rect">
            <a:avLst/>
          </a:prstGeom>
          <a:noFill/>
        </p:spPr>
        <p:txBody>
          <a:bodyPr wrap="square" anchor="t" lIns="0" rIns="0" tIns="0" bIns="0">
            <a:spAutoFit/>
          </a:bodyPr>
          <a:lstStyle/>
          <a:p>
            <a:pPr algn="l">
              <a:spcBef>
                <a:spcPts val="0"/>
              </a:spcBef>
              <a:spcAft>
                <a:spcPts val="0"/>
              </a:spcAft>
            </a:pPr>
            <a:r>
              <a:rPr sz="2700" b="0" i="0">
                <a:solidFill>
                  <a:srgbClr val="E0402F"/>
                </a:solidFill>
                <a:latin typeface="Bahnschrift"/>
              </a:rPr>
              <a:t>0</a:t>
            </a:r>
          </a:p>
        </p:txBody>
      </p:sp>
      <p:sp>
        <p:nvSpPr>
          <p:cNvPr id="31" name="TextBox 30"/>
          <p:cNvSpPr txBox="1"/>
          <p:nvPr/>
        </p:nvSpPr>
        <p:spPr>
          <a:xfrm>
            <a:off x="9248607" y="2103120"/>
            <a:ext cx="196467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BUY CALLS</a:t>
            </a:r>
          </a:p>
        </p:txBody>
      </p:sp>
      <p:sp>
        <p:nvSpPr>
          <p:cNvPr id="32" name="TextBox 31"/>
          <p:cNvSpPr txBox="1"/>
          <p:nvPr/>
        </p:nvSpPr>
        <p:spPr>
          <a:xfrm>
            <a:off x="9248607" y="2286000"/>
            <a:ext cx="1964679" cy="182880"/>
          </a:xfrm>
          <a:prstGeom prst="rect">
            <a:avLst/>
          </a:prstGeom>
          <a:noFill/>
        </p:spPr>
        <p:txBody>
          <a:bodyPr wrap="square" anchor="t" lIns="0" rIns="0" tIns="0" bIns="0">
            <a:spAutoFit/>
          </a:bodyPr>
          <a:lstStyle/>
          <a:p>
            <a:pPr algn="l">
              <a:spcBef>
                <a:spcPts val="0"/>
              </a:spcBef>
              <a:spcAft>
                <a:spcPts val="0"/>
              </a:spcAft>
            </a:pPr>
            <a:r>
              <a:rPr sz="800" b="0" i="0">
                <a:solidFill>
                  <a:srgbClr val="8C95DE"/>
                </a:solidFill>
                <a:latin typeface="Bahnschrift"/>
              </a:rPr>
              <a:t>holdings review only</a:t>
            </a:r>
          </a:p>
        </p:txBody>
      </p:sp>
      <p:sp>
        <p:nvSpPr>
          <p:cNvPr id="33" name="Rectangle 32"/>
          <p:cNvSpPr/>
          <p:nvPr/>
        </p:nvSpPr>
        <p:spPr>
          <a:xfrm>
            <a:off x="9193743" y="1673352"/>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41248" y="2852927"/>
            <a:ext cx="68580" cy="6858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60704" y="2756915"/>
            <a:ext cx="4894783" cy="475488"/>
          </a:xfrm>
          <a:prstGeom prst="rect">
            <a:avLst/>
          </a:prstGeom>
          <a:noFill/>
        </p:spPr>
        <p:txBody>
          <a:bodyPr wrap="square" anchor="t" lIns="0" rIns="0" tIns="0" bIns="0">
            <a:spAutoFit/>
          </a:bodyPr>
          <a:lstStyle/>
          <a:p>
            <a:pPr algn="l">
              <a:lnSpc>
                <a:spcPct val="106000"/>
              </a:lnSpc>
              <a:spcBef>
                <a:spcPts val="0"/>
              </a:spcBef>
              <a:spcAft>
                <a:spcPts val="0"/>
              </a:spcAft>
            </a:pPr>
            <a:r>
              <a:rPr sz="1100" b="0" i="0">
                <a:solidFill>
                  <a:srgbClr val="16233B"/>
                </a:solidFill>
                <a:latin typeface="Georgia"/>
              </a:rPr>
              <a:t>The product is a client portfolio review: every direct holding and every fund carries a score, a call and a written reason.</a:t>
            </a:r>
          </a:p>
        </p:txBody>
      </p:sp>
      <p:sp>
        <p:nvSpPr>
          <p:cNvPr id="36" name="Rectangle 35"/>
          <p:cNvSpPr/>
          <p:nvPr/>
        </p:nvSpPr>
        <p:spPr>
          <a:xfrm>
            <a:off x="841248" y="3419856"/>
            <a:ext cx="68580" cy="6858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60704" y="3323844"/>
            <a:ext cx="4894783" cy="475488"/>
          </a:xfrm>
          <a:prstGeom prst="rect">
            <a:avLst/>
          </a:prstGeom>
          <a:noFill/>
        </p:spPr>
        <p:txBody>
          <a:bodyPr wrap="square" anchor="t" lIns="0" rIns="0" tIns="0" bIns="0">
            <a:spAutoFit/>
          </a:bodyPr>
          <a:lstStyle/>
          <a:p>
            <a:pPr algn="l">
              <a:lnSpc>
                <a:spcPct val="106000"/>
              </a:lnSpc>
              <a:spcBef>
                <a:spcPts val="0"/>
              </a:spcBef>
              <a:spcAft>
                <a:spcPts val="0"/>
              </a:spcAft>
            </a:pPr>
            <a:r>
              <a:rPr sz="1100" b="0" i="0">
                <a:solidFill>
                  <a:srgbClr val="16233B"/>
                </a:solidFill>
                <a:latin typeface="Georgia"/>
              </a:rPr>
              <a:t>The engine is frozen and rerunnable. The same holdings file produces the same deck, and every number traces to a source.</a:t>
            </a:r>
          </a:p>
        </p:txBody>
      </p:sp>
      <p:sp>
        <p:nvSpPr>
          <p:cNvPr id="38" name="Rectangle 37"/>
          <p:cNvSpPr/>
          <p:nvPr/>
        </p:nvSpPr>
        <p:spPr>
          <a:xfrm>
            <a:off x="841248" y="3986784"/>
            <a:ext cx="68580" cy="6858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60704" y="3890772"/>
            <a:ext cx="4894783" cy="475488"/>
          </a:xfrm>
          <a:prstGeom prst="rect">
            <a:avLst/>
          </a:prstGeom>
          <a:noFill/>
        </p:spPr>
        <p:txBody>
          <a:bodyPr wrap="square" anchor="t" lIns="0" rIns="0" tIns="0" bIns="0">
            <a:spAutoFit/>
          </a:bodyPr>
          <a:lstStyle/>
          <a:p>
            <a:pPr algn="l">
              <a:lnSpc>
                <a:spcPct val="106000"/>
              </a:lnSpc>
              <a:spcBef>
                <a:spcPts val="0"/>
              </a:spcBef>
              <a:spcAft>
                <a:spcPts val="0"/>
              </a:spcAft>
            </a:pPr>
            <a:r>
              <a:rPr sz="1100" b="0" i="0">
                <a:solidFill>
                  <a:srgbClr val="16233B"/>
                </a:solidFill>
                <a:latin typeface="Georgia"/>
              </a:rPr>
              <a:t>It reviews existing holdings only. The vocabulary is Sell, Trim or Hold, and nothing executes without the client's signature.</a:t>
            </a:r>
          </a:p>
        </p:txBody>
      </p:sp>
      <p:sp>
        <p:nvSpPr>
          <p:cNvPr id="40" name="Rectangle 39"/>
          <p:cNvSpPr/>
          <p:nvPr/>
        </p:nvSpPr>
        <p:spPr>
          <a:xfrm>
            <a:off x="841248" y="4553712"/>
            <a:ext cx="68580" cy="6858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60704" y="4457700"/>
            <a:ext cx="4894783" cy="475488"/>
          </a:xfrm>
          <a:prstGeom prst="rect">
            <a:avLst/>
          </a:prstGeom>
          <a:noFill/>
        </p:spPr>
        <p:txBody>
          <a:bodyPr wrap="square" anchor="t" lIns="0" rIns="0" tIns="0" bIns="0">
            <a:spAutoFit/>
          </a:bodyPr>
          <a:lstStyle/>
          <a:p>
            <a:pPr algn="l">
              <a:lnSpc>
                <a:spcPct val="106000"/>
              </a:lnSpc>
              <a:spcBef>
                <a:spcPts val="0"/>
              </a:spcBef>
              <a:spcAft>
                <a:spcPts val="0"/>
              </a:spcAft>
            </a:pPr>
            <a:r>
              <a:rPr sz="1100" b="0" i="0">
                <a:solidFill>
                  <a:srgbClr val="16233B"/>
                </a:solidFill>
                <a:latin typeface="Georgia"/>
              </a:rPr>
              <a:t>Three depth tiers serve a family office, a typical NDPMS client and an RM-led conversation from one module library.</a:t>
            </a:r>
          </a:p>
        </p:txBody>
      </p:sp>
      <p:sp>
        <p:nvSpPr>
          <p:cNvPr id="42" name="Rounded Rectangle 41"/>
          <p:cNvSpPr/>
          <p:nvPr/>
        </p:nvSpPr>
        <p:spPr>
          <a:xfrm>
            <a:off x="6229807" y="2788920"/>
            <a:ext cx="5120640" cy="1751076"/>
          </a:xfrm>
          <a:prstGeom prst="roundRect">
            <a:avLst>
              <a:gd name="adj" fmla="val 4000"/>
            </a:avLst>
          </a:prstGeom>
          <a:solidFill>
            <a:srgbClr val="FB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29807" y="2788920"/>
            <a:ext cx="54864" cy="1751076"/>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30975" y="2916936"/>
            <a:ext cx="47548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92400E"/>
                </a:solidFill>
                <a:latin typeface="Bahnschrift"/>
              </a:rPr>
              <a:t>THE APPROVAL SOUGHT</a:t>
            </a:r>
          </a:p>
        </p:txBody>
      </p:sp>
      <p:sp>
        <p:nvSpPr>
          <p:cNvPr id="45" name="TextBox 44"/>
          <p:cNvSpPr txBox="1"/>
          <p:nvPr/>
        </p:nvSpPr>
        <p:spPr>
          <a:xfrm>
            <a:off x="6430975" y="3191256"/>
            <a:ext cx="4754879" cy="1293876"/>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Sign-off to use this engine as the standard NDPMS review deliverable for onboarding and periodic reviews, on the frozen methodology and the four-layer QA gate described here, with the Principal or CEO countersigning every client deck before it ships. Two real client books have already been produced end to end under this process.</a:t>
            </a:r>
          </a:p>
        </p:txBody>
      </p:sp>
      <p:sp>
        <p:nvSpPr>
          <p:cNvPr id="46" name="TextBox 45"/>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Coverage as of 2026-08-03. Sample pages in this deck are rendered from a synthetic demo book.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00 · THE PROPOSAL</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Input and output</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One holdings statement in, one reviewed and signed deck out</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03</a:t>
            </a:r>
          </a:p>
        </p:txBody>
      </p:sp>
      <p:sp>
        <p:nvSpPr>
          <p:cNvPr id="15" name="Oval 14"/>
          <p:cNvSpPr/>
          <p:nvPr/>
        </p:nvSpPr>
        <p:spPr>
          <a:xfrm>
            <a:off x="841248" y="1828800"/>
            <a:ext cx="365760" cy="365760"/>
          </a:xfrm>
          <a:prstGeom prst="ellipse">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8" y="1828800"/>
            <a:ext cx="365760" cy="365760"/>
          </a:xfrm>
          <a:prstGeom prst="rect">
            <a:avLst/>
          </a:prstGeom>
          <a:noFill/>
        </p:spPr>
        <p:txBody>
          <a:bodyPr wrap="square" anchor="ctr" lIns="0" rIns="0" tIns="0" bIns="0">
            <a:spAutoFit/>
          </a:bodyPr>
          <a:lstStyle/>
          <a:p>
            <a:pPr algn="ctr">
              <a:spcBef>
                <a:spcPts val="0"/>
              </a:spcBef>
              <a:spcAft>
                <a:spcPts val="0"/>
              </a:spcAft>
            </a:pPr>
            <a:r>
              <a:rPr sz="1300" b="1" i="0">
                <a:solidFill>
                  <a:srgbClr val="FFFFFF"/>
                </a:solidFill>
                <a:latin typeface="Bahnschrift"/>
              </a:rPr>
              <a:t>1</a:t>
            </a:r>
          </a:p>
        </p:txBody>
      </p:sp>
      <p:sp>
        <p:nvSpPr>
          <p:cNvPr id="17" name="TextBox 16"/>
          <p:cNvSpPr txBox="1"/>
          <p:nvPr/>
        </p:nvSpPr>
        <p:spPr>
          <a:xfrm>
            <a:off x="1371600" y="1783080"/>
            <a:ext cx="3200400" cy="256032"/>
          </a:xfrm>
          <a:prstGeom prst="rect">
            <a:avLst/>
          </a:prstGeom>
          <a:noFill/>
        </p:spPr>
        <p:txBody>
          <a:bodyPr wrap="square" anchor="t" lIns="0" rIns="0" tIns="0" bIns="0">
            <a:spAutoFit/>
          </a:bodyPr>
          <a:lstStyle/>
          <a:p>
            <a:pPr algn="l">
              <a:spcBef>
                <a:spcPts val="0"/>
              </a:spcBef>
              <a:spcAft>
                <a:spcPts val="0"/>
              </a:spcAft>
            </a:pPr>
            <a:r>
              <a:rPr sz="1200" b="1" i="0">
                <a:solidFill>
                  <a:srgbClr val="16233B"/>
                </a:solidFill>
                <a:latin typeface="Bahnschrift"/>
              </a:rPr>
              <a:t>Holdings statement</a:t>
            </a:r>
          </a:p>
        </p:txBody>
      </p:sp>
      <p:sp>
        <p:nvSpPr>
          <p:cNvPr id="18" name="TextBox 17"/>
          <p:cNvSpPr txBox="1"/>
          <p:nvPr/>
        </p:nvSpPr>
        <p:spPr>
          <a:xfrm>
            <a:off x="4681728" y="1773936"/>
            <a:ext cx="6668719" cy="512064"/>
          </a:xfrm>
          <a:prstGeom prst="rect">
            <a:avLst/>
          </a:prstGeom>
          <a:noFill/>
        </p:spPr>
        <p:txBody>
          <a:bodyPr wrap="square" anchor="t" lIns="0" rIns="0" tIns="0" bIns="0">
            <a:spAutoFit/>
          </a:bodyPr>
          <a:lstStyle/>
          <a:p>
            <a:pPr algn="l">
              <a:lnSpc>
                <a:spcPct val="105000"/>
              </a:lnSpc>
              <a:spcBef>
                <a:spcPts val="0"/>
              </a:spcBef>
              <a:spcAft>
                <a:spcPts val="0"/>
              </a:spcAft>
            </a:pPr>
            <a:r>
              <a:rPr sz="1050" b="0" i="0">
                <a:solidFill>
                  <a:srgbClr val="6B7280"/>
                </a:solidFill>
                <a:latin typeface="Georgia"/>
              </a:rPr>
              <a:t>A client's CAS, demat or CAMS/Kfintech statement. Parsed to a validated holdings table, with corrupted or unmatched rows flagged to the RM rather than dropped.</a:t>
            </a:r>
          </a:p>
        </p:txBody>
      </p:sp>
      <p:sp>
        <p:nvSpPr>
          <p:cNvPr id="19" name="Rectangle 18"/>
          <p:cNvSpPr/>
          <p:nvPr/>
        </p:nvSpPr>
        <p:spPr>
          <a:xfrm>
            <a:off x="841248" y="2295144"/>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2432303"/>
            <a:ext cx="365760" cy="365760"/>
          </a:xfrm>
          <a:prstGeom prst="ellipse">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8" y="2432303"/>
            <a:ext cx="365760" cy="365760"/>
          </a:xfrm>
          <a:prstGeom prst="rect">
            <a:avLst/>
          </a:prstGeom>
          <a:noFill/>
        </p:spPr>
        <p:txBody>
          <a:bodyPr wrap="square" anchor="ctr" lIns="0" rIns="0" tIns="0" bIns="0">
            <a:spAutoFit/>
          </a:bodyPr>
          <a:lstStyle/>
          <a:p>
            <a:pPr algn="ctr">
              <a:spcBef>
                <a:spcPts val="0"/>
              </a:spcBef>
              <a:spcAft>
                <a:spcPts val="0"/>
              </a:spcAft>
            </a:pPr>
            <a:r>
              <a:rPr sz="1300" b="1" i="0">
                <a:solidFill>
                  <a:srgbClr val="FFFFFF"/>
                </a:solidFill>
                <a:latin typeface="Bahnschrift"/>
              </a:rPr>
              <a:t>2</a:t>
            </a:r>
          </a:p>
        </p:txBody>
      </p:sp>
      <p:sp>
        <p:nvSpPr>
          <p:cNvPr id="22" name="TextBox 21"/>
          <p:cNvSpPr txBox="1"/>
          <p:nvPr/>
        </p:nvSpPr>
        <p:spPr>
          <a:xfrm>
            <a:off x="1371600" y="2386584"/>
            <a:ext cx="3200400" cy="256032"/>
          </a:xfrm>
          <a:prstGeom prst="rect">
            <a:avLst/>
          </a:prstGeom>
          <a:noFill/>
        </p:spPr>
        <p:txBody>
          <a:bodyPr wrap="square" anchor="t" lIns="0" rIns="0" tIns="0" bIns="0">
            <a:spAutoFit/>
          </a:bodyPr>
          <a:lstStyle/>
          <a:p>
            <a:pPr algn="l">
              <a:spcBef>
                <a:spcPts val="0"/>
              </a:spcBef>
              <a:spcAft>
                <a:spcPts val="0"/>
              </a:spcAft>
            </a:pPr>
            <a:r>
              <a:rPr sz="1200" b="1" i="0">
                <a:solidFill>
                  <a:srgbClr val="16233B"/>
                </a:solidFill>
                <a:latin typeface="Bahnschrift"/>
              </a:rPr>
              <a:t>Match to coverage</a:t>
            </a:r>
          </a:p>
        </p:txBody>
      </p:sp>
      <p:sp>
        <p:nvSpPr>
          <p:cNvPr id="23" name="TextBox 22"/>
          <p:cNvSpPr txBox="1"/>
          <p:nvPr/>
        </p:nvSpPr>
        <p:spPr>
          <a:xfrm>
            <a:off x="4681728" y="2377440"/>
            <a:ext cx="6668719" cy="512064"/>
          </a:xfrm>
          <a:prstGeom prst="rect">
            <a:avLst/>
          </a:prstGeom>
          <a:noFill/>
        </p:spPr>
        <p:txBody>
          <a:bodyPr wrap="square" anchor="t" lIns="0" rIns="0" tIns="0" bIns="0">
            <a:spAutoFit/>
          </a:bodyPr>
          <a:lstStyle/>
          <a:p>
            <a:pPr algn="l">
              <a:lnSpc>
                <a:spcPct val="105000"/>
              </a:lnSpc>
              <a:spcBef>
                <a:spcPts val="0"/>
              </a:spcBef>
              <a:spcAft>
                <a:spcPts val="0"/>
              </a:spcAft>
            </a:pPr>
            <a:r>
              <a:rPr sz="1050" b="0" i="0">
                <a:solidFill>
                  <a:srgbClr val="6B7280"/>
                </a:solidFill>
                <a:latin typeface="Georgia"/>
              </a:rPr>
              <a:t>Equity matched by ISIN to the scored universe; funds matched by verified scheme identity to the fund frameworks. Anything unmatched is disclosed, never guessed.</a:t>
            </a:r>
          </a:p>
        </p:txBody>
      </p:sp>
      <p:sp>
        <p:nvSpPr>
          <p:cNvPr id="24" name="Rectangle 23"/>
          <p:cNvSpPr/>
          <p:nvPr/>
        </p:nvSpPr>
        <p:spPr>
          <a:xfrm>
            <a:off x="841248" y="2898648"/>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3035808"/>
            <a:ext cx="365760" cy="365760"/>
          </a:xfrm>
          <a:prstGeom prst="ellipse">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8" y="3035808"/>
            <a:ext cx="365760" cy="365760"/>
          </a:xfrm>
          <a:prstGeom prst="rect">
            <a:avLst/>
          </a:prstGeom>
          <a:noFill/>
        </p:spPr>
        <p:txBody>
          <a:bodyPr wrap="square" anchor="ctr" lIns="0" rIns="0" tIns="0" bIns="0">
            <a:spAutoFit/>
          </a:bodyPr>
          <a:lstStyle/>
          <a:p>
            <a:pPr algn="ctr">
              <a:spcBef>
                <a:spcPts val="0"/>
              </a:spcBef>
              <a:spcAft>
                <a:spcPts val="0"/>
              </a:spcAft>
            </a:pPr>
            <a:r>
              <a:rPr sz="1300" b="1" i="0">
                <a:solidFill>
                  <a:srgbClr val="FFFFFF"/>
                </a:solidFill>
                <a:latin typeface="Bahnschrift"/>
              </a:rPr>
              <a:t>3</a:t>
            </a:r>
          </a:p>
        </p:txBody>
      </p:sp>
      <p:sp>
        <p:nvSpPr>
          <p:cNvPr id="27" name="TextBox 26"/>
          <p:cNvSpPr txBox="1"/>
          <p:nvPr/>
        </p:nvSpPr>
        <p:spPr>
          <a:xfrm>
            <a:off x="1371600" y="2990088"/>
            <a:ext cx="3200400" cy="256032"/>
          </a:xfrm>
          <a:prstGeom prst="rect">
            <a:avLst/>
          </a:prstGeom>
          <a:noFill/>
        </p:spPr>
        <p:txBody>
          <a:bodyPr wrap="square" anchor="t" lIns="0" rIns="0" tIns="0" bIns="0">
            <a:spAutoFit/>
          </a:bodyPr>
          <a:lstStyle/>
          <a:p>
            <a:pPr algn="l">
              <a:spcBef>
                <a:spcPts val="0"/>
              </a:spcBef>
              <a:spcAft>
                <a:spcPts val="0"/>
              </a:spcAft>
            </a:pPr>
            <a:r>
              <a:rPr sz="1200" b="1" i="0">
                <a:solidFill>
                  <a:srgbClr val="16233B"/>
                </a:solidFill>
                <a:latin typeface="Bahnschrift"/>
              </a:rPr>
              <a:t>Score and read</a:t>
            </a:r>
          </a:p>
        </p:txBody>
      </p:sp>
      <p:sp>
        <p:nvSpPr>
          <p:cNvPr id="28" name="TextBox 27"/>
          <p:cNvSpPr txBox="1"/>
          <p:nvPr/>
        </p:nvSpPr>
        <p:spPr>
          <a:xfrm>
            <a:off x="4681728" y="2980944"/>
            <a:ext cx="6668719" cy="512064"/>
          </a:xfrm>
          <a:prstGeom prst="rect">
            <a:avLst/>
          </a:prstGeom>
          <a:noFill/>
        </p:spPr>
        <p:txBody>
          <a:bodyPr wrap="square" anchor="t" lIns="0" rIns="0" tIns="0" bIns="0">
            <a:spAutoFit/>
          </a:bodyPr>
          <a:lstStyle/>
          <a:p>
            <a:pPr algn="l">
              <a:lnSpc>
                <a:spcPct val="105000"/>
              </a:lnSpc>
              <a:spcBef>
                <a:spcPts val="0"/>
              </a:spcBef>
              <a:spcAft>
                <a:spcPts val="0"/>
              </a:spcAft>
            </a:pPr>
            <a:r>
              <a:rPr sz="1050" b="0" i="0">
                <a:solidFill>
                  <a:srgbClr val="6B7280"/>
                </a:solidFill>
                <a:latin typeface="Georgia"/>
              </a:rPr>
              <a:t>Frozen scoring engine produces the numbers; a sector analyst writes the case. The analyst can rescue a score-driven Sell to Hold, and cannot force the reverse.</a:t>
            </a:r>
          </a:p>
        </p:txBody>
      </p:sp>
      <p:sp>
        <p:nvSpPr>
          <p:cNvPr id="29" name="Rectangle 28"/>
          <p:cNvSpPr/>
          <p:nvPr/>
        </p:nvSpPr>
        <p:spPr>
          <a:xfrm>
            <a:off x="841248" y="3502152"/>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3639312"/>
            <a:ext cx="365760" cy="365760"/>
          </a:xfrm>
          <a:prstGeom prst="ellipse">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41248" y="3639312"/>
            <a:ext cx="365760" cy="365760"/>
          </a:xfrm>
          <a:prstGeom prst="rect">
            <a:avLst/>
          </a:prstGeom>
          <a:noFill/>
        </p:spPr>
        <p:txBody>
          <a:bodyPr wrap="square" anchor="ctr" lIns="0" rIns="0" tIns="0" bIns="0">
            <a:spAutoFit/>
          </a:bodyPr>
          <a:lstStyle/>
          <a:p>
            <a:pPr algn="ctr">
              <a:spcBef>
                <a:spcPts val="0"/>
              </a:spcBef>
              <a:spcAft>
                <a:spcPts val="0"/>
              </a:spcAft>
            </a:pPr>
            <a:r>
              <a:rPr sz="1300" b="1" i="0">
                <a:solidFill>
                  <a:srgbClr val="FFFFFF"/>
                </a:solidFill>
                <a:latin typeface="Bahnschrift"/>
              </a:rPr>
              <a:t>4</a:t>
            </a:r>
          </a:p>
        </p:txBody>
      </p:sp>
      <p:sp>
        <p:nvSpPr>
          <p:cNvPr id="32" name="TextBox 31"/>
          <p:cNvSpPr txBox="1"/>
          <p:nvPr/>
        </p:nvSpPr>
        <p:spPr>
          <a:xfrm>
            <a:off x="1371600" y="3593592"/>
            <a:ext cx="3200400" cy="256032"/>
          </a:xfrm>
          <a:prstGeom prst="rect">
            <a:avLst/>
          </a:prstGeom>
          <a:noFill/>
        </p:spPr>
        <p:txBody>
          <a:bodyPr wrap="square" anchor="t" lIns="0" rIns="0" tIns="0" bIns="0">
            <a:spAutoFit/>
          </a:bodyPr>
          <a:lstStyle/>
          <a:p>
            <a:pPr algn="l">
              <a:spcBef>
                <a:spcPts val="0"/>
              </a:spcBef>
              <a:spcAft>
                <a:spcPts val="0"/>
              </a:spcAft>
            </a:pPr>
            <a:r>
              <a:rPr sz="1200" b="1" i="0">
                <a:solidFill>
                  <a:srgbClr val="16233B"/>
                </a:solidFill>
                <a:latin typeface="Bahnschrift"/>
              </a:rPr>
              <a:t>Assemble the deck</a:t>
            </a:r>
          </a:p>
        </p:txBody>
      </p:sp>
      <p:sp>
        <p:nvSpPr>
          <p:cNvPr id="33" name="TextBox 32"/>
          <p:cNvSpPr txBox="1"/>
          <p:nvPr/>
        </p:nvSpPr>
        <p:spPr>
          <a:xfrm>
            <a:off x="4681728" y="3584448"/>
            <a:ext cx="6668719" cy="512064"/>
          </a:xfrm>
          <a:prstGeom prst="rect">
            <a:avLst/>
          </a:prstGeom>
          <a:noFill/>
        </p:spPr>
        <p:txBody>
          <a:bodyPr wrap="square" anchor="t" lIns="0" rIns="0" tIns="0" bIns="0">
            <a:spAutoFit/>
          </a:bodyPr>
          <a:lstStyle/>
          <a:p>
            <a:pPr algn="l">
              <a:lnSpc>
                <a:spcPct val="105000"/>
              </a:lnSpc>
              <a:spcBef>
                <a:spcPts val="0"/>
              </a:spcBef>
              <a:spcAft>
                <a:spcPts val="0"/>
              </a:spcAft>
            </a:pPr>
            <a:r>
              <a:rPr sz="1050" b="0" i="0">
                <a:solidFill>
                  <a:srgbClr val="6B7280"/>
                </a:solidFill>
                <a:latin typeface="Georgia"/>
              </a:rPr>
              <a:t>The module library renders the tier the client's audience needs, computing every narrative sentence from the data rather than from stored prose.</a:t>
            </a:r>
          </a:p>
        </p:txBody>
      </p:sp>
      <p:sp>
        <p:nvSpPr>
          <p:cNvPr id="34" name="Rectangle 33"/>
          <p:cNvSpPr/>
          <p:nvPr/>
        </p:nvSpPr>
        <p:spPr>
          <a:xfrm>
            <a:off x="841248" y="4105656"/>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841248" y="4242816"/>
            <a:ext cx="365760" cy="365760"/>
          </a:xfrm>
          <a:prstGeom prst="ellipse">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41248" y="4242816"/>
            <a:ext cx="365760" cy="365760"/>
          </a:xfrm>
          <a:prstGeom prst="rect">
            <a:avLst/>
          </a:prstGeom>
          <a:noFill/>
        </p:spPr>
        <p:txBody>
          <a:bodyPr wrap="square" anchor="ctr" lIns="0" rIns="0" tIns="0" bIns="0">
            <a:spAutoFit/>
          </a:bodyPr>
          <a:lstStyle/>
          <a:p>
            <a:pPr algn="ctr">
              <a:spcBef>
                <a:spcPts val="0"/>
              </a:spcBef>
              <a:spcAft>
                <a:spcPts val="0"/>
              </a:spcAft>
            </a:pPr>
            <a:r>
              <a:rPr sz="1300" b="1" i="0">
                <a:solidFill>
                  <a:srgbClr val="FFFFFF"/>
                </a:solidFill>
                <a:latin typeface="Bahnschrift"/>
              </a:rPr>
              <a:t>5</a:t>
            </a:r>
          </a:p>
        </p:txBody>
      </p:sp>
      <p:sp>
        <p:nvSpPr>
          <p:cNvPr id="37" name="TextBox 36"/>
          <p:cNvSpPr txBox="1"/>
          <p:nvPr/>
        </p:nvSpPr>
        <p:spPr>
          <a:xfrm>
            <a:off x="1371600" y="4197096"/>
            <a:ext cx="3200400" cy="256032"/>
          </a:xfrm>
          <a:prstGeom prst="rect">
            <a:avLst/>
          </a:prstGeom>
          <a:noFill/>
        </p:spPr>
        <p:txBody>
          <a:bodyPr wrap="square" anchor="t" lIns="0" rIns="0" tIns="0" bIns="0">
            <a:spAutoFit/>
          </a:bodyPr>
          <a:lstStyle/>
          <a:p>
            <a:pPr algn="l">
              <a:spcBef>
                <a:spcPts val="0"/>
              </a:spcBef>
              <a:spcAft>
                <a:spcPts val="0"/>
              </a:spcAft>
            </a:pPr>
            <a:r>
              <a:rPr sz="1200" b="1" i="0">
                <a:solidFill>
                  <a:srgbClr val="16233B"/>
                </a:solidFill>
                <a:latin typeface="Bahnschrift"/>
              </a:rPr>
              <a:t>Prove it</a:t>
            </a:r>
          </a:p>
        </p:txBody>
      </p:sp>
      <p:sp>
        <p:nvSpPr>
          <p:cNvPr id="38" name="TextBox 37"/>
          <p:cNvSpPr txBox="1"/>
          <p:nvPr/>
        </p:nvSpPr>
        <p:spPr>
          <a:xfrm>
            <a:off x="4681728" y="4187952"/>
            <a:ext cx="6668719" cy="512064"/>
          </a:xfrm>
          <a:prstGeom prst="rect">
            <a:avLst/>
          </a:prstGeom>
          <a:noFill/>
        </p:spPr>
        <p:txBody>
          <a:bodyPr wrap="square" anchor="t" lIns="0" rIns="0" tIns="0" bIns="0">
            <a:spAutoFit/>
          </a:bodyPr>
          <a:lstStyle/>
          <a:p>
            <a:pPr algn="l">
              <a:lnSpc>
                <a:spcPct val="105000"/>
              </a:lnSpc>
              <a:spcBef>
                <a:spcPts val="0"/>
              </a:spcBef>
              <a:spcAft>
                <a:spcPts val="0"/>
              </a:spcAft>
            </a:pPr>
            <a:r>
              <a:rPr sz="1050" b="0" i="0">
                <a:solidFill>
                  <a:srgbClr val="6B7280"/>
                </a:solidFill>
                <a:latin typeface="Georgia"/>
              </a:rPr>
              <a:t>Four QA layers: two geometry checks, a client-copy scan, and a visual read of the rendered pages. All must pass.</a:t>
            </a:r>
          </a:p>
        </p:txBody>
      </p:sp>
      <p:sp>
        <p:nvSpPr>
          <p:cNvPr id="39" name="Rectangle 38"/>
          <p:cNvSpPr/>
          <p:nvPr/>
        </p:nvSpPr>
        <p:spPr>
          <a:xfrm>
            <a:off x="841248" y="4709160"/>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41248" y="4846320"/>
            <a:ext cx="365760" cy="365760"/>
          </a:xfrm>
          <a:prstGeom prst="ellipse">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41248" y="4846320"/>
            <a:ext cx="365760" cy="365760"/>
          </a:xfrm>
          <a:prstGeom prst="rect">
            <a:avLst/>
          </a:prstGeom>
          <a:noFill/>
        </p:spPr>
        <p:txBody>
          <a:bodyPr wrap="square" anchor="ctr" lIns="0" rIns="0" tIns="0" bIns="0">
            <a:spAutoFit/>
          </a:bodyPr>
          <a:lstStyle/>
          <a:p>
            <a:pPr algn="ctr">
              <a:spcBef>
                <a:spcPts val="0"/>
              </a:spcBef>
              <a:spcAft>
                <a:spcPts val="0"/>
              </a:spcAft>
            </a:pPr>
            <a:r>
              <a:rPr sz="1300" b="1" i="0">
                <a:solidFill>
                  <a:srgbClr val="FFFFFF"/>
                </a:solidFill>
                <a:latin typeface="Bahnschrift"/>
              </a:rPr>
              <a:t>6</a:t>
            </a:r>
          </a:p>
        </p:txBody>
      </p:sp>
      <p:sp>
        <p:nvSpPr>
          <p:cNvPr id="42" name="TextBox 41"/>
          <p:cNvSpPr txBox="1"/>
          <p:nvPr/>
        </p:nvSpPr>
        <p:spPr>
          <a:xfrm>
            <a:off x="1371600" y="4800600"/>
            <a:ext cx="3200400" cy="256032"/>
          </a:xfrm>
          <a:prstGeom prst="rect">
            <a:avLst/>
          </a:prstGeom>
          <a:noFill/>
        </p:spPr>
        <p:txBody>
          <a:bodyPr wrap="square" anchor="t" lIns="0" rIns="0" tIns="0" bIns="0">
            <a:spAutoFit/>
          </a:bodyPr>
          <a:lstStyle/>
          <a:p>
            <a:pPr algn="l">
              <a:spcBef>
                <a:spcPts val="0"/>
              </a:spcBef>
              <a:spcAft>
                <a:spcPts val="0"/>
              </a:spcAft>
            </a:pPr>
            <a:r>
              <a:rPr sz="1200" b="1" i="0">
                <a:solidFill>
                  <a:srgbClr val="16233B"/>
                </a:solidFill>
                <a:latin typeface="Bahnschrift"/>
              </a:rPr>
              <a:t>Sign and ship</a:t>
            </a:r>
          </a:p>
        </p:txBody>
      </p:sp>
      <p:sp>
        <p:nvSpPr>
          <p:cNvPr id="43" name="TextBox 42"/>
          <p:cNvSpPr txBox="1"/>
          <p:nvPr/>
        </p:nvSpPr>
        <p:spPr>
          <a:xfrm>
            <a:off x="4681728" y="4791456"/>
            <a:ext cx="6668719" cy="512064"/>
          </a:xfrm>
          <a:prstGeom prst="rect">
            <a:avLst/>
          </a:prstGeom>
          <a:noFill/>
        </p:spPr>
        <p:txBody>
          <a:bodyPr wrap="square" anchor="t" lIns="0" rIns="0" tIns="0" bIns="0">
            <a:spAutoFit/>
          </a:bodyPr>
          <a:lstStyle/>
          <a:p>
            <a:pPr algn="l">
              <a:lnSpc>
                <a:spcPct val="105000"/>
              </a:lnSpc>
              <a:spcBef>
                <a:spcPts val="0"/>
              </a:spcBef>
              <a:spcAft>
                <a:spcPts val="0"/>
              </a:spcAft>
            </a:pPr>
            <a:r>
              <a:rPr sz="1050" b="0" i="0">
                <a:solidFill>
                  <a:srgbClr val="6B7280"/>
                </a:solidFill>
                <a:latin typeface="Georgia"/>
              </a:rPr>
              <a:t>Principal or CEO countersignature, then the client copy. Nothing reaches a client unsigned.</a:t>
            </a:r>
          </a:p>
        </p:txBody>
      </p:sp>
      <p:sp>
        <p:nvSpPr>
          <p:cNvPr id="44" name="Rectangle 43"/>
          <p:cNvSpPr/>
          <p:nvPr/>
        </p:nvSpPr>
        <p:spPr>
          <a:xfrm>
            <a:off x="841248" y="5312664"/>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841248" y="5504688"/>
            <a:ext cx="10509199" cy="530352"/>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41248" y="5504688"/>
            <a:ext cx="54864" cy="530352"/>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42416" y="5632703"/>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THE POINT</a:t>
            </a:r>
          </a:p>
        </p:txBody>
      </p:sp>
      <p:sp>
        <p:nvSpPr>
          <p:cNvPr id="48" name="TextBox 47"/>
          <p:cNvSpPr txBox="1"/>
          <p:nvPr/>
        </p:nvSpPr>
        <p:spPr>
          <a:xfrm>
            <a:off x="1042416" y="5907024"/>
            <a:ext cx="10143439" cy="73151"/>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The judgment stays human. What the engine removes is the variance.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9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iv_art_1.png"/>
          <p:cNvPicPr>
            <a:picLocks noChangeAspect="1"/>
          </p:cNvPicPr>
          <p:nvPr/>
        </p:nvPicPr>
        <p:blipFill>
          <a:blip r:embed="rId2"/>
          <a:stretch>
            <a:fillRect/>
          </a:stretch>
        </p:blipFill>
        <p:spPr>
          <a:xfrm>
            <a:off x="6339535" y="0"/>
            <a:ext cx="5852160" cy="6858000"/>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8C95DE"/>
                </a:solidFill>
                <a:latin typeface="Bahnschrift"/>
              </a:rPr>
              <a:t>Private &amp; Confidential</a:t>
            </a:r>
          </a:p>
        </p:txBody>
      </p:sp>
      <p:sp>
        <p:nvSpPr>
          <p:cNvPr id="5" name="TextBox 4"/>
          <p:cNvSpPr txBox="1"/>
          <p:nvPr/>
        </p:nvSpPr>
        <p:spPr>
          <a:xfrm>
            <a:off x="6766560" y="868680"/>
            <a:ext cx="4583887" cy="2377440"/>
          </a:xfrm>
          <a:prstGeom prst="rect">
            <a:avLst/>
          </a:prstGeom>
          <a:noFill/>
        </p:spPr>
        <p:txBody>
          <a:bodyPr wrap="square" anchor="t" lIns="0" rIns="0" tIns="0" bIns="0">
            <a:spAutoFit/>
          </a:bodyPr>
          <a:lstStyle/>
          <a:p>
            <a:pPr algn="r">
              <a:spcBef>
                <a:spcPts val="0"/>
              </a:spcBef>
              <a:spcAft>
                <a:spcPts val="0"/>
              </a:spcAft>
            </a:pPr>
            <a:r>
              <a:rPr sz="17000" b="1" i="0">
                <a:solidFill>
                  <a:srgbClr val="242F8E"/>
                </a:solidFill>
                <a:latin typeface="Georgia"/>
              </a:rPr>
              <a:t>01</a:t>
            </a:r>
          </a:p>
        </p:txBody>
      </p:sp>
      <p:sp>
        <p:nvSpPr>
          <p:cNvPr id="6" name="TextBox 5"/>
          <p:cNvSpPr txBox="1"/>
          <p:nvPr/>
        </p:nvSpPr>
        <p:spPr>
          <a:xfrm>
            <a:off x="841248" y="2359152"/>
            <a:ext cx="5943600" cy="274320"/>
          </a:xfrm>
          <a:prstGeom prst="rect">
            <a:avLst/>
          </a:prstGeom>
          <a:noFill/>
        </p:spPr>
        <p:txBody>
          <a:bodyPr wrap="square" anchor="t" lIns="0" rIns="0" tIns="0" bIns="0">
            <a:spAutoFit/>
          </a:bodyPr>
          <a:lstStyle/>
          <a:p>
            <a:pPr algn="l">
              <a:spcBef>
                <a:spcPts val="0"/>
              </a:spcBef>
              <a:spcAft>
                <a:spcPts val="0"/>
              </a:spcAft>
            </a:pPr>
            <a:r>
              <a:rPr sz="1000" b="1" i="0" spc="250">
                <a:solidFill>
                  <a:srgbClr val="F2A93C"/>
                </a:solidFill>
                <a:latin typeface="Bahnschrift"/>
              </a:rPr>
              <a:t>SECTION 01</a:t>
            </a:r>
          </a:p>
        </p:txBody>
      </p:sp>
      <p:sp>
        <p:nvSpPr>
          <p:cNvPr id="7" name="TextBox 6"/>
          <p:cNvSpPr txBox="1"/>
          <p:nvPr/>
        </p:nvSpPr>
        <p:spPr>
          <a:xfrm>
            <a:off x="841248" y="2706624"/>
            <a:ext cx="7863840" cy="685800"/>
          </a:xfrm>
          <a:prstGeom prst="rect">
            <a:avLst/>
          </a:prstGeom>
          <a:noFill/>
        </p:spPr>
        <p:txBody>
          <a:bodyPr wrap="square" anchor="t" lIns="0" rIns="0" tIns="0" bIns="0">
            <a:spAutoFit/>
          </a:bodyPr>
          <a:lstStyle/>
          <a:p>
            <a:pPr algn="l">
              <a:spcBef>
                <a:spcPts val="0"/>
              </a:spcBef>
              <a:spcAft>
                <a:spcPts val="0"/>
              </a:spcAft>
            </a:pPr>
            <a:r>
              <a:rPr sz="3000" b="1" i="0">
                <a:solidFill>
                  <a:srgbClr val="FFFFFF"/>
                </a:solidFill>
                <a:latin typeface="Georgia"/>
              </a:rPr>
              <a:t>The model</a:t>
            </a:r>
          </a:p>
        </p:txBody>
      </p:sp>
      <p:sp>
        <p:nvSpPr>
          <p:cNvPr id="8" name="Rectangle 7"/>
          <p:cNvSpPr/>
          <p:nvPr/>
        </p:nvSpPr>
        <p:spPr>
          <a:xfrm>
            <a:off x="841248" y="3419856"/>
            <a:ext cx="2011680" cy="25603"/>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3639312"/>
            <a:ext cx="7863840" cy="548640"/>
          </a:xfrm>
          <a:prstGeom prst="rect">
            <a:avLst/>
          </a:prstGeom>
          <a:noFill/>
        </p:spPr>
        <p:txBody>
          <a:bodyPr wrap="square" anchor="t" lIns="0" rIns="0" tIns="0" bIns="0">
            <a:spAutoFit/>
          </a:bodyPr>
          <a:lstStyle/>
          <a:p>
            <a:pPr algn="l">
              <a:spcBef>
                <a:spcPts val="0"/>
              </a:spcBef>
              <a:spcAft>
                <a:spcPts val="0"/>
              </a:spcAft>
            </a:pPr>
            <a:r>
              <a:rPr sz="1300" b="0" i="1">
                <a:solidFill>
                  <a:srgbClr val="C9CEF0"/>
                </a:solidFill>
                <a:latin typeface="Georgia"/>
              </a:rPr>
              <a:t>What produces a score, and what produces a call</a:t>
            </a:r>
          </a:p>
        </p:txBody>
      </p:sp>
      <p:sp>
        <p:nvSpPr>
          <p:cNvPr id="10" name="TextBox 9"/>
          <p:cNvSpPr txBox="1"/>
          <p:nvPr/>
        </p:nvSpPr>
        <p:spPr>
          <a:xfrm>
            <a:off x="841248" y="498348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Scoring architecture</a:t>
            </a:r>
          </a:p>
        </p:txBody>
      </p:sp>
      <p:sp>
        <p:nvSpPr>
          <p:cNvPr id="11" name="TextBox 10"/>
          <p:cNvSpPr txBox="1"/>
          <p:nvPr/>
        </p:nvSpPr>
        <p:spPr>
          <a:xfrm>
            <a:off x="841248" y="525780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Gates, penalties, and the call</a:t>
            </a:r>
          </a:p>
        </p:txBody>
      </p:sp>
      <p:sp>
        <p:nvSpPr>
          <p:cNvPr id="12" name="TextBox 11"/>
          <p:cNvSpPr txBox="1"/>
          <p:nvPr/>
        </p:nvSpPr>
        <p:spPr>
          <a:xfrm>
            <a:off x="841248" y="553212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The one number a client sees</a:t>
            </a:r>
          </a:p>
        </p:txBody>
      </p:sp>
      <p:sp>
        <p:nvSpPr>
          <p:cNvPr id="13" name="TextBox 12"/>
          <p:cNvSpPr txBox="1"/>
          <p:nvPr/>
        </p:nvSpPr>
        <p:spPr>
          <a:xfrm>
            <a:off x="841248" y="580644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The fund frameworks</a:t>
            </a:r>
          </a:p>
        </p:txBody>
      </p:sp>
      <p:sp>
        <p:nvSpPr>
          <p:cNvPr id="14" name="TextBox 13"/>
          <p:cNvSpPr txBox="1"/>
          <p:nvPr/>
        </p:nvSpPr>
        <p:spPr>
          <a:xfrm>
            <a:off x="841248" y="6080759"/>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Coverage today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01 · THE MODEL</a:t>
            </a:r>
          </a:p>
        </p:txBody>
      </p:sp>
      <p:sp>
        <p:nvSpPr>
          <p:cNvPr id="6" name="Rectangle 5"/>
          <p:cNvSpPr/>
          <p:nvPr/>
        </p:nvSpPr>
        <p:spPr>
          <a:xfrm>
            <a:off x="854964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Scoring architecture</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Two horizons, seven pillars, never blended at the analyst's desk</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05</a:t>
            </a:r>
          </a:p>
        </p:txBody>
      </p:sp>
      <p:sp>
        <p:nvSpPr>
          <p:cNvPr id="15" name="TextBox 14"/>
          <p:cNvSpPr txBox="1"/>
          <p:nvPr/>
        </p:nvSpPr>
        <p:spPr>
          <a:xfrm>
            <a:off x="914400" y="1783080"/>
            <a:ext cx="3006455"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PILLAR</a:t>
            </a:r>
          </a:p>
        </p:txBody>
      </p:sp>
      <p:sp>
        <p:nvSpPr>
          <p:cNvPr id="16" name="TextBox 15"/>
          <p:cNvSpPr txBox="1"/>
          <p:nvPr/>
        </p:nvSpPr>
        <p:spPr>
          <a:xfrm>
            <a:off x="4067159" y="1783080"/>
            <a:ext cx="4267559"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WHAT IT MEASURES</a:t>
            </a:r>
          </a:p>
        </p:txBody>
      </p:sp>
      <p:sp>
        <p:nvSpPr>
          <p:cNvPr id="17" name="TextBox 16"/>
          <p:cNvSpPr txBox="1"/>
          <p:nvPr/>
        </p:nvSpPr>
        <p:spPr>
          <a:xfrm>
            <a:off x="8481023" y="1783080"/>
            <a:ext cx="1324983" cy="219456"/>
          </a:xfrm>
          <a:prstGeom prst="rect">
            <a:avLst/>
          </a:prstGeom>
          <a:noFill/>
        </p:spPr>
        <p:txBody>
          <a:bodyPr wrap="square" anchor="ctr" lIns="0" rIns="0" tIns="0" bIns="0">
            <a:spAutoFit/>
          </a:bodyPr>
          <a:lstStyle/>
          <a:p>
            <a:pPr algn="r">
              <a:spcBef>
                <a:spcPts val="0"/>
              </a:spcBef>
              <a:spcAft>
                <a:spcPts val="0"/>
              </a:spcAft>
            </a:pPr>
            <a:r>
              <a:rPr sz="800" b="1" i="0" spc="200">
                <a:solidFill>
                  <a:srgbClr val="6B7280"/>
                </a:solidFill>
                <a:latin typeface="Bahnschrift"/>
              </a:rPr>
              <a:t>3-YEAR WEIGHT</a:t>
            </a:r>
          </a:p>
        </p:txBody>
      </p:sp>
      <p:sp>
        <p:nvSpPr>
          <p:cNvPr id="18" name="TextBox 17"/>
          <p:cNvSpPr txBox="1"/>
          <p:nvPr/>
        </p:nvSpPr>
        <p:spPr>
          <a:xfrm>
            <a:off x="9952311" y="1783080"/>
            <a:ext cx="1324983" cy="219456"/>
          </a:xfrm>
          <a:prstGeom prst="rect">
            <a:avLst/>
          </a:prstGeom>
          <a:noFill/>
        </p:spPr>
        <p:txBody>
          <a:bodyPr wrap="square" anchor="ctr" lIns="0" rIns="0" tIns="0" bIns="0">
            <a:spAutoFit/>
          </a:bodyPr>
          <a:lstStyle/>
          <a:p>
            <a:pPr algn="r">
              <a:spcBef>
                <a:spcPts val="0"/>
              </a:spcBef>
              <a:spcAft>
                <a:spcPts val="0"/>
              </a:spcAft>
            </a:pPr>
            <a:r>
              <a:rPr sz="800" b="1" i="0" spc="200">
                <a:solidFill>
                  <a:srgbClr val="6B7280"/>
                </a:solidFill>
                <a:latin typeface="Bahnschrift"/>
              </a:rPr>
              <a:t>1-YEAR WEIGHT</a:t>
            </a:r>
          </a:p>
        </p:txBody>
      </p:sp>
      <p:sp>
        <p:nvSpPr>
          <p:cNvPr id="19" name="Rectangle 18"/>
          <p:cNvSpPr/>
          <p:nvPr/>
        </p:nvSpPr>
        <p:spPr>
          <a:xfrm>
            <a:off x="841248" y="2039112"/>
            <a:ext cx="1050919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2084831"/>
            <a:ext cx="3006455" cy="365760"/>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Quality</a:t>
            </a:r>
          </a:p>
        </p:txBody>
      </p:sp>
      <p:sp>
        <p:nvSpPr>
          <p:cNvPr id="21" name="TextBox 20"/>
          <p:cNvSpPr txBox="1"/>
          <p:nvPr/>
        </p:nvSpPr>
        <p:spPr>
          <a:xfrm>
            <a:off x="4067159" y="2084831"/>
            <a:ext cx="4267559" cy="365760"/>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Return on equity and capital, ranked within sector</a:t>
            </a:r>
          </a:p>
        </p:txBody>
      </p:sp>
      <p:sp>
        <p:nvSpPr>
          <p:cNvPr id="22" name="TextBox 21"/>
          <p:cNvSpPr txBox="1"/>
          <p:nvPr/>
        </p:nvSpPr>
        <p:spPr>
          <a:xfrm>
            <a:off x="8481023" y="2084831"/>
            <a:ext cx="1324983"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20%</a:t>
            </a:r>
          </a:p>
        </p:txBody>
      </p:sp>
      <p:sp>
        <p:nvSpPr>
          <p:cNvPr id="23" name="TextBox 22"/>
          <p:cNvSpPr txBox="1"/>
          <p:nvPr/>
        </p:nvSpPr>
        <p:spPr>
          <a:xfrm>
            <a:off x="9952311" y="2084831"/>
            <a:ext cx="1324983"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16%</a:t>
            </a:r>
          </a:p>
        </p:txBody>
      </p:sp>
      <p:sp>
        <p:nvSpPr>
          <p:cNvPr id="24" name="Rectangle 23"/>
          <p:cNvSpPr/>
          <p:nvPr/>
        </p:nvSpPr>
        <p:spPr>
          <a:xfrm>
            <a:off x="841248" y="2432303"/>
            <a:ext cx="10509199" cy="365760"/>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2450591"/>
            <a:ext cx="3006455" cy="365760"/>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Growth</a:t>
            </a:r>
          </a:p>
        </p:txBody>
      </p:sp>
      <p:sp>
        <p:nvSpPr>
          <p:cNvPr id="26" name="TextBox 25"/>
          <p:cNvSpPr txBox="1"/>
          <p:nvPr/>
        </p:nvSpPr>
        <p:spPr>
          <a:xfrm>
            <a:off x="4067159" y="2450591"/>
            <a:ext cx="4267559" cy="365760"/>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Revenue compounding, three-year and trailing-twelve-month</a:t>
            </a:r>
          </a:p>
        </p:txBody>
      </p:sp>
      <p:sp>
        <p:nvSpPr>
          <p:cNvPr id="27" name="TextBox 26"/>
          <p:cNvSpPr txBox="1"/>
          <p:nvPr/>
        </p:nvSpPr>
        <p:spPr>
          <a:xfrm>
            <a:off x="8481023" y="2450591"/>
            <a:ext cx="1324983"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20%</a:t>
            </a:r>
          </a:p>
        </p:txBody>
      </p:sp>
      <p:sp>
        <p:nvSpPr>
          <p:cNvPr id="28" name="TextBox 27"/>
          <p:cNvSpPr txBox="1"/>
          <p:nvPr/>
        </p:nvSpPr>
        <p:spPr>
          <a:xfrm>
            <a:off x="9952311" y="2450591"/>
            <a:ext cx="1324983"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16%</a:t>
            </a:r>
          </a:p>
        </p:txBody>
      </p:sp>
      <p:sp>
        <p:nvSpPr>
          <p:cNvPr id="29" name="TextBox 28"/>
          <p:cNvSpPr txBox="1"/>
          <p:nvPr/>
        </p:nvSpPr>
        <p:spPr>
          <a:xfrm>
            <a:off x="914400" y="2816351"/>
            <a:ext cx="3006455" cy="365760"/>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Value</a:t>
            </a:r>
          </a:p>
        </p:txBody>
      </p:sp>
      <p:sp>
        <p:nvSpPr>
          <p:cNvPr id="30" name="TextBox 29"/>
          <p:cNvSpPr txBox="1"/>
          <p:nvPr/>
        </p:nvSpPr>
        <p:spPr>
          <a:xfrm>
            <a:off x="4067159" y="2816351"/>
            <a:ext cx="4267559" cy="365760"/>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Earnings, book and cash-flow yield versus sector and size peers</a:t>
            </a:r>
          </a:p>
        </p:txBody>
      </p:sp>
      <p:sp>
        <p:nvSpPr>
          <p:cNvPr id="31" name="TextBox 30"/>
          <p:cNvSpPr txBox="1"/>
          <p:nvPr/>
        </p:nvSpPr>
        <p:spPr>
          <a:xfrm>
            <a:off x="8481023" y="2816351"/>
            <a:ext cx="1324983"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18%</a:t>
            </a:r>
          </a:p>
        </p:txBody>
      </p:sp>
      <p:sp>
        <p:nvSpPr>
          <p:cNvPr id="32" name="TextBox 31"/>
          <p:cNvSpPr txBox="1"/>
          <p:nvPr/>
        </p:nvSpPr>
        <p:spPr>
          <a:xfrm>
            <a:off x="9952311" y="2816351"/>
            <a:ext cx="1324983"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16%</a:t>
            </a:r>
          </a:p>
        </p:txBody>
      </p:sp>
      <p:sp>
        <p:nvSpPr>
          <p:cNvPr id="33" name="Rectangle 32"/>
          <p:cNvSpPr/>
          <p:nvPr/>
        </p:nvSpPr>
        <p:spPr>
          <a:xfrm>
            <a:off x="841248" y="3163823"/>
            <a:ext cx="10509199" cy="365760"/>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4400" y="3182111"/>
            <a:ext cx="3006455" cy="365760"/>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Stage / technical</a:t>
            </a:r>
          </a:p>
        </p:txBody>
      </p:sp>
      <p:sp>
        <p:nvSpPr>
          <p:cNvPr id="35" name="TextBox 34"/>
          <p:cNvSpPr txBox="1"/>
          <p:nvPr/>
        </p:nvSpPr>
        <p:spPr>
          <a:xfrm>
            <a:off x="4067159" y="3182111"/>
            <a:ext cx="4267559" cy="365760"/>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Price trend against its own history and its sector</a:t>
            </a:r>
          </a:p>
        </p:txBody>
      </p:sp>
      <p:sp>
        <p:nvSpPr>
          <p:cNvPr id="36" name="TextBox 35"/>
          <p:cNvSpPr txBox="1"/>
          <p:nvPr/>
        </p:nvSpPr>
        <p:spPr>
          <a:xfrm>
            <a:off x="8481023" y="3182111"/>
            <a:ext cx="1324983"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14%</a:t>
            </a:r>
          </a:p>
        </p:txBody>
      </p:sp>
      <p:sp>
        <p:nvSpPr>
          <p:cNvPr id="37" name="TextBox 36"/>
          <p:cNvSpPr txBox="1"/>
          <p:nvPr/>
        </p:nvSpPr>
        <p:spPr>
          <a:xfrm>
            <a:off x="9952311" y="3182111"/>
            <a:ext cx="1324983"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26%</a:t>
            </a:r>
          </a:p>
        </p:txBody>
      </p:sp>
      <p:sp>
        <p:nvSpPr>
          <p:cNvPr id="38" name="TextBox 37"/>
          <p:cNvSpPr txBox="1"/>
          <p:nvPr/>
        </p:nvSpPr>
        <p:spPr>
          <a:xfrm>
            <a:off x="914400" y="3547871"/>
            <a:ext cx="3006455" cy="365760"/>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Sector &amp; macro</a:t>
            </a:r>
          </a:p>
        </p:txBody>
      </p:sp>
      <p:sp>
        <p:nvSpPr>
          <p:cNvPr id="39" name="TextBox 38"/>
          <p:cNvSpPr txBox="1"/>
          <p:nvPr/>
        </p:nvSpPr>
        <p:spPr>
          <a:xfrm>
            <a:off x="4067159" y="3547871"/>
            <a:ext cx="4267559" cy="365760"/>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Sector strength, adjusted for cyclicality in the current regime</a:t>
            </a:r>
          </a:p>
        </p:txBody>
      </p:sp>
      <p:sp>
        <p:nvSpPr>
          <p:cNvPr id="40" name="TextBox 39"/>
          <p:cNvSpPr txBox="1"/>
          <p:nvPr/>
        </p:nvSpPr>
        <p:spPr>
          <a:xfrm>
            <a:off x="8481023" y="3547871"/>
            <a:ext cx="1324983"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11%</a:t>
            </a:r>
          </a:p>
        </p:txBody>
      </p:sp>
      <p:sp>
        <p:nvSpPr>
          <p:cNvPr id="41" name="TextBox 40"/>
          <p:cNvSpPr txBox="1"/>
          <p:nvPr/>
        </p:nvSpPr>
        <p:spPr>
          <a:xfrm>
            <a:off x="9952311" y="3547871"/>
            <a:ext cx="1324983"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13%</a:t>
            </a:r>
          </a:p>
        </p:txBody>
      </p:sp>
      <p:sp>
        <p:nvSpPr>
          <p:cNvPr id="42" name="Rectangle 41"/>
          <p:cNvSpPr/>
          <p:nvPr/>
        </p:nvSpPr>
        <p:spPr>
          <a:xfrm>
            <a:off x="841248" y="3895344"/>
            <a:ext cx="10509199" cy="365760"/>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14400" y="3913631"/>
            <a:ext cx="3006455" cy="365760"/>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Ownership flow</a:t>
            </a:r>
          </a:p>
        </p:txBody>
      </p:sp>
      <p:sp>
        <p:nvSpPr>
          <p:cNvPr id="44" name="TextBox 43"/>
          <p:cNvSpPr txBox="1"/>
          <p:nvPr/>
        </p:nvSpPr>
        <p:spPr>
          <a:xfrm>
            <a:off x="4067159" y="3913631"/>
            <a:ext cx="4267559" cy="365760"/>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Institutional buying and selling across recent quarters</a:t>
            </a:r>
          </a:p>
        </p:txBody>
      </p:sp>
      <p:sp>
        <p:nvSpPr>
          <p:cNvPr id="45" name="TextBox 44"/>
          <p:cNvSpPr txBox="1"/>
          <p:nvPr/>
        </p:nvSpPr>
        <p:spPr>
          <a:xfrm>
            <a:off x="8481023" y="3913631"/>
            <a:ext cx="1324983"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9%</a:t>
            </a:r>
          </a:p>
        </p:txBody>
      </p:sp>
      <p:sp>
        <p:nvSpPr>
          <p:cNvPr id="46" name="TextBox 45"/>
          <p:cNvSpPr txBox="1"/>
          <p:nvPr/>
        </p:nvSpPr>
        <p:spPr>
          <a:xfrm>
            <a:off x="9952311" y="3913631"/>
            <a:ext cx="1324983"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8%</a:t>
            </a:r>
          </a:p>
        </p:txBody>
      </p:sp>
      <p:sp>
        <p:nvSpPr>
          <p:cNvPr id="47" name="TextBox 46"/>
          <p:cNvSpPr txBox="1"/>
          <p:nvPr/>
        </p:nvSpPr>
        <p:spPr>
          <a:xfrm>
            <a:off x="914400" y="4279392"/>
            <a:ext cx="3006455" cy="365760"/>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Accumulation</a:t>
            </a:r>
          </a:p>
        </p:txBody>
      </p:sp>
      <p:sp>
        <p:nvSpPr>
          <p:cNvPr id="48" name="TextBox 47"/>
          <p:cNvSpPr txBox="1"/>
          <p:nvPr/>
        </p:nvSpPr>
        <p:spPr>
          <a:xfrm>
            <a:off x="4067159" y="4279392"/>
            <a:ext cx="4267559" cy="365760"/>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Volume-flow trend behind the price</a:t>
            </a:r>
          </a:p>
        </p:txBody>
      </p:sp>
      <p:sp>
        <p:nvSpPr>
          <p:cNvPr id="49" name="TextBox 48"/>
          <p:cNvSpPr txBox="1"/>
          <p:nvPr/>
        </p:nvSpPr>
        <p:spPr>
          <a:xfrm>
            <a:off x="8481023" y="4279392"/>
            <a:ext cx="1324983"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8%</a:t>
            </a:r>
          </a:p>
        </p:txBody>
      </p:sp>
      <p:sp>
        <p:nvSpPr>
          <p:cNvPr id="50" name="TextBox 49"/>
          <p:cNvSpPr txBox="1"/>
          <p:nvPr/>
        </p:nvSpPr>
        <p:spPr>
          <a:xfrm>
            <a:off x="9952311" y="4279392"/>
            <a:ext cx="1324983" cy="365760"/>
          </a:xfrm>
          <a:prstGeom prst="rect">
            <a:avLst/>
          </a:prstGeom>
          <a:noFill/>
        </p:spPr>
        <p:txBody>
          <a:bodyPr wrap="square" anchor="ctr" lIns="0" rIns="0" tIns="0" bIns="0">
            <a:spAutoFit/>
          </a:bodyPr>
          <a:lstStyle/>
          <a:p>
            <a:pPr algn="r">
              <a:spcBef>
                <a:spcPts val="0"/>
              </a:spcBef>
              <a:spcAft>
                <a:spcPts val="0"/>
              </a:spcAft>
            </a:pPr>
            <a:r>
              <a:rPr sz="1000" b="0" i="0">
                <a:solidFill>
                  <a:srgbClr val="16233B"/>
                </a:solidFill>
                <a:latin typeface="Georgia"/>
              </a:rPr>
              <a:t>5%</a:t>
            </a:r>
          </a:p>
        </p:txBody>
      </p:sp>
      <p:sp>
        <p:nvSpPr>
          <p:cNvPr id="51" name="Rounded Rectangle 50"/>
          <p:cNvSpPr/>
          <p:nvPr/>
        </p:nvSpPr>
        <p:spPr>
          <a:xfrm>
            <a:off x="841248" y="4590288"/>
            <a:ext cx="5117439" cy="1412748"/>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841248" y="4590288"/>
            <a:ext cx="54864" cy="1412748"/>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42416" y="4718303"/>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WHY TWO HORIZONS</a:t>
            </a:r>
          </a:p>
        </p:txBody>
      </p:sp>
      <p:sp>
        <p:nvSpPr>
          <p:cNvPr id="54" name="TextBox 53"/>
          <p:cNvSpPr txBox="1"/>
          <p:nvPr/>
        </p:nvSpPr>
        <p:spPr>
          <a:xfrm>
            <a:off x="1042416" y="4992624"/>
            <a:ext cx="4751679" cy="955547"/>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A three-year score leans on fundamentals; a one-year score leans on market behaviour. Keeping them apart means a good business in a bad tape and a weak business in a strong tape read differently, instead of averaging into the same middle.</a:t>
            </a:r>
          </a:p>
        </p:txBody>
      </p:sp>
      <p:sp>
        <p:nvSpPr>
          <p:cNvPr id="55" name="Rounded Rectangle 54"/>
          <p:cNvSpPr/>
          <p:nvPr/>
        </p:nvSpPr>
        <p:spPr>
          <a:xfrm>
            <a:off x="6233007" y="4590288"/>
            <a:ext cx="5117439" cy="1412748"/>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233007" y="4590288"/>
            <a:ext cx="54864" cy="1412748"/>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434175" y="4718303"/>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DISCIPLINE BEHIND THE RANKS</a:t>
            </a:r>
          </a:p>
        </p:txBody>
      </p:sp>
      <p:sp>
        <p:nvSpPr>
          <p:cNvPr id="58" name="TextBox 57"/>
          <p:cNvSpPr txBox="1"/>
          <p:nvPr/>
        </p:nvSpPr>
        <p:spPr>
          <a:xfrm>
            <a:off x="6434175" y="4992624"/>
            <a:ext cx="4751679" cy="955547"/>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Every input is winsorised before ranking, so one outlier cannot claim an extreme percentile. Value ranks within sector and size tier, because a cement multiple and a software multiple are not comparable numbers.</a:t>
            </a:r>
          </a:p>
        </p:txBody>
      </p:sp>
      <p:sp>
        <p:nvSpPr>
          <p:cNvPr id="59" name="TextBox 58"/>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Frozen scoring contract; discounted-cash-flow is deliberately excluded as a mechanical pillar and lives as the analyst's own reverse-DCF judgment.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01 · THE MODEL</a:t>
            </a:r>
          </a:p>
        </p:txBody>
      </p:sp>
      <p:sp>
        <p:nvSpPr>
          <p:cNvPr id="6" name="Rectangle 5"/>
          <p:cNvSpPr/>
          <p:nvPr/>
        </p:nvSpPr>
        <p:spPr>
          <a:xfrm>
            <a:off x="854964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Gates, penalties, and the call</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A score can be capped by risk before it is ever compared</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06</a:t>
            </a:r>
          </a:p>
        </p:txBody>
      </p:sp>
      <p:sp>
        <p:nvSpPr>
          <p:cNvPr id="15" name="TextBox 14"/>
          <p:cNvSpPr txBox="1"/>
          <p:nvPr/>
        </p:nvSpPr>
        <p:spPr>
          <a:xfrm>
            <a:off x="841248" y="1737360"/>
            <a:ext cx="10509199" cy="274320"/>
          </a:xfrm>
          <a:prstGeom prst="rect">
            <a:avLst/>
          </a:prstGeom>
          <a:noFill/>
        </p:spPr>
        <p:txBody>
          <a:bodyPr wrap="square" anchor="t" lIns="0" rIns="0" tIns="0" bIns="0">
            <a:spAutoFit/>
          </a:bodyPr>
          <a:lstStyle/>
          <a:p>
            <a:pPr algn="l">
              <a:spcBef>
                <a:spcPts val="0"/>
              </a:spcBef>
              <a:spcAft>
                <a:spcPts val="0"/>
              </a:spcAft>
            </a:pPr>
            <a:r>
              <a:rPr sz="1100" b="0" i="1">
                <a:solidFill>
                  <a:srgbClr val="16233B"/>
                </a:solidFill>
                <a:latin typeface="Georgia"/>
              </a:rPr>
              <a:t>Overlay gates apply after the weighted composite and can cap a score outright.</a:t>
            </a:r>
          </a:p>
        </p:txBody>
      </p:sp>
      <p:sp>
        <p:nvSpPr>
          <p:cNvPr id="16" name="TextBox 15"/>
          <p:cNvSpPr txBox="1"/>
          <p:nvPr/>
        </p:nvSpPr>
        <p:spPr>
          <a:xfrm>
            <a:off x="914400" y="2084831"/>
            <a:ext cx="2165719"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GATE</a:t>
            </a:r>
          </a:p>
        </p:txBody>
      </p:sp>
      <p:sp>
        <p:nvSpPr>
          <p:cNvPr id="17" name="TextBox 16"/>
          <p:cNvSpPr txBox="1"/>
          <p:nvPr/>
        </p:nvSpPr>
        <p:spPr>
          <a:xfrm>
            <a:off x="3226423" y="2084831"/>
            <a:ext cx="4477743"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TRIPS WHEN</a:t>
            </a:r>
          </a:p>
        </p:txBody>
      </p:sp>
      <p:sp>
        <p:nvSpPr>
          <p:cNvPr id="18" name="TextBox 17"/>
          <p:cNvSpPr txBox="1"/>
          <p:nvPr/>
        </p:nvSpPr>
        <p:spPr>
          <a:xfrm>
            <a:off x="7850471" y="2084831"/>
            <a:ext cx="3426823"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EFFECT</a:t>
            </a:r>
          </a:p>
        </p:txBody>
      </p:sp>
      <p:sp>
        <p:nvSpPr>
          <p:cNvPr id="19" name="Rectangle 18"/>
          <p:cNvSpPr/>
          <p:nvPr/>
        </p:nvSpPr>
        <p:spPr>
          <a:xfrm>
            <a:off x="841248" y="2340863"/>
            <a:ext cx="1050919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2386584"/>
            <a:ext cx="2165719" cy="384048"/>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Balance-sheet safety</a:t>
            </a:r>
          </a:p>
        </p:txBody>
      </p:sp>
      <p:sp>
        <p:nvSpPr>
          <p:cNvPr id="21" name="TextBox 20"/>
          <p:cNvSpPr txBox="1"/>
          <p:nvPr/>
        </p:nvSpPr>
        <p:spPr>
          <a:xfrm>
            <a:off x="3226423" y="2386584"/>
            <a:ext cx="4477743"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Debt/equity above 2.5x or interest cover below 1.5x</a:t>
            </a:r>
          </a:p>
        </p:txBody>
      </p:sp>
      <p:sp>
        <p:nvSpPr>
          <p:cNvPr id="22" name="TextBox 21"/>
          <p:cNvSpPr txBox="1"/>
          <p:nvPr/>
        </p:nvSpPr>
        <p:spPr>
          <a:xfrm>
            <a:off x="7850471" y="2386584"/>
            <a:ext cx="3426823" cy="384048"/>
          </a:xfrm>
          <a:prstGeom prst="rect">
            <a:avLst/>
          </a:prstGeom>
          <a:noFill/>
        </p:spPr>
        <p:txBody>
          <a:bodyPr wrap="square" anchor="ctr" lIns="0" rIns="0" tIns="0" bIns="0">
            <a:spAutoFit/>
          </a:bodyPr>
          <a:lstStyle/>
          <a:p>
            <a:pPr algn="l">
              <a:spcBef>
                <a:spcPts val="0"/>
              </a:spcBef>
              <a:spcAft>
                <a:spcPts val="0"/>
              </a:spcAft>
            </a:pPr>
            <a:r>
              <a:rPr sz="1000" b="0" i="0">
                <a:solidFill>
                  <a:srgbClr val="E0402F"/>
                </a:solidFill>
                <a:latin typeface="Bahnschrift"/>
              </a:rPr>
              <a:t>Caps the score at 40</a:t>
            </a:r>
          </a:p>
        </p:txBody>
      </p:sp>
      <p:sp>
        <p:nvSpPr>
          <p:cNvPr id="23" name="Rectangle 22"/>
          <p:cNvSpPr/>
          <p:nvPr/>
        </p:nvSpPr>
        <p:spPr>
          <a:xfrm>
            <a:off x="841248" y="2752344"/>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2770632"/>
            <a:ext cx="2165719" cy="384048"/>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Balance-sheet caution</a:t>
            </a:r>
          </a:p>
        </p:txBody>
      </p:sp>
      <p:sp>
        <p:nvSpPr>
          <p:cNvPr id="25" name="TextBox 24"/>
          <p:cNvSpPr txBox="1"/>
          <p:nvPr/>
        </p:nvSpPr>
        <p:spPr>
          <a:xfrm>
            <a:off x="3226423" y="2770632"/>
            <a:ext cx="4477743"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Debt/equity above 1.5x or interest cover below 3x</a:t>
            </a:r>
          </a:p>
        </p:txBody>
      </p:sp>
      <p:sp>
        <p:nvSpPr>
          <p:cNvPr id="26" name="TextBox 25"/>
          <p:cNvSpPr txBox="1"/>
          <p:nvPr/>
        </p:nvSpPr>
        <p:spPr>
          <a:xfrm>
            <a:off x="7850471" y="2770632"/>
            <a:ext cx="3426823" cy="384048"/>
          </a:xfrm>
          <a:prstGeom prst="rect">
            <a:avLst/>
          </a:prstGeom>
          <a:noFill/>
        </p:spPr>
        <p:txBody>
          <a:bodyPr wrap="square" anchor="ctr" lIns="0" rIns="0" tIns="0" bIns="0">
            <a:spAutoFit/>
          </a:bodyPr>
          <a:lstStyle/>
          <a:p>
            <a:pPr algn="l">
              <a:spcBef>
                <a:spcPts val="0"/>
              </a:spcBef>
              <a:spcAft>
                <a:spcPts val="0"/>
              </a:spcAft>
            </a:pPr>
            <a:r>
              <a:rPr sz="1000" b="0" i="0">
                <a:solidFill>
                  <a:srgbClr val="92400E"/>
                </a:solidFill>
                <a:latin typeface="Bahnschrift"/>
              </a:rPr>
              <a:t>Multiplies the score by 0.85</a:t>
            </a:r>
          </a:p>
        </p:txBody>
      </p:sp>
      <p:sp>
        <p:nvSpPr>
          <p:cNvPr id="27" name="Rectangle 26"/>
          <p:cNvSpPr/>
          <p:nvPr/>
        </p:nvSpPr>
        <p:spPr>
          <a:xfrm>
            <a:off x="841248" y="3136391"/>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4400" y="3154679"/>
            <a:ext cx="2165719" cy="384048"/>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Liquidity</a:t>
            </a:r>
          </a:p>
        </p:txBody>
      </p:sp>
      <p:sp>
        <p:nvSpPr>
          <p:cNvPr id="29" name="TextBox 28"/>
          <p:cNvSpPr txBox="1"/>
          <p:nvPr/>
        </p:nvSpPr>
        <p:spPr>
          <a:xfrm>
            <a:off x="3226423" y="3154679"/>
            <a:ext cx="4477743"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Median traded value below the bar for the stock's size tier</a:t>
            </a:r>
          </a:p>
        </p:txBody>
      </p:sp>
      <p:sp>
        <p:nvSpPr>
          <p:cNvPr id="30" name="TextBox 29"/>
          <p:cNvSpPr txBox="1"/>
          <p:nvPr/>
        </p:nvSpPr>
        <p:spPr>
          <a:xfrm>
            <a:off x="7850471" y="3154679"/>
            <a:ext cx="3426823" cy="384048"/>
          </a:xfrm>
          <a:prstGeom prst="rect">
            <a:avLst/>
          </a:prstGeom>
          <a:noFill/>
        </p:spPr>
        <p:txBody>
          <a:bodyPr wrap="square" anchor="ctr" lIns="0" rIns="0" tIns="0" bIns="0">
            <a:spAutoFit/>
          </a:bodyPr>
          <a:lstStyle/>
          <a:p>
            <a:pPr algn="l">
              <a:spcBef>
                <a:spcPts val="0"/>
              </a:spcBef>
              <a:spcAft>
                <a:spcPts val="0"/>
              </a:spcAft>
            </a:pPr>
            <a:r>
              <a:rPr sz="1000" b="0" i="0">
                <a:solidFill>
                  <a:srgbClr val="E0402F"/>
                </a:solidFill>
                <a:latin typeface="Bahnschrift"/>
              </a:rPr>
              <a:t>Caps the score at 40</a:t>
            </a:r>
          </a:p>
        </p:txBody>
      </p:sp>
      <p:sp>
        <p:nvSpPr>
          <p:cNvPr id="31" name="Rectangle 30"/>
          <p:cNvSpPr/>
          <p:nvPr/>
        </p:nvSpPr>
        <p:spPr>
          <a:xfrm>
            <a:off x="841248" y="3520439"/>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41248" y="3602736"/>
            <a:ext cx="5117439" cy="969264"/>
          </a:xfrm>
          <a:prstGeom prst="roundRect">
            <a:avLst>
              <a:gd name="adj" fmla="val 4000"/>
            </a:avLst>
          </a:prstGeom>
          <a:solidFill>
            <a:srgbClr val="E0F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41248" y="3602736"/>
            <a:ext cx="54864" cy="969264"/>
          </a:xfrm>
          <a:prstGeom prst="rect">
            <a:avLst/>
          </a:prstGeom>
          <a:solidFill>
            <a:srgbClr val="1E9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42416" y="3730752"/>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E9E6A"/>
                </a:solidFill>
                <a:latin typeface="Bahnschrift"/>
              </a:rPr>
              <a:t>THE LENDERS EXEMPTION</a:t>
            </a:r>
          </a:p>
        </p:txBody>
      </p:sp>
      <p:sp>
        <p:nvSpPr>
          <p:cNvPr id="35" name="TextBox 34"/>
          <p:cNvSpPr txBox="1"/>
          <p:nvPr/>
        </p:nvSpPr>
        <p:spPr>
          <a:xfrm>
            <a:off x="1042416" y="4005072"/>
            <a:ext cx="4751679" cy="512064"/>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Banks, NBFCs and insurers are exempt from the debt/equity trigger: leverage is their business model, not distress. They are judged on asset quality instead.</a:t>
            </a:r>
          </a:p>
        </p:txBody>
      </p:sp>
      <p:sp>
        <p:nvSpPr>
          <p:cNvPr id="36" name="Rounded Rectangle 35"/>
          <p:cNvSpPr/>
          <p:nvPr/>
        </p:nvSpPr>
        <p:spPr>
          <a:xfrm>
            <a:off x="6233007" y="3602736"/>
            <a:ext cx="5117439" cy="969264"/>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233007" y="3602736"/>
            <a:ext cx="54864" cy="969264"/>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34175" y="3730752"/>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RED FLAGS COMPOUND</a:t>
            </a:r>
          </a:p>
        </p:txBody>
      </p:sp>
      <p:sp>
        <p:nvSpPr>
          <p:cNvPr id="39" name="TextBox 38"/>
          <p:cNvSpPr txBox="1"/>
          <p:nvPr/>
        </p:nvSpPr>
        <p:spPr>
          <a:xfrm>
            <a:off x="6434175" y="4005072"/>
            <a:ext cx="4751679" cy="512064"/>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Penalties scale non-linearly, so several problems are punished far harder than one blemish. A clean bill of health earns a small capped boost.</a:t>
            </a:r>
          </a:p>
        </p:txBody>
      </p:sp>
      <p:sp>
        <p:nvSpPr>
          <p:cNvPr id="40" name="TextBox 39"/>
          <p:cNvSpPr txBox="1"/>
          <p:nvPr/>
        </p:nvSpPr>
        <p:spPr>
          <a:xfrm>
            <a:off x="841248" y="4736592"/>
            <a:ext cx="10509199" cy="256032"/>
          </a:xfrm>
          <a:prstGeom prst="rect">
            <a:avLst/>
          </a:prstGeom>
          <a:noFill/>
        </p:spPr>
        <p:txBody>
          <a:bodyPr wrap="square" anchor="t" lIns="0" rIns="0" tIns="0" bIns="0">
            <a:spAutoFit/>
          </a:bodyPr>
          <a:lstStyle/>
          <a:p>
            <a:pPr algn="l">
              <a:spcBef>
                <a:spcPts val="0"/>
              </a:spcBef>
              <a:spcAft>
                <a:spcPts val="0"/>
              </a:spcAft>
            </a:pPr>
            <a:r>
              <a:rPr sz="900" b="1" i="0" spc="200">
                <a:solidFill>
                  <a:srgbClr val="6B7280"/>
                </a:solidFill>
                <a:latin typeface="Bahnschrift"/>
              </a:rPr>
              <a:t>THE CALL</a:t>
            </a:r>
          </a:p>
        </p:txBody>
      </p:sp>
      <p:sp>
        <p:nvSpPr>
          <p:cNvPr id="41" name="Rounded Rectangle 40"/>
          <p:cNvSpPr/>
          <p:nvPr/>
        </p:nvSpPr>
        <p:spPr>
          <a:xfrm>
            <a:off x="841248" y="5010912"/>
            <a:ext cx="3320186" cy="475488"/>
          </a:xfrm>
          <a:prstGeom prst="roundRect">
            <a:avLst>
              <a:gd name="adj" fmla="val 6000"/>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87552" y="5010912"/>
            <a:ext cx="1948586" cy="47548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Score below 40, on either horizon</a:t>
            </a:r>
          </a:p>
        </p:txBody>
      </p:sp>
      <p:sp>
        <p:nvSpPr>
          <p:cNvPr id="43" name="Rounded Rectangle 42"/>
          <p:cNvSpPr/>
          <p:nvPr/>
        </p:nvSpPr>
        <p:spPr>
          <a:xfrm>
            <a:off x="3018434" y="5120640"/>
            <a:ext cx="960120"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018434" y="5115153"/>
            <a:ext cx="96012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SELL</a:t>
            </a:r>
          </a:p>
        </p:txBody>
      </p:sp>
      <p:sp>
        <p:nvSpPr>
          <p:cNvPr id="45" name="Rounded Rectangle 44"/>
          <p:cNvSpPr/>
          <p:nvPr/>
        </p:nvSpPr>
        <p:spPr>
          <a:xfrm>
            <a:off x="4435754" y="5010912"/>
            <a:ext cx="3320186" cy="475488"/>
          </a:xfrm>
          <a:prstGeom prst="roundRect">
            <a:avLst>
              <a:gd name="adj" fmla="val 6000"/>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582058" y="5010912"/>
            <a:ext cx="1948586" cy="47548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40 to 50, with a concentration or risk flag</a:t>
            </a:r>
          </a:p>
        </p:txBody>
      </p:sp>
      <p:sp>
        <p:nvSpPr>
          <p:cNvPr id="47" name="Rounded Rectangle 46"/>
          <p:cNvSpPr/>
          <p:nvPr/>
        </p:nvSpPr>
        <p:spPr>
          <a:xfrm>
            <a:off x="6612940" y="5120640"/>
            <a:ext cx="960120" cy="219456"/>
          </a:xfrm>
          <a:prstGeom prst="roundRect">
            <a:avLst>
              <a:gd name="adj" fmla="val 50000"/>
            </a:avLst>
          </a:prstGeom>
          <a:solidFill>
            <a:srgbClr val="FBEFDC"/>
          </a:solidFill>
          <a:ln w="9525">
            <a:solidFill>
              <a:srgbClr val="92400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612940" y="5115153"/>
            <a:ext cx="96012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92400E"/>
                </a:solidFill>
                <a:latin typeface="Bahnschrift"/>
              </a:rPr>
              <a:t>TRIM</a:t>
            </a:r>
          </a:p>
        </p:txBody>
      </p:sp>
      <p:sp>
        <p:nvSpPr>
          <p:cNvPr id="49" name="Rounded Rectangle 48"/>
          <p:cNvSpPr/>
          <p:nvPr/>
        </p:nvSpPr>
        <p:spPr>
          <a:xfrm>
            <a:off x="8030260" y="5010912"/>
            <a:ext cx="3320186" cy="475488"/>
          </a:xfrm>
          <a:prstGeom prst="roundRect">
            <a:avLst>
              <a:gd name="adj" fmla="val 6000"/>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176564" y="5010912"/>
            <a:ext cx="1948586" cy="47548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50 and above</a:t>
            </a:r>
          </a:p>
        </p:txBody>
      </p:sp>
      <p:sp>
        <p:nvSpPr>
          <p:cNvPr id="51" name="Rounded Rectangle 50"/>
          <p:cNvSpPr/>
          <p:nvPr/>
        </p:nvSpPr>
        <p:spPr>
          <a:xfrm>
            <a:off x="10207447" y="5120640"/>
            <a:ext cx="960120"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207447" y="5115153"/>
            <a:ext cx="96012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HOLD</a:t>
            </a:r>
          </a:p>
        </p:txBody>
      </p:sp>
      <p:sp>
        <p:nvSpPr>
          <p:cNvPr id="53" name="Rounded Rectangle 52"/>
          <p:cNvSpPr/>
          <p:nvPr/>
        </p:nvSpPr>
        <p:spPr>
          <a:xfrm>
            <a:off x="841248" y="5596128"/>
            <a:ext cx="10509199" cy="457200"/>
          </a:xfrm>
          <a:prstGeom prst="roundRect">
            <a:avLst>
              <a:gd name="adj" fmla="val 4000"/>
            </a:avLst>
          </a:prstGeom>
          <a:solidFill>
            <a:srgbClr val="FB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841248" y="5596128"/>
            <a:ext cx="54864" cy="45720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042416" y="5724144"/>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92400E"/>
                </a:solidFill>
                <a:latin typeface="Bahnschrift"/>
              </a:rPr>
              <a:t>ONE-WAY OVERRIDE</a:t>
            </a:r>
          </a:p>
        </p:txBody>
      </p:sp>
      <p:sp>
        <p:nvSpPr>
          <p:cNvPr id="56" name="TextBox 55"/>
          <p:cNvSpPr txBox="1"/>
          <p:nvPr/>
        </p:nvSpPr>
        <p:spPr>
          <a:xfrm>
            <a:off x="1042416" y="5998464"/>
            <a:ext cx="10143439" cy="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A Sell can be rescued to Hold with a written reason. A Hold cannot be forced to Sell; it escalates.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01 · THE MODEL</a:t>
            </a:r>
          </a:p>
        </p:txBody>
      </p:sp>
      <p:sp>
        <p:nvSpPr>
          <p:cNvPr id="6" name="Rectangle 5"/>
          <p:cNvSpPr/>
          <p:nvPr/>
        </p:nvSpPr>
        <p:spPr>
          <a:xfrm>
            <a:off x="854964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The one number a client sees</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A blended score, then a bounded forward adjustment</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07</a:t>
            </a:r>
          </a:p>
        </p:txBody>
      </p:sp>
      <p:sp>
        <p:nvSpPr>
          <p:cNvPr id="15" name="Rounded Rectangle 14"/>
          <p:cNvSpPr/>
          <p:nvPr/>
        </p:nvSpPr>
        <p:spPr>
          <a:xfrm>
            <a:off x="841248" y="1755648"/>
            <a:ext cx="10509199" cy="658368"/>
          </a:xfrm>
          <a:prstGeom prst="roundRect">
            <a:avLst>
              <a:gd name="adj" fmla="val 6000"/>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15568" y="1755648"/>
            <a:ext cx="9960559" cy="658368"/>
          </a:xfrm>
          <a:prstGeom prst="rect">
            <a:avLst/>
          </a:prstGeom>
          <a:noFill/>
        </p:spPr>
        <p:txBody>
          <a:bodyPr wrap="square" anchor="ctr" lIns="0" rIns="0" tIns="0" bIns="0">
            <a:spAutoFit/>
          </a:bodyPr>
          <a:lstStyle/>
          <a:p>
            <a:pPr algn="l">
              <a:spcBef>
                <a:spcPts val="0"/>
              </a:spcBef>
              <a:spcAft>
                <a:spcPts val="0"/>
              </a:spcAft>
            </a:pPr>
            <a:r>
              <a:rPr sz="1400" b="1" i="0">
                <a:solidFill>
                  <a:srgbClr val="1B27A3"/>
                </a:solidFill>
                <a:latin typeface="Bahnschrift"/>
              </a:rPr>
              <a:t>Ionic Score   =   0.60 x three-year score   +   0.40 x one-year score   +   forward adjustment</a:t>
            </a:r>
          </a:p>
        </p:txBody>
      </p:sp>
      <p:sp>
        <p:nvSpPr>
          <p:cNvPr id="17" name="TextBox 16"/>
          <p:cNvSpPr txBox="1"/>
          <p:nvPr/>
        </p:nvSpPr>
        <p:spPr>
          <a:xfrm>
            <a:off x="841248" y="2615184"/>
            <a:ext cx="10509199" cy="256032"/>
          </a:xfrm>
          <a:prstGeom prst="rect">
            <a:avLst/>
          </a:prstGeom>
          <a:noFill/>
        </p:spPr>
        <p:txBody>
          <a:bodyPr wrap="square" anchor="t" lIns="0" rIns="0" tIns="0" bIns="0">
            <a:spAutoFit/>
          </a:bodyPr>
          <a:lstStyle/>
          <a:p>
            <a:pPr algn="l">
              <a:spcBef>
                <a:spcPts val="0"/>
              </a:spcBef>
              <a:spcAft>
                <a:spcPts val="0"/>
              </a:spcAft>
            </a:pPr>
            <a:r>
              <a:rPr sz="1100" b="0" i="1">
                <a:solidFill>
                  <a:srgbClr val="16233B"/>
                </a:solidFill>
                <a:latin typeface="Georgia"/>
              </a:rPr>
              <a:t>The adjustment makes the number forward-looking. It is bounded, and it can never flatter a name we are telling the client to exit.</a:t>
            </a:r>
          </a:p>
        </p:txBody>
      </p:sp>
      <p:sp>
        <p:nvSpPr>
          <p:cNvPr id="18" name="TextBox 17"/>
          <p:cNvSpPr txBox="1"/>
          <p:nvPr/>
        </p:nvSpPr>
        <p:spPr>
          <a:xfrm>
            <a:off x="914400" y="2962656"/>
            <a:ext cx="2374495"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ANALYST'S FORWARD GROWTH VIEW</a:t>
            </a:r>
          </a:p>
        </p:txBody>
      </p:sp>
      <p:sp>
        <p:nvSpPr>
          <p:cNvPr id="19" name="TextBox 18"/>
          <p:cNvSpPr txBox="1"/>
          <p:nvPr/>
        </p:nvSpPr>
        <p:spPr>
          <a:xfrm>
            <a:off x="3435199" y="2962656"/>
            <a:ext cx="1059295" cy="219456"/>
          </a:xfrm>
          <a:prstGeom prst="rect">
            <a:avLst/>
          </a:prstGeom>
          <a:noFill/>
        </p:spPr>
        <p:txBody>
          <a:bodyPr wrap="square" anchor="ctr" lIns="0" rIns="0" tIns="0" bIns="0">
            <a:spAutoFit/>
          </a:bodyPr>
          <a:lstStyle/>
          <a:p>
            <a:pPr algn="ctr">
              <a:spcBef>
                <a:spcPts val="0"/>
              </a:spcBef>
              <a:spcAft>
                <a:spcPts val="0"/>
              </a:spcAft>
            </a:pPr>
            <a:r>
              <a:rPr sz="800" b="1" i="0" spc="200">
                <a:solidFill>
                  <a:srgbClr val="6B7280"/>
                </a:solidFill>
                <a:latin typeface="Bahnschrift"/>
              </a:rPr>
              <a:t>ADJUSTMENT</a:t>
            </a:r>
          </a:p>
        </p:txBody>
      </p:sp>
      <p:sp>
        <p:nvSpPr>
          <p:cNvPr id="20" name="TextBox 19"/>
          <p:cNvSpPr txBox="1"/>
          <p:nvPr/>
        </p:nvSpPr>
        <p:spPr>
          <a:xfrm>
            <a:off x="4640799" y="2962656"/>
            <a:ext cx="1607295"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READING</a:t>
            </a:r>
          </a:p>
        </p:txBody>
      </p:sp>
      <p:sp>
        <p:nvSpPr>
          <p:cNvPr id="21" name="Rectangle 20"/>
          <p:cNvSpPr/>
          <p:nvPr/>
        </p:nvSpPr>
        <p:spPr>
          <a:xfrm>
            <a:off x="841248" y="3218688"/>
            <a:ext cx="547999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3264408"/>
            <a:ext cx="2374495" cy="329184"/>
          </a:xfrm>
          <a:prstGeom prst="rect">
            <a:avLst/>
          </a:prstGeom>
          <a:noFill/>
        </p:spPr>
        <p:txBody>
          <a:bodyPr wrap="square" anchor="ctr" lIns="0" rIns="0" tIns="0" bIns="0">
            <a:spAutoFit/>
          </a:bodyPr>
          <a:lstStyle/>
          <a:p>
            <a:pPr algn="l">
              <a:spcBef>
                <a:spcPts val="0"/>
              </a:spcBef>
              <a:spcAft>
                <a:spcPts val="0"/>
              </a:spcAft>
            </a:pPr>
            <a:r>
              <a:rPr sz="950" b="1" i="0">
                <a:solidFill>
                  <a:srgbClr val="16233B"/>
                </a:solidFill>
                <a:latin typeface="Bahnschrift"/>
              </a:rPr>
              <a:t>Below 5%</a:t>
            </a:r>
          </a:p>
        </p:txBody>
      </p:sp>
      <p:sp>
        <p:nvSpPr>
          <p:cNvPr id="23" name="TextBox 22"/>
          <p:cNvSpPr txBox="1"/>
          <p:nvPr/>
        </p:nvSpPr>
        <p:spPr>
          <a:xfrm>
            <a:off x="3435199" y="3264408"/>
            <a:ext cx="1059295" cy="329184"/>
          </a:xfrm>
          <a:prstGeom prst="rect">
            <a:avLst/>
          </a:prstGeom>
          <a:noFill/>
        </p:spPr>
        <p:txBody>
          <a:bodyPr wrap="square" anchor="ctr" lIns="0" rIns="0" tIns="0" bIns="0">
            <a:spAutoFit/>
          </a:bodyPr>
          <a:lstStyle/>
          <a:p>
            <a:pPr algn="ctr">
              <a:spcBef>
                <a:spcPts val="0"/>
              </a:spcBef>
              <a:spcAft>
                <a:spcPts val="0"/>
              </a:spcAft>
            </a:pPr>
            <a:r>
              <a:rPr sz="950" b="0" i="0">
                <a:solidFill>
                  <a:srgbClr val="E0402F"/>
                </a:solidFill>
                <a:latin typeface="Bahnschrift"/>
              </a:rPr>
              <a:t>-15</a:t>
            </a:r>
          </a:p>
        </p:txBody>
      </p:sp>
      <p:sp>
        <p:nvSpPr>
          <p:cNvPr id="24" name="TextBox 23"/>
          <p:cNvSpPr txBox="1"/>
          <p:nvPr/>
        </p:nvSpPr>
        <p:spPr>
          <a:xfrm>
            <a:off x="4640799" y="3264408"/>
            <a:ext cx="1607295" cy="329184"/>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Structurally stagnant or declining</a:t>
            </a:r>
          </a:p>
        </p:txBody>
      </p:sp>
      <p:sp>
        <p:nvSpPr>
          <p:cNvPr id="25" name="Rectangle 24"/>
          <p:cNvSpPr/>
          <p:nvPr/>
        </p:nvSpPr>
        <p:spPr>
          <a:xfrm>
            <a:off x="841248" y="3575304"/>
            <a:ext cx="5479999" cy="329184"/>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3593592"/>
            <a:ext cx="2374495" cy="329184"/>
          </a:xfrm>
          <a:prstGeom prst="rect">
            <a:avLst/>
          </a:prstGeom>
          <a:noFill/>
        </p:spPr>
        <p:txBody>
          <a:bodyPr wrap="square" anchor="ctr" lIns="0" rIns="0" tIns="0" bIns="0">
            <a:spAutoFit/>
          </a:bodyPr>
          <a:lstStyle/>
          <a:p>
            <a:pPr algn="l">
              <a:spcBef>
                <a:spcPts val="0"/>
              </a:spcBef>
              <a:spcAft>
                <a:spcPts val="0"/>
              </a:spcAft>
            </a:pPr>
            <a:r>
              <a:rPr sz="950" b="1" i="0">
                <a:solidFill>
                  <a:srgbClr val="16233B"/>
                </a:solidFill>
                <a:latin typeface="Bahnschrift"/>
              </a:rPr>
              <a:t>5 to 10%</a:t>
            </a:r>
          </a:p>
        </p:txBody>
      </p:sp>
      <p:sp>
        <p:nvSpPr>
          <p:cNvPr id="27" name="TextBox 26"/>
          <p:cNvSpPr txBox="1"/>
          <p:nvPr/>
        </p:nvSpPr>
        <p:spPr>
          <a:xfrm>
            <a:off x="3435199" y="3593592"/>
            <a:ext cx="1059295" cy="329184"/>
          </a:xfrm>
          <a:prstGeom prst="rect">
            <a:avLst/>
          </a:prstGeom>
          <a:noFill/>
        </p:spPr>
        <p:txBody>
          <a:bodyPr wrap="square" anchor="ctr" lIns="0" rIns="0" tIns="0" bIns="0">
            <a:spAutoFit/>
          </a:bodyPr>
          <a:lstStyle/>
          <a:p>
            <a:pPr algn="ctr">
              <a:spcBef>
                <a:spcPts val="0"/>
              </a:spcBef>
              <a:spcAft>
                <a:spcPts val="0"/>
              </a:spcAft>
            </a:pPr>
            <a:r>
              <a:rPr sz="950" b="0" i="0">
                <a:solidFill>
                  <a:srgbClr val="E0402F"/>
                </a:solidFill>
                <a:latin typeface="Bahnschrift"/>
              </a:rPr>
              <a:t>-5</a:t>
            </a:r>
          </a:p>
        </p:txBody>
      </p:sp>
      <p:sp>
        <p:nvSpPr>
          <p:cNvPr id="28" name="TextBox 27"/>
          <p:cNvSpPr txBox="1"/>
          <p:nvPr/>
        </p:nvSpPr>
        <p:spPr>
          <a:xfrm>
            <a:off x="4640799" y="3593592"/>
            <a:ext cx="1607295" cy="329184"/>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Below nominal growth in the economy</a:t>
            </a:r>
          </a:p>
        </p:txBody>
      </p:sp>
      <p:sp>
        <p:nvSpPr>
          <p:cNvPr id="29" name="TextBox 28"/>
          <p:cNvSpPr txBox="1"/>
          <p:nvPr/>
        </p:nvSpPr>
        <p:spPr>
          <a:xfrm>
            <a:off x="914400" y="3922776"/>
            <a:ext cx="2374495" cy="329184"/>
          </a:xfrm>
          <a:prstGeom prst="rect">
            <a:avLst/>
          </a:prstGeom>
          <a:noFill/>
        </p:spPr>
        <p:txBody>
          <a:bodyPr wrap="square" anchor="ctr" lIns="0" rIns="0" tIns="0" bIns="0">
            <a:spAutoFit/>
          </a:bodyPr>
          <a:lstStyle/>
          <a:p>
            <a:pPr algn="l">
              <a:spcBef>
                <a:spcPts val="0"/>
              </a:spcBef>
              <a:spcAft>
                <a:spcPts val="0"/>
              </a:spcAft>
            </a:pPr>
            <a:r>
              <a:rPr sz="950" b="1" i="0">
                <a:solidFill>
                  <a:srgbClr val="16233B"/>
                </a:solidFill>
                <a:latin typeface="Bahnschrift"/>
              </a:rPr>
              <a:t>10 to 15%</a:t>
            </a:r>
          </a:p>
        </p:txBody>
      </p:sp>
      <p:sp>
        <p:nvSpPr>
          <p:cNvPr id="30" name="TextBox 29"/>
          <p:cNvSpPr txBox="1"/>
          <p:nvPr/>
        </p:nvSpPr>
        <p:spPr>
          <a:xfrm>
            <a:off x="3435199" y="3922776"/>
            <a:ext cx="1059295" cy="329184"/>
          </a:xfrm>
          <a:prstGeom prst="rect">
            <a:avLst/>
          </a:prstGeom>
          <a:noFill/>
        </p:spPr>
        <p:txBody>
          <a:bodyPr wrap="square" anchor="ctr" lIns="0" rIns="0" tIns="0" bIns="0">
            <a:spAutoFit/>
          </a:bodyPr>
          <a:lstStyle/>
          <a:p>
            <a:pPr algn="ctr">
              <a:spcBef>
                <a:spcPts val="0"/>
              </a:spcBef>
              <a:spcAft>
                <a:spcPts val="0"/>
              </a:spcAft>
            </a:pPr>
            <a:r>
              <a:rPr sz="950" b="0" i="0">
                <a:solidFill>
                  <a:srgbClr val="6B7280"/>
                </a:solidFill>
                <a:latin typeface="Bahnschrift"/>
              </a:rPr>
              <a:t>0</a:t>
            </a:r>
          </a:p>
        </p:txBody>
      </p:sp>
      <p:sp>
        <p:nvSpPr>
          <p:cNvPr id="31" name="TextBox 30"/>
          <p:cNvSpPr txBox="1"/>
          <p:nvPr/>
        </p:nvSpPr>
        <p:spPr>
          <a:xfrm>
            <a:off x="4640799" y="3922776"/>
            <a:ext cx="1607295" cy="329184"/>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Steady compounder, the neutral zone</a:t>
            </a:r>
          </a:p>
        </p:txBody>
      </p:sp>
      <p:sp>
        <p:nvSpPr>
          <p:cNvPr id="32" name="Rectangle 31"/>
          <p:cNvSpPr/>
          <p:nvPr/>
        </p:nvSpPr>
        <p:spPr>
          <a:xfrm>
            <a:off x="841248" y="4233672"/>
            <a:ext cx="5479999" cy="329184"/>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14400" y="4251960"/>
            <a:ext cx="2374495" cy="329184"/>
          </a:xfrm>
          <a:prstGeom prst="rect">
            <a:avLst/>
          </a:prstGeom>
          <a:noFill/>
        </p:spPr>
        <p:txBody>
          <a:bodyPr wrap="square" anchor="ctr" lIns="0" rIns="0" tIns="0" bIns="0">
            <a:spAutoFit/>
          </a:bodyPr>
          <a:lstStyle/>
          <a:p>
            <a:pPr algn="l">
              <a:spcBef>
                <a:spcPts val="0"/>
              </a:spcBef>
              <a:spcAft>
                <a:spcPts val="0"/>
              </a:spcAft>
            </a:pPr>
            <a:r>
              <a:rPr sz="950" b="1" i="0">
                <a:solidFill>
                  <a:srgbClr val="16233B"/>
                </a:solidFill>
                <a:latin typeface="Bahnschrift"/>
              </a:rPr>
              <a:t>15 to 20%</a:t>
            </a:r>
          </a:p>
        </p:txBody>
      </p:sp>
      <p:sp>
        <p:nvSpPr>
          <p:cNvPr id="34" name="TextBox 33"/>
          <p:cNvSpPr txBox="1"/>
          <p:nvPr/>
        </p:nvSpPr>
        <p:spPr>
          <a:xfrm>
            <a:off x="3435199" y="4251960"/>
            <a:ext cx="1059295" cy="329184"/>
          </a:xfrm>
          <a:prstGeom prst="rect">
            <a:avLst/>
          </a:prstGeom>
          <a:noFill/>
        </p:spPr>
        <p:txBody>
          <a:bodyPr wrap="square" anchor="ctr" lIns="0" rIns="0" tIns="0" bIns="0">
            <a:spAutoFit/>
          </a:bodyPr>
          <a:lstStyle/>
          <a:p>
            <a:pPr algn="ctr">
              <a:spcBef>
                <a:spcPts val="0"/>
              </a:spcBef>
              <a:spcAft>
                <a:spcPts val="0"/>
              </a:spcAft>
            </a:pPr>
            <a:r>
              <a:rPr sz="950" b="0" i="0">
                <a:solidFill>
                  <a:srgbClr val="1E9E6A"/>
                </a:solidFill>
                <a:latin typeface="Bahnschrift"/>
              </a:rPr>
              <a:t>+5</a:t>
            </a:r>
          </a:p>
        </p:txBody>
      </p:sp>
      <p:sp>
        <p:nvSpPr>
          <p:cNvPr id="35" name="TextBox 34"/>
          <p:cNvSpPr txBox="1"/>
          <p:nvPr/>
        </p:nvSpPr>
        <p:spPr>
          <a:xfrm>
            <a:off x="4640799" y="4251960"/>
            <a:ext cx="1607295" cy="329184"/>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Strong</a:t>
            </a:r>
          </a:p>
        </p:txBody>
      </p:sp>
      <p:sp>
        <p:nvSpPr>
          <p:cNvPr id="36" name="TextBox 35"/>
          <p:cNvSpPr txBox="1"/>
          <p:nvPr/>
        </p:nvSpPr>
        <p:spPr>
          <a:xfrm>
            <a:off x="914400" y="4581144"/>
            <a:ext cx="2374495" cy="329184"/>
          </a:xfrm>
          <a:prstGeom prst="rect">
            <a:avLst/>
          </a:prstGeom>
          <a:noFill/>
        </p:spPr>
        <p:txBody>
          <a:bodyPr wrap="square" anchor="ctr" lIns="0" rIns="0" tIns="0" bIns="0">
            <a:spAutoFit/>
          </a:bodyPr>
          <a:lstStyle/>
          <a:p>
            <a:pPr algn="l">
              <a:spcBef>
                <a:spcPts val="0"/>
              </a:spcBef>
              <a:spcAft>
                <a:spcPts val="0"/>
              </a:spcAft>
            </a:pPr>
            <a:r>
              <a:rPr sz="950" b="1" i="0">
                <a:solidFill>
                  <a:srgbClr val="16233B"/>
                </a:solidFill>
                <a:latin typeface="Bahnschrift"/>
              </a:rPr>
              <a:t>20 to 25%</a:t>
            </a:r>
          </a:p>
        </p:txBody>
      </p:sp>
      <p:sp>
        <p:nvSpPr>
          <p:cNvPr id="37" name="TextBox 36"/>
          <p:cNvSpPr txBox="1"/>
          <p:nvPr/>
        </p:nvSpPr>
        <p:spPr>
          <a:xfrm>
            <a:off x="3435199" y="4581144"/>
            <a:ext cx="1059295" cy="329184"/>
          </a:xfrm>
          <a:prstGeom prst="rect">
            <a:avLst/>
          </a:prstGeom>
          <a:noFill/>
        </p:spPr>
        <p:txBody>
          <a:bodyPr wrap="square" anchor="ctr" lIns="0" rIns="0" tIns="0" bIns="0">
            <a:spAutoFit/>
          </a:bodyPr>
          <a:lstStyle/>
          <a:p>
            <a:pPr algn="ctr">
              <a:spcBef>
                <a:spcPts val="0"/>
              </a:spcBef>
              <a:spcAft>
                <a:spcPts val="0"/>
              </a:spcAft>
            </a:pPr>
            <a:r>
              <a:rPr sz="950" b="0" i="0">
                <a:solidFill>
                  <a:srgbClr val="1E9E6A"/>
                </a:solidFill>
                <a:latin typeface="Bahnschrift"/>
              </a:rPr>
              <a:t>+10</a:t>
            </a:r>
          </a:p>
        </p:txBody>
      </p:sp>
      <p:sp>
        <p:nvSpPr>
          <p:cNvPr id="38" name="TextBox 37"/>
          <p:cNvSpPr txBox="1"/>
          <p:nvPr/>
        </p:nvSpPr>
        <p:spPr>
          <a:xfrm>
            <a:off x="4640799" y="4581144"/>
            <a:ext cx="1607295" cy="329184"/>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Exceptional momentum</a:t>
            </a:r>
          </a:p>
        </p:txBody>
      </p:sp>
      <p:sp>
        <p:nvSpPr>
          <p:cNvPr id="39" name="Rectangle 38"/>
          <p:cNvSpPr/>
          <p:nvPr/>
        </p:nvSpPr>
        <p:spPr>
          <a:xfrm>
            <a:off x="841248" y="4892040"/>
            <a:ext cx="5479999" cy="329184"/>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910328"/>
            <a:ext cx="2374495" cy="329184"/>
          </a:xfrm>
          <a:prstGeom prst="rect">
            <a:avLst/>
          </a:prstGeom>
          <a:noFill/>
        </p:spPr>
        <p:txBody>
          <a:bodyPr wrap="square" anchor="ctr" lIns="0" rIns="0" tIns="0" bIns="0">
            <a:spAutoFit/>
          </a:bodyPr>
          <a:lstStyle/>
          <a:p>
            <a:pPr algn="l">
              <a:spcBef>
                <a:spcPts val="0"/>
              </a:spcBef>
              <a:spcAft>
                <a:spcPts val="0"/>
              </a:spcAft>
            </a:pPr>
            <a:r>
              <a:rPr sz="950" b="1" i="0">
                <a:solidFill>
                  <a:srgbClr val="16233B"/>
                </a:solidFill>
                <a:latin typeface="Bahnschrift"/>
              </a:rPr>
              <a:t>25% and above</a:t>
            </a:r>
          </a:p>
        </p:txBody>
      </p:sp>
      <p:sp>
        <p:nvSpPr>
          <p:cNvPr id="41" name="TextBox 40"/>
          <p:cNvSpPr txBox="1"/>
          <p:nvPr/>
        </p:nvSpPr>
        <p:spPr>
          <a:xfrm>
            <a:off x="3435199" y="4910328"/>
            <a:ext cx="1059295" cy="329184"/>
          </a:xfrm>
          <a:prstGeom prst="rect">
            <a:avLst/>
          </a:prstGeom>
          <a:noFill/>
        </p:spPr>
        <p:txBody>
          <a:bodyPr wrap="square" anchor="ctr" lIns="0" rIns="0" tIns="0" bIns="0">
            <a:spAutoFit/>
          </a:bodyPr>
          <a:lstStyle/>
          <a:p>
            <a:pPr algn="ctr">
              <a:spcBef>
                <a:spcPts val="0"/>
              </a:spcBef>
              <a:spcAft>
                <a:spcPts val="0"/>
              </a:spcAft>
            </a:pPr>
            <a:r>
              <a:rPr sz="950" b="0" i="0">
                <a:solidFill>
                  <a:srgbClr val="1E9E6A"/>
                </a:solidFill>
                <a:latin typeface="Bahnschrift"/>
              </a:rPr>
              <a:t>+15</a:t>
            </a:r>
          </a:p>
        </p:txBody>
      </p:sp>
      <p:sp>
        <p:nvSpPr>
          <p:cNvPr id="42" name="TextBox 41"/>
          <p:cNvSpPr txBox="1"/>
          <p:nvPr/>
        </p:nvSpPr>
        <p:spPr>
          <a:xfrm>
            <a:off x="4640799" y="4910328"/>
            <a:ext cx="1607295" cy="329184"/>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Hypergrowth, evidence required</a:t>
            </a:r>
          </a:p>
        </p:txBody>
      </p:sp>
      <p:sp>
        <p:nvSpPr>
          <p:cNvPr id="43" name="Rounded Rectangle 42"/>
          <p:cNvSpPr/>
          <p:nvPr/>
        </p:nvSpPr>
        <p:spPr>
          <a:xfrm>
            <a:off x="6595567" y="2962656"/>
            <a:ext cx="4754880" cy="1581912"/>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595567" y="2962656"/>
            <a:ext cx="54864" cy="1581912"/>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796735" y="3090672"/>
            <a:ext cx="4389120"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TWO COHERENCE CAPS</a:t>
            </a:r>
          </a:p>
        </p:txBody>
      </p:sp>
      <p:sp>
        <p:nvSpPr>
          <p:cNvPr id="46" name="TextBox 45"/>
          <p:cNvSpPr txBox="1"/>
          <p:nvPr/>
        </p:nvSpPr>
        <p:spPr>
          <a:xfrm>
            <a:off x="6796735" y="3364992"/>
            <a:ext cx="4389120" cy="1124712"/>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A name growing below 10% can be marked down but never up. And a name the analyst rates Sell can never be lifted by the adjustment. Both caps exist because earlier versions could perversely raise the score of a name we were recommending the client exit.</a:t>
            </a:r>
          </a:p>
        </p:txBody>
      </p:sp>
      <p:sp>
        <p:nvSpPr>
          <p:cNvPr id="47" name="Rounded Rectangle 46"/>
          <p:cNvSpPr/>
          <p:nvPr/>
        </p:nvSpPr>
        <p:spPr>
          <a:xfrm>
            <a:off x="6595567" y="4352544"/>
            <a:ext cx="4754880" cy="1243584"/>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595567" y="4352544"/>
            <a:ext cx="54864" cy="1243584"/>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796735" y="4480559"/>
            <a:ext cx="4389120"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CONVICTION, PRICED</a:t>
            </a:r>
          </a:p>
        </p:txBody>
      </p:sp>
      <p:sp>
        <p:nvSpPr>
          <p:cNvPr id="50" name="TextBox 49"/>
          <p:cNvSpPr txBox="1"/>
          <p:nvPr/>
        </p:nvSpPr>
        <p:spPr>
          <a:xfrm>
            <a:off x="6796735" y="4754880"/>
            <a:ext cx="4389120" cy="786383"/>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Where the analyst and the engine disagree, the disagreement itself moves the score: a rescued Sell earns a small credit, an analyst Sell a small debit. Agreement moves nothing.</a:t>
            </a:r>
          </a:p>
        </p:txBody>
      </p:sp>
      <p:sp>
        <p:nvSpPr>
          <p:cNvPr id="51" name="TextBox 50"/>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Growth is the analyst's forward three-to-five-year view, explicitly not trailing growth. Parroting trailing growth into this field is a named failure mode in the analyst brief.</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01 · THE MODEL</a:t>
            </a:r>
          </a:p>
        </p:txBody>
      </p:sp>
      <p:sp>
        <p:nvSpPr>
          <p:cNvPr id="6" name="Rectangle 5"/>
          <p:cNvSpPr/>
          <p:nvPr/>
        </p:nvSpPr>
        <p:spPr>
          <a:xfrm>
            <a:off x="854964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The fund frameworks</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Two independent engines, and a deliberately hard bar to sell a fund</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08</a:t>
            </a:r>
          </a:p>
        </p:txBody>
      </p:sp>
      <p:sp>
        <p:nvSpPr>
          <p:cNvPr id="15" name="Rounded Rectangle 14"/>
          <p:cNvSpPr/>
          <p:nvPr/>
        </p:nvSpPr>
        <p:spPr>
          <a:xfrm>
            <a:off x="841248" y="1755648"/>
            <a:ext cx="5117439" cy="1481328"/>
          </a:xfrm>
          <a:prstGeom prst="roundRect">
            <a:avLst>
              <a:gd name="adj" fmla="val 6000"/>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 y="1755648"/>
            <a:ext cx="54864" cy="1481328"/>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60704" y="1865376"/>
            <a:ext cx="4660239" cy="274320"/>
          </a:xfrm>
          <a:prstGeom prst="rect">
            <a:avLst/>
          </a:prstGeom>
          <a:noFill/>
        </p:spPr>
        <p:txBody>
          <a:bodyPr wrap="square" anchor="t" lIns="0" rIns="0" tIns="0" bIns="0">
            <a:spAutoFit/>
          </a:bodyPr>
          <a:lstStyle/>
          <a:p>
            <a:pPr algn="l">
              <a:spcBef>
                <a:spcPts val="0"/>
              </a:spcBef>
              <a:spcAft>
                <a:spcPts val="0"/>
              </a:spcAft>
            </a:pPr>
            <a:r>
              <a:rPr sz="900" b="1" i="0" spc="150">
                <a:solidFill>
                  <a:srgbClr val="1B27A3"/>
                </a:solidFill>
                <a:latin typeface="Bahnschrift"/>
              </a:rPr>
              <a:t>SHORT-TERM FRAMEWORK</a:t>
            </a:r>
          </a:p>
        </p:txBody>
      </p:sp>
      <p:sp>
        <p:nvSpPr>
          <p:cNvPr id="18" name="TextBox 17"/>
          <p:cNvSpPr txBox="1"/>
          <p:nvPr/>
        </p:nvSpPr>
        <p:spPr>
          <a:xfrm>
            <a:off x="1060704" y="2139696"/>
            <a:ext cx="4660239" cy="100584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Ranks every fund in a category on how much of its benchmark's rise it captures versus how much of the fall, over a common six-month window, then applies a downside filter after ranking. Covers 181 funds across six categories.</a:t>
            </a:r>
          </a:p>
        </p:txBody>
      </p:sp>
      <p:sp>
        <p:nvSpPr>
          <p:cNvPr id="19" name="Rounded Rectangle 18"/>
          <p:cNvSpPr/>
          <p:nvPr/>
        </p:nvSpPr>
        <p:spPr>
          <a:xfrm>
            <a:off x="6233007" y="1755648"/>
            <a:ext cx="5117439" cy="1481328"/>
          </a:xfrm>
          <a:prstGeom prst="roundRect">
            <a:avLst>
              <a:gd name="adj" fmla="val 6000"/>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33007" y="1755648"/>
            <a:ext cx="54864" cy="1481328"/>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2463" y="1865376"/>
            <a:ext cx="4660239" cy="274320"/>
          </a:xfrm>
          <a:prstGeom prst="rect">
            <a:avLst/>
          </a:prstGeom>
          <a:noFill/>
        </p:spPr>
        <p:txBody>
          <a:bodyPr wrap="square" anchor="t" lIns="0" rIns="0" tIns="0" bIns="0">
            <a:spAutoFit/>
          </a:bodyPr>
          <a:lstStyle/>
          <a:p>
            <a:pPr algn="l">
              <a:spcBef>
                <a:spcPts val="0"/>
              </a:spcBef>
              <a:spcAft>
                <a:spcPts val="0"/>
              </a:spcAft>
            </a:pPr>
            <a:r>
              <a:rPr sz="900" b="1" i="0" spc="150">
                <a:solidFill>
                  <a:srgbClr val="F2A93C"/>
                </a:solidFill>
                <a:latin typeface="Bahnschrift"/>
              </a:rPr>
              <a:t>LONG-TERM FRAMEWORK</a:t>
            </a:r>
          </a:p>
        </p:txBody>
      </p:sp>
      <p:sp>
        <p:nvSpPr>
          <p:cNvPr id="22" name="TextBox 21"/>
          <p:cNvSpPr txBox="1"/>
          <p:nvPr/>
        </p:nvSpPr>
        <p:spPr>
          <a:xfrm>
            <a:off x="6452463" y="2139696"/>
            <a:ext cx="4660239" cy="100584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A curated shortlist of 40 funds across eight categories, scored 0-100 with a letter grade and a conviction level, built for a multi-year holding rather than a six-month window. It carries no negative verdict by design.</a:t>
            </a:r>
          </a:p>
        </p:txBody>
      </p:sp>
      <p:sp>
        <p:nvSpPr>
          <p:cNvPr id="23" name="Rounded Rectangle 22"/>
          <p:cNvSpPr/>
          <p:nvPr/>
        </p:nvSpPr>
        <p:spPr>
          <a:xfrm>
            <a:off x="841248" y="3419856"/>
            <a:ext cx="10509199" cy="1074419"/>
          </a:xfrm>
          <a:prstGeom prst="roundRect">
            <a:avLst>
              <a:gd name="adj" fmla="val 4000"/>
            </a:avLst>
          </a:prstGeom>
          <a:solidFill>
            <a:srgbClr val="FB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41248" y="3419856"/>
            <a:ext cx="54864" cy="1074419"/>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42416" y="3547872"/>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92400E"/>
                </a:solidFill>
                <a:latin typeface="Bahnschrift"/>
              </a:rPr>
              <a:t>THE DUAL-FRAMEWORK RULE</a:t>
            </a:r>
          </a:p>
        </p:txBody>
      </p:sp>
      <p:sp>
        <p:nvSpPr>
          <p:cNvPr id="26" name="TextBox 25"/>
          <p:cNvSpPr txBox="1"/>
          <p:nvPr/>
        </p:nvSpPr>
        <p:spPr>
          <a:xfrm>
            <a:off x="1042416" y="3822192"/>
            <a:ext cx="10143439" cy="617219"/>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A fund is only recommended for sale when BOTH frameworks independently say sell. A buy signal on either side vetoes the sale, and any disagreement defaults to Hold. The bar is intentionally high: switching a fund costs the client tax and time, so the evidence has to be unambiguous.</a:t>
            </a:r>
          </a:p>
        </p:txBody>
      </p:sp>
      <p:sp>
        <p:nvSpPr>
          <p:cNvPr id="27" name="Rectangle 26"/>
          <p:cNvSpPr/>
          <p:nvPr/>
        </p:nvSpPr>
        <p:spPr>
          <a:xfrm>
            <a:off x="841248" y="4544568"/>
            <a:ext cx="68580" cy="6858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60704" y="4448556"/>
            <a:ext cx="10289743" cy="475488"/>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Category coverage is honest: hybrid, sectoral, index, liquid and debt funds sit outside both frameworks and are reported as No View, never given a manufactured score.</a:t>
            </a:r>
          </a:p>
        </p:txBody>
      </p:sp>
      <p:sp>
        <p:nvSpPr>
          <p:cNvPr id="29" name="Rectangle 28"/>
          <p:cNvSpPr/>
          <p:nvPr/>
        </p:nvSpPr>
        <p:spPr>
          <a:xfrm>
            <a:off x="841248" y="5093208"/>
            <a:ext cx="68580" cy="6858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60704" y="4997196"/>
            <a:ext cx="10289743" cy="475488"/>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Scheme identity is verified fund by fund, with the fund house and mandate confirmed. Name-similarity matching is prohibited after it produced real mis-matches.</a:t>
            </a:r>
          </a:p>
        </p:txBody>
      </p:sp>
      <p:sp>
        <p:nvSpPr>
          <p:cNvPr id="31" name="Rectangle 30"/>
          <p:cNvSpPr/>
          <p:nvPr/>
        </p:nvSpPr>
        <p:spPr>
          <a:xfrm>
            <a:off x="841248" y="5641848"/>
            <a:ext cx="68580" cy="6858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60704" y="5545836"/>
            <a:ext cx="10289743" cy="27432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A fund with under seven months of record gets No View regardless of what the engines compute.</a:t>
            </a:r>
          </a:p>
        </p:txBody>
      </p:sp>
      <p:sp>
        <p:nvSpPr>
          <p:cNvPr id="33" name="TextBox 32"/>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Fund models re-run at April-end and October-end; monthly net-asset-value history accrues in between so each run has a full window.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01 · THE MODEL</a:t>
            </a:r>
          </a:p>
        </p:txBody>
      </p:sp>
      <p:sp>
        <p:nvSpPr>
          <p:cNvPr id="6" name="Rectangle 5"/>
          <p:cNvSpPr/>
          <p:nvPr/>
        </p:nvSpPr>
        <p:spPr>
          <a:xfrm>
            <a:off x="854964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Coverage today</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What is actually scored, as of this review</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09</a:t>
            </a:r>
          </a:p>
        </p:txBody>
      </p:sp>
      <p:sp>
        <p:nvSpPr>
          <p:cNvPr id="15" name="TextBox 14"/>
          <p:cNvSpPr txBox="1"/>
          <p:nvPr/>
        </p:nvSpPr>
        <p:spPr>
          <a:xfrm>
            <a:off x="841248" y="1645920"/>
            <a:ext cx="1964679" cy="457200"/>
          </a:xfrm>
          <a:prstGeom prst="rect">
            <a:avLst/>
          </a:prstGeom>
          <a:noFill/>
        </p:spPr>
        <p:txBody>
          <a:bodyPr wrap="square" anchor="t" lIns="0" rIns="0" tIns="0" bIns="0">
            <a:spAutoFit/>
          </a:bodyPr>
          <a:lstStyle/>
          <a:p>
            <a:pPr algn="l">
              <a:spcBef>
                <a:spcPts val="0"/>
              </a:spcBef>
              <a:spcAft>
                <a:spcPts val="0"/>
              </a:spcAft>
            </a:pPr>
            <a:r>
              <a:rPr sz="2700" b="0" i="0">
                <a:solidFill>
                  <a:srgbClr val="1B27A3"/>
                </a:solidFill>
                <a:latin typeface="Bahnschrift"/>
              </a:rPr>
              <a:t>751</a:t>
            </a:r>
          </a:p>
        </p:txBody>
      </p:sp>
      <p:sp>
        <p:nvSpPr>
          <p:cNvPr id="16" name="TextBox 15"/>
          <p:cNvSpPr txBox="1"/>
          <p:nvPr/>
        </p:nvSpPr>
        <p:spPr>
          <a:xfrm>
            <a:off x="841248" y="2121408"/>
            <a:ext cx="196467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STOCKS IN THE UNIVERSE</a:t>
            </a:r>
          </a:p>
        </p:txBody>
      </p:sp>
      <p:sp>
        <p:nvSpPr>
          <p:cNvPr id="17" name="TextBox 16"/>
          <p:cNvSpPr txBox="1"/>
          <p:nvPr/>
        </p:nvSpPr>
        <p:spPr>
          <a:xfrm>
            <a:off x="841248" y="2304288"/>
            <a:ext cx="1964679" cy="182880"/>
          </a:xfrm>
          <a:prstGeom prst="rect">
            <a:avLst/>
          </a:prstGeom>
          <a:noFill/>
        </p:spPr>
        <p:txBody>
          <a:bodyPr wrap="square" anchor="t" lIns="0" rIns="0" tIns="0" bIns="0">
            <a:spAutoFit/>
          </a:bodyPr>
          <a:lstStyle/>
          <a:p>
            <a:pPr algn="l">
              <a:spcBef>
                <a:spcPts val="0"/>
              </a:spcBef>
              <a:spcAft>
                <a:spcPts val="0"/>
              </a:spcAft>
            </a:pPr>
            <a:r>
              <a:rPr sz="800" b="0" i="0">
                <a:solidFill>
                  <a:srgbClr val="8C95DE"/>
                </a:solidFill>
                <a:latin typeface="Bahnschrift"/>
              </a:rPr>
              <a:t>quant layer complete</a:t>
            </a:r>
          </a:p>
        </p:txBody>
      </p:sp>
      <p:sp>
        <p:nvSpPr>
          <p:cNvPr id="18" name="TextBox 17"/>
          <p:cNvSpPr txBox="1"/>
          <p:nvPr/>
        </p:nvSpPr>
        <p:spPr>
          <a:xfrm>
            <a:off x="2943087" y="1645920"/>
            <a:ext cx="1964679" cy="457200"/>
          </a:xfrm>
          <a:prstGeom prst="rect">
            <a:avLst/>
          </a:prstGeom>
          <a:noFill/>
        </p:spPr>
        <p:txBody>
          <a:bodyPr wrap="square" anchor="t" lIns="0" rIns="0" tIns="0" bIns="0">
            <a:spAutoFit/>
          </a:bodyPr>
          <a:lstStyle/>
          <a:p>
            <a:pPr algn="l">
              <a:spcBef>
                <a:spcPts val="0"/>
              </a:spcBef>
              <a:spcAft>
                <a:spcPts val="0"/>
              </a:spcAft>
            </a:pPr>
            <a:r>
              <a:rPr sz="2700" b="0" i="0">
                <a:solidFill>
                  <a:srgbClr val="1E9E6A"/>
                </a:solidFill>
                <a:latin typeface="Bahnschrift"/>
              </a:rPr>
              <a:t>751</a:t>
            </a:r>
          </a:p>
        </p:txBody>
      </p:sp>
      <p:sp>
        <p:nvSpPr>
          <p:cNvPr id="19" name="TextBox 18"/>
          <p:cNvSpPr txBox="1"/>
          <p:nvPr/>
        </p:nvSpPr>
        <p:spPr>
          <a:xfrm>
            <a:off x="2943087" y="2121408"/>
            <a:ext cx="196467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WITH ANALYST RESEARCH</a:t>
            </a:r>
          </a:p>
        </p:txBody>
      </p:sp>
      <p:sp>
        <p:nvSpPr>
          <p:cNvPr id="20" name="TextBox 19"/>
          <p:cNvSpPr txBox="1"/>
          <p:nvPr/>
        </p:nvSpPr>
        <p:spPr>
          <a:xfrm>
            <a:off x="2943087" y="2304288"/>
            <a:ext cx="1964679" cy="182880"/>
          </a:xfrm>
          <a:prstGeom prst="rect">
            <a:avLst/>
          </a:prstGeom>
          <a:noFill/>
        </p:spPr>
        <p:txBody>
          <a:bodyPr wrap="square" anchor="t" lIns="0" rIns="0" tIns="0" bIns="0">
            <a:spAutoFit/>
          </a:bodyPr>
          <a:lstStyle/>
          <a:p>
            <a:pPr algn="l">
              <a:spcBef>
                <a:spcPts val="0"/>
              </a:spcBef>
              <a:spcAft>
                <a:spcPts val="0"/>
              </a:spcAft>
            </a:pPr>
            <a:r>
              <a:rPr sz="800" b="0" i="0">
                <a:solidFill>
                  <a:srgbClr val="8C95DE"/>
                </a:solidFill>
                <a:latin typeface="Bahnschrift"/>
              </a:rPr>
              <a:t>100% coverage</a:t>
            </a:r>
          </a:p>
        </p:txBody>
      </p:sp>
      <p:sp>
        <p:nvSpPr>
          <p:cNvPr id="21" name="Rectangle 20"/>
          <p:cNvSpPr/>
          <p:nvPr/>
        </p:nvSpPr>
        <p:spPr>
          <a:xfrm>
            <a:off x="2888223" y="1691640"/>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4927" y="1645920"/>
            <a:ext cx="1964679" cy="457200"/>
          </a:xfrm>
          <a:prstGeom prst="rect">
            <a:avLst/>
          </a:prstGeom>
          <a:noFill/>
        </p:spPr>
        <p:txBody>
          <a:bodyPr wrap="square" anchor="t" lIns="0" rIns="0" tIns="0" bIns="0">
            <a:spAutoFit/>
          </a:bodyPr>
          <a:lstStyle/>
          <a:p>
            <a:pPr algn="l">
              <a:spcBef>
                <a:spcPts val="0"/>
              </a:spcBef>
              <a:spcAft>
                <a:spcPts val="0"/>
              </a:spcAft>
            </a:pPr>
            <a:r>
              <a:rPr sz="2700" b="0" i="0">
                <a:solidFill>
                  <a:srgbClr val="16233B"/>
                </a:solidFill>
                <a:latin typeface="Bahnschrift"/>
              </a:rPr>
              <a:t>560 / 191</a:t>
            </a:r>
          </a:p>
        </p:txBody>
      </p:sp>
      <p:sp>
        <p:nvSpPr>
          <p:cNvPr id="23" name="TextBox 22"/>
          <p:cNvSpPr txBox="1"/>
          <p:nvPr/>
        </p:nvSpPr>
        <p:spPr>
          <a:xfrm>
            <a:off x="5044927" y="2121408"/>
            <a:ext cx="196467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HOLD / SELL</a:t>
            </a:r>
          </a:p>
        </p:txBody>
      </p:sp>
      <p:sp>
        <p:nvSpPr>
          <p:cNvPr id="24" name="TextBox 23"/>
          <p:cNvSpPr txBox="1"/>
          <p:nvPr/>
        </p:nvSpPr>
        <p:spPr>
          <a:xfrm>
            <a:off x="5044927" y="2304288"/>
            <a:ext cx="1964679" cy="182880"/>
          </a:xfrm>
          <a:prstGeom prst="rect">
            <a:avLst/>
          </a:prstGeom>
          <a:noFill/>
        </p:spPr>
        <p:txBody>
          <a:bodyPr wrap="square" anchor="t" lIns="0" rIns="0" tIns="0" bIns="0">
            <a:spAutoFit/>
          </a:bodyPr>
          <a:lstStyle/>
          <a:p>
            <a:pPr algn="l">
              <a:spcBef>
                <a:spcPts val="0"/>
              </a:spcBef>
              <a:spcAft>
                <a:spcPts val="0"/>
              </a:spcAft>
            </a:pPr>
            <a:r>
              <a:rPr sz="800" b="0" i="0">
                <a:solidFill>
                  <a:srgbClr val="8C95DE"/>
                </a:solidFill>
                <a:latin typeface="Bahnschrift"/>
              </a:rPr>
              <a:t>the current book of calls</a:t>
            </a:r>
          </a:p>
        </p:txBody>
      </p:sp>
      <p:sp>
        <p:nvSpPr>
          <p:cNvPr id="25" name="Rectangle 24"/>
          <p:cNvSpPr/>
          <p:nvPr/>
        </p:nvSpPr>
        <p:spPr>
          <a:xfrm>
            <a:off x="4990063" y="1691640"/>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46767" y="1645920"/>
            <a:ext cx="1964679" cy="457200"/>
          </a:xfrm>
          <a:prstGeom prst="rect">
            <a:avLst/>
          </a:prstGeom>
          <a:noFill/>
        </p:spPr>
        <p:txBody>
          <a:bodyPr wrap="square" anchor="t" lIns="0" rIns="0" tIns="0" bIns="0">
            <a:spAutoFit/>
          </a:bodyPr>
          <a:lstStyle/>
          <a:p>
            <a:pPr algn="l">
              <a:spcBef>
                <a:spcPts val="0"/>
              </a:spcBef>
              <a:spcAft>
                <a:spcPts val="0"/>
              </a:spcAft>
            </a:pPr>
            <a:r>
              <a:rPr sz="2700" b="0" i="0">
                <a:solidFill>
                  <a:srgbClr val="92400E"/>
                </a:solidFill>
                <a:latin typeface="Bahnschrift"/>
              </a:rPr>
              <a:t>126</a:t>
            </a:r>
          </a:p>
        </p:txBody>
      </p:sp>
      <p:sp>
        <p:nvSpPr>
          <p:cNvPr id="27" name="TextBox 26"/>
          <p:cNvSpPr txBox="1"/>
          <p:nvPr/>
        </p:nvSpPr>
        <p:spPr>
          <a:xfrm>
            <a:off x="7146767" y="2121408"/>
            <a:ext cx="196467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ESCALATIONS</a:t>
            </a:r>
          </a:p>
        </p:txBody>
      </p:sp>
      <p:sp>
        <p:nvSpPr>
          <p:cNvPr id="28" name="TextBox 27"/>
          <p:cNvSpPr txBox="1"/>
          <p:nvPr/>
        </p:nvSpPr>
        <p:spPr>
          <a:xfrm>
            <a:off x="7146767" y="2304288"/>
            <a:ext cx="1964679" cy="182880"/>
          </a:xfrm>
          <a:prstGeom prst="rect">
            <a:avLst/>
          </a:prstGeom>
          <a:noFill/>
        </p:spPr>
        <p:txBody>
          <a:bodyPr wrap="square" anchor="t" lIns="0" rIns="0" tIns="0" bIns="0">
            <a:spAutoFit/>
          </a:bodyPr>
          <a:lstStyle/>
          <a:p>
            <a:pPr algn="l">
              <a:spcBef>
                <a:spcPts val="0"/>
              </a:spcBef>
              <a:spcAft>
                <a:spcPts val="0"/>
              </a:spcAft>
            </a:pPr>
            <a:r>
              <a:rPr sz="800" b="0" i="0">
                <a:solidFill>
                  <a:srgbClr val="8C95DE"/>
                </a:solidFill>
                <a:latin typeface="Bahnschrift"/>
              </a:rPr>
              <a:t>open for desk ruling</a:t>
            </a:r>
          </a:p>
        </p:txBody>
      </p:sp>
      <p:sp>
        <p:nvSpPr>
          <p:cNvPr id="29" name="Rectangle 28"/>
          <p:cNvSpPr/>
          <p:nvPr/>
        </p:nvSpPr>
        <p:spPr>
          <a:xfrm>
            <a:off x="7091903" y="1691640"/>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248607" y="1645920"/>
            <a:ext cx="1964679" cy="457200"/>
          </a:xfrm>
          <a:prstGeom prst="rect">
            <a:avLst/>
          </a:prstGeom>
          <a:noFill/>
        </p:spPr>
        <p:txBody>
          <a:bodyPr wrap="square" anchor="t" lIns="0" rIns="0" tIns="0" bIns="0">
            <a:spAutoFit/>
          </a:bodyPr>
          <a:lstStyle/>
          <a:p>
            <a:pPr algn="l">
              <a:spcBef>
                <a:spcPts val="0"/>
              </a:spcBef>
              <a:spcAft>
                <a:spcPts val="0"/>
              </a:spcAft>
            </a:pPr>
            <a:r>
              <a:rPr sz="2700" b="0" i="0">
                <a:solidFill>
                  <a:srgbClr val="1B27A3"/>
                </a:solidFill>
                <a:latin typeface="Bahnschrift"/>
              </a:rPr>
              <a:t>2</a:t>
            </a:r>
          </a:p>
        </p:txBody>
      </p:sp>
      <p:sp>
        <p:nvSpPr>
          <p:cNvPr id="31" name="TextBox 30"/>
          <p:cNvSpPr txBox="1"/>
          <p:nvPr/>
        </p:nvSpPr>
        <p:spPr>
          <a:xfrm>
            <a:off x="9248607" y="2121408"/>
            <a:ext cx="1964679" cy="173736"/>
          </a:xfrm>
          <a:prstGeom prst="rect">
            <a:avLst/>
          </a:prstGeom>
          <a:noFill/>
        </p:spPr>
        <p:txBody>
          <a:bodyPr wrap="square" anchor="t" lIns="0" rIns="0" tIns="0" bIns="0">
            <a:spAutoFit/>
          </a:bodyPr>
          <a:lstStyle/>
          <a:p>
            <a:pPr algn="l">
              <a:lnSpc>
                <a:spcPct val="100000"/>
              </a:lnSpc>
              <a:spcBef>
                <a:spcPts val="0"/>
              </a:spcBef>
              <a:spcAft>
                <a:spcPts val="0"/>
              </a:spcAft>
            </a:pPr>
            <a:r>
              <a:rPr sz="800" b="1" i="0" spc="200">
                <a:solidFill>
                  <a:srgbClr val="6B7280"/>
                </a:solidFill>
                <a:latin typeface="Bahnschrift"/>
              </a:rPr>
              <a:t>CLIENT BOOKS SHIPPED</a:t>
            </a:r>
          </a:p>
        </p:txBody>
      </p:sp>
      <p:sp>
        <p:nvSpPr>
          <p:cNvPr id="32" name="TextBox 31"/>
          <p:cNvSpPr txBox="1"/>
          <p:nvPr/>
        </p:nvSpPr>
        <p:spPr>
          <a:xfrm>
            <a:off x="9248607" y="2304288"/>
            <a:ext cx="1964679" cy="182880"/>
          </a:xfrm>
          <a:prstGeom prst="rect">
            <a:avLst/>
          </a:prstGeom>
          <a:noFill/>
        </p:spPr>
        <p:txBody>
          <a:bodyPr wrap="square" anchor="t" lIns="0" rIns="0" tIns="0" bIns="0">
            <a:spAutoFit/>
          </a:bodyPr>
          <a:lstStyle/>
          <a:p>
            <a:pPr algn="l">
              <a:spcBef>
                <a:spcPts val="0"/>
              </a:spcBef>
              <a:spcAft>
                <a:spcPts val="0"/>
              </a:spcAft>
            </a:pPr>
            <a:r>
              <a:rPr sz="800" b="0" i="0">
                <a:solidFill>
                  <a:srgbClr val="8C95DE"/>
                </a:solidFill>
                <a:latin typeface="Bahnschrift"/>
              </a:rPr>
              <a:t>end to end</a:t>
            </a:r>
          </a:p>
        </p:txBody>
      </p:sp>
      <p:sp>
        <p:nvSpPr>
          <p:cNvPr id="33" name="Rectangle 32"/>
          <p:cNvSpPr/>
          <p:nvPr/>
        </p:nvSpPr>
        <p:spPr>
          <a:xfrm>
            <a:off x="9193743" y="1691640"/>
            <a:ext cx="7315" cy="56692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41248" y="2898648"/>
            <a:ext cx="68580" cy="6858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60704" y="2802636"/>
            <a:ext cx="4803343" cy="475488"/>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Full analyst coverage was reached on 3 August 2026: all 751 names carry an engine score and a written human case.</a:t>
            </a:r>
          </a:p>
        </p:txBody>
      </p:sp>
      <p:sp>
        <p:nvSpPr>
          <p:cNvPr id="36" name="Rectangle 35"/>
          <p:cNvSpPr/>
          <p:nvPr/>
        </p:nvSpPr>
        <p:spPr>
          <a:xfrm>
            <a:off x="841248" y="3483864"/>
            <a:ext cx="68580" cy="6858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60704" y="3387852"/>
            <a:ext cx="4803343" cy="475488"/>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191 Sells against 560 Holds is about a quarter of the universe, in line with the engine's historical rate. Far below that would suggest override leakage.</a:t>
            </a:r>
          </a:p>
        </p:txBody>
      </p:sp>
      <p:sp>
        <p:nvSpPr>
          <p:cNvPr id="38" name="Rectangle 37"/>
          <p:cNvSpPr/>
          <p:nvPr/>
        </p:nvSpPr>
        <p:spPr>
          <a:xfrm>
            <a:off x="841248" y="4069080"/>
            <a:ext cx="68580" cy="6858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60704" y="3973068"/>
            <a:ext cx="4803343" cy="475488"/>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The 126 escalations are a feature, not a backlog: cases where an analyst thinks a passing score is wrong and is barred from forcing the change.</a:t>
            </a:r>
          </a:p>
        </p:txBody>
      </p:sp>
      <p:sp>
        <p:nvSpPr>
          <p:cNvPr id="40" name="Rectangle 39"/>
          <p:cNvSpPr/>
          <p:nvPr/>
        </p:nvSpPr>
        <p:spPr>
          <a:xfrm>
            <a:off x="841248" y="4654296"/>
            <a:ext cx="68580" cy="6858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60704" y="4558283"/>
            <a:ext cx="4803343" cy="27432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Two real client books already run on this exact process.</a:t>
            </a:r>
          </a:p>
        </p:txBody>
      </p:sp>
      <p:sp>
        <p:nvSpPr>
          <p:cNvPr id="42" name="Rounded Rectangle 41"/>
          <p:cNvSpPr/>
          <p:nvPr/>
        </p:nvSpPr>
        <p:spPr>
          <a:xfrm>
            <a:off x="6138367" y="2834640"/>
            <a:ext cx="5212080" cy="1243584"/>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138367" y="2834640"/>
            <a:ext cx="54864" cy="1243584"/>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339535" y="2962656"/>
            <a:ext cx="4846320"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REFRESH, NOT REBUILD</a:t>
            </a:r>
          </a:p>
        </p:txBody>
      </p:sp>
      <p:sp>
        <p:nvSpPr>
          <p:cNvPr id="45" name="TextBox 44"/>
          <p:cNvSpPr txBox="1"/>
          <p:nvPr/>
        </p:nvSpPr>
        <p:spPr>
          <a:xfrm>
            <a:off x="6339535" y="3236976"/>
            <a:ext cx="4846320" cy="786383"/>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Coverage is maintained weekly by an incremental router, not a full re-run: names that reported get fresh research, news-only names get a cheap delta look, the rest carry forward.</a:t>
            </a:r>
          </a:p>
        </p:txBody>
      </p:sp>
      <p:sp>
        <p:nvSpPr>
          <p:cNvPr id="46" name="Rounded Rectangle 45"/>
          <p:cNvSpPr/>
          <p:nvPr/>
        </p:nvSpPr>
        <p:spPr>
          <a:xfrm>
            <a:off x="6138367" y="4242816"/>
            <a:ext cx="5212080" cy="1097280"/>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138367" y="4242816"/>
            <a:ext cx="54864" cy="1097280"/>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339535" y="4370831"/>
            <a:ext cx="4846320"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WHAT IS NOT CLAIMED</a:t>
            </a:r>
          </a:p>
        </p:txBody>
      </p:sp>
      <p:sp>
        <p:nvSpPr>
          <p:cNvPr id="49" name="TextBox 48"/>
          <p:cNvSpPr txBox="1"/>
          <p:nvPr/>
        </p:nvSpPr>
        <p:spPr>
          <a:xfrm>
            <a:off x="6339535" y="4645152"/>
            <a:ext cx="4846320" cy="64008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Coverage is not a track record. These are point-in-time reviews, and the engine has not yet run through a full market cycle under this operating model.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9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iv_art_2.png"/>
          <p:cNvPicPr>
            <a:picLocks noChangeAspect="1"/>
          </p:cNvPicPr>
          <p:nvPr/>
        </p:nvPicPr>
        <p:blipFill>
          <a:blip r:embed="rId2"/>
          <a:stretch>
            <a:fillRect/>
          </a:stretch>
        </p:blipFill>
        <p:spPr>
          <a:xfrm>
            <a:off x="6339535" y="0"/>
            <a:ext cx="5852160" cy="6858000"/>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8C95DE"/>
                </a:solidFill>
                <a:latin typeface="Bahnschrift"/>
              </a:rPr>
              <a:t>Private &amp; Confidential</a:t>
            </a:r>
          </a:p>
        </p:txBody>
      </p:sp>
      <p:sp>
        <p:nvSpPr>
          <p:cNvPr id="5" name="TextBox 4"/>
          <p:cNvSpPr txBox="1"/>
          <p:nvPr/>
        </p:nvSpPr>
        <p:spPr>
          <a:xfrm>
            <a:off x="6766560" y="868680"/>
            <a:ext cx="4583887" cy="2377440"/>
          </a:xfrm>
          <a:prstGeom prst="rect">
            <a:avLst/>
          </a:prstGeom>
          <a:noFill/>
        </p:spPr>
        <p:txBody>
          <a:bodyPr wrap="square" anchor="t" lIns="0" rIns="0" tIns="0" bIns="0">
            <a:spAutoFit/>
          </a:bodyPr>
          <a:lstStyle/>
          <a:p>
            <a:pPr algn="r">
              <a:spcBef>
                <a:spcPts val="0"/>
              </a:spcBef>
              <a:spcAft>
                <a:spcPts val="0"/>
              </a:spcAft>
            </a:pPr>
            <a:r>
              <a:rPr sz="17000" b="1" i="0">
                <a:solidFill>
                  <a:srgbClr val="242F8E"/>
                </a:solidFill>
                <a:latin typeface="Georgia"/>
              </a:rPr>
              <a:t>02</a:t>
            </a:r>
          </a:p>
        </p:txBody>
      </p:sp>
      <p:sp>
        <p:nvSpPr>
          <p:cNvPr id="6" name="TextBox 5"/>
          <p:cNvSpPr txBox="1"/>
          <p:nvPr/>
        </p:nvSpPr>
        <p:spPr>
          <a:xfrm>
            <a:off x="841248" y="2359152"/>
            <a:ext cx="5943600" cy="274320"/>
          </a:xfrm>
          <a:prstGeom prst="rect">
            <a:avLst/>
          </a:prstGeom>
          <a:noFill/>
        </p:spPr>
        <p:txBody>
          <a:bodyPr wrap="square" anchor="t" lIns="0" rIns="0" tIns="0" bIns="0">
            <a:spAutoFit/>
          </a:bodyPr>
          <a:lstStyle/>
          <a:p>
            <a:pPr algn="l">
              <a:spcBef>
                <a:spcPts val="0"/>
              </a:spcBef>
              <a:spcAft>
                <a:spcPts val="0"/>
              </a:spcAft>
            </a:pPr>
            <a:r>
              <a:rPr sz="1000" b="1" i="0" spc="250">
                <a:solidFill>
                  <a:srgbClr val="F2A93C"/>
                </a:solidFill>
                <a:latin typeface="Bahnschrift"/>
              </a:rPr>
              <a:t>SECTION 02</a:t>
            </a:r>
          </a:p>
        </p:txBody>
      </p:sp>
      <p:sp>
        <p:nvSpPr>
          <p:cNvPr id="7" name="TextBox 6"/>
          <p:cNvSpPr txBox="1"/>
          <p:nvPr/>
        </p:nvSpPr>
        <p:spPr>
          <a:xfrm>
            <a:off x="841248" y="2706624"/>
            <a:ext cx="7863840" cy="685800"/>
          </a:xfrm>
          <a:prstGeom prst="rect">
            <a:avLst/>
          </a:prstGeom>
          <a:noFill/>
        </p:spPr>
        <p:txBody>
          <a:bodyPr wrap="square" anchor="t" lIns="0" rIns="0" tIns="0" bIns="0">
            <a:spAutoFit/>
          </a:bodyPr>
          <a:lstStyle/>
          <a:p>
            <a:pPr algn="l">
              <a:spcBef>
                <a:spcPts val="0"/>
              </a:spcBef>
              <a:spcAft>
                <a:spcPts val="0"/>
              </a:spcAft>
            </a:pPr>
            <a:r>
              <a:rPr sz="3000" b="1" i="0">
                <a:solidFill>
                  <a:srgbClr val="FFFFFF"/>
                </a:solidFill>
                <a:latin typeface="Georgia"/>
              </a:rPr>
              <a:t>The workflow</a:t>
            </a:r>
          </a:p>
        </p:txBody>
      </p:sp>
      <p:sp>
        <p:nvSpPr>
          <p:cNvPr id="8" name="Rectangle 7"/>
          <p:cNvSpPr/>
          <p:nvPr/>
        </p:nvSpPr>
        <p:spPr>
          <a:xfrm>
            <a:off x="841248" y="3419856"/>
            <a:ext cx="2011680" cy="25603"/>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3639312"/>
            <a:ext cx="7863840" cy="548640"/>
          </a:xfrm>
          <a:prstGeom prst="rect">
            <a:avLst/>
          </a:prstGeom>
          <a:noFill/>
        </p:spPr>
        <p:txBody>
          <a:bodyPr wrap="square" anchor="t" lIns="0" rIns="0" tIns="0" bIns="0">
            <a:spAutoFit/>
          </a:bodyPr>
          <a:lstStyle/>
          <a:p>
            <a:pPr algn="l">
              <a:spcBef>
                <a:spcPts val="0"/>
              </a:spcBef>
              <a:spcAft>
                <a:spcPts val="0"/>
              </a:spcAft>
            </a:pPr>
            <a:r>
              <a:rPr sz="1300" b="0" i="1">
                <a:solidFill>
                  <a:srgbClr val="C9CEF0"/>
                </a:solidFill>
                <a:latin typeface="Georgia"/>
              </a:rPr>
              <a:t>How a review actually gets produced, and on what cadence</a:t>
            </a:r>
          </a:p>
        </p:txBody>
      </p:sp>
      <p:sp>
        <p:nvSpPr>
          <p:cNvPr id="10" name="TextBox 9"/>
          <p:cNvSpPr txBox="1"/>
          <p:nvPr/>
        </p:nvSpPr>
        <p:spPr>
          <a:xfrm>
            <a:off x="841248" y="498348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The weekly refresh loop</a:t>
            </a:r>
          </a:p>
        </p:txBody>
      </p:sp>
      <p:sp>
        <p:nvSpPr>
          <p:cNvPr id="11" name="TextBox 10"/>
          <p:cNvSpPr txBox="1"/>
          <p:nvPr/>
        </p:nvSpPr>
        <p:spPr>
          <a:xfrm>
            <a:off x="841248" y="525780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Cadence and ownership</a:t>
            </a:r>
          </a:p>
        </p:txBody>
      </p:sp>
      <p:sp>
        <p:nvSpPr>
          <p:cNvPr id="12" name="TextBox 11"/>
          <p:cNvSpPr txBox="1"/>
          <p:nvPr/>
        </p:nvSpPr>
        <p:spPr>
          <a:xfrm>
            <a:off x="841248" y="553212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Decision rights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02 · THE WORKFLOW</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The weekly refresh loop</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Three lanes, so cost scales with what actually changed</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11</a:t>
            </a:r>
          </a:p>
        </p:txBody>
      </p:sp>
      <p:sp>
        <p:nvSpPr>
          <p:cNvPr id="15" name="TextBox 14"/>
          <p:cNvSpPr txBox="1"/>
          <p:nvPr/>
        </p:nvSpPr>
        <p:spPr>
          <a:xfrm>
            <a:off x="914400" y="1783080"/>
            <a:ext cx="1535167"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LANE</a:t>
            </a:r>
          </a:p>
        </p:txBody>
      </p:sp>
      <p:sp>
        <p:nvSpPr>
          <p:cNvPr id="16" name="TextBox 15"/>
          <p:cNvSpPr txBox="1"/>
          <p:nvPr/>
        </p:nvSpPr>
        <p:spPr>
          <a:xfrm>
            <a:off x="2595871" y="1783080"/>
            <a:ext cx="3006455"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TRIGGERED BY</a:t>
            </a:r>
          </a:p>
        </p:txBody>
      </p:sp>
      <p:sp>
        <p:nvSpPr>
          <p:cNvPr id="17" name="TextBox 16"/>
          <p:cNvSpPr txBox="1"/>
          <p:nvPr/>
        </p:nvSpPr>
        <p:spPr>
          <a:xfrm>
            <a:off x="5748631" y="1783080"/>
            <a:ext cx="4057375"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WHAT HAPPENS</a:t>
            </a:r>
          </a:p>
        </p:txBody>
      </p:sp>
      <p:sp>
        <p:nvSpPr>
          <p:cNvPr id="18" name="TextBox 17"/>
          <p:cNvSpPr txBox="1"/>
          <p:nvPr/>
        </p:nvSpPr>
        <p:spPr>
          <a:xfrm>
            <a:off x="9952311" y="1783080"/>
            <a:ext cx="1324983" cy="219456"/>
          </a:xfrm>
          <a:prstGeom prst="rect">
            <a:avLst/>
          </a:prstGeom>
          <a:noFill/>
        </p:spPr>
        <p:txBody>
          <a:bodyPr wrap="square" anchor="ctr" lIns="0" rIns="0" tIns="0" bIns="0">
            <a:spAutoFit/>
          </a:bodyPr>
          <a:lstStyle/>
          <a:p>
            <a:pPr algn="ctr">
              <a:spcBef>
                <a:spcPts val="0"/>
              </a:spcBef>
              <a:spcAft>
                <a:spcPts val="0"/>
              </a:spcAft>
            </a:pPr>
            <a:r>
              <a:rPr sz="800" b="1" i="0" spc="200">
                <a:solidFill>
                  <a:srgbClr val="6B7280"/>
                </a:solidFill>
                <a:latin typeface="Bahnschrift"/>
              </a:rPr>
              <a:t>COST</a:t>
            </a:r>
          </a:p>
        </p:txBody>
      </p:sp>
      <p:sp>
        <p:nvSpPr>
          <p:cNvPr id="19" name="Rectangle 18"/>
          <p:cNvSpPr/>
          <p:nvPr/>
        </p:nvSpPr>
        <p:spPr>
          <a:xfrm>
            <a:off x="841248" y="2039112"/>
            <a:ext cx="1050919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14400" y="2203704"/>
            <a:ext cx="1280160" cy="219456"/>
          </a:xfrm>
          <a:prstGeom prst="roundRect">
            <a:avLst>
              <a:gd name="adj" fmla="val 50000"/>
            </a:avLst>
          </a:prstGeom>
          <a:solidFill>
            <a:srgbClr val="FBE3E0"/>
          </a:solidFill>
          <a:ln w="9525">
            <a:solidFill>
              <a:srgbClr val="E0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2198217"/>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E0402F"/>
                </a:solidFill>
                <a:latin typeface="Bahnschrift"/>
              </a:rPr>
              <a:t>FULL</a:t>
            </a:r>
          </a:p>
        </p:txBody>
      </p:sp>
      <p:sp>
        <p:nvSpPr>
          <p:cNvPr id="22" name="TextBox 21"/>
          <p:cNvSpPr txBox="1"/>
          <p:nvPr/>
        </p:nvSpPr>
        <p:spPr>
          <a:xfrm>
            <a:off x="2595871" y="2084831"/>
            <a:ext cx="3006455" cy="47548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A results print landed since the last research</a:t>
            </a:r>
          </a:p>
        </p:txBody>
      </p:sp>
      <p:sp>
        <p:nvSpPr>
          <p:cNvPr id="23" name="TextBox 22"/>
          <p:cNvSpPr txBox="1"/>
          <p:nvPr/>
        </p:nvSpPr>
        <p:spPr>
          <a:xfrm>
            <a:off x="5748631" y="2084831"/>
            <a:ext cx="4057375" cy="47548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Complete analyst pass, rewritten thesis</a:t>
            </a:r>
          </a:p>
        </p:txBody>
      </p:sp>
      <p:sp>
        <p:nvSpPr>
          <p:cNvPr id="24" name="TextBox 23"/>
          <p:cNvSpPr txBox="1"/>
          <p:nvPr/>
        </p:nvSpPr>
        <p:spPr>
          <a:xfrm>
            <a:off x="9952311" y="2084831"/>
            <a:ext cx="1324983" cy="475488"/>
          </a:xfrm>
          <a:prstGeom prst="rect">
            <a:avLst/>
          </a:prstGeom>
          <a:noFill/>
        </p:spPr>
        <p:txBody>
          <a:bodyPr wrap="square" anchor="ctr" lIns="0" rIns="0" tIns="0" bIns="0">
            <a:spAutoFit/>
          </a:bodyPr>
          <a:lstStyle/>
          <a:p>
            <a:pPr algn="ctr">
              <a:spcBef>
                <a:spcPts val="0"/>
              </a:spcBef>
              <a:spcAft>
                <a:spcPts val="0"/>
              </a:spcAft>
            </a:pPr>
            <a:r>
              <a:rPr sz="1000" b="0" i="0">
                <a:solidFill>
                  <a:srgbClr val="E0402F"/>
                </a:solidFill>
                <a:latin typeface="Bahnschrift"/>
              </a:rPr>
              <a:t>Highest</a:t>
            </a:r>
          </a:p>
        </p:txBody>
      </p:sp>
      <p:sp>
        <p:nvSpPr>
          <p:cNvPr id="25" name="Rectangle 24"/>
          <p:cNvSpPr/>
          <p:nvPr/>
        </p:nvSpPr>
        <p:spPr>
          <a:xfrm>
            <a:off x="841248" y="2542032"/>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14400" y="2679191"/>
            <a:ext cx="1280160" cy="219456"/>
          </a:xfrm>
          <a:prstGeom prst="roundRect">
            <a:avLst>
              <a:gd name="adj" fmla="val 50000"/>
            </a:avLst>
          </a:prstGeom>
          <a:solidFill>
            <a:srgbClr val="FBEFDC"/>
          </a:solidFill>
          <a:ln w="9525">
            <a:solidFill>
              <a:srgbClr val="92400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4400" y="2673705"/>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92400E"/>
                </a:solidFill>
                <a:latin typeface="Bahnschrift"/>
              </a:rPr>
              <a:t>DELTA</a:t>
            </a:r>
          </a:p>
        </p:txBody>
      </p:sp>
      <p:sp>
        <p:nvSpPr>
          <p:cNvPr id="28" name="TextBox 27"/>
          <p:cNvSpPr txBox="1"/>
          <p:nvPr/>
        </p:nvSpPr>
        <p:spPr>
          <a:xfrm>
            <a:off x="2595871" y="2560320"/>
            <a:ext cx="3006455" cy="47548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News only: a rating action, deal, or management change</a:t>
            </a:r>
          </a:p>
        </p:txBody>
      </p:sp>
      <p:sp>
        <p:nvSpPr>
          <p:cNvPr id="29" name="TextBox 28"/>
          <p:cNvSpPr txBox="1"/>
          <p:nvPr/>
        </p:nvSpPr>
        <p:spPr>
          <a:xfrm>
            <a:off x="5748631" y="2560320"/>
            <a:ext cx="4057375" cy="47548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The cached thesis is kept and only the new item is assessed</a:t>
            </a:r>
          </a:p>
        </p:txBody>
      </p:sp>
      <p:sp>
        <p:nvSpPr>
          <p:cNvPr id="30" name="TextBox 29"/>
          <p:cNvSpPr txBox="1"/>
          <p:nvPr/>
        </p:nvSpPr>
        <p:spPr>
          <a:xfrm>
            <a:off x="9952311" y="2560320"/>
            <a:ext cx="1324983" cy="475488"/>
          </a:xfrm>
          <a:prstGeom prst="rect">
            <a:avLst/>
          </a:prstGeom>
          <a:noFill/>
        </p:spPr>
        <p:txBody>
          <a:bodyPr wrap="square" anchor="ctr" lIns="0" rIns="0" tIns="0" bIns="0">
            <a:spAutoFit/>
          </a:bodyPr>
          <a:lstStyle/>
          <a:p>
            <a:pPr algn="ctr">
              <a:spcBef>
                <a:spcPts val="0"/>
              </a:spcBef>
              <a:spcAft>
                <a:spcPts val="0"/>
              </a:spcAft>
            </a:pPr>
            <a:r>
              <a:rPr sz="1000" b="0" i="0">
                <a:solidFill>
                  <a:srgbClr val="92400E"/>
                </a:solidFill>
                <a:latin typeface="Bahnschrift"/>
              </a:rPr>
              <a:t>Low</a:t>
            </a:r>
          </a:p>
        </p:txBody>
      </p:sp>
      <p:sp>
        <p:nvSpPr>
          <p:cNvPr id="31" name="Rectangle 30"/>
          <p:cNvSpPr/>
          <p:nvPr/>
        </p:nvSpPr>
        <p:spPr>
          <a:xfrm>
            <a:off x="841248" y="3017520"/>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914400" y="3154680"/>
            <a:ext cx="1280160" cy="219456"/>
          </a:xfrm>
          <a:prstGeom prst="roundRect">
            <a:avLst>
              <a:gd name="adj" fmla="val 50000"/>
            </a:avLst>
          </a:prstGeom>
          <a:solidFill>
            <a:srgbClr val="E0F2EA"/>
          </a:solidFill>
          <a:ln w="9525">
            <a:solidFill>
              <a:srgbClr val="1E9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14400" y="3149193"/>
            <a:ext cx="1280160" cy="228600"/>
          </a:xfrm>
          <a:prstGeom prst="rect">
            <a:avLst/>
          </a:prstGeom>
          <a:noFill/>
        </p:spPr>
        <p:txBody>
          <a:bodyPr wrap="square" anchor="ctr" lIns="0" rIns="0" tIns="0" bIns="0">
            <a:spAutoFit/>
          </a:bodyPr>
          <a:lstStyle/>
          <a:p>
            <a:pPr algn="ctr">
              <a:spcBef>
                <a:spcPts val="0"/>
              </a:spcBef>
              <a:spcAft>
                <a:spcPts val="0"/>
              </a:spcAft>
            </a:pPr>
            <a:r>
              <a:rPr sz="800" b="1" i="0" spc="60">
                <a:solidFill>
                  <a:srgbClr val="1E9E6A"/>
                </a:solidFill>
                <a:latin typeface="Bahnschrift"/>
              </a:rPr>
              <a:t>CARRY</a:t>
            </a:r>
          </a:p>
        </p:txBody>
      </p:sp>
      <p:sp>
        <p:nvSpPr>
          <p:cNvPr id="34" name="TextBox 33"/>
          <p:cNvSpPr txBox="1"/>
          <p:nvPr/>
        </p:nvSpPr>
        <p:spPr>
          <a:xfrm>
            <a:off x="2595871" y="3035808"/>
            <a:ext cx="3006455" cy="47548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Nothing material since the last look</a:t>
            </a:r>
          </a:p>
        </p:txBody>
      </p:sp>
      <p:sp>
        <p:nvSpPr>
          <p:cNvPr id="35" name="TextBox 34"/>
          <p:cNvSpPr txBox="1"/>
          <p:nvPr/>
        </p:nvSpPr>
        <p:spPr>
          <a:xfrm>
            <a:off x="5748631" y="3035808"/>
            <a:ext cx="4057375" cy="47548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The existing call carries forward, journalled</a:t>
            </a:r>
          </a:p>
        </p:txBody>
      </p:sp>
      <p:sp>
        <p:nvSpPr>
          <p:cNvPr id="36" name="TextBox 35"/>
          <p:cNvSpPr txBox="1"/>
          <p:nvPr/>
        </p:nvSpPr>
        <p:spPr>
          <a:xfrm>
            <a:off x="9952311" y="3035808"/>
            <a:ext cx="1324983" cy="475488"/>
          </a:xfrm>
          <a:prstGeom prst="rect">
            <a:avLst/>
          </a:prstGeom>
          <a:noFill/>
        </p:spPr>
        <p:txBody>
          <a:bodyPr wrap="square" anchor="ctr" lIns="0" rIns="0" tIns="0" bIns="0">
            <a:spAutoFit/>
          </a:bodyPr>
          <a:lstStyle/>
          <a:p>
            <a:pPr algn="ctr">
              <a:spcBef>
                <a:spcPts val="0"/>
              </a:spcBef>
              <a:spcAft>
                <a:spcPts val="0"/>
              </a:spcAft>
            </a:pPr>
            <a:r>
              <a:rPr sz="1000" b="0" i="0">
                <a:solidFill>
                  <a:srgbClr val="1E9E6A"/>
                </a:solidFill>
                <a:latin typeface="Bahnschrift"/>
              </a:rPr>
              <a:t>Near zero</a:t>
            </a:r>
          </a:p>
        </p:txBody>
      </p:sp>
      <p:sp>
        <p:nvSpPr>
          <p:cNvPr id="37" name="Rectangle 36"/>
          <p:cNvSpPr/>
          <p:nvPr/>
        </p:nvSpPr>
        <p:spPr>
          <a:xfrm>
            <a:off x="841248" y="3493008"/>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841248" y="3419856"/>
            <a:ext cx="10509199" cy="749808"/>
          </a:xfrm>
          <a:prstGeom prst="roundRect">
            <a:avLst>
              <a:gd name="adj" fmla="val 4000"/>
            </a:avLst>
          </a:prstGeom>
          <a:solidFill>
            <a:srgbClr val="E0F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41248" y="3419856"/>
            <a:ext cx="54864" cy="749808"/>
          </a:xfrm>
          <a:prstGeom prst="rect">
            <a:avLst/>
          </a:prstGeom>
          <a:solidFill>
            <a:srgbClr val="1E9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42416" y="3547872"/>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E9E6A"/>
                </a:solidFill>
                <a:latin typeface="Bahnschrift"/>
              </a:rPr>
              <a:t>WHY THIS MATTERS COMMERCIALLY</a:t>
            </a:r>
          </a:p>
        </p:txBody>
      </p:sp>
      <p:sp>
        <p:nvSpPr>
          <p:cNvPr id="41" name="TextBox 40"/>
          <p:cNvSpPr txBox="1"/>
          <p:nvPr/>
        </p:nvSpPr>
        <p:spPr>
          <a:xfrm>
            <a:off x="1042416" y="3822192"/>
            <a:ext cx="10143439" cy="292607"/>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The Full list comes deterministically from the earnings calendar, so the expensive work is bounded and predictable. Maintaining 751 names does not cost 751 research passes a week.</a:t>
            </a:r>
          </a:p>
        </p:txBody>
      </p:sp>
      <p:sp>
        <p:nvSpPr>
          <p:cNvPr id="42" name="Rectangle 41"/>
          <p:cNvSpPr/>
          <p:nvPr/>
        </p:nvSpPr>
        <p:spPr>
          <a:xfrm>
            <a:off x="841248" y="4379976"/>
            <a:ext cx="68580" cy="6858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0704" y="4283964"/>
            <a:ext cx="10289743" cy="475488"/>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Every state change is journalled per stock, so the history of a call is auditable rather than overwritten.</a:t>
            </a:r>
          </a:p>
        </p:txBody>
      </p:sp>
      <p:sp>
        <p:nvSpPr>
          <p:cNvPr id="44" name="Rectangle 43"/>
          <p:cNvSpPr/>
          <p:nvPr/>
        </p:nvSpPr>
        <p:spPr>
          <a:xfrm>
            <a:off x="841248" y="4928616"/>
            <a:ext cx="68580" cy="6858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60704" y="4832604"/>
            <a:ext cx="10289743" cy="475488"/>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Client workbooks and decks rebuild from that state, which is why a rerun reproduces the same deliverable.</a:t>
            </a:r>
          </a:p>
        </p:txBody>
      </p:sp>
      <p:sp>
        <p:nvSpPr>
          <p:cNvPr id="46" name="Rectangle 45"/>
          <p:cNvSpPr/>
          <p:nvPr/>
        </p:nvSpPr>
        <p:spPr>
          <a:xfrm>
            <a:off x="841248" y="5477256"/>
            <a:ext cx="68580" cy="6858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60704" y="5381244"/>
            <a:ext cx="10289743" cy="475488"/>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The router is scheduled, not manual: the cadence is a standing calendar entry, not something a person has to remember.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02 · THE WORKFLOW</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Cadence and ownership</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What runs when, and who owns it</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12</a:t>
            </a:r>
          </a:p>
        </p:txBody>
      </p:sp>
      <p:sp>
        <p:nvSpPr>
          <p:cNvPr id="15" name="TextBox 14"/>
          <p:cNvSpPr txBox="1"/>
          <p:nvPr/>
        </p:nvSpPr>
        <p:spPr>
          <a:xfrm>
            <a:off x="914400" y="1783080"/>
            <a:ext cx="1535167"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CADENCE</a:t>
            </a:r>
          </a:p>
        </p:txBody>
      </p:sp>
      <p:sp>
        <p:nvSpPr>
          <p:cNvPr id="16" name="TextBox 15"/>
          <p:cNvSpPr txBox="1"/>
          <p:nvPr/>
        </p:nvSpPr>
        <p:spPr>
          <a:xfrm>
            <a:off x="2595871" y="1783080"/>
            <a:ext cx="4687927"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WHAT RUNS</a:t>
            </a:r>
          </a:p>
        </p:txBody>
      </p:sp>
      <p:sp>
        <p:nvSpPr>
          <p:cNvPr id="17" name="TextBox 16"/>
          <p:cNvSpPr txBox="1"/>
          <p:nvPr/>
        </p:nvSpPr>
        <p:spPr>
          <a:xfrm>
            <a:off x="7430103" y="1783080"/>
            <a:ext cx="1955535"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OWNER</a:t>
            </a:r>
          </a:p>
        </p:txBody>
      </p:sp>
      <p:sp>
        <p:nvSpPr>
          <p:cNvPr id="18" name="TextBox 17"/>
          <p:cNvSpPr txBox="1"/>
          <p:nvPr/>
        </p:nvSpPr>
        <p:spPr>
          <a:xfrm>
            <a:off x="9531943" y="1783080"/>
            <a:ext cx="1745351" cy="219456"/>
          </a:xfrm>
          <a:prstGeom prst="rect">
            <a:avLst/>
          </a:prstGeom>
          <a:noFill/>
        </p:spPr>
        <p:txBody>
          <a:bodyPr wrap="square" anchor="ctr" lIns="0" rIns="0" tIns="0" bIns="0">
            <a:spAutoFit/>
          </a:bodyPr>
          <a:lstStyle/>
          <a:p>
            <a:pPr algn="ctr">
              <a:spcBef>
                <a:spcPts val="0"/>
              </a:spcBef>
              <a:spcAft>
                <a:spcPts val="0"/>
              </a:spcAft>
            </a:pPr>
            <a:r>
              <a:rPr sz="800" b="1" i="0" spc="200">
                <a:solidFill>
                  <a:srgbClr val="6B7280"/>
                </a:solidFill>
                <a:latin typeface="Bahnschrift"/>
              </a:rPr>
              <a:t>AUTOMATED</a:t>
            </a:r>
          </a:p>
        </p:txBody>
      </p:sp>
      <p:sp>
        <p:nvSpPr>
          <p:cNvPr id="19" name="Rectangle 18"/>
          <p:cNvSpPr/>
          <p:nvPr/>
        </p:nvSpPr>
        <p:spPr>
          <a:xfrm>
            <a:off x="841248" y="2039112"/>
            <a:ext cx="1050919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2084831"/>
            <a:ext cx="1535167" cy="384048"/>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Weekly</a:t>
            </a:r>
          </a:p>
        </p:txBody>
      </p:sp>
      <p:sp>
        <p:nvSpPr>
          <p:cNvPr id="21" name="TextBox 20"/>
          <p:cNvSpPr txBox="1"/>
          <p:nvPr/>
        </p:nvSpPr>
        <p:spPr>
          <a:xfrm>
            <a:off x="2595871" y="2084831"/>
            <a:ext cx="4687927"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Stock re-score through the incremental router</a:t>
            </a:r>
          </a:p>
        </p:txBody>
      </p:sp>
      <p:sp>
        <p:nvSpPr>
          <p:cNvPr id="22" name="TextBox 21"/>
          <p:cNvSpPr txBox="1"/>
          <p:nvPr/>
        </p:nvSpPr>
        <p:spPr>
          <a:xfrm>
            <a:off x="7430103" y="2084831"/>
            <a:ext cx="1955535"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Portfolio Review desk</a:t>
            </a:r>
          </a:p>
        </p:txBody>
      </p:sp>
      <p:sp>
        <p:nvSpPr>
          <p:cNvPr id="23" name="TextBox 22"/>
          <p:cNvSpPr txBox="1"/>
          <p:nvPr/>
        </p:nvSpPr>
        <p:spPr>
          <a:xfrm>
            <a:off x="9531943" y="2084831"/>
            <a:ext cx="1745351" cy="384048"/>
          </a:xfrm>
          <a:prstGeom prst="rect">
            <a:avLst/>
          </a:prstGeom>
          <a:noFill/>
        </p:spPr>
        <p:txBody>
          <a:bodyPr wrap="square" anchor="ctr" lIns="0" rIns="0" tIns="0" bIns="0">
            <a:spAutoFit/>
          </a:bodyPr>
          <a:lstStyle/>
          <a:p>
            <a:pPr algn="ctr">
              <a:spcBef>
                <a:spcPts val="0"/>
              </a:spcBef>
              <a:spcAft>
                <a:spcPts val="0"/>
              </a:spcAft>
            </a:pPr>
            <a:r>
              <a:rPr sz="1000" b="0" i="0">
                <a:solidFill>
                  <a:srgbClr val="1E9E6A"/>
                </a:solidFill>
                <a:latin typeface="Bahnschrift"/>
              </a:rPr>
              <a:t>Yes</a:t>
            </a:r>
          </a:p>
        </p:txBody>
      </p:sp>
      <p:sp>
        <p:nvSpPr>
          <p:cNvPr id="24" name="Rectangle 23"/>
          <p:cNvSpPr/>
          <p:nvPr/>
        </p:nvSpPr>
        <p:spPr>
          <a:xfrm>
            <a:off x="841248" y="2450591"/>
            <a:ext cx="10509199" cy="384048"/>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2468879"/>
            <a:ext cx="1535167" cy="384048"/>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Weekly</a:t>
            </a:r>
          </a:p>
        </p:txBody>
      </p:sp>
      <p:sp>
        <p:nvSpPr>
          <p:cNvPr id="26" name="TextBox 25"/>
          <p:cNvSpPr txBox="1"/>
          <p:nvPr/>
        </p:nvSpPr>
        <p:spPr>
          <a:xfrm>
            <a:off x="2595871" y="2468879"/>
            <a:ext cx="4687927"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Paper reconciliation and the risk pack</a:t>
            </a:r>
          </a:p>
        </p:txBody>
      </p:sp>
      <p:sp>
        <p:nvSpPr>
          <p:cNvPr id="27" name="TextBox 26"/>
          <p:cNvSpPr txBox="1"/>
          <p:nvPr/>
        </p:nvSpPr>
        <p:spPr>
          <a:xfrm>
            <a:off x="7430103" y="2468879"/>
            <a:ext cx="1955535"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Risk</a:t>
            </a:r>
          </a:p>
        </p:txBody>
      </p:sp>
      <p:sp>
        <p:nvSpPr>
          <p:cNvPr id="28" name="TextBox 27"/>
          <p:cNvSpPr txBox="1"/>
          <p:nvPr/>
        </p:nvSpPr>
        <p:spPr>
          <a:xfrm>
            <a:off x="9531943" y="2468879"/>
            <a:ext cx="1745351" cy="384048"/>
          </a:xfrm>
          <a:prstGeom prst="rect">
            <a:avLst/>
          </a:prstGeom>
          <a:noFill/>
        </p:spPr>
        <p:txBody>
          <a:bodyPr wrap="square" anchor="ctr" lIns="0" rIns="0" tIns="0" bIns="0">
            <a:spAutoFit/>
          </a:bodyPr>
          <a:lstStyle/>
          <a:p>
            <a:pPr algn="ctr">
              <a:spcBef>
                <a:spcPts val="0"/>
              </a:spcBef>
              <a:spcAft>
                <a:spcPts val="0"/>
              </a:spcAft>
            </a:pPr>
            <a:r>
              <a:rPr sz="1000" b="0" i="0">
                <a:solidFill>
                  <a:srgbClr val="1E9E6A"/>
                </a:solidFill>
                <a:latin typeface="Bahnschrift"/>
              </a:rPr>
              <a:t>Yes</a:t>
            </a:r>
          </a:p>
        </p:txBody>
      </p:sp>
      <p:sp>
        <p:nvSpPr>
          <p:cNvPr id="29" name="TextBox 28"/>
          <p:cNvSpPr txBox="1"/>
          <p:nvPr/>
        </p:nvSpPr>
        <p:spPr>
          <a:xfrm>
            <a:off x="914400" y="2852927"/>
            <a:ext cx="1535167" cy="384048"/>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Monthly</a:t>
            </a:r>
          </a:p>
        </p:txBody>
      </p:sp>
      <p:sp>
        <p:nvSpPr>
          <p:cNvPr id="30" name="TextBox 29"/>
          <p:cNvSpPr txBox="1"/>
          <p:nvPr/>
        </p:nvSpPr>
        <p:spPr>
          <a:xfrm>
            <a:off x="2595871" y="2852927"/>
            <a:ext cx="4687927"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Fund net-asset-value history refresh</a:t>
            </a:r>
          </a:p>
        </p:txBody>
      </p:sp>
      <p:sp>
        <p:nvSpPr>
          <p:cNvPr id="31" name="TextBox 30"/>
          <p:cNvSpPr txBox="1"/>
          <p:nvPr/>
        </p:nvSpPr>
        <p:spPr>
          <a:xfrm>
            <a:off x="7430103" y="2852927"/>
            <a:ext cx="1955535"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Data</a:t>
            </a:r>
          </a:p>
        </p:txBody>
      </p:sp>
      <p:sp>
        <p:nvSpPr>
          <p:cNvPr id="32" name="TextBox 31"/>
          <p:cNvSpPr txBox="1"/>
          <p:nvPr/>
        </p:nvSpPr>
        <p:spPr>
          <a:xfrm>
            <a:off x="9531943" y="2852927"/>
            <a:ext cx="1745351" cy="384048"/>
          </a:xfrm>
          <a:prstGeom prst="rect">
            <a:avLst/>
          </a:prstGeom>
          <a:noFill/>
        </p:spPr>
        <p:txBody>
          <a:bodyPr wrap="square" anchor="ctr" lIns="0" rIns="0" tIns="0" bIns="0">
            <a:spAutoFit/>
          </a:bodyPr>
          <a:lstStyle/>
          <a:p>
            <a:pPr algn="ctr">
              <a:spcBef>
                <a:spcPts val="0"/>
              </a:spcBef>
              <a:spcAft>
                <a:spcPts val="0"/>
              </a:spcAft>
            </a:pPr>
            <a:r>
              <a:rPr sz="1000" b="0" i="0">
                <a:solidFill>
                  <a:srgbClr val="1E9E6A"/>
                </a:solidFill>
                <a:latin typeface="Bahnschrift"/>
              </a:rPr>
              <a:t>Yes</a:t>
            </a:r>
          </a:p>
        </p:txBody>
      </p:sp>
      <p:sp>
        <p:nvSpPr>
          <p:cNvPr id="33" name="Rectangle 32"/>
          <p:cNvSpPr/>
          <p:nvPr/>
        </p:nvSpPr>
        <p:spPr>
          <a:xfrm>
            <a:off x="841248" y="3218687"/>
            <a:ext cx="10509199" cy="384048"/>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4400" y="3236975"/>
            <a:ext cx="1535167" cy="384048"/>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Monthly</a:t>
            </a:r>
          </a:p>
        </p:txBody>
      </p:sp>
      <p:sp>
        <p:nvSpPr>
          <p:cNvPr id="35" name="TextBox 34"/>
          <p:cNvSpPr txBox="1"/>
          <p:nvPr/>
        </p:nvSpPr>
        <p:spPr>
          <a:xfrm>
            <a:off x="2595871" y="3236975"/>
            <a:ext cx="4687927"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Month-end checkpoint and analytics pack</a:t>
            </a:r>
          </a:p>
        </p:txBody>
      </p:sp>
      <p:sp>
        <p:nvSpPr>
          <p:cNvPr id="36" name="TextBox 35"/>
          <p:cNvSpPr txBox="1"/>
          <p:nvPr/>
        </p:nvSpPr>
        <p:spPr>
          <a:xfrm>
            <a:off x="7430103" y="3236975"/>
            <a:ext cx="1955535"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CEO office</a:t>
            </a:r>
          </a:p>
        </p:txBody>
      </p:sp>
      <p:sp>
        <p:nvSpPr>
          <p:cNvPr id="37" name="TextBox 36"/>
          <p:cNvSpPr txBox="1"/>
          <p:nvPr/>
        </p:nvSpPr>
        <p:spPr>
          <a:xfrm>
            <a:off x="9531943" y="3236975"/>
            <a:ext cx="1745351" cy="384048"/>
          </a:xfrm>
          <a:prstGeom prst="rect">
            <a:avLst/>
          </a:prstGeom>
          <a:noFill/>
        </p:spPr>
        <p:txBody>
          <a:bodyPr wrap="square" anchor="ctr" lIns="0" rIns="0" tIns="0" bIns="0">
            <a:spAutoFit/>
          </a:bodyPr>
          <a:lstStyle/>
          <a:p>
            <a:pPr algn="ctr">
              <a:spcBef>
                <a:spcPts val="0"/>
              </a:spcBef>
              <a:spcAft>
                <a:spcPts val="0"/>
              </a:spcAft>
            </a:pPr>
            <a:r>
              <a:rPr sz="1000" b="0" i="0">
                <a:solidFill>
                  <a:srgbClr val="1E9E6A"/>
                </a:solidFill>
                <a:latin typeface="Bahnschrift"/>
              </a:rPr>
              <a:t>Yes</a:t>
            </a:r>
          </a:p>
        </p:txBody>
      </p:sp>
      <p:sp>
        <p:nvSpPr>
          <p:cNvPr id="38" name="TextBox 37"/>
          <p:cNvSpPr txBox="1"/>
          <p:nvPr/>
        </p:nvSpPr>
        <p:spPr>
          <a:xfrm>
            <a:off x="914400" y="3621023"/>
            <a:ext cx="1535167" cy="384048"/>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Apr / Oct</a:t>
            </a:r>
          </a:p>
        </p:txBody>
      </p:sp>
      <p:sp>
        <p:nvSpPr>
          <p:cNvPr id="39" name="TextBox 38"/>
          <p:cNvSpPr txBox="1"/>
          <p:nvPr/>
        </p:nvSpPr>
        <p:spPr>
          <a:xfrm>
            <a:off x="2595871" y="3621023"/>
            <a:ext cx="4687927"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Full fund-model re-run and reconciliation</a:t>
            </a:r>
          </a:p>
        </p:txBody>
      </p:sp>
      <p:sp>
        <p:nvSpPr>
          <p:cNvPr id="40" name="TextBox 39"/>
          <p:cNvSpPr txBox="1"/>
          <p:nvPr/>
        </p:nvSpPr>
        <p:spPr>
          <a:xfrm>
            <a:off x="7430103" y="3621023"/>
            <a:ext cx="1955535"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Fund desk</a:t>
            </a:r>
          </a:p>
        </p:txBody>
      </p:sp>
      <p:sp>
        <p:nvSpPr>
          <p:cNvPr id="41" name="TextBox 40"/>
          <p:cNvSpPr txBox="1"/>
          <p:nvPr/>
        </p:nvSpPr>
        <p:spPr>
          <a:xfrm>
            <a:off x="9531943" y="3621023"/>
            <a:ext cx="1745351" cy="384048"/>
          </a:xfrm>
          <a:prstGeom prst="rect">
            <a:avLst/>
          </a:prstGeom>
          <a:noFill/>
        </p:spPr>
        <p:txBody>
          <a:bodyPr wrap="square" anchor="ctr" lIns="0" rIns="0" tIns="0" bIns="0">
            <a:spAutoFit/>
          </a:bodyPr>
          <a:lstStyle/>
          <a:p>
            <a:pPr algn="ctr">
              <a:spcBef>
                <a:spcPts val="0"/>
              </a:spcBef>
              <a:spcAft>
                <a:spcPts val="0"/>
              </a:spcAft>
            </a:pPr>
            <a:r>
              <a:rPr sz="1000" b="0" i="0">
                <a:solidFill>
                  <a:srgbClr val="1E9E6A"/>
                </a:solidFill>
                <a:latin typeface="Bahnschrift"/>
              </a:rPr>
              <a:t>Yes</a:t>
            </a:r>
          </a:p>
        </p:txBody>
      </p:sp>
      <p:sp>
        <p:nvSpPr>
          <p:cNvPr id="42" name="Rectangle 41"/>
          <p:cNvSpPr/>
          <p:nvPr/>
        </p:nvSpPr>
        <p:spPr>
          <a:xfrm>
            <a:off x="841248" y="3986784"/>
            <a:ext cx="10509199" cy="384048"/>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14400" y="4005072"/>
            <a:ext cx="1535167" cy="384048"/>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Apr / Oct</a:t>
            </a:r>
          </a:p>
        </p:txBody>
      </p:sp>
      <p:sp>
        <p:nvSpPr>
          <p:cNvPr id="44" name="TextBox 43"/>
          <p:cNvSpPr txBox="1"/>
          <p:nvPr/>
        </p:nvSpPr>
        <p:spPr>
          <a:xfrm>
            <a:off x="2595871" y="4005072"/>
            <a:ext cx="4687927"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Client deck rebuild for every active mandate</a:t>
            </a:r>
          </a:p>
        </p:txBody>
      </p:sp>
      <p:sp>
        <p:nvSpPr>
          <p:cNvPr id="45" name="TextBox 44"/>
          <p:cNvSpPr txBox="1"/>
          <p:nvPr/>
        </p:nvSpPr>
        <p:spPr>
          <a:xfrm>
            <a:off x="7430103" y="4005072"/>
            <a:ext cx="1955535"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Portfolio Review desk</a:t>
            </a:r>
          </a:p>
        </p:txBody>
      </p:sp>
      <p:sp>
        <p:nvSpPr>
          <p:cNvPr id="46" name="TextBox 45"/>
          <p:cNvSpPr txBox="1"/>
          <p:nvPr/>
        </p:nvSpPr>
        <p:spPr>
          <a:xfrm>
            <a:off x="9531943" y="4005072"/>
            <a:ext cx="1745351" cy="384048"/>
          </a:xfrm>
          <a:prstGeom prst="rect">
            <a:avLst/>
          </a:prstGeom>
          <a:noFill/>
        </p:spPr>
        <p:txBody>
          <a:bodyPr wrap="square" anchor="ctr" lIns="0" rIns="0" tIns="0" bIns="0">
            <a:spAutoFit/>
          </a:bodyPr>
          <a:lstStyle/>
          <a:p>
            <a:pPr algn="ctr">
              <a:spcBef>
                <a:spcPts val="0"/>
              </a:spcBef>
              <a:spcAft>
                <a:spcPts val="0"/>
              </a:spcAft>
            </a:pPr>
            <a:r>
              <a:rPr sz="1000" b="0" i="0">
                <a:solidFill>
                  <a:srgbClr val="92400E"/>
                </a:solidFill>
                <a:latin typeface="Bahnschrift"/>
              </a:rPr>
              <a:t>Draft only</a:t>
            </a:r>
          </a:p>
        </p:txBody>
      </p:sp>
      <p:sp>
        <p:nvSpPr>
          <p:cNvPr id="47" name="TextBox 46"/>
          <p:cNvSpPr txBox="1"/>
          <p:nvPr/>
        </p:nvSpPr>
        <p:spPr>
          <a:xfrm>
            <a:off x="914400" y="4389120"/>
            <a:ext cx="1535167" cy="384048"/>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Per client</a:t>
            </a:r>
          </a:p>
        </p:txBody>
      </p:sp>
      <p:sp>
        <p:nvSpPr>
          <p:cNvPr id="48" name="TextBox 47"/>
          <p:cNvSpPr txBox="1"/>
          <p:nvPr/>
        </p:nvSpPr>
        <p:spPr>
          <a:xfrm>
            <a:off x="2595871" y="4389120"/>
            <a:ext cx="4687927"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Onboarding review on a new statement</a:t>
            </a:r>
          </a:p>
        </p:txBody>
      </p:sp>
      <p:sp>
        <p:nvSpPr>
          <p:cNvPr id="49" name="TextBox 48"/>
          <p:cNvSpPr txBox="1"/>
          <p:nvPr/>
        </p:nvSpPr>
        <p:spPr>
          <a:xfrm>
            <a:off x="7430103" y="4389120"/>
            <a:ext cx="1955535" cy="38404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Relationship manager</a:t>
            </a:r>
          </a:p>
        </p:txBody>
      </p:sp>
      <p:sp>
        <p:nvSpPr>
          <p:cNvPr id="50" name="TextBox 49"/>
          <p:cNvSpPr txBox="1"/>
          <p:nvPr/>
        </p:nvSpPr>
        <p:spPr>
          <a:xfrm>
            <a:off x="9531943" y="4389120"/>
            <a:ext cx="1745351" cy="384048"/>
          </a:xfrm>
          <a:prstGeom prst="rect">
            <a:avLst/>
          </a:prstGeom>
          <a:noFill/>
        </p:spPr>
        <p:txBody>
          <a:bodyPr wrap="square" anchor="ctr" lIns="0" rIns="0" tIns="0" bIns="0">
            <a:spAutoFit/>
          </a:bodyPr>
          <a:lstStyle/>
          <a:p>
            <a:pPr algn="ctr">
              <a:spcBef>
                <a:spcPts val="0"/>
              </a:spcBef>
              <a:spcAft>
                <a:spcPts val="0"/>
              </a:spcAft>
            </a:pPr>
            <a:r>
              <a:rPr sz="1000" b="0" i="0">
                <a:solidFill>
                  <a:srgbClr val="6B7280"/>
                </a:solidFill>
                <a:latin typeface="Bahnschrift"/>
              </a:rPr>
              <a:t>On demand</a:t>
            </a:r>
          </a:p>
        </p:txBody>
      </p:sp>
      <p:sp>
        <p:nvSpPr>
          <p:cNvPr id="51" name="Rounded Rectangle 50"/>
          <p:cNvSpPr/>
          <p:nvPr/>
        </p:nvSpPr>
        <p:spPr>
          <a:xfrm>
            <a:off x="841248" y="4645152"/>
            <a:ext cx="10509199" cy="1074419"/>
          </a:xfrm>
          <a:prstGeom prst="roundRect">
            <a:avLst>
              <a:gd name="adj" fmla="val 4000"/>
            </a:avLst>
          </a:prstGeom>
          <a:solidFill>
            <a:srgbClr val="FB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841248" y="4645152"/>
            <a:ext cx="54864" cy="1074419"/>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42416" y="4773168"/>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92400E"/>
                </a:solidFill>
                <a:latin typeface="Bahnschrift"/>
              </a:rPr>
              <a:t>THE ONE DELIBERATE MANUAL GATE</a:t>
            </a:r>
          </a:p>
        </p:txBody>
      </p:sp>
      <p:sp>
        <p:nvSpPr>
          <p:cNvPr id="54" name="TextBox 53"/>
          <p:cNvSpPr txBox="1"/>
          <p:nvPr/>
        </p:nvSpPr>
        <p:spPr>
          <a:xfrm>
            <a:off x="1042416" y="5047488"/>
            <a:ext cx="10143439" cy="617219"/>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Deck rebuilds are automated only as far as a marked draft. A client copy requires a human countersignature every single time. That gate is not an efficiency gap left to close later; it is the control that keeps an automated pipeline from ever speaking to a client on its own.</a:t>
            </a:r>
          </a:p>
        </p:txBody>
      </p:sp>
      <p:sp>
        <p:nvSpPr>
          <p:cNvPr id="55" name="TextBox 54"/>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Scheduled jobs are re-armed each working session from the operating calendar, which is the source of truth if the two ever disagree.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02 · THE WORKFLOW</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Decision rights</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Who can change what, and where disagreement goes</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13</a:t>
            </a:r>
          </a:p>
        </p:txBody>
      </p:sp>
      <p:sp>
        <p:nvSpPr>
          <p:cNvPr id="15" name="TextBox 14"/>
          <p:cNvSpPr txBox="1"/>
          <p:nvPr/>
        </p:nvSpPr>
        <p:spPr>
          <a:xfrm>
            <a:off x="914400" y="1783080"/>
            <a:ext cx="3426823"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DECISION</a:t>
            </a:r>
          </a:p>
        </p:txBody>
      </p:sp>
      <p:sp>
        <p:nvSpPr>
          <p:cNvPr id="16" name="TextBox 15"/>
          <p:cNvSpPr txBox="1"/>
          <p:nvPr/>
        </p:nvSpPr>
        <p:spPr>
          <a:xfrm>
            <a:off x="4487527" y="1783080"/>
            <a:ext cx="2796271"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WHO DECIDES</a:t>
            </a:r>
          </a:p>
        </p:txBody>
      </p:sp>
      <p:sp>
        <p:nvSpPr>
          <p:cNvPr id="17" name="TextBox 16"/>
          <p:cNvSpPr txBox="1"/>
          <p:nvPr/>
        </p:nvSpPr>
        <p:spPr>
          <a:xfrm>
            <a:off x="7430103" y="1783080"/>
            <a:ext cx="3847191"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CONTROL</a:t>
            </a:r>
          </a:p>
        </p:txBody>
      </p:sp>
      <p:sp>
        <p:nvSpPr>
          <p:cNvPr id="18" name="Rectangle 17"/>
          <p:cNvSpPr/>
          <p:nvPr/>
        </p:nvSpPr>
        <p:spPr>
          <a:xfrm>
            <a:off x="841248" y="2039112"/>
            <a:ext cx="1050919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2084831"/>
            <a:ext cx="3426823" cy="457200"/>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A stock's score</a:t>
            </a:r>
          </a:p>
        </p:txBody>
      </p:sp>
      <p:sp>
        <p:nvSpPr>
          <p:cNvPr id="20" name="TextBox 19"/>
          <p:cNvSpPr txBox="1"/>
          <p:nvPr/>
        </p:nvSpPr>
        <p:spPr>
          <a:xfrm>
            <a:off x="4487527" y="2084831"/>
            <a:ext cx="2796271" cy="457200"/>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The frozen engine</a:t>
            </a:r>
          </a:p>
        </p:txBody>
      </p:sp>
      <p:sp>
        <p:nvSpPr>
          <p:cNvPr id="21" name="TextBox 20"/>
          <p:cNvSpPr txBox="1"/>
          <p:nvPr/>
        </p:nvSpPr>
        <p:spPr>
          <a:xfrm>
            <a:off x="7430103" y="2084831"/>
            <a:ext cx="3847191" cy="457200"/>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No human edits a score. The methodology changes only by signed amendment.</a:t>
            </a:r>
          </a:p>
        </p:txBody>
      </p:sp>
      <p:sp>
        <p:nvSpPr>
          <p:cNvPr id="22" name="Rectangle 21"/>
          <p:cNvSpPr/>
          <p:nvPr/>
        </p:nvSpPr>
        <p:spPr>
          <a:xfrm>
            <a:off x="841248" y="2523744"/>
            <a:ext cx="10509199" cy="457200"/>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2542032"/>
            <a:ext cx="3426823" cy="457200"/>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A Sell becoming a Hold</a:t>
            </a:r>
          </a:p>
        </p:txBody>
      </p:sp>
      <p:sp>
        <p:nvSpPr>
          <p:cNvPr id="24" name="TextBox 23"/>
          <p:cNvSpPr txBox="1"/>
          <p:nvPr/>
        </p:nvSpPr>
        <p:spPr>
          <a:xfrm>
            <a:off x="4487527" y="2542032"/>
            <a:ext cx="2796271" cy="457200"/>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Sector analyst</a:t>
            </a:r>
          </a:p>
        </p:txBody>
      </p:sp>
      <p:sp>
        <p:nvSpPr>
          <p:cNvPr id="25" name="TextBox 24"/>
          <p:cNvSpPr txBox="1"/>
          <p:nvPr/>
        </p:nvSpPr>
        <p:spPr>
          <a:xfrm>
            <a:off x="7430103" y="2542032"/>
            <a:ext cx="3847191" cy="457200"/>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Permitted, with a written reason recorded against the name.</a:t>
            </a:r>
          </a:p>
        </p:txBody>
      </p:sp>
      <p:sp>
        <p:nvSpPr>
          <p:cNvPr id="26" name="TextBox 25"/>
          <p:cNvSpPr txBox="1"/>
          <p:nvPr/>
        </p:nvSpPr>
        <p:spPr>
          <a:xfrm>
            <a:off x="914400" y="2999232"/>
            <a:ext cx="3426823" cy="457200"/>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A Hold becoming a Sell</a:t>
            </a:r>
          </a:p>
        </p:txBody>
      </p:sp>
      <p:sp>
        <p:nvSpPr>
          <p:cNvPr id="27" name="TextBox 26"/>
          <p:cNvSpPr txBox="1"/>
          <p:nvPr/>
        </p:nvSpPr>
        <p:spPr>
          <a:xfrm>
            <a:off x="4487527" y="2999232"/>
            <a:ext cx="2796271" cy="457200"/>
          </a:xfrm>
          <a:prstGeom prst="rect">
            <a:avLst/>
          </a:prstGeom>
          <a:noFill/>
        </p:spPr>
        <p:txBody>
          <a:bodyPr wrap="square" anchor="ctr" lIns="0" rIns="0" tIns="0" bIns="0">
            <a:spAutoFit/>
          </a:bodyPr>
          <a:lstStyle/>
          <a:p>
            <a:pPr algn="l">
              <a:spcBef>
                <a:spcPts val="0"/>
              </a:spcBef>
              <a:spcAft>
                <a:spcPts val="0"/>
              </a:spcAft>
            </a:pPr>
            <a:r>
              <a:rPr sz="1000" b="0" i="0">
                <a:solidFill>
                  <a:srgbClr val="E0402F"/>
                </a:solidFill>
                <a:latin typeface="Bahnschrift"/>
              </a:rPr>
              <a:t>Nobody, directly</a:t>
            </a:r>
          </a:p>
        </p:txBody>
      </p:sp>
      <p:sp>
        <p:nvSpPr>
          <p:cNvPr id="28" name="TextBox 27"/>
          <p:cNvSpPr txBox="1"/>
          <p:nvPr/>
        </p:nvSpPr>
        <p:spPr>
          <a:xfrm>
            <a:off x="7430103" y="2999232"/>
            <a:ext cx="3847191" cy="457200"/>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Barred. The analyst escalates and the desk rules.</a:t>
            </a:r>
          </a:p>
        </p:txBody>
      </p:sp>
      <p:sp>
        <p:nvSpPr>
          <p:cNvPr id="29" name="Rectangle 28"/>
          <p:cNvSpPr/>
          <p:nvPr/>
        </p:nvSpPr>
        <p:spPr>
          <a:xfrm>
            <a:off x="841248" y="3438144"/>
            <a:ext cx="10509199" cy="457200"/>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4400" y="3456432"/>
            <a:ext cx="3426823" cy="457200"/>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Trim levels and sizing</a:t>
            </a:r>
          </a:p>
        </p:txBody>
      </p:sp>
      <p:sp>
        <p:nvSpPr>
          <p:cNvPr id="31" name="TextBox 30"/>
          <p:cNvSpPr txBox="1"/>
          <p:nvPr/>
        </p:nvSpPr>
        <p:spPr>
          <a:xfrm>
            <a:off x="4487527" y="3456432"/>
            <a:ext cx="2796271" cy="457200"/>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Fund manager</a:t>
            </a:r>
          </a:p>
        </p:txBody>
      </p:sp>
      <p:sp>
        <p:nvSpPr>
          <p:cNvPr id="32" name="TextBox 31"/>
          <p:cNvSpPr txBox="1"/>
          <p:nvPr/>
        </p:nvSpPr>
        <p:spPr>
          <a:xfrm>
            <a:off x="7430103" y="3456432"/>
            <a:ext cx="3847191" cy="457200"/>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Judgment, disclosed as such in the deck, not a formula output.</a:t>
            </a:r>
          </a:p>
        </p:txBody>
      </p:sp>
      <p:sp>
        <p:nvSpPr>
          <p:cNvPr id="33" name="TextBox 32"/>
          <p:cNvSpPr txBox="1"/>
          <p:nvPr/>
        </p:nvSpPr>
        <p:spPr>
          <a:xfrm>
            <a:off x="914400" y="3913631"/>
            <a:ext cx="3426823" cy="457200"/>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Methodology change</a:t>
            </a:r>
          </a:p>
        </p:txBody>
      </p:sp>
      <p:sp>
        <p:nvSpPr>
          <p:cNvPr id="34" name="TextBox 33"/>
          <p:cNvSpPr txBox="1"/>
          <p:nvPr/>
        </p:nvSpPr>
        <p:spPr>
          <a:xfrm>
            <a:off x="4487527" y="3913631"/>
            <a:ext cx="2796271" cy="457200"/>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Quant head plus red team</a:t>
            </a:r>
          </a:p>
        </p:txBody>
      </p:sp>
      <p:sp>
        <p:nvSpPr>
          <p:cNvPr id="35" name="TextBox 34"/>
          <p:cNvSpPr txBox="1"/>
          <p:nvPr/>
        </p:nvSpPr>
        <p:spPr>
          <a:xfrm>
            <a:off x="7430103" y="3913631"/>
            <a:ext cx="3847191" cy="457200"/>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Joint sign-off; comparability with the prior record is documented.</a:t>
            </a:r>
          </a:p>
        </p:txBody>
      </p:sp>
      <p:sp>
        <p:nvSpPr>
          <p:cNvPr id="36" name="Rectangle 35"/>
          <p:cNvSpPr/>
          <p:nvPr/>
        </p:nvSpPr>
        <p:spPr>
          <a:xfrm>
            <a:off x="841248" y="4352544"/>
            <a:ext cx="10509199" cy="457200"/>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4370831"/>
            <a:ext cx="3426823" cy="457200"/>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A deck reaching a client</a:t>
            </a:r>
          </a:p>
        </p:txBody>
      </p:sp>
      <p:sp>
        <p:nvSpPr>
          <p:cNvPr id="38" name="TextBox 37"/>
          <p:cNvSpPr txBox="1"/>
          <p:nvPr/>
        </p:nvSpPr>
        <p:spPr>
          <a:xfrm>
            <a:off x="4487527" y="4370831"/>
            <a:ext cx="2796271" cy="457200"/>
          </a:xfrm>
          <a:prstGeom prst="rect">
            <a:avLst/>
          </a:prstGeom>
          <a:noFill/>
        </p:spPr>
        <p:txBody>
          <a:bodyPr wrap="square" anchor="ctr" lIns="0" rIns="0" tIns="0" bIns="0">
            <a:spAutoFit/>
          </a:bodyPr>
          <a:lstStyle/>
          <a:p>
            <a:pPr algn="l">
              <a:spcBef>
                <a:spcPts val="0"/>
              </a:spcBef>
              <a:spcAft>
                <a:spcPts val="0"/>
              </a:spcAft>
            </a:pPr>
            <a:r>
              <a:rPr sz="1000" b="0" i="0">
                <a:solidFill>
                  <a:srgbClr val="1B27A3"/>
                </a:solidFill>
                <a:latin typeface="Bahnschrift"/>
              </a:rPr>
              <a:t>Principal or CEO</a:t>
            </a:r>
          </a:p>
        </p:txBody>
      </p:sp>
      <p:sp>
        <p:nvSpPr>
          <p:cNvPr id="39" name="TextBox 38"/>
          <p:cNvSpPr txBox="1"/>
          <p:nvPr/>
        </p:nvSpPr>
        <p:spPr>
          <a:xfrm>
            <a:off x="7430103" y="4370831"/>
            <a:ext cx="3847191" cy="457200"/>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Countersignature on every deck, with no standing exemption.</a:t>
            </a:r>
          </a:p>
        </p:txBody>
      </p:sp>
      <p:sp>
        <p:nvSpPr>
          <p:cNvPr id="40" name="Rounded Rectangle 39"/>
          <p:cNvSpPr/>
          <p:nvPr/>
        </p:nvSpPr>
        <p:spPr>
          <a:xfrm>
            <a:off x="841248" y="4864608"/>
            <a:ext cx="5117439" cy="987552"/>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41248" y="4864608"/>
            <a:ext cx="54864" cy="987552"/>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42416" y="4992624"/>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THE ASYMMETRY IS THE POINT</a:t>
            </a:r>
          </a:p>
        </p:txBody>
      </p:sp>
      <p:sp>
        <p:nvSpPr>
          <p:cNvPr id="43" name="TextBox 42"/>
          <p:cNvSpPr txBox="1"/>
          <p:nvPr/>
        </p:nvSpPr>
        <p:spPr>
          <a:xfrm>
            <a:off x="1042416" y="5266944"/>
            <a:ext cx="4751679" cy="530352"/>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It is easy to talk yourself into holding something you like. Letting the engine originate only Sells puts the burden of proof on optimism.</a:t>
            </a:r>
          </a:p>
        </p:txBody>
      </p:sp>
      <p:sp>
        <p:nvSpPr>
          <p:cNvPr id="44" name="Rounded Rectangle 43"/>
          <p:cNvSpPr/>
          <p:nvPr/>
        </p:nvSpPr>
        <p:spPr>
          <a:xfrm>
            <a:off x="6233007" y="4864608"/>
            <a:ext cx="5117439" cy="987552"/>
          </a:xfrm>
          <a:prstGeom prst="roundRect">
            <a:avLst>
              <a:gd name="adj" fmla="val 4000"/>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233007" y="4864608"/>
            <a:ext cx="54864" cy="987552"/>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34175" y="4992624"/>
            <a:ext cx="475167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B27A3"/>
                </a:solidFill>
                <a:latin typeface="Bahnschrift"/>
              </a:rPr>
              <a:t>ESCALATION IS NARROW ON PURPOSE</a:t>
            </a:r>
          </a:p>
        </p:txBody>
      </p:sp>
      <p:sp>
        <p:nvSpPr>
          <p:cNvPr id="47" name="TextBox 46"/>
          <p:cNvSpPr txBox="1"/>
          <p:nvPr/>
        </p:nvSpPr>
        <p:spPr>
          <a:xfrm>
            <a:off x="6434175" y="5266944"/>
            <a:ext cx="4751679" cy="530352"/>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Stale prices and ordinary uncertainty are not escalation-worthy, so the channel stays readable instead of becoming a queue nobody works.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9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iv_art_3.png"/>
          <p:cNvPicPr>
            <a:picLocks noChangeAspect="1"/>
          </p:cNvPicPr>
          <p:nvPr/>
        </p:nvPicPr>
        <p:blipFill>
          <a:blip r:embed="rId2"/>
          <a:stretch>
            <a:fillRect/>
          </a:stretch>
        </p:blipFill>
        <p:spPr>
          <a:xfrm>
            <a:off x="6339535" y="0"/>
            <a:ext cx="5852160" cy="6858000"/>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8C95DE"/>
                </a:solidFill>
                <a:latin typeface="Bahnschrift"/>
              </a:rPr>
              <a:t>Private &amp; Confidential</a:t>
            </a:r>
          </a:p>
        </p:txBody>
      </p:sp>
      <p:sp>
        <p:nvSpPr>
          <p:cNvPr id="5" name="TextBox 4"/>
          <p:cNvSpPr txBox="1"/>
          <p:nvPr/>
        </p:nvSpPr>
        <p:spPr>
          <a:xfrm>
            <a:off x="6766560" y="868680"/>
            <a:ext cx="4583887" cy="2377440"/>
          </a:xfrm>
          <a:prstGeom prst="rect">
            <a:avLst/>
          </a:prstGeom>
          <a:noFill/>
        </p:spPr>
        <p:txBody>
          <a:bodyPr wrap="square" anchor="t" lIns="0" rIns="0" tIns="0" bIns="0">
            <a:spAutoFit/>
          </a:bodyPr>
          <a:lstStyle/>
          <a:p>
            <a:pPr algn="r">
              <a:spcBef>
                <a:spcPts val="0"/>
              </a:spcBef>
              <a:spcAft>
                <a:spcPts val="0"/>
              </a:spcAft>
            </a:pPr>
            <a:r>
              <a:rPr sz="17000" b="1" i="0">
                <a:solidFill>
                  <a:srgbClr val="242F8E"/>
                </a:solidFill>
                <a:latin typeface="Georgia"/>
              </a:rPr>
              <a:t>03</a:t>
            </a:r>
          </a:p>
        </p:txBody>
      </p:sp>
      <p:sp>
        <p:nvSpPr>
          <p:cNvPr id="6" name="TextBox 5"/>
          <p:cNvSpPr txBox="1"/>
          <p:nvPr/>
        </p:nvSpPr>
        <p:spPr>
          <a:xfrm>
            <a:off x="841248" y="2359152"/>
            <a:ext cx="5943600" cy="274320"/>
          </a:xfrm>
          <a:prstGeom prst="rect">
            <a:avLst/>
          </a:prstGeom>
          <a:noFill/>
        </p:spPr>
        <p:txBody>
          <a:bodyPr wrap="square" anchor="t" lIns="0" rIns="0" tIns="0" bIns="0">
            <a:spAutoFit/>
          </a:bodyPr>
          <a:lstStyle/>
          <a:p>
            <a:pPr algn="l">
              <a:spcBef>
                <a:spcPts val="0"/>
              </a:spcBef>
              <a:spcAft>
                <a:spcPts val="0"/>
              </a:spcAft>
            </a:pPr>
            <a:r>
              <a:rPr sz="1000" b="1" i="0" spc="250">
                <a:solidFill>
                  <a:srgbClr val="F2A93C"/>
                </a:solidFill>
                <a:latin typeface="Bahnschrift"/>
              </a:rPr>
              <a:t>SECTION 03</a:t>
            </a:r>
          </a:p>
        </p:txBody>
      </p:sp>
      <p:sp>
        <p:nvSpPr>
          <p:cNvPr id="7" name="TextBox 6"/>
          <p:cNvSpPr txBox="1"/>
          <p:nvPr/>
        </p:nvSpPr>
        <p:spPr>
          <a:xfrm>
            <a:off x="841248" y="2706624"/>
            <a:ext cx="7863840" cy="685800"/>
          </a:xfrm>
          <a:prstGeom prst="rect">
            <a:avLst/>
          </a:prstGeom>
          <a:noFill/>
        </p:spPr>
        <p:txBody>
          <a:bodyPr wrap="square" anchor="t" lIns="0" rIns="0" tIns="0" bIns="0">
            <a:spAutoFit/>
          </a:bodyPr>
          <a:lstStyle/>
          <a:p>
            <a:pPr algn="l">
              <a:spcBef>
                <a:spcPts val="0"/>
              </a:spcBef>
              <a:spcAft>
                <a:spcPts val="0"/>
              </a:spcAft>
            </a:pPr>
            <a:r>
              <a:rPr sz="3000" b="1" i="0">
                <a:solidFill>
                  <a:srgbClr val="FFFFFF"/>
                </a:solidFill>
                <a:latin typeface="Georgia"/>
              </a:rPr>
              <a:t>Quality control</a:t>
            </a:r>
          </a:p>
        </p:txBody>
      </p:sp>
      <p:sp>
        <p:nvSpPr>
          <p:cNvPr id="8" name="Rectangle 7"/>
          <p:cNvSpPr/>
          <p:nvPr/>
        </p:nvSpPr>
        <p:spPr>
          <a:xfrm>
            <a:off x="841248" y="3419856"/>
            <a:ext cx="2011680" cy="25603"/>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3639312"/>
            <a:ext cx="7863840" cy="548640"/>
          </a:xfrm>
          <a:prstGeom prst="rect">
            <a:avLst/>
          </a:prstGeom>
          <a:noFill/>
        </p:spPr>
        <p:txBody>
          <a:bodyPr wrap="square" anchor="t" lIns="0" rIns="0" tIns="0" bIns="0">
            <a:spAutoFit/>
          </a:bodyPr>
          <a:lstStyle/>
          <a:p>
            <a:pPr algn="l">
              <a:spcBef>
                <a:spcPts val="0"/>
              </a:spcBef>
              <a:spcAft>
                <a:spcPts val="0"/>
              </a:spcAft>
            </a:pPr>
            <a:r>
              <a:rPr sz="1300" b="0" i="1">
                <a:solidFill>
                  <a:srgbClr val="C9CEF0"/>
                </a:solidFill>
                <a:latin typeface="Georgia"/>
              </a:rPr>
              <a:t>What stops a wrong page reaching a client</a:t>
            </a:r>
          </a:p>
        </p:txBody>
      </p:sp>
      <p:sp>
        <p:nvSpPr>
          <p:cNvPr id="10" name="TextBox 9"/>
          <p:cNvSpPr txBox="1"/>
          <p:nvPr/>
        </p:nvSpPr>
        <p:spPr>
          <a:xfrm>
            <a:off x="841248" y="498348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The gate stack</a:t>
            </a:r>
          </a:p>
        </p:txBody>
      </p:sp>
      <p:sp>
        <p:nvSpPr>
          <p:cNvPr id="11" name="TextBox 10"/>
          <p:cNvSpPr txBox="1"/>
          <p:nvPr/>
        </p:nvSpPr>
        <p:spPr>
          <a:xfrm>
            <a:off x="841248" y="525780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What went wrong, and what we changed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03 · QUALITY CONTROL</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The gate stack</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Four layers, each catching what the others cannot</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15</a:t>
            </a:r>
          </a:p>
        </p:txBody>
      </p:sp>
      <p:sp>
        <p:nvSpPr>
          <p:cNvPr id="15" name="Oval 14"/>
          <p:cNvSpPr/>
          <p:nvPr/>
        </p:nvSpPr>
        <p:spPr>
          <a:xfrm>
            <a:off x="841248" y="1828800"/>
            <a:ext cx="365760" cy="365760"/>
          </a:xfrm>
          <a:prstGeom prst="ellipse">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8" y="1828800"/>
            <a:ext cx="365760" cy="365760"/>
          </a:xfrm>
          <a:prstGeom prst="rect">
            <a:avLst/>
          </a:prstGeom>
          <a:noFill/>
        </p:spPr>
        <p:txBody>
          <a:bodyPr wrap="square" anchor="ctr" lIns="0" rIns="0" tIns="0" bIns="0">
            <a:spAutoFit/>
          </a:bodyPr>
          <a:lstStyle/>
          <a:p>
            <a:pPr algn="ctr">
              <a:spcBef>
                <a:spcPts val="0"/>
              </a:spcBef>
              <a:spcAft>
                <a:spcPts val="0"/>
              </a:spcAft>
            </a:pPr>
            <a:r>
              <a:rPr sz="1300" b="1" i="0">
                <a:solidFill>
                  <a:srgbClr val="FFFFFF"/>
                </a:solidFill>
                <a:latin typeface="Bahnschrift"/>
              </a:rPr>
              <a:t>1</a:t>
            </a:r>
          </a:p>
        </p:txBody>
      </p:sp>
      <p:sp>
        <p:nvSpPr>
          <p:cNvPr id="17" name="TextBox 16"/>
          <p:cNvSpPr txBox="1"/>
          <p:nvPr/>
        </p:nvSpPr>
        <p:spPr>
          <a:xfrm>
            <a:off x="1371600" y="1783080"/>
            <a:ext cx="3200400" cy="256032"/>
          </a:xfrm>
          <a:prstGeom prst="rect">
            <a:avLst/>
          </a:prstGeom>
          <a:noFill/>
        </p:spPr>
        <p:txBody>
          <a:bodyPr wrap="square" anchor="t" lIns="0" rIns="0" tIns="0" bIns="0">
            <a:spAutoFit/>
          </a:bodyPr>
          <a:lstStyle/>
          <a:p>
            <a:pPr algn="l">
              <a:spcBef>
                <a:spcPts val="0"/>
              </a:spcBef>
              <a:spcAft>
                <a:spcPts val="0"/>
              </a:spcAft>
            </a:pPr>
            <a:r>
              <a:rPr sz="1200" b="1" i="0">
                <a:solidFill>
                  <a:srgbClr val="16233B"/>
                </a:solidFill>
                <a:latin typeface="Bahnschrift"/>
              </a:rPr>
              <a:t>Geometry</a:t>
            </a:r>
          </a:p>
        </p:txBody>
      </p:sp>
      <p:sp>
        <p:nvSpPr>
          <p:cNvPr id="18" name="TextBox 17"/>
          <p:cNvSpPr txBox="1"/>
          <p:nvPr/>
        </p:nvSpPr>
        <p:spPr>
          <a:xfrm>
            <a:off x="4681728" y="1773936"/>
            <a:ext cx="6668719" cy="512064"/>
          </a:xfrm>
          <a:prstGeom prst="rect">
            <a:avLst/>
          </a:prstGeom>
          <a:noFill/>
        </p:spPr>
        <p:txBody>
          <a:bodyPr wrap="square" anchor="t" lIns="0" rIns="0" tIns="0" bIns="0">
            <a:spAutoFit/>
          </a:bodyPr>
          <a:lstStyle/>
          <a:p>
            <a:pPr algn="l">
              <a:lnSpc>
                <a:spcPct val="105000"/>
              </a:lnSpc>
              <a:spcBef>
                <a:spcPts val="0"/>
              </a:spcBef>
              <a:spcAft>
                <a:spcPts val="0"/>
              </a:spcAft>
            </a:pPr>
            <a:r>
              <a:rPr sz="1050" b="0" i="0">
                <a:solidFill>
                  <a:srgbClr val="6B7280"/>
                </a:solidFill>
                <a:latin typeface="Georgia"/>
              </a:rPr>
              <a:t>Two independent checks for text overflowing its box, elements overlapping, and content spilling past the page frame. Machine-checkable, run on every build.</a:t>
            </a:r>
          </a:p>
        </p:txBody>
      </p:sp>
      <p:sp>
        <p:nvSpPr>
          <p:cNvPr id="19" name="Rectangle 18"/>
          <p:cNvSpPr/>
          <p:nvPr/>
        </p:nvSpPr>
        <p:spPr>
          <a:xfrm>
            <a:off x="841248" y="2532888"/>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2670048"/>
            <a:ext cx="365760" cy="365760"/>
          </a:xfrm>
          <a:prstGeom prst="ellipse">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8" y="2670048"/>
            <a:ext cx="365760" cy="365760"/>
          </a:xfrm>
          <a:prstGeom prst="rect">
            <a:avLst/>
          </a:prstGeom>
          <a:noFill/>
        </p:spPr>
        <p:txBody>
          <a:bodyPr wrap="square" anchor="ctr" lIns="0" rIns="0" tIns="0" bIns="0">
            <a:spAutoFit/>
          </a:bodyPr>
          <a:lstStyle/>
          <a:p>
            <a:pPr algn="ctr">
              <a:spcBef>
                <a:spcPts val="0"/>
              </a:spcBef>
              <a:spcAft>
                <a:spcPts val="0"/>
              </a:spcAft>
            </a:pPr>
            <a:r>
              <a:rPr sz="1300" b="1" i="0">
                <a:solidFill>
                  <a:srgbClr val="FFFFFF"/>
                </a:solidFill>
                <a:latin typeface="Bahnschrift"/>
              </a:rPr>
              <a:t>2</a:t>
            </a:r>
          </a:p>
        </p:txBody>
      </p:sp>
      <p:sp>
        <p:nvSpPr>
          <p:cNvPr id="22" name="TextBox 21"/>
          <p:cNvSpPr txBox="1"/>
          <p:nvPr/>
        </p:nvSpPr>
        <p:spPr>
          <a:xfrm>
            <a:off x="1371600" y="2624328"/>
            <a:ext cx="3200400" cy="256032"/>
          </a:xfrm>
          <a:prstGeom prst="rect">
            <a:avLst/>
          </a:prstGeom>
          <a:noFill/>
        </p:spPr>
        <p:txBody>
          <a:bodyPr wrap="square" anchor="t" lIns="0" rIns="0" tIns="0" bIns="0">
            <a:spAutoFit/>
          </a:bodyPr>
          <a:lstStyle/>
          <a:p>
            <a:pPr algn="l">
              <a:spcBef>
                <a:spcPts val="0"/>
              </a:spcBef>
              <a:spcAft>
                <a:spcPts val="0"/>
              </a:spcAft>
            </a:pPr>
            <a:r>
              <a:rPr sz="1200" b="1" i="0">
                <a:solidFill>
                  <a:srgbClr val="16233B"/>
                </a:solidFill>
                <a:latin typeface="Bahnschrift"/>
              </a:rPr>
              <a:t>Client copy</a:t>
            </a:r>
          </a:p>
        </p:txBody>
      </p:sp>
      <p:sp>
        <p:nvSpPr>
          <p:cNvPr id="23" name="TextBox 22"/>
          <p:cNvSpPr txBox="1"/>
          <p:nvPr/>
        </p:nvSpPr>
        <p:spPr>
          <a:xfrm>
            <a:off x="4681728" y="2615184"/>
            <a:ext cx="6668719" cy="512064"/>
          </a:xfrm>
          <a:prstGeom prst="rect">
            <a:avLst/>
          </a:prstGeom>
          <a:noFill/>
        </p:spPr>
        <p:txBody>
          <a:bodyPr wrap="square" anchor="t" lIns="0" rIns="0" tIns="0" bIns="0">
            <a:spAutoFit/>
          </a:bodyPr>
          <a:lstStyle/>
          <a:p>
            <a:pPr algn="l">
              <a:lnSpc>
                <a:spcPct val="105000"/>
              </a:lnSpc>
              <a:spcBef>
                <a:spcPts val="0"/>
              </a:spcBef>
              <a:spcAft>
                <a:spcPts val="0"/>
              </a:spcAft>
            </a:pPr>
            <a:r>
              <a:rPr sz="1050" b="0" i="0">
                <a:solidFill>
                  <a:srgbClr val="6B7280"/>
                </a:solidFill>
                <a:latin typeface="Georgia"/>
              </a:rPr>
              <a:t>A scan for internal vocabulary, engine codenames, source citations, recommendation language we do not use, and unrenderable characters. Also run against the data file, because a scrub at render time cannot rescue a whole sentence of internal audit trail.</a:t>
            </a:r>
          </a:p>
        </p:txBody>
      </p:sp>
      <p:sp>
        <p:nvSpPr>
          <p:cNvPr id="24" name="Rectangle 23"/>
          <p:cNvSpPr/>
          <p:nvPr/>
        </p:nvSpPr>
        <p:spPr>
          <a:xfrm>
            <a:off x="841248" y="3374136"/>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3511296"/>
            <a:ext cx="365760" cy="365760"/>
          </a:xfrm>
          <a:prstGeom prst="ellipse">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8" y="3511296"/>
            <a:ext cx="365760" cy="365760"/>
          </a:xfrm>
          <a:prstGeom prst="rect">
            <a:avLst/>
          </a:prstGeom>
          <a:noFill/>
        </p:spPr>
        <p:txBody>
          <a:bodyPr wrap="square" anchor="ctr" lIns="0" rIns="0" tIns="0" bIns="0">
            <a:spAutoFit/>
          </a:bodyPr>
          <a:lstStyle/>
          <a:p>
            <a:pPr algn="ctr">
              <a:spcBef>
                <a:spcPts val="0"/>
              </a:spcBef>
              <a:spcAft>
                <a:spcPts val="0"/>
              </a:spcAft>
            </a:pPr>
            <a:r>
              <a:rPr sz="1300" b="1" i="0">
                <a:solidFill>
                  <a:srgbClr val="FFFFFF"/>
                </a:solidFill>
                <a:latin typeface="Bahnschrift"/>
              </a:rPr>
              <a:t>3</a:t>
            </a:r>
          </a:p>
        </p:txBody>
      </p:sp>
      <p:sp>
        <p:nvSpPr>
          <p:cNvPr id="27" name="TextBox 26"/>
          <p:cNvSpPr txBox="1"/>
          <p:nvPr/>
        </p:nvSpPr>
        <p:spPr>
          <a:xfrm>
            <a:off x="1371600" y="3465576"/>
            <a:ext cx="3200400" cy="256032"/>
          </a:xfrm>
          <a:prstGeom prst="rect">
            <a:avLst/>
          </a:prstGeom>
          <a:noFill/>
        </p:spPr>
        <p:txBody>
          <a:bodyPr wrap="square" anchor="t" lIns="0" rIns="0" tIns="0" bIns="0">
            <a:spAutoFit/>
          </a:bodyPr>
          <a:lstStyle/>
          <a:p>
            <a:pPr algn="l">
              <a:spcBef>
                <a:spcPts val="0"/>
              </a:spcBef>
              <a:spcAft>
                <a:spcPts val="0"/>
              </a:spcAft>
            </a:pPr>
            <a:r>
              <a:rPr sz="1200" b="1" i="0">
                <a:solidFill>
                  <a:srgbClr val="16233B"/>
                </a:solidFill>
                <a:latin typeface="Bahnschrift"/>
              </a:rPr>
              <a:t>Visual read</a:t>
            </a:r>
          </a:p>
        </p:txBody>
      </p:sp>
      <p:sp>
        <p:nvSpPr>
          <p:cNvPr id="28" name="TextBox 27"/>
          <p:cNvSpPr txBox="1"/>
          <p:nvPr/>
        </p:nvSpPr>
        <p:spPr>
          <a:xfrm>
            <a:off x="4681728" y="3456432"/>
            <a:ext cx="6668719" cy="512064"/>
          </a:xfrm>
          <a:prstGeom prst="rect">
            <a:avLst/>
          </a:prstGeom>
          <a:noFill/>
        </p:spPr>
        <p:txBody>
          <a:bodyPr wrap="square" anchor="t" lIns="0" rIns="0" tIns="0" bIns="0">
            <a:spAutoFit/>
          </a:bodyPr>
          <a:lstStyle/>
          <a:p>
            <a:pPr algn="l">
              <a:lnSpc>
                <a:spcPct val="105000"/>
              </a:lnSpc>
              <a:spcBef>
                <a:spcPts val="0"/>
              </a:spcBef>
              <a:spcAft>
                <a:spcPts val="0"/>
              </a:spcAft>
            </a:pPr>
            <a:r>
              <a:rPr sz="1050" b="0" i="0">
                <a:solidFill>
                  <a:srgbClr val="6B7280"/>
                </a:solidFill>
                <a:latin typeface="Georgia"/>
              </a:rPr>
              <a:t>The deck is converted to PDF and pages are actually looked at. This layer exists because the geometry checks inspect declared shape positions, not rendered pixels, and a real clipped table survived both of them.</a:t>
            </a:r>
          </a:p>
        </p:txBody>
      </p:sp>
      <p:sp>
        <p:nvSpPr>
          <p:cNvPr id="29" name="Rectangle 28"/>
          <p:cNvSpPr/>
          <p:nvPr/>
        </p:nvSpPr>
        <p:spPr>
          <a:xfrm>
            <a:off x="841248" y="4215384"/>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4352544"/>
            <a:ext cx="365760" cy="365760"/>
          </a:xfrm>
          <a:prstGeom prst="ellipse">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41248" y="4352544"/>
            <a:ext cx="365760" cy="365760"/>
          </a:xfrm>
          <a:prstGeom prst="rect">
            <a:avLst/>
          </a:prstGeom>
          <a:noFill/>
        </p:spPr>
        <p:txBody>
          <a:bodyPr wrap="square" anchor="ctr" lIns="0" rIns="0" tIns="0" bIns="0">
            <a:spAutoFit/>
          </a:bodyPr>
          <a:lstStyle/>
          <a:p>
            <a:pPr algn="ctr">
              <a:spcBef>
                <a:spcPts val="0"/>
              </a:spcBef>
              <a:spcAft>
                <a:spcPts val="0"/>
              </a:spcAft>
            </a:pPr>
            <a:r>
              <a:rPr sz="1300" b="1" i="0">
                <a:solidFill>
                  <a:srgbClr val="FFFFFF"/>
                </a:solidFill>
                <a:latin typeface="Bahnschrift"/>
              </a:rPr>
              <a:t>4</a:t>
            </a:r>
          </a:p>
        </p:txBody>
      </p:sp>
      <p:sp>
        <p:nvSpPr>
          <p:cNvPr id="32" name="TextBox 31"/>
          <p:cNvSpPr txBox="1"/>
          <p:nvPr/>
        </p:nvSpPr>
        <p:spPr>
          <a:xfrm>
            <a:off x="1371600" y="4306824"/>
            <a:ext cx="3200400" cy="256032"/>
          </a:xfrm>
          <a:prstGeom prst="rect">
            <a:avLst/>
          </a:prstGeom>
          <a:noFill/>
        </p:spPr>
        <p:txBody>
          <a:bodyPr wrap="square" anchor="t" lIns="0" rIns="0" tIns="0" bIns="0">
            <a:spAutoFit/>
          </a:bodyPr>
          <a:lstStyle/>
          <a:p>
            <a:pPr algn="l">
              <a:spcBef>
                <a:spcPts val="0"/>
              </a:spcBef>
              <a:spcAft>
                <a:spcPts val="0"/>
              </a:spcAft>
            </a:pPr>
            <a:r>
              <a:rPr sz="1200" b="1" i="0">
                <a:solidFill>
                  <a:srgbClr val="16233B"/>
                </a:solidFill>
                <a:latin typeface="Bahnschrift"/>
              </a:rPr>
              <a:t>Reconciliation</a:t>
            </a:r>
          </a:p>
        </p:txBody>
      </p:sp>
      <p:sp>
        <p:nvSpPr>
          <p:cNvPr id="33" name="TextBox 32"/>
          <p:cNvSpPr txBox="1"/>
          <p:nvPr/>
        </p:nvSpPr>
        <p:spPr>
          <a:xfrm>
            <a:off x="4681728" y="4297680"/>
            <a:ext cx="6668719" cy="512064"/>
          </a:xfrm>
          <a:prstGeom prst="rect">
            <a:avLst/>
          </a:prstGeom>
          <a:noFill/>
        </p:spPr>
        <p:txBody>
          <a:bodyPr wrap="square" anchor="t" lIns="0" rIns="0" tIns="0" bIns="0">
            <a:spAutoFit/>
          </a:bodyPr>
          <a:lstStyle/>
          <a:p>
            <a:pPr algn="l">
              <a:lnSpc>
                <a:spcPct val="105000"/>
              </a:lnSpc>
              <a:spcBef>
                <a:spcPts val="0"/>
              </a:spcBef>
              <a:spcAft>
                <a:spcPts val="0"/>
              </a:spcAft>
            </a:pPr>
            <a:r>
              <a:rPr sz="1050" b="0" i="0">
                <a:solidFill>
                  <a:srgbClr val="6B7280"/>
                </a:solidFill>
                <a:latin typeface="Georgia"/>
              </a:rPr>
              <a:t>Any figure appearing on two pages must reconcile or be explicitly scoped. Counts on a summary page are computed from the same source as the detail pages, never retyped.</a:t>
            </a:r>
          </a:p>
        </p:txBody>
      </p:sp>
      <p:sp>
        <p:nvSpPr>
          <p:cNvPr id="34" name="Rectangle 33"/>
          <p:cNvSpPr/>
          <p:nvPr/>
        </p:nvSpPr>
        <p:spPr>
          <a:xfrm>
            <a:off x="841248" y="5056632"/>
            <a:ext cx="10509199"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841248" y="5321808"/>
            <a:ext cx="10509199" cy="905256"/>
          </a:xfrm>
          <a:prstGeom prst="roundRect">
            <a:avLst>
              <a:gd name="adj" fmla="val 4000"/>
            </a:avLst>
          </a:prstGeom>
          <a:solidFill>
            <a:srgbClr val="FB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41248" y="5321808"/>
            <a:ext cx="54864" cy="905256"/>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42416" y="5449824"/>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92400E"/>
                </a:solidFill>
                <a:latin typeface="Bahnschrift"/>
              </a:rPr>
              <a:t>THEN, AND ONLY THEN, A PERSON</a:t>
            </a:r>
          </a:p>
        </p:txBody>
      </p:sp>
      <p:sp>
        <p:nvSpPr>
          <p:cNvPr id="38" name="TextBox 37"/>
          <p:cNvSpPr txBox="1"/>
          <p:nvPr/>
        </p:nvSpPr>
        <p:spPr>
          <a:xfrm>
            <a:off x="1042416" y="5724144"/>
            <a:ext cx="10143439" cy="448056"/>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Passing all four gates makes a deck eligible for review, not approved. The Principal or CEO countersignature is the fifth layer, and it is the one that actually authorises a client copy.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03 · QUALITY CONTROL</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What went wrong, and what we changed</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The controls above exist because these things actually happened</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16</a:t>
            </a:r>
          </a:p>
        </p:txBody>
      </p:sp>
      <p:sp>
        <p:nvSpPr>
          <p:cNvPr id="15" name="TextBox 14"/>
          <p:cNvSpPr txBox="1"/>
          <p:nvPr/>
        </p:nvSpPr>
        <p:spPr>
          <a:xfrm>
            <a:off x="914400" y="1783080"/>
            <a:ext cx="4057375"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WHAT WE FOUND</a:t>
            </a:r>
          </a:p>
        </p:txBody>
      </p:sp>
      <p:sp>
        <p:nvSpPr>
          <p:cNvPr id="16" name="TextBox 15"/>
          <p:cNvSpPr txBox="1"/>
          <p:nvPr/>
        </p:nvSpPr>
        <p:spPr>
          <a:xfrm>
            <a:off x="5118079" y="1783080"/>
            <a:ext cx="3216639"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WHY IT WAS DANGEROUS</a:t>
            </a:r>
          </a:p>
        </p:txBody>
      </p:sp>
      <p:sp>
        <p:nvSpPr>
          <p:cNvPr id="17" name="TextBox 16"/>
          <p:cNvSpPr txBox="1"/>
          <p:nvPr/>
        </p:nvSpPr>
        <p:spPr>
          <a:xfrm>
            <a:off x="8481023" y="1783080"/>
            <a:ext cx="2796271"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WHAT CHANGED</a:t>
            </a:r>
          </a:p>
        </p:txBody>
      </p:sp>
      <p:sp>
        <p:nvSpPr>
          <p:cNvPr id="18" name="Rectangle 17"/>
          <p:cNvSpPr/>
          <p:nvPr/>
        </p:nvSpPr>
        <p:spPr>
          <a:xfrm>
            <a:off x="841248" y="2039112"/>
            <a:ext cx="1050919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2084831"/>
            <a:ext cx="4057375" cy="658368"/>
          </a:xfrm>
          <a:prstGeom prst="rect">
            <a:avLst/>
          </a:prstGeom>
          <a:noFill/>
        </p:spPr>
        <p:txBody>
          <a:bodyPr wrap="square" anchor="ctr" lIns="0" rIns="0" tIns="0" bIns="0">
            <a:spAutoFit/>
          </a:bodyPr>
          <a:lstStyle/>
          <a:p>
            <a:pPr algn="l">
              <a:spcBef>
                <a:spcPts val="0"/>
              </a:spcBef>
              <a:spcAft>
                <a:spcPts val="0"/>
              </a:spcAft>
            </a:pPr>
            <a:r>
              <a:rPr sz="950" b="1" i="0">
                <a:solidFill>
                  <a:srgbClr val="16233B"/>
                </a:solidFill>
                <a:latin typeface="Bahnschrift"/>
              </a:rPr>
              <a:t>A fabricated breach</a:t>
            </a:r>
          </a:p>
        </p:txBody>
      </p:sp>
      <p:sp>
        <p:nvSpPr>
          <p:cNvPr id="20" name="TextBox 19"/>
          <p:cNvSpPr txBox="1"/>
          <p:nvPr/>
        </p:nvSpPr>
        <p:spPr>
          <a:xfrm>
            <a:off x="5118079" y="2084831"/>
            <a:ext cx="3216639" cy="65836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A page asserted a concentration limit breach that did not exist in the book, contradicting a correctly-computed page in the same deck</a:t>
            </a:r>
          </a:p>
        </p:txBody>
      </p:sp>
      <p:sp>
        <p:nvSpPr>
          <p:cNvPr id="21" name="TextBox 20"/>
          <p:cNvSpPr txBox="1"/>
          <p:nvPr/>
        </p:nvSpPr>
        <p:spPr>
          <a:xfrm>
            <a:off x="8481023" y="2084831"/>
            <a:ext cx="2796271" cy="65836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Narrative sentences are now computed from the data; hard-coded client-specific claims are treated as defects</a:t>
            </a:r>
          </a:p>
        </p:txBody>
      </p:sp>
      <p:sp>
        <p:nvSpPr>
          <p:cNvPr id="22" name="Rectangle 21"/>
          <p:cNvSpPr/>
          <p:nvPr/>
        </p:nvSpPr>
        <p:spPr>
          <a:xfrm>
            <a:off x="841248" y="2724912"/>
            <a:ext cx="10509199" cy="658368"/>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2743200"/>
            <a:ext cx="4057375" cy="658368"/>
          </a:xfrm>
          <a:prstGeom prst="rect">
            <a:avLst/>
          </a:prstGeom>
          <a:noFill/>
        </p:spPr>
        <p:txBody>
          <a:bodyPr wrap="square" anchor="ctr" lIns="0" rIns="0" tIns="0" bIns="0">
            <a:spAutoFit/>
          </a:bodyPr>
          <a:lstStyle/>
          <a:p>
            <a:pPr algn="l">
              <a:spcBef>
                <a:spcPts val="0"/>
              </a:spcBef>
              <a:spcAft>
                <a:spcPts val="0"/>
              </a:spcAft>
            </a:pPr>
            <a:r>
              <a:rPr sz="950" b="1" i="0">
                <a:solidFill>
                  <a:srgbClr val="16233B"/>
                </a:solidFill>
                <a:latin typeface="Bahnschrift"/>
              </a:rPr>
              <a:t>Name-similarity fund matching</a:t>
            </a:r>
          </a:p>
        </p:txBody>
      </p:sp>
      <p:sp>
        <p:nvSpPr>
          <p:cNvPr id="24" name="TextBox 23"/>
          <p:cNvSpPr txBox="1"/>
          <p:nvPr/>
        </p:nvSpPr>
        <p:spPr>
          <a:xfrm>
            <a:off x="5118079" y="2743200"/>
            <a:ext cx="3216639" cy="65836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Matched a mid-cap fund to a multi-cap fund, and a liquid fund to an equity fund</a:t>
            </a:r>
          </a:p>
        </p:txBody>
      </p:sp>
      <p:sp>
        <p:nvSpPr>
          <p:cNvPr id="25" name="TextBox 24"/>
          <p:cNvSpPr txBox="1"/>
          <p:nvPr/>
        </p:nvSpPr>
        <p:spPr>
          <a:xfrm>
            <a:off x="8481023" y="2743200"/>
            <a:ext cx="2796271" cy="65836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Similarity matching prohibited. Identity is verified per fund, with alias and rename tables in code</a:t>
            </a:r>
          </a:p>
        </p:txBody>
      </p:sp>
      <p:sp>
        <p:nvSpPr>
          <p:cNvPr id="26" name="TextBox 25"/>
          <p:cNvSpPr txBox="1"/>
          <p:nvPr/>
        </p:nvSpPr>
        <p:spPr>
          <a:xfrm>
            <a:off x="914400" y="3401568"/>
            <a:ext cx="4057375" cy="658368"/>
          </a:xfrm>
          <a:prstGeom prst="rect">
            <a:avLst/>
          </a:prstGeom>
          <a:noFill/>
        </p:spPr>
        <p:txBody>
          <a:bodyPr wrap="square" anchor="ctr" lIns="0" rIns="0" tIns="0" bIns="0">
            <a:spAutoFit/>
          </a:bodyPr>
          <a:lstStyle/>
          <a:p>
            <a:pPr algn="l">
              <a:spcBef>
                <a:spcPts val="0"/>
              </a:spcBef>
              <a:spcAft>
                <a:spcPts val="0"/>
              </a:spcAft>
            </a:pPr>
            <a:r>
              <a:rPr sz="950" b="1" i="0">
                <a:solidFill>
                  <a:srgbClr val="16233B"/>
                </a:solidFill>
                <a:latin typeface="Bahnschrift"/>
              </a:rPr>
              <a:t>A corrupted holdings row</a:t>
            </a:r>
          </a:p>
        </p:txBody>
      </p:sp>
      <p:sp>
        <p:nvSpPr>
          <p:cNvPr id="27" name="TextBox 26"/>
          <p:cNvSpPr txBox="1"/>
          <p:nvPr/>
        </p:nvSpPr>
        <p:spPr>
          <a:xfrm>
            <a:off x="5118079" y="3401568"/>
            <a:ext cx="3216639" cy="65836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One holding's name field silently absorbed another holding's data during statement parsing</a:t>
            </a:r>
          </a:p>
        </p:txBody>
      </p:sp>
      <p:sp>
        <p:nvSpPr>
          <p:cNvPr id="28" name="TextBox 27"/>
          <p:cNvSpPr txBox="1"/>
          <p:nvPr/>
        </p:nvSpPr>
        <p:spPr>
          <a:xfrm>
            <a:off x="8481023" y="3401568"/>
            <a:ext cx="2796271" cy="65836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Every parsed row is validated on intake; suspect rows are flagged to the RM, never silently trusted</a:t>
            </a:r>
          </a:p>
        </p:txBody>
      </p:sp>
      <p:sp>
        <p:nvSpPr>
          <p:cNvPr id="29" name="Rectangle 28"/>
          <p:cNvSpPr/>
          <p:nvPr/>
        </p:nvSpPr>
        <p:spPr>
          <a:xfrm>
            <a:off x="841248" y="4041648"/>
            <a:ext cx="10509199" cy="658368"/>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4400" y="4059935"/>
            <a:ext cx="4057375" cy="658368"/>
          </a:xfrm>
          <a:prstGeom prst="rect">
            <a:avLst/>
          </a:prstGeom>
          <a:noFill/>
        </p:spPr>
        <p:txBody>
          <a:bodyPr wrap="square" anchor="ctr" lIns="0" rIns="0" tIns="0" bIns="0">
            <a:spAutoFit/>
          </a:bodyPr>
          <a:lstStyle/>
          <a:p>
            <a:pPr algn="l">
              <a:spcBef>
                <a:spcPts val="0"/>
              </a:spcBef>
              <a:spcAft>
                <a:spcPts val="0"/>
              </a:spcAft>
            </a:pPr>
            <a:r>
              <a:rPr sz="950" b="1" i="0">
                <a:solidFill>
                  <a:srgbClr val="16233B"/>
                </a:solidFill>
                <a:latin typeface="Bahnschrift"/>
              </a:rPr>
              <a:t>A missing score shown as zero</a:t>
            </a:r>
          </a:p>
        </p:txBody>
      </p:sp>
      <p:sp>
        <p:nvSpPr>
          <p:cNvPr id="31" name="TextBox 30"/>
          <p:cNvSpPr txBox="1"/>
          <p:nvPr/>
        </p:nvSpPr>
        <p:spPr>
          <a:xfrm>
            <a:off x="5118079" y="4059935"/>
            <a:ext cx="3216639" cy="65836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An unscored holding read as a score of zero, which is a real and very bad score</a:t>
            </a:r>
          </a:p>
        </p:txBody>
      </p:sp>
      <p:sp>
        <p:nvSpPr>
          <p:cNvPr id="32" name="TextBox 31"/>
          <p:cNvSpPr txBox="1"/>
          <p:nvPr/>
        </p:nvSpPr>
        <p:spPr>
          <a:xfrm>
            <a:off x="8481023" y="4059935"/>
            <a:ext cx="2796271" cy="65836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Unscored is now visibly blank and labelled No View; zero is reserved for an actual zero</a:t>
            </a:r>
          </a:p>
        </p:txBody>
      </p:sp>
      <p:sp>
        <p:nvSpPr>
          <p:cNvPr id="33" name="TextBox 32"/>
          <p:cNvSpPr txBox="1"/>
          <p:nvPr/>
        </p:nvSpPr>
        <p:spPr>
          <a:xfrm>
            <a:off x="914400" y="4718303"/>
            <a:ext cx="4057375" cy="658368"/>
          </a:xfrm>
          <a:prstGeom prst="rect">
            <a:avLst/>
          </a:prstGeom>
          <a:noFill/>
        </p:spPr>
        <p:txBody>
          <a:bodyPr wrap="square" anchor="ctr" lIns="0" rIns="0" tIns="0" bIns="0">
            <a:spAutoFit/>
          </a:bodyPr>
          <a:lstStyle/>
          <a:p>
            <a:pPr algn="l">
              <a:spcBef>
                <a:spcPts val="0"/>
              </a:spcBef>
              <a:spcAft>
                <a:spcPts val="0"/>
              </a:spcAft>
            </a:pPr>
            <a:r>
              <a:rPr sz="950" b="1" i="0">
                <a:solidFill>
                  <a:srgbClr val="16233B"/>
                </a:solidFill>
                <a:latin typeface="Bahnschrift"/>
              </a:rPr>
              <a:t>A clipped table</a:t>
            </a:r>
          </a:p>
        </p:txBody>
      </p:sp>
      <p:sp>
        <p:nvSpPr>
          <p:cNvPr id="34" name="TextBox 33"/>
          <p:cNvSpPr txBox="1"/>
          <p:nvPr/>
        </p:nvSpPr>
        <p:spPr>
          <a:xfrm>
            <a:off x="5118079" y="4718303"/>
            <a:ext cx="3216639" cy="65836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A total row was covered by the panel beneath it, and both geometry checks passed it</a:t>
            </a:r>
          </a:p>
        </p:txBody>
      </p:sp>
      <p:sp>
        <p:nvSpPr>
          <p:cNvPr id="35" name="TextBox 34"/>
          <p:cNvSpPr txBox="1"/>
          <p:nvPr/>
        </p:nvSpPr>
        <p:spPr>
          <a:xfrm>
            <a:off x="8481023" y="4718303"/>
            <a:ext cx="2796271" cy="658368"/>
          </a:xfrm>
          <a:prstGeom prst="rect">
            <a:avLst/>
          </a:prstGeom>
          <a:noFill/>
        </p:spPr>
        <p:txBody>
          <a:bodyPr wrap="square" anchor="ctr" lIns="0" rIns="0" tIns="0" bIns="0">
            <a:spAutoFit/>
          </a:bodyPr>
          <a:lstStyle/>
          <a:p>
            <a:pPr algn="l">
              <a:spcBef>
                <a:spcPts val="0"/>
              </a:spcBef>
              <a:spcAft>
                <a:spcPts val="0"/>
              </a:spcAft>
            </a:pPr>
            <a:r>
              <a:rPr sz="950" b="0" i="0">
                <a:solidFill>
                  <a:srgbClr val="16233B"/>
                </a:solidFill>
                <a:latin typeface="Georgia"/>
              </a:rPr>
              <a:t>The visual read became a required gate rather than a nice-to-have</a:t>
            </a:r>
          </a:p>
        </p:txBody>
      </p:sp>
      <p:sp>
        <p:nvSpPr>
          <p:cNvPr id="36" name="Rounded Rectangle 35"/>
          <p:cNvSpPr/>
          <p:nvPr/>
        </p:nvSpPr>
        <p:spPr>
          <a:xfrm>
            <a:off x="841248" y="5230368"/>
            <a:ext cx="10509199" cy="1074419"/>
          </a:xfrm>
          <a:prstGeom prst="roundRect">
            <a:avLst>
              <a:gd name="adj" fmla="val 4000"/>
            </a:avLst>
          </a:prstGeom>
          <a:solidFill>
            <a:srgbClr val="E0F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41248" y="5230368"/>
            <a:ext cx="54864" cy="1074419"/>
          </a:xfrm>
          <a:prstGeom prst="rect">
            <a:avLst/>
          </a:prstGeom>
          <a:solidFill>
            <a:srgbClr val="1E9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42416" y="5358383"/>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1E9E6A"/>
                </a:solidFill>
                <a:latin typeface="Bahnschrift"/>
              </a:rPr>
              <a:t>WHY THIS PAGE IS IN A COMMITTEE DECK</a:t>
            </a:r>
          </a:p>
        </p:txBody>
      </p:sp>
      <p:sp>
        <p:nvSpPr>
          <p:cNvPr id="39" name="TextBox 38"/>
          <p:cNvSpPr txBox="1"/>
          <p:nvPr/>
        </p:nvSpPr>
        <p:spPr>
          <a:xfrm>
            <a:off x="1042416" y="5632704"/>
            <a:ext cx="10143439" cy="617219"/>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A product review that shows only what works is not evidence. Each of these was found by our own checks before any client saw it, each is now closed in code rather than in a checklist, and the same failure cannot recur silently.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9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iv_art_4.png"/>
          <p:cNvPicPr>
            <a:picLocks noChangeAspect="1"/>
          </p:cNvPicPr>
          <p:nvPr/>
        </p:nvPicPr>
        <p:blipFill>
          <a:blip r:embed="rId2"/>
          <a:stretch>
            <a:fillRect/>
          </a:stretch>
        </p:blipFill>
        <p:spPr>
          <a:xfrm>
            <a:off x="6339535" y="0"/>
            <a:ext cx="5852160" cy="6858000"/>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8C95DE"/>
                </a:solidFill>
                <a:latin typeface="Bahnschrift"/>
              </a:rPr>
              <a:t>Private &amp; Confidential</a:t>
            </a:r>
          </a:p>
        </p:txBody>
      </p:sp>
      <p:sp>
        <p:nvSpPr>
          <p:cNvPr id="5" name="TextBox 4"/>
          <p:cNvSpPr txBox="1"/>
          <p:nvPr/>
        </p:nvSpPr>
        <p:spPr>
          <a:xfrm>
            <a:off x="6766560" y="868680"/>
            <a:ext cx="4583887" cy="2377440"/>
          </a:xfrm>
          <a:prstGeom prst="rect">
            <a:avLst/>
          </a:prstGeom>
          <a:noFill/>
        </p:spPr>
        <p:txBody>
          <a:bodyPr wrap="square" anchor="t" lIns="0" rIns="0" tIns="0" bIns="0">
            <a:spAutoFit/>
          </a:bodyPr>
          <a:lstStyle/>
          <a:p>
            <a:pPr algn="r">
              <a:spcBef>
                <a:spcPts val="0"/>
              </a:spcBef>
              <a:spcAft>
                <a:spcPts val="0"/>
              </a:spcAft>
            </a:pPr>
            <a:r>
              <a:rPr sz="17000" b="1" i="0">
                <a:solidFill>
                  <a:srgbClr val="242F8E"/>
                </a:solidFill>
                <a:latin typeface="Georgia"/>
              </a:rPr>
              <a:t>04</a:t>
            </a:r>
          </a:p>
        </p:txBody>
      </p:sp>
      <p:sp>
        <p:nvSpPr>
          <p:cNvPr id="6" name="TextBox 5"/>
          <p:cNvSpPr txBox="1"/>
          <p:nvPr/>
        </p:nvSpPr>
        <p:spPr>
          <a:xfrm>
            <a:off x="841248" y="2359152"/>
            <a:ext cx="5943600" cy="274320"/>
          </a:xfrm>
          <a:prstGeom prst="rect">
            <a:avLst/>
          </a:prstGeom>
          <a:noFill/>
        </p:spPr>
        <p:txBody>
          <a:bodyPr wrap="square" anchor="t" lIns="0" rIns="0" tIns="0" bIns="0">
            <a:spAutoFit/>
          </a:bodyPr>
          <a:lstStyle/>
          <a:p>
            <a:pPr algn="l">
              <a:spcBef>
                <a:spcPts val="0"/>
              </a:spcBef>
              <a:spcAft>
                <a:spcPts val="0"/>
              </a:spcAft>
            </a:pPr>
            <a:r>
              <a:rPr sz="1000" b="1" i="0" spc="250">
                <a:solidFill>
                  <a:srgbClr val="F2A93C"/>
                </a:solidFill>
                <a:latin typeface="Bahnschrift"/>
              </a:rPr>
              <a:t>SECTION 04</a:t>
            </a:r>
          </a:p>
        </p:txBody>
      </p:sp>
      <p:sp>
        <p:nvSpPr>
          <p:cNvPr id="7" name="TextBox 6"/>
          <p:cNvSpPr txBox="1"/>
          <p:nvPr/>
        </p:nvSpPr>
        <p:spPr>
          <a:xfrm>
            <a:off x="841248" y="2706624"/>
            <a:ext cx="7863840" cy="685800"/>
          </a:xfrm>
          <a:prstGeom prst="rect">
            <a:avLst/>
          </a:prstGeom>
          <a:noFill/>
        </p:spPr>
        <p:txBody>
          <a:bodyPr wrap="square" anchor="t" lIns="0" rIns="0" tIns="0" bIns="0">
            <a:spAutoFit/>
          </a:bodyPr>
          <a:lstStyle/>
          <a:p>
            <a:pPr algn="l">
              <a:spcBef>
                <a:spcPts val="0"/>
              </a:spcBef>
              <a:spcAft>
                <a:spcPts val="0"/>
              </a:spcAft>
            </a:pPr>
            <a:r>
              <a:rPr sz="3000" b="1" i="0">
                <a:solidFill>
                  <a:srgbClr val="FFFFFF"/>
                </a:solidFill>
                <a:latin typeface="Georgia"/>
              </a:rPr>
              <a:t>The deliverable</a:t>
            </a:r>
          </a:p>
        </p:txBody>
      </p:sp>
      <p:sp>
        <p:nvSpPr>
          <p:cNvPr id="8" name="Rectangle 7"/>
          <p:cNvSpPr/>
          <p:nvPr/>
        </p:nvSpPr>
        <p:spPr>
          <a:xfrm>
            <a:off x="841248" y="3419856"/>
            <a:ext cx="2011680" cy="25603"/>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3639312"/>
            <a:ext cx="7863840" cy="548640"/>
          </a:xfrm>
          <a:prstGeom prst="rect">
            <a:avLst/>
          </a:prstGeom>
          <a:noFill/>
        </p:spPr>
        <p:txBody>
          <a:bodyPr wrap="square" anchor="t" lIns="0" rIns="0" tIns="0" bIns="0">
            <a:spAutoFit/>
          </a:bodyPr>
          <a:lstStyle/>
          <a:p>
            <a:pPr algn="l">
              <a:spcBef>
                <a:spcPts val="0"/>
              </a:spcBef>
              <a:spcAft>
                <a:spcPts val="0"/>
              </a:spcAft>
            </a:pPr>
            <a:r>
              <a:rPr sz="1300" b="0" i="1">
                <a:solidFill>
                  <a:srgbClr val="C9CEF0"/>
                </a:solidFill>
                <a:latin typeface="Georgia"/>
              </a:rPr>
              <a:t>Real rendered pages from the review deck</a:t>
            </a:r>
          </a:p>
        </p:txBody>
      </p:sp>
      <p:sp>
        <p:nvSpPr>
          <p:cNvPr id="10" name="TextBox 9"/>
          <p:cNvSpPr txBox="1"/>
          <p:nvPr/>
        </p:nvSpPr>
        <p:spPr>
          <a:xfrm>
            <a:off x="841248" y="498348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Understanding the mandate</a:t>
            </a:r>
          </a:p>
        </p:txBody>
      </p:sp>
      <p:sp>
        <p:nvSpPr>
          <p:cNvPr id="11" name="TextBox 10"/>
          <p:cNvSpPr txBox="1"/>
          <p:nvPr/>
        </p:nvSpPr>
        <p:spPr>
          <a:xfrm>
            <a:off x="841248" y="525780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The portfolio x-ray</a:t>
            </a:r>
          </a:p>
        </p:txBody>
      </p:sp>
      <p:sp>
        <p:nvSpPr>
          <p:cNvPr id="12" name="TextBox 11"/>
          <p:cNvSpPr txBox="1"/>
          <p:nvPr/>
        </p:nvSpPr>
        <p:spPr>
          <a:xfrm>
            <a:off x="841248" y="553212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The equity book</a:t>
            </a:r>
          </a:p>
        </p:txBody>
      </p:sp>
      <p:sp>
        <p:nvSpPr>
          <p:cNvPr id="13" name="TextBox 12"/>
          <p:cNvSpPr txBox="1"/>
          <p:nvPr/>
        </p:nvSpPr>
        <p:spPr>
          <a:xfrm>
            <a:off x="841248" y="580644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The fund book</a:t>
            </a:r>
          </a:p>
        </p:txBody>
      </p:sp>
      <p:sp>
        <p:nvSpPr>
          <p:cNvPr id="14" name="TextBox 13"/>
          <p:cNvSpPr txBox="1"/>
          <p:nvPr/>
        </p:nvSpPr>
        <p:spPr>
          <a:xfrm>
            <a:off x="841248" y="6080759"/>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Recommendations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04 · THE DELIVERABLE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Sample pages</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How it looks in the client's hands  (1 of 7)</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18</a:t>
            </a:r>
          </a:p>
        </p:txBody>
      </p:sp>
      <p:sp>
        <p:nvSpPr>
          <p:cNvPr id="15" name="Rectangle 14"/>
          <p:cNvSpPr/>
          <p:nvPr/>
        </p:nvSpPr>
        <p:spPr>
          <a:xfrm>
            <a:off x="841248" y="1773936"/>
            <a:ext cx="5071719" cy="2889418"/>
          </a:xfrm>
          <a:prstGeom prst="rect">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nap_00_p001.png"/>
          <p:cNvPicPr>
            <a:picLocks noChangeAspect="1"/>
          </p:cNvPicPr>
          <p:nvPr/>
        </p:nvPicPr>
        <p:blipFill>
          <a:blip r:embed="rId3"/>
          <a:stretch>
            <a:fillRect/>
          </a:stretch>
        </p:blipFill>
        <p:spPr>
          <a:xfrm>
            <a:off x="859536" y="1802511"/>
            <a:ext cx="5035143" cy="2832268"/>
          </a:xfrm>
          <a:prstGeom prst="rect">
            <a:avLst/>
          </a:prstGeom>
        </p:spPr>
      </p:pic>
      <p:sp>
        <p:nvSpPr>
          <p:cNvPr id="17" name="TextBox 16"/>
          <p:cNvSpPr txBox="1"/>
          <p:nvPr/>
        </p:nvSpPr>
        <p:spPr>
          <a:xfrm>
            <a:off x="841248" y="4773082"/>
            <a:ext cx="5071719" cy="219456"/>
          </a:xfrm>
          <a:prstGeom prst="rect">
            <a:avLst/>
          </a:prstGeom>
          <a:noFill/>
        </p:spPr>
        <p:txBody>
          <a:bodyPr wrap="square" anchor="t" lIns="0" rIns="0" tIns="0" bIns="0">
            <a:spAutoFit/>
          </a:bodyPr>
          <a:lstStyle/>
          <a:p>
            <a:pPr algn="l">
              <a:spcBef>
                <a:spcPts val="0"/>
              </a:spcBef>
              <a:spcAft>
                <a:spcPts val="0"/>
              </a:spcAft>
            </a:pPr>
            <a:r>
              <a:rPr sz="800" b="1" i="0" spc="200">
                <a:solidFill>
                  <a:srgbClr val="F2A93C"/>
                </a:solidFill>
                <a:latin typeface="Bahnschrift"/>
              </a:rPr>
              <a:t>PAGE 1</a:t>
            </a:r>
          </a:p>
        </p:txBody>
      </p:sp>
      <p:sp>
        <p:nvSpPr>
          <p:cNvPr id="18" name="TextBox 17"/>
          <p:cNvSpPr txBox="1"/>
          <p:nvPr/>
        </p:nvSpPr>
        <p:spPr>
          <a:xfrm>
            <a:off x="841248" y="4992538"/>
            <a:ext cx="5071719" cy="777240"/>
          </a:xfrm>
          <a:prstGeom prst="rect">
            <a:avLst/>
          </a:prstGeom>
          <a:noFill/>
        </p:spPr>
        <p:txBody>
          <a:bodyPr wrap="square" anchor="t" lIns="0" rIns="0" tIns="0" bIns="0">
            <a:spAutoFit/>
          </a:bodyPr>
          <a:lstStyle/>
          <a:p>
            <a:pPr algn="l">
              <a:lnSpc>
                <a:spcPct val="106000"/>
              </a:lnSpc>
              <a:spcBef>
                <a:spcPts val="0"/>
              </a:spcBef>
              <a:spcAft>
                <a:spcPts val="0"/>
              </a:spcAft>
            </a:pPr>
            <a:r>
              <a:rPr sz="1000" b="0" i="0">
                <a:solidFill>
                  <a:srgbClr val="16233B"/>
                </a:solidFill>
                <a:latin typeface="Georgia"/>
              </a:rPr>
              <a:t>Cover. Client, mandate and as-of date, with the synthetic-book label printed on the page.</a:t>
            </a:r>
          </a:p>
        </p:txBody>
      </p:sp>
      <p:sp>
        <p:nvSpPr>
          <p:cNvPr id="19" name="Rectangle 18"/>
          <p:cNvSpPr/>
          <p:nvPr/>
        </p:nvSpPr>
        <p:spPr>
          <a:xfrm>
            <a:off x="6278727" y="1773936"/>
            <a:ext cx="5071719" cy="2889418"/>
          </a:xfrm>
          <a:prstGeom prst="rect">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nap_01_p003.png"/>
          <p:cNvPicPr>
            <a:picLocks noChangeAspect="1"/>
          </p:cNvPicPr>
          <p:nvPr/>
        </p:nvPicPr>
        <p:blipFill>
          <a:blip r:embed="rId4"/>
          <a:stretch>
            <a:fillRect/>
          </a:stretch>
        </p:blipFill>
        <p:spPr>
          <a:xfrm>
            <a:off x="6297015" y="1802511"/>
            <a:ext cx="5035143" cy="2832268"/>
          </a:xfrm>
          <a:prstGeom prst="rect">
            <a:avLst/>
          </a:prstGeom>
        </p:spPr>
      </p:pic>
      <p:sp>
        <p:nvSpPr>
          <p:cNvPr id="21" name="TextBox 20"/>
          <p:cNvSpPr txBox="1"/>
          <p:nvPr/>
        </p:nvSpPr>
        <p:spPr>
          <a:xfrm>
            <a:off x="6278727" y="4773082"/>
            <a:ext cx="5071719" cy="219456"/>
          </a:xfrm>
          <a:prstGeom prst="rect">
            <a:avLst/>
          </a:prstGeom>
          <a:noFill/>
        </p:spPr>
        <p:txBody>
          <a:bodyPr wrap="square" anchor="t" lIns="0" rIns="0" tIns="0" bIns="0">
            <a:spAutoFit/>
          </a:bodyPr>
          <a:lstStyle/>
          <a:p>
            <a:pPr algn="l">
              <a:spcBef>
                <a:spcPts val="0"/>
              </a:spcBef>
              <a:spcAft>
                <a:spcPts val="0"/>
              </a:spcAft>
            </a:pPr>
            <a:r>
              <a:rPr sz="800" b="1" i="0" spc="200">
                <a:solidFill>
                  <a:srgbClr val="F2A93C"/>
                </a:solidFill>
                <a:latin typeface="Bahnschrift"/>
              </a:rPr>
              <a:t>PAGE 3</a:t>
            </a:r>
          </a:p>
        </p:txBody>
      </p:sp>
      <p:sp>
        <p:nvSpPr>
          <p:cNvPr id="22" name="TextBox 21"/>
          <p:cNvSpPr txBox="1"/>
          <p:nvPr/>
        </p:nvSpPr>
        <p:spPr>
          <a:xfrm>
            <a:off x="6278727" y="4992538"/>
            <a:ext cx="5071719" cy="777240"/>
          </a:xfrm>
          <a:prstGeom prst="rect">
            <a:avLst/>
          </a:prstGeom>
          <a:noFill/>
        </p:spPr>
        <p:txBody>
          <a:bodyPr wrap="square" anchor="t" lIns="0" rIns="0" tIns="0" bIns="0">
            <a:spAutoFit/>
          </a:bodyPr>
          <a:lstStyle/>
          <a:p>
            <a:pPr algn="l">
              <a:lnSpc>
                <a:spcPct val="106000"/>
              </a:lnSpc>
              <a:spcBef>
                <a:spcPts val="0"/>
              </a:spcBef>
              <a:spcAft>
                <a:spcPts val="0"/>
              </a:spcAft>
            </a:pPr>
            <a:r>
              <a:rPr sz="1000" b="0" i="0">
                <a:solidFill>
                  <a:srgbClr val="16233B"/>
                </a:solidFill>
                <a:latin typeface="Georgia"/>
              </a:rPr>
              <a:t>The mandate page. Every parameter's Current column is computed live from the holdings, never typed.</a:t>
            </a:r>
          </a:p>
        </p:txBody>
      </p:sp>
      <p:sp>
        <p:nvSpPr>
          <p:cNvPr id="23" name="TextBox 22"/>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Rendered from the house demo book on an aggressive mandate. Synthetic holdings, real engine, real template.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04 · THE DELIVERABLE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Sample pages</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How it looks in the client's hands  (2 of 7)</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19</a:t>
            </a:r>
          </a:p>
        </p:txBody>
      </p:sp>
      <p:sp>
        <p:nvSpPr>
          <p:cNvPr id="15" name="Rectangle 14"/>
          <p:cNvSpPr/>
          <p:nvPr/>
        </p:nvSpPr>
        <p:spPr>
          <a:xfrm>
            <a:off x="841248" y="1773936"/>
            <a:ext cx="5071719" cy="2889418"/>
          </a:xfrm>
          <a:prstGeom prst="rect">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nap_02_p004.png"/>
          <p:cNvPicPr>
            <a:picLocks noChangeAspect="1"/>
          </p:cNvPicPr>
          <p:nvPr/>
        </p:nvPicPr>
        <p:blipFill>
          <a:blip r:embed="rId3"/>
          <a:stretch>
            <a:fillRect/>
          </a:stretch>
        </p:blipFill>
        <p:spPr>
          <a:xfrm>
            <a:off x="859536" y="1802511"/>
            <a:ext cx="5035143" cy="2832268"/>
          </a:xfrm>
          <a:prstGeom prst="rect">
            <a:avLst/>
          </a:prstGeom>
        </p:spPr>
      </p:pic>
      <p:sp>
        <p:nvSpPr>
          <p:cNvPr id="17" name="TextBox 16"/>
          <p:cNvSpPr txBox="1"/>
          <p:nvPr/>
        </p:nvSpPr>
        <p:spPr>
          <a:xfrm>
            <a:off x="841248" y="4773082"/>
            <a:ext cx="5071719" cy="219456"/>
          </a:xfrm>
          <a:prstGeom prst="rect">
            <a:avLst/>
          </a:prstGeom>
          <a:noFill/>
        </p:spPr>
        <p:txBody>
          <a:bodyPr wrap="square" anchor="t" lIns="0" rIns="0" tIns="0" bIns="0">
            <a:spAutoFit/>
          </a:bodyPr>
          <a:lstStyle/>
          <a:p>
            <a:pPr algn="l">
              <a:spcBef>
                <a:spcPts val="0"/>
              </a:spcBef>
              <a:spcAft>
                <a:spcPts val="0"/>
              </a:spcAft>
            </a:pPr>
            <a:r>
              <a:rPr sz="800" b="1" i="0" spc="200">
                <a:solidFill>
                  <a:srgbClr val="F2A93C"/>
                </a:solidFill>
                <a:latin typeface="Bahnschrift"/>
              </a:rPr>
              <a:t>PAGE 4</a:t>
            </a:r>
          </a:p>
        </p:txBody>
      </p:sp>
      <p:sp>
        <p:nvSpPr>
          <p:cNvPr id="18" name="TextBox 17"/>
          <p:cNvSpPr txBox="1"/>
          <p:nvPr/>
        </p:nvSpPr>
        <p:spPr>
          <a:xfrm>
            <a:off x="841248" y="4992538"/>
            <a:ext cx="5071719" cy="777240"/>
          </a:xfrm>
          <a:prstGeom prst="rect">
            <a:avLst/>
          </a:prstGeom>
          <a:noFill/>
        </p:spPr>
        <p:txBody>
          <a:bodyPr wrap="square" anchor="t" lIns="0" rIns="0" tIns="0" bIns="0">
            <a:spAutoFit/>
          </a:bodyPr>
          <a:lstStyle/>
          <a:p>
            <a:pPr algn="l">
              <a:lnSpc>
                <a:spcPct val="106000"/>
              </a:lnSpc>
              <a:spcBef>
                <a:spcPts val="0"/>
              </a:spcBef>
              <a:spcAft>
                <a:spcPts val="0"/>
              </a:spcAft>
            </a:pPr>
            <a:r>
              <a:rPr sz="1000" b="0" i="0">
                <a:solidFill>
                  <a:srgbClr val="16233B"/>
                </a:solidFill>
                <a:latin typeface="Georgia"/>
              </a:rPr>
              <a:t>Executive summary. Five gaps, each with one action and a pointer to the page that proves it.</a:t>
            </a:r>
          </a:p>
        </p:txBody>
      </p:sp>
      <p:sp>
        <p:nvSpPr>
          <p:cNvPr id="19" name="Rectangle 18"/>
          <p:cNvSpPr/>
          <p:nvPr/>
        </p:nvSpPr>
        <p:spPr>
          <a:xfrm>
            <a:off x="6278727" y="1773936"/>
            <a:ext cx="5071719" cy="2889418"/>
          </a:xfrm>
          <a:prstGeom prst="rect">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nap_03_p007.png"/>
          <p:cNvPicPr>
            <a:picLocks noChangeAspect="1"/>
          </p:cNvPicPr>
          <p:nvPr/>
        </p:nvPicPr>
        <p:blipFill>
          <a:blip r:embed="rId4"/>
          <a:stretch>
            <a:fillRect/>
          </a:stretch>
        </p:blipFill>
        <p:spPr>
          <a:xfrm>
            <a:off x="6297015" y="1802511"/>
            <a:ext cx="5035143" cy="2832268"/>
          </a:xfrm>
          <a:prstGeom prst="rect">
            <a:avLst/>
          </a:prstGeom>
        </p:spPr>
      </p:pic>
      <p:sp>
        <p:nvSpPr>
          <p:cNvPr id="21" name="TextBox 20"/>
          <p:cNvSpPr txBox="1"/>
          <p:nvPr/>
        </p:nvSpPr>
        <p:spPr>
          <a:xfrm>
            <a:off x="6278727" y="4773082"/>
            <a:ext cx="5071719" cy="219456"/>
          </a:xfrm>
          <a:prstGeom prst="rect">
            <a:avLst/>
          </a:prstGeom>
          <a:noFill/>
        </p:spPr>
        <p:txBody>
          <a:bodyPr wrap="square" anchor="t" lIns="0" rIns="0" tIns="0" bIns="0">
            <a:spAutoFit/>
          </a:bodyPr>
          <a:lstStyle/>
          <a:p>
            <a:pPr algn="l">
              <a:spcBef>
                <a:spcPts val="0"/>
              </a:spcBef>
              <a:spcAft>
                <a:spcPts val="0"/>
              </a:spcAft>
            </a:pPr>
            <a:r>
              <a:rPr sz="800" b="1" i="0" spc="200">
                <a:solidFill>
                  <a:srgbClr val="F2A93C"/>
                </a:solidFill>
                <a:latin typeface="Bahnschrift"/>
              </a:rPr>
              <a:t>PAGE 7</a:t>
            </a:r>
          </a:p>
        </p:txBody>
      </p:sp>
      <p:sp>
        <p:nvSpPr>
          <p:cNvPr id="22" name="TextBox 21"/>
          <p:cNvSpPr txBox="1"/>
          <p:nvPr/>
        </p:nvSpPr>
        <p:spPr>
          <a:xfrm>
            <a:off x="6278727" y="4992538"/>
            <a:ext cx="5071719" cy="777240"/>
          </a:xfrm>
          <a:prstGeom prst="rect">
            <a:avLst/>
          </a:prstGeom>
          <a:noFill/>
        </p:spPr>
        <p:txBody>
          <a:bodyPr wrap="square" anchor="t" lIns="0" rIns="0" tIns="0" bIns="0">
            <a:spAutoFit/>
          </a:bodyPr>
          <a:lstStyle/>
          <a:p>
            <a:pPr algn="l">
              <a:lnSpc>
                <a:spcPct val="106000"/>
              </a:lnSpc>
              <a:spcBef>
                <a:spcPts val="0"/>
              </a:spcBef>
              <a:spcAft>
                <a:spcPts val="0"/>
              </a:spcAft>
            </a:pPr>
            <a:r>
              <a:rPr sz="1000" b="0" i="0">
                <a:solidFill>
                  <a:srgbClr val="16233B"/>
                </a:solidFill>
                <a:latin typeface="Georgia"/>
              </a:rPr>
              <a:t>Snapshot. Composition, and an explicit statement of what is in scope versus out.</a:t>
            </a:r>
          </a:p>
        </p:txBody>
      </p:sp>
      <p:sp>
        <p:nvSpPr>
          <p:cNvPr id="23" name="TextBox 22"/>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Rendered from the house demo book on an aggressive mandate. Synthetic holdings, real engine, real template.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04 · THE DELIVERABLE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Sample pages</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How it looks in the client's hands  (3 of 7)</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20</a:t>
            </a:r>
          </a:p>
        </p:txBody>
      </p:sp>
      <p:sp>
        <p:nvSpPr>
          <p:cNvPr id="15" name="Rectangle 14"/>
          <p:cNvSpPr/>
          <p:nvPr/>
        </p:nvSpPr>
        <p:spPr>
          <a:xfrm>
            <a:off x="841248" y="1773936"/>
            <a:ext cx="5071719" cy="2889418"/>
          </a:xfrm>
          <a:prstGeom prst="rect">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nap_04_p009.png"/>
          <p:cNvPicPr>
            <a:picLocks noChangeAspect="1"/>
          </p:cNvPicPr>
          <p:nvPr/>
        </p:nvPicPr>
        <p:blipFill>
          <a:blip r:embed="rId3"/>
          <a:stretch>
            <a:fillRect/>
          </a:stretch>
        </p:blipFill>
        <p:spPr>
          <a:xfrm>
            <a:off x="859536" y="1802511"/>
            <a:ext cx="5035143" cy="2832268"/>
          </a:xfrm>
          <a:prstGeom prst="rect">
            <a:avLst/>
          </a:prstGeom>
        </p:spPr>
      </p:pic>
      <p:sp>
        <p:nvSpPr>
          <p:cNvPr id="17" name="TextBox 16"/>
          <p:cNvSpPr txBox="1"/>
          <p:nvPr/>
        </p:nvSpPr>
        <p:spPr>
          <a:xfrm>
            <a:off x="841248" y="4773082"/>
            <a:ext cx="5071719" cy="219456"/>
          </a:xfrm>
          <a:prstGeom prst="rect">
            <a:avLst/>
          </a:prstGeom>
          <a:noFill/>
        </p:spPr>
        <p:txBody>
          <a:bodyPr wrap="square" anchor="t" lIns="0" rIns="0" tIns="0" bIns="0">
            <a:spAutoFit/>
          </a:bodyPr>
          <a:lstStyle/>
          <a:p>
            <a:pPr algn="l">
              <a:spcBef>
                <a:spcPts val="0"/>
              </a:spcBef>
              <a:spcAft>
                <a:spcPts val="0"/>
              </a:spcAft>
            </a:pPr>
            <a:r>
              <a:rPr sz="800" b="1" i="0" spc="200">
                <a:solidFill>
                  <a:srgbClr val="F2A93C"/>
                </a:solidFill>
                <a:latin typeface="Bahnschrift"/>
              </a:rPr>
              <a:t>PAGE 9</a:t>
            </a:r>
          </a:p>
        </p:txBody>
      </p:sp>
      <p:sp>
        <p:nvSpPr>
          <p:cNvPr id="18" name="TextBox 17"/>
          <p:cNvSpPr txBox="1"/>
          <p:nvPr/>
        </p:nvSpPr>
        <p:spPr>
          <a:xfrm>
            <a:off x="841248" y="4992538"/>
            <a:ext cx="5071719" cy="777240"/>
          </a:xfrm>
          <a:prstGeom prst="rect">
            <a:avLst/>
          </a:prstGeom>
          <a:noFill/>
        </p:spPr>
        <p:txBody>
          <a:bodyPr wrap="square" anchor="t" lIns="0" rIns="0" tIns="0" bIns="0">
            <a:spAutoFit/>
          </a:bodyPr>
          <a:lstStyle/>
          <a:p>
            <a:pPr algn="l">
              <a:lnSpc>
                <a:spcPct val="106000"/>
              </a:lnSpc>
              <a:spcBef>
                <a:spcPts val="0"/>
              </a:spcBef>
              <a:spcAft>
                <a:spcPts val="0"/>
              </a:spcAft>
            </a:pPr>
            <a:r>
              <a:rPr sz="1000" b="0" i="0">
                <a:solidFill>
                  <a:srgbClr val="16233B"/>
                </a:solidFill>
                <a:latin typeface="Georgia"/>
              </a:rPr>
              <a:t>Concentration, measured against this mandate's own cap rather than a generic rule.</a:t>
            </a:r>
          </a:p>
        </p:txBody>
      </p:sp>
      <p:sp>
        <p:nvSpPr>
          <p:cNvPr id="19" name="Rectangle 18"/>
          <p:cNvSpPr/>
          <p:nvPr/>
        </p:nvSpPr>
        <p:spPr>
          <a:xfrm>
            <a:off x="6278727" y="1773936"/>
            <a:ext cx="5071719" cy="2889418"/>
          </a:xfrm>
          <a:prstGeom prst="rect">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nap_05_p010.png"/>
          <p:cNvPicPr>
            <a:picLocks noChangeAspect="1"/>
          </p:cNvPicPr>
          <p:nvPr/>
        </p:nvPicPr>
        <p:blipFill>
          <a:blip r:embed="rId4"/>
          <a:stretch>
            <a:fillRect/>
          </a:stretch>
        </p:blipFill>
        <p:spPr>
          <a:xfrm>
            <a:off x="6297015" y="1802511"/>
            <a:ext cx="5035143" cy="2832268"/>
          </a:xfrm>
          <a:prstGeom prst="rect">
            <a:avLst/>
          </a:prstGeom>
        </p:spPr>
      </p:pic>
      <p:sp>
        <p:nvSpPr>
          <p:cNvPr id="21" name="TextBox 20"/>
          <p:cNvSpPr txBox="1"/>
          <p:nvPr/>
        </p:nvSpPr>
        <p:spPr>
          <a:xfrm>
            <a:off x="6278727" y="4773082"/>
            <a:ext cx="5071719" cy="219456"/>
          </a:xfrm>
          <a:prstGeom prst="rect">
            <a:avLst/>
          </a:prstGeom>
          <a:noFill/>
        </p:spPr>
        <p:txBody>
          <a:bodyPr wrap="square" anchor="t" lIns="0" rIns="0" tIns="0" bIns="0">
            <a:spAutoFit/>
          </a:bodyPr>
          <a:lstStyle/>
          <a:p>
            <a:pPr algn="l">
              <a:spcBef>
                <a:spcPts val="0"/>
              </a:spcBef>
              <a:spcAft>
                <a:spcPts val="0"/>
              </a:spcAft>
            </a:pPr>
            <a:r>
              <a:rPr sz="800" b="1" i="0" spc="200">
                <a:solidFill>
                  <a:srgbClr val="F2A93C"/>
                </a:solidFill>
                <a:latin typeface="Bahnschrift"/>
              </a:rPr>
              <a:t>PAGE 10</a:t>
            </a:r>
          </a:p>
        </p:txBody>
      </p:sp>
      <p:sp>
        <p:nvSpPr>
          <p:cNvPr id="22" name="TextBox 21"/>
          <p:cNvSpPr txBox="1"/>
          <p:nvPr/>
        </p:nvSpPr>
        <p:spPr>
          <a:xfrm>
            <a:off x="6278727" y="4992538"/>
            <a:ext cx="5071719" cy="777240"/>
          </a:xfrm>
          <a:prstGeom prst="rect">
            <a:avLst/>
          </a:prstGeom>
          <a:noFill/>
        </p:spPr>
        <p:txBody>
          <a:bodyPr wrap="square" anchor="t" lIns="0" rIns="0" tIns="0" bIns="0">
            <a:spAutoFit/>
          </a:bodyPr>
          <a:lstStyle/>
          <a:p>
            <a:pPr algn="l">
              <a:lnSpc>
                <a:spcPct val="106000"/>
              </a:lnSpc>
              <a:spcBef>
                <a:spcPts val="0"/>
              </a:spcBef>
              <a:spcAft>
                <a:spcPts val="0"/>
              </a:spcAft>
            </a:pPr>
            <a:r>
              <a:rPr sz="1000" b="0" i="0">
                <a:solidFill>
                  <a:srgbClr val="16233B"/>
                </a:solidFill>
                <a:latin typeface="Georgia"/>
              </a:rPr>
              <a:t>Sector weights, with a standing note that the fund sleeve is not looked through here.</a:t>
            </a:r>
          </a:p>
        </p:txBody>
      </p:sp>
      <p:sp>
        <p:nvSpPr>
          <p:cNvPr id="23" name="TextBox 22"/>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Rendered from the house demo book on an aggressive mandate. Synthetic holdings, real engine, real template.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04 · THE DELIVERABLE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Sample pages</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How it looks in the client's hands  (4 of 7)</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21</a:t>
            </a:r>
          </a:p>
        </p:txBody>
      </p:sp>
      <p:sp>
        <p:nvSpPr>
          <p:cNvPr id="15" name="Rectangle 14"/>
          <p:cNvSpPr/>
          <p:nvPr/>
        </p:nvSpPr>
        <p:spPr>
          <a:xfrm>
            <a:off x="841248" y="1773936"/>
            <a:ext cx="5071719" cy="2889418"/>
          </a:xfrm>
          <a:prstGeom prst="rect">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nap_06_p013.png"/>
          <p:cNvPicPr>
            <a:picLocks noChangeAspect="1"/>
          </p:cNvPicPr>
          <p:nvPr/>
        </p:nvPicPr>
        <p:blipFill>
          <a:blip r:embed="rId3"/>
          <a:stretch>
            <a:fillRect/>
          </a:stretch>
        </p:blipFill>
        <p:spPr>
          <a:xfrm>
            <a:off x="859536" y="1802511"/>
            <a:ext cx="5035143" cy="2832268"/>
          </a:xfrm>
          <a:prstGeom prst="rect">
            <a:avLst/>
          </a:prstGeom>
        </p:spPr>
      </p:pic>
      <p:sp>
        <p:nvSpPr>
          <p:cNvPr id="17" name="TextBox 16"/>
          <p:cNvSpPr txBox="1"/>
          <p:nvPr/>
        </p:nvSpPr>
        <p:spPr>
          <a:xfrm>
            <a:off x="841248" y="4773082"/>
            <a:ext cx="5071719" cy="219456"/>
          </a:xfrm>
          <a:prstGeom prst="rect">
            <a:avLst/>
          </a:prstGeom>
          <a:noFill/>
        </p:spPr>
        <p:txBody>
          <a:bodyPr wrap="square" anchor="t" lIns="0" rIns="0" tIns="0" bIns="0">
            <a:spAutoFit/>
          </a:bodyPr>
          <a:lstStyle/>
          <a:p>
            <a:pPr algn="l">
              <a:spcBef>
                <a:spcPts val="0"/>
              </a:spcBef>
              <a:spcAft>
                <a:spcPts val="0"/>
              </a:spcAft>
            </a:pPr>
            <a:r>
              <a:rPr sz="800" b="1" i="0" spc="200">
                <a:solidFill>
                  <a:srgbClr val="F2A93C"/>
                </a:solidFill>
                <a:latin typeface="Bahnschrift"/>
              </a:rPr>
              <a:t>PAGE 13</a:t>
            </a:r>
          </a:p>
        </p:txBody>
      </p:sp>
      <p:sp>
        <p:nvSpPr>
          <p:cNvPr id="18" name="TextBox 17"/>
          <p:cNvSpPr txBox="1"/>
          <p:nvPr/>
        </p:nvSpPr>
        <p:spPr>
          <a:xfrm>
            <a:off x="841248" y="4992538"/>
            <a:ext cx="5071719" cy="777240"/>
          </a:xfrm>
          <a:prstGeom prst="rect">
            <a:avLst/>
          </a:prstGeom>
          <a:noFill/>
        </p:spPr>
        <p:txBody>
          <a:bodyPr wrap="square" anchor="t" lIns="0" rIns="0" tIns="0" bIns="0">
            <a:spAutoFit/>
          </a:bodyPr>
          <a:lstStyle/>
          <a:p>
            <a:pPr algn="l">
              <a:lnSpc>
                <a:spcPct val="106000"/>
              </a:lnSpc>
              <a:spcBef>
                <a:spcPts val="0"/>
              </a:spcBef>
              <a:spcAft>
                <a:spcPts val="0"/>
              </a:spcAft>
            </a:pPr>
            <a:r>
              <a:rPr sz="1000" b="0" i="0">
                <a:solidFill>
                  <a:srgbClr val="16233B"/>
                </a:solidFill>
                <a:latin typeface="Georgia"/>
              </a:rPr>
              <a:t>The scoring method, explained to the client in plain language.</a:t>
            </a:r>
          </a:p>
        </p:txBody>
      </p:sp>
      <p:sp>
        <p:nvSpPr>
          <p:cNvPr id="19" name="Rectangle 18"/>
          <p:cNvSpPr/>
          <p:nvPr/>
        </p:nvSpPr>
        <p:spPr>
          <a:xfrm>
            <a:off x="6278727" y="1773936"/>
            <a:ext cx="5071719" cy="2889418"/>
          </a:xfrm>
          <a:prstGeom prst="rect">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nap_07_p014.png"/>
          <p:cNvPicPr>
            <a:picLocks noChangeAspect="1"/>
          </p:cNvPicPr>
          <p:nvPr/>
        </p:nvPicPr>
        <p:blipFill>
          <a:blip r:embed="rId4"/>
          <a:stretch>
            <a:fillRect/>
          </a:stretch>
        </p:blipFill>
        <p:spPr>
          <a:xfrm>
            <a:off x="6297015" y="1802511"/>
            <a:ext cx="5035143" cy="2832268"/>
          </a:xfrm>
          <a:prstGeom prst="rect">
            <a:avLst/>
          </a:prstGeom>
        </p:spPr>
      </p:pic>
      <p:sp>
        <p:nvSpPr>
          <p:cNvPr id="21" name="TextBox 20"/>
          <p:cNvSpPr txBox="1"/>
          <p:nvPr/>
        </p:nvSpPr>
        <p:spPr>
          <a:xfrm>
            <a:off x="6278727" y="4773082"/>
            <a:ext cx="5071719" cy="219456"/>
          </a:xfrm>
          <a:prstGeom prst="rect">
            <a:avLst/>
          </a:prstGeom>
          <a:noFill/>
        </p:spPr>
        <p:txBody>
          <a:bodyPr wrap="square" anchor="t" lIns="0" rIns="0" tIns="0" bIns="0">
            <a:spAutoFit/>
          </a:bodyPr>
          <a:lstStyle/>
          <a:p>
            <a:pPr algn="l">
              <a:spcBef>
                <a:spcPts val="0"/>
              </a:spcBef>
              <a:spcAft>
                <a:spcPts val="0"/>
              </a:spcAft>
            </a:pPr>
            <a:r>
              <a:rPr sz="800" b="1" i="0" spc="200">
                <a:solidFill>
                  <a:srgbClr val="F2A93C"/>
                </a:solidFill>
                <a:latin typeface="Bahnschrift"/>
              </a:rPr>
              <a:t>PAGE 14</a:t>
            </a:r>
          </a:p>
        </p:txBody>
      </p:sp>
      <p:sp>
        <p:nvSpPr>
          <p:cNvPr id="22" name="TextBox 21"/>
          <p:cNvSpPr txBox="1"/>
          <p:nvPr/>
        </p:nvSpPr>
        <p:spPr>
          <a:xfrm>
            <a:off x="6278727" y="4992538"/>
            <a:ext cx="5071719" cy="777240"/>
          </a:xfrm>
          <a:prstGeom prst="rect">
            <a:avLst/>
          </a:prstGeom>
          <a:noFill/>
        </p:spPr>
        <p:txBody>
          <a:bodyPr wrap="square" anchor="t" lIns="0" rIns="0" tIns="0" bIns="0">
            <a:spAutoFit/>
          </a:bodyPr>
          <a:lstStyle/>
          <a:p>
            <a:pPr algn="l">
              <a:lnSpc>
                <a:spcPct val="106000"/>
              </a:lnSpc>
              <a:spcBef>
                <a:spcPts val="0"/>
              </a:spcBef>
              <a:spcAft>
                <a:spcPts val="0"/>
              </a:spcAft>
            </a:pPr>
            <a:r>
              <a:rPr sz="1000" b="0" i="0">
                <a:solidFill>
                  <a:srgbClr val="16233B"/>
                </a:solidFill>
                <a:latin typeface="Georgia"/>
              </a:rPr>
              <a:t>Every holding with its score, its call, and the desk's one-line read.</a:t>
            </a:r>
          </a:p>
        </p:txBody>
      </p:sp>
      <p:sp>
        <p:nvSpPr>
          <p:cNvPr id="23" name="TextBox 22"/>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Rendered from the house demo book on an aggressive mandate. Synthetic holdings, real engine, real template.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04 · THE DELIVERABLE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Sample pages</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How it looks in the client's hands  (5 of 7)</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22</a:t>
            </a:r>
          </a:p>
        </p:txBody>
      </p:sp>
      <p:sp>
        <p:nvSpPr>
          <p:cNvPr id="15" name="Rectangle 14"/>
          <p:cNvSpPr/>
          <p:nvPr/>
        </p:nvSpPr>
        <p:spPr>
          <a:xfrm>
            <a:off x="841248" y="1773936"/>
            <a:ext cx="5071719" cy="2889418"/>
          </a:xfrm>
          <a:prstGeom prst="rect">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nap_08_p016.png"/>
          <p:cNvPicPr>
            <a:picLocks noChangeAspect="1"/>
          </p:cNvPicPr>
          <p:nvPr/>
        </p:nvPicPr>
        <p:blipFill>
          <a:blip r:embed="rId3"/>
          <a:stretch>
            <a:fillRect/>
          </a:stretch>
        </p:blipFill>
        <p:spPr>
          <a:xfrm>
            <a:off x="859536" y="1802511"/>
            <a:ext cx="5035143" cy="2832268"/>
          </a:xfrm>
          <a:prstGeom prst="rect">
            <a:avLst/>
          </a:prstGeom>
        </p:spPr>
      </p:pic>
      <p:sp>
        <p:nvSpPr>
          <p:cNvPr id="17" name="TextBox 16"/>
          <p:cNvSpPr txBox="1"/>
          <p:nvPr/>
        </p:nvSpPr>
        <p:spPr>
          <a:xfrm>
            <a:off x="841248" y="4773082"/>
            <a:ext cx="5071719" cy="219456"/>
          </a:xfrm>
          <a:prstGeom prst="rect">
            <a:avLst/>
          </a:prstGeom>
          <a:noFill/>
        </p:spPr>
        <p:txBody>
          <a:bodyPr wrap="square" anchor="t" lIns="0" rIns="0" tIns="0" bIns="0">
            <a:spAutoFit/>
          </a:bodyPr>
          <a:lstStyle/>
          <a:p>
            <a:pPr algn="l">
              <a:spcBef>
                <a:spcPts val="0"/>
              </a:spcBef>
              <a:spcAft>
                <a:spcPts val="0"/>
              </a:spcAft>
            </a:pPr>
            <a:r>
              <a:rPr sz="800" b="1" i="0" spc="200">
                <a:solidFill>
                  <a:srgbClr val="F2A93C"/>
                </a:solidFill>
                <a:latin typeface="Bahnschrift"/>
              </a:rPr>
              <a:t>PAGE 16</a:t>
            </a:r>
          </a:p>
        </p:txBody>
      </p:sp>
      <p:sp>
        <p:nvSpPr>
          <p:cNvPr id="18" name="TextBox 17"/>
          <p:cNvSpPr txBox="1"/>
          <p:nvPr/>
        </p:nvSpPr>
        <p:spPr>
          <a:xfrm>
            <a:off x="841248" y="4992538"/>
            <a:ext cx="5071719" cy="777240"/>
          </a:xfrm>
          <a:prstGeom prst="rect">
            <a:avLst/>
          </a:prstGeom>
          <a:noFill/>
        </p:spPr>
        <p:txBody>
          <a:bodyPr wrap="square" anchor="t" lIns="0" rIns="0" tIns="0" bIns="0">
            <a:spAutoFit/>
          </a:bodyPr>
          <a:lstStyle/>
          <a:p>
            <a:pPr algn="l">
              <a:lnSpc>
                <a:spcPct val="106000"/>
              </a:lnSpc>
              <a:spcBef>
                <a:spcPts val="0"/>
              </a:spcBef>
              <a:spcAft>
                <a:spcPts val="0"/>
              </a:spcAft>
            </a:pPr>
            <a:r>
              <a:rPr sz="1000" b="0" i="0">
                <a:solidFill>
                  <a:srgbClr val="16233B"/>
                </a:solidFill>
                <a:latin typeface="Georgia"/>
              </a:rPr>
              <a:t>The sell list. Confirmed sells only, each linked to its full rationale page.</a:t>
            </a:r>
          </a:p>
        </p:txBody>
      </p:sp>
      <p:sp>
        <p:nvSpPr>
          <p:cNvPr id="19" name="Rectangle 18"/>
          <p:cNvSpPr/>
          <p:nvPr/>
        </p:nvSpPr>
        <p:spPr>
          <a:xfrm>
            <a:off x="6278727" y="1773936"/>
            <a:ext cx="5071719" cy="2889418"/>
          </a:xfrm>
          <a:prstGeom prst="rect">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nap_09_p020.png"/>
          <p:cNvPicPr>
            <a:picLocks noChangeAspect="1"/>
          </p:cNvPicPr>
          <p:nvPr/>
        </p:nvPicPr>
        <p:blipFill>
          <a:blip r:embed="rId4"/>
          <a:stretch>
            <a:fillRect/>
          </a:stretch>
        </p:blipFill>
        <p:spPr>
          <a:xfrm>
            <a:off x="6297015" y="1802511"/>
            <a:ext cx="5035143" cy="2832268"/>
          </a:xfrm>
          <a:prstGeom prst="rect">
            <a:avLst/>
          </a:prstGeom>
        </p:spPr>
      </p:pic>
      <p:sp>
        <p:nvSpPr>
          <p:cNvPr id="21" name="TextBox 20"/>
          <p:cNvSpPr txBox="1"/>
          <p:nvPr/>
        </p:nvSpPr>
        <p:spPr>
          <a:xfrm>
            <a:off x="6278727" y="4773082"/>
            <a:ext cx="5071719" cy="219456"/>
          </a:xfrm>
          <a:prstGeom prst="rect">
            <a:avLst/>
          </a:prstGeom>
          <a:noFill/>
        </p:spPr>
        <p:txBody>
          <a:bodyPr wrap="square" anchor="t" lIns="0" rIns="0" tIns="0" bIns="0">
            <a:spAutoFit/>
          </a:bodyPr>
          <a:lstStyle/>
          <a:p>
            <a:pPr algn="l">
              <a:spcBef>
                <a:spcPts val="0"/>
              </a:spcBef>
              <a:spcAft>
                <a:spcPts val="0"/>
              </a:spcAft>
            </a:pPr>
            <a:r>
              <a:rPr sz="800" b="1" i="0" spc="200">
                <a:solidFill>
                  <a:srgbClr val="F2A93C"/>
                </a:solidFill>
                <a:latin typeface="Bahnschrift"/>
              </a:rPr>
              <a:t>PAGE 20</a:t>
            </a:r>
          </a:p>
        </p:txBody>
      </p:sp>
      <p:sp>
        <p:nvSpPr>
          <p:cNvPr id="22" name="TextBox 21"/>
          <p:cNvSpPr txBox="1"/>
          <p:nvPr/>
        </p:nvSpPr>
        <p:spPr>
          <a:xfrm>
            <a:off x="6278727" y="4992538"/>
            <a:ext cx="5071719" cy="777240"/>
          </a:xfrm>
          <a:prstGeom prst="rect">
            <a:avLst/>
          </a:prstGeom>
          <a:noFill/>
        </p:spPr>
        <p:txBody>
          <a:bodyPr wrap="square" anchor="t" lIns="0" rIns="0" tIns="0" bIns="0">
            <a:spAutoFit/>
          </a:bodyPr>
          <a:lstStyle/>
          <a:p>
            <a:pPr algn="l">
              <a:lnSpc>
                <a:spcPct val="106000"/>
              </a:lnSpc>
              <a:spcBef>
                <a:spcPts val="0"/>
              </a:spcBef>
              <a:spcAft>
                <a:spcPts val="0"/>
              </a:spcAft>
            </a:pPr>
            <a:r>
              <a:rPr sz="1000" b="0" i="0">
                <a:solidFill>
                  <a:srgbClr val="16233B"/>
                </a:solidFill>
                <a:latin typeface="Georgia"/>
              </a:rPr>
              <a:t>The fund book: a 0-100 quality score and a grade for every scheme.</a:t>
            </a:r>
          </a:p>
        </p:txBody>
      </p:sp>
      <p:sp>
        <p:nvSpPr>
          <p:cNvPr id="23" name="TextBox 22"/>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Rendered from the house demo book on an aggressive mandate. Synthetic holdings, real engine, real template.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04 · THE DELIVERABLE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Sample pages</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How it looks in the client's hands  (6 of 7)</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23</a:t>
            </a:r>
          </a:p>
        </p:txBody>
      </p:sp>
      <p:sp>
        <p:nvSpPr>
          <p:cNvPr id="15" name="Rectangle 14"/>
          <p:cNvSpPr/>
          <p:nvPr/>
        </p:nvSpPr>
        <p:spPr>
          <a:xfrm>
            <a:off x="841248" y="1773936"/>
            <a:ext cx="5071719" cy="2889418"/>
          </a:xfrm>
          <a:prstGeom prst="rect">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nap_10_p027.png"/>
          <p:cNvPicPr>
            <a:picLocks noChangeAspect="1"/>
          </p:cNvPicPr>
          <p:nvPr/>
        </p:nvPicPr>
        <p:blipFill>
          <a:blip r:embed="rId3"/>
          <a:stretch>
            <a:fillRect/>
          </a:stretch>
        </p:blipFill>
        <p:spPr>
          <a:xfrm>
            <a:off x="859536" y="1802511"/>
            <a:ext cx="5035143" cy="2832268"/>
          </a:xfrm>
          <a:prstGeom prst="rect">
            <a:avLst/>
          </a:prstGeom>
        </p:spPr>
      </p:pic>
      <p:sp>
        <p:nvSpPr>
          <p:cNvPr id="17" name="TextBox 16"/>
          <p:cNvSpPr txBox="1"/>
          <p:nvPr/>
        </p:nvSpPr>
        <p:spPr>
          <a:xfrm>
            <a:off x="841248" y="4773082"/>
            <a:ext cx="5071719" cy="219456"/>
          </a:xfrm>
          <a:prstGeom prst="rect">
            <a:avLst/>
          </a:prstGeom>
          <a:noFill/>
        </p:spPr>
        <p:txBody>
          <a:bodyPr wrap="square" anchor="t" lIns="0" rIns="0" tIns="0" bIns="0">
            <a:spAutoFit/>
          </a:bodyPr>
          <a:lstStyle/>
          <a:p>
            <a:pPr algn="l">
              <a:spcBef>
                <a:spcPts val="0"/>
              </a:spcBef>
              <a:spcAft>
                <a:spcPts val="0"/>
              </a:spcAft>
            </a:pPr>
            <a:r>
              <a:rPr sz="800" b="1" i="0" spc="200">
                <a:solidFill>
                  <a:srgbClr val="F2A93C"/>
                </a:solidFill>
                <a:latin typeface="Bahnschrift"/>
              </a:rPr>
              <a:t>PAGE 27</a:t>
            </a:r>
          </a:p>
        </p:txBody>
      </p:sp>
      <p:sp>
        <p:nvSpPr>
          <p:cNvPr id="18" name="TextBox 17"/>
          <p:cNvSpPr txBox="1"/>
          <p:nvPr/>
        </p:nvSpPr>
        <p:spPr>
          <a:xfrm>
            <a:off x="841248" y="4992538"/>
            <a:ext cx="5071719" cy="777240"/>
          </a:xfrm>
          <a:prstGeom prst="rect">
            <a:avLst/>
          </a:prstGeom>
          <a:noFill/>
        </p:spPr>
        <p:txBody>
          <a:bodyPr wrap="square" anchor="t" lIns="0" rIns="0" tIns="0" bIns="0">
            <a:spAutoFit/>
          </a:bodyPr>
          <a:lstStyle/>
          <a:p>
            <a:pPr algn="l">
              <a:lnSpc>
                <a:spcPct val="106000"/>
              </a:lnSpc>
              <a:spcBef>
                <a:spcPts val="0"/>
              </a:spcBef>
              <a:spcAft>
                <a:spcPts val="0"/>
              </a:spcAft>
            </a:pPr>
            <a:r>
              <a:rPr sz="1000" b="0" i="0">
                <a:solidFill>
                  <a:srgbClr val="16233B"/>
                </a:solidFill>
                <a:latin typeface="Georgia"/>
              </a:rPr>
              <a:t>Tax. Fund actions on the left, the direct-equity plan on the right, each scope named.</a:t>
            </a:r>
          </a:p>
        </p:txBody>
      </p:sp>
      <p:sp>
        <p:nvSpPr>
          <p:cNvPr id="19" name="Rectangle 18"/>
          <p:cNvSpPr/>
          <p:nvPr/>
        </p:nvSpPr>
        <p:spPr>
          <a:xfrm>
            <a:off x="6278727" y="1773936"/>
            <a:ext cx="5071719" cy="2889418"/>
          </a:xfrm>
          <a:prstGeom prst="rect">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nap_11_p028.png"/>
          <p:cNvPicPr>
            <a:picLocks noChangeAspect="1"/>
          </p:cNvPicPr>
          <p:nvPr/>
        </p:nvPicPr>
        <p:blipFill>
          <a:blip r:embed="rId4"/>
          <a:stretch>
            <a:fillRect/>
          </a:stretch>
        </p:blipFill>
        <p:spPr>
          <a:xfrm>
            <a:off x="6297015" y="1802511"/>
            <a:ext cx="5035143" cy="2832268"/>
          </a:xfrm>
          <a:prstGeom prst="rect">
            <a:avLst/>
          </a:prstGeom>
        </p:spPr>
      </p:pic>
      <p:sp>
        <p:nvSpPr>
          <p:cNvPr id="21" name="TextBox 20"/>
          <p:cNvSpPr txBox="1"/>
          <p:nvPr/>
        </p:nvSpPr>
        <p:spPr>
          <a:xfrm>
            <a:off x="6278727" y="4773082"/>
            <a:ext cx="5071719" cy="219456"/>
          </a:xfrm>
          <a:prstGeom prst="rect">
            <a:avLst/>
          </a:prstGeom>
          <a:noFill/>
        </p:spPr>
        <p:txBody>
          <a:bodyPr wrap="square" anchor="t" lIns="0" rIns="0" tIns="0" bIns="0">
            <a:spAutoFit/>
          </a:bodyPr>
          <a:lstStyle/>
          <a:p>
            <a:pPr algn="l">
              <a:spcBef>
                <a:spcPts val="0"/>
              </a:spcBef>
              <a:spcAft>
                <a:spcPts val="0"/>
              </a:spcAft>
            </a:pPr>
            <a:r>
              <a:rPr sz="800" b="1" i="0" spc="200">
                <a:solidFill>
                  <a:srgbClr val="F2A93C"/>
                </a:solidFill>
                <a:latin typeface="Bahnschrift"/>
              </a:rPr>
              <a:t>PAGE 28</a:t>
            </a:r>
          </a:p>
        </p:txBody>
      </p:sp>
      <p:sp>
        <p:nvSpPr>
          <p:cNvPr id="22" name="TextBox 21"/>
          <p:cNvSpPr txBox="1"/>
          <p:nvPr/>
        </p:nvSpPr>
        <p:spPr>
          <a:xfrm>
            <a:off x="6278727" y="4992538"/>
            <a:ext cx="5071719" cy="777240"/>
          </a:xfrm>
          <a:prstGeom prst="rect">
            <a:avLst/>
          </a:prstGeom>
          <a:noFill/>
        </p:spPr>
        <p:txBody>
          <a:bodyPr wrap="square" anchor="t" lIns="0" rIns="0" tIns="0" bIns="0">
            <a:spAutoFit/>
          </a:bodyPr>
          <a:lstStyle/>
          <a:p>
            <a:pPr algn="l">
              <a:lnSpc>
                <a:spcPct val="106000"/>
              </a:lnSpc>
              <a:spcBef>
                <a:spcPts val="0"/>
              </a:spcBef>
              <a:spcAft>
                <a:spcPts val="0"/>
              </a:spcAft>
            </a:pPr>
            <a:r>
              <a:rPr sz="1000" b="0" i="0">
                <a:solidFill>
                  <a:srgbClr val="16233B"/>
                </a:solidFill>
                <a:latin typeface="Georgia"/>
              </a:rPr>
              <a:t>The action plan, in order, with amounts and an authorisation line.</a:t>
            </a:r>
          </a:p>
        </p:txBody>
      </p:sp>
      <p:sp>
        <p:nvSpPr>
          <p:cNvPr id="23" name="TextBox 22"/>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Rendered from the house demo book on an aggressive mandate. Synthetic holdings, real engine, real template.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04 · THE DELIVERABLE</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Sample pages</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How it looks in the client's hands  (7 of 7)</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24</a:t>
            </a:r>
          </a:p>
        </p:txBody>
      </p:sp>
      <p:sp>
        <p:nvSpPr>
          <p:cNvPr id="15" name="Rectangle 14"/>
          <p:cNvSpPr/>
          <p:nvPr/>
        </p:nvSpPr>
        <p:spPr>
          <a:xfrm>
            <a:off x="841248" y="1773936"/>
            <a:ext cx="5071719" cy="2889418"/>
          </a:xfrm>
          <a:prstGeom prst="rect">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nap_12_p039.png"/>
          <p:cNvPicPr>
            <a:picLocks noChangeAspect="1"/>
          </p:cNvPicPr>
          <p:nvPr/>
        </p:nvPicPr>
        <p:blipFill>
          <a:blip r:embed="rId3"/>
          <a:stretch>
            <a:fillRect/>
          </a:stretch>
        </p:blipFill>
        <p:spPr>
          <a:xfrm>
            <a:off x="859536" y="1802511"/>
            <a:ext cx="5035143" cy="2832268"/>
          </a:xfrm>
          <a:prstGeom prst="rect">
            <a:avLst/>
          </a:prstGeom>
        </p:spPr>
      </p:pic>
      <p:sp>
        <p:nvSpPr>
          <p:cNvPr id="17" name="TextBox 16"/>
          <p:cNvSpPr txBox="1"/>
          <p:nvPr/>
        </p:nvSpPr>
        <p:spPr>
          <a:xfrm>
            <a:off x="841248" y="4773082"/>
            <a:ext cx="5071719" cy="219456"/>
          </a:xfrm>
          <a:prstGeom prst="rect">
            <a:avLst/>
          </a:prstGeom>
          <a:noFill/>
        </p:spPr>
        <p:txBody>
          <a:bodyPr wrap="square" anchor="t" lIns="0" rIns="0" tIns="0" bIns="0">
            <a:spAutoFit/>
          </a:bodyPr>
          <a:lstStyle/>
          <a:p>
            <a:pPr algn="l">
              <a:spcBef>
                <a:spcPts val="0"/>
              </a:spcBef>
              <a:spcAft>
                <a:spcPts val="0"/>
              </a:spcAft>
            </a:pPr>
            <a:r>
              <a:rPr sz="800" b="1" i="0" spc="200">
                <a:solidFill>
                  <a:srgbClr val="F2A93C"/>
                </a:solidFill>
                <a:latin typeface="Bahnschrift"/>
              </a:rPr>
              <a:t>PAGE 39</a:t>
            </a:r>
          </a:p>
        </p:txBody>
      </p:sp>
      <p:sp>
        <p:nvSpPr>
          <p:cNvPr id="18" name="TextBox 17"/>
          <p:cNvSpPr txBox="1"/>
          <p:nvPr/>
        </p:nvSpPr>
        <p:spPr>
          <a:xfrm>
            <a:off x="841248" y="4992538"/>
            <a:ext cx="5071719" cy="777240"/>
          </a:xfrm>
          <a:prstGeom prst="rect">
            <a:avLst/>
          </a:prstGeom>
          <a:noFill/>
        </p:spPr>
        <p:txBody>
          <a:bodyPr wrap="square" anchor="t" lIns="0" rIns="0" tIns="0" bIns="0">
            <a:spAutoFit/>
          </a:bodyPr>
          <a:lstStyle/>
          <a:p>
            <a:pPr algn="l">
              <a:lnSpc>
                <a:spcPct val="106000"/>
              </a:lnSpc>
              <a:spcBef>
                <a:spcPts val="0"/>
              </a:spcBef>
              <a:spcAft>
                <a:spcPts val="0"/>
              </a:spcAft>
            </a:pPr>
            <a:r>
              <a:rPr sz="1000" b="0" i="0">
                <a:solidFill>
                  <a:srgbClr val="16233B"/>
                </a:solidFill>
                <a:latin typeface="Georgia"/>
              </a:rPr>
              <a:t>One card per sell: the case, the bull we rejected, the reverse-DCF, and the exit test.</a:t>
            </a:r>
          </a:p>
        </p:txBody>
      </p:sp>
      <p:sp>
        <p:nvSpPr>
          <p:cNvPr id="19" name="Rectangle 18"/>
          <p:cNvSpPr/>
          <p:nvPr/>
        </p:nvSpPr>
        <p:spPr>
          <a:xfrm>
            <a:off x="6278727" y="1773936"/>
            <a:ext cx="5071719" cy="2889418"/>
          </a:xfrm>
          <a:prstGeom prst="rect">
            <a:avLst/>
          </a:prstGeom>
          <a:solidFill>
            <a:srgbClr val="F5F6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nap_13_p049.png"/>
          <p:cNvPicPr>
            <a:picLocks noChangeAspect="1"/>
          </p:cNvPicPr>
          <p:nvPr/>
        </p:nvPicPr>
        <p:blipFill>
          <a:blip r:embed="rId4"/>
          <a:stretch>
            <a:fillRect/>
          </a:stretch>
        </p:blipFill>
        <p:spPr>
          <a:xfrm>
            <a:off x="6297015" y="1802511"/>
            <a:ext cx="5035143" cy="2832268"/>
          </a:xfrm>
          <a:prstGeom prst="rect">
            <a:avLst/>
          </a:prstGeom>
        </p:spPr>
      </p:pic>
      <p:sp>
        <p:nvSpPr>
          <p:cNvPr id="21" name="TextBox 20"/>
          <p:cNvSpPr txBox="1"/>
          <p:nvPr/>
        </p:nvSpPr>
        <p:spPr>
          <a:xfrm>
            <a:off x="6278727" y="4773082"/>
            <a:ext cx="5071719" cy="219456"/>
          </a:xfrm>
          <a:prstGeom prst="rect">
            <a:avLst/>
          </a:prstGeom>
          <a:noFill/>
        </p:spPr>
        <p:txBody>
          <a:bodyPr wrap="square" anchor="t" lIns="0" rIns="0" tIns="0" bIns="0">
            <a:spAutoFit/>
          </a:bodyPr>
          <a:lstStyle/>
          <a:p>
            <a:pPr algn="l">
              <a:spcBef>
                <a:spcPts val="0"/>
              </a:spcBef>
              <a:spcAft>
                <a:spcPts val="0"/>
              </a:spcAft>
            </a:pPr>
            <a:r>
              <a:rPr sz="800" b="1" i="0" spc="200">
                <a:solidFill>
                  <a:srgbClr val="F2A93C"/>
                </a:solidFill>
                <a:latin typeface="Bahnschrift"/>
              </a:rPr>
              <a:t>PAGE 49</a:t>
            </a:r>
          </a:p>
        </p:txBody>
      </p:sp>
      <p:sp>
        <p:nvSpPr>
          <p:cNvPr id="22" name="TextBox 21"/>
          <p:cNvSpPr txBox="1"/>
          <p:nvPr/>
        </p:nvSpPr>
        <p:spPr>
          <a:xfrm>
            <a:off x="6278727" y="4992538"/>
            <a:ext cx="5071719" cy="777240"/>
          </a:xfrm>
          <a:prstGeom prst="rect">
            <a:avLst/>
          </a:prstGeom>
          <a:noFill/>
        </p:spPr>
        <p:txBody>
          <a:bodyPr wrap="square" anchor="t" lIns="0" rIns="0" tIns="0" bIns="0">
            <a:spAutoFit/>
          </a:bodyPr>
          <a:lstStyle/>
          <a:p>
            <a:pPr algn="l">
              <a:lnSpc>
                <a:spcPct val="106000"/>
              </a:lnSpc>
              <a:spcBef>
                <a:spcPts val="0"/>
              </a:spcBef>
              <a:spcAft>
                <a:spcPts val="0"/>
              </a:spcAft>
            </a:pPr>
            <a:r>
              <a:rPr sz="1000" b="0" i="0">
                <a:solidFill>
                  <a:srgbClr val="16233B"/>
                </a:solidFill>
                <a:latin typeface="Georgia"/>
              </a:rPr>
              <a:t>One scorecard per fund action, showing the metric battery behind the call.</a:t>
            </a:r>
          </a:p>
        </p:txBody>
      </p:sp>
      <p:sp>
        <p:nvSpPr>
          <p:cNvPr id="23" name="TextBox 22"/>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Rendered from the house demo book on an aggressive mandate. Synthetic holdings, real engine, real template.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9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iv_art_5.png"/>
          <p:cNvPicPr>
            <a:picLocks noChangeAspect="1"/>
          </p:cNvPicPr>
          <p:nvPr/>
        </p:nvPicPr>
        <p:blipFill>
          <a:blip r:embed="rId2"/>
          <a:stretch>
            <a:fillRect/>
          </a:stretch>
        </p:blipFill>
        <p:spPr>
          <a:xfrm>
            <a:off x="6339535" y="0"/>
            <a:ext cx="5852160" cy="6858000"/>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8C95DE"/>
                </a:solidFill>
                <a:latin typeface="Bahnschrift"/>
              </a:rPr>
              <a:t>Private &amp; Confidential</a:t>
            </a:r>
          </a:p>
        </p:txBody>
      </p:sp>
      <p:sp>
        <p:nvSpPr>
          <p:cNvPr id="5" name="TextBox 4"/>
          <p:cNvSpPr txBox="1"/>
          <p:nvPr/>
        </p:nvSpPr>
        <p:spPr>
          <a:xfrm>
            <a:off x="6766560" y="868680"/>
            <a:ext cx="4583887" cy="2377440"/>
          </a:xfrm>
          <a:prstGeom prst="rect">
            <a:avLst/>
          </a:prstGeom>
          <a:noFill/>
        </p:spPr>
        <p:txBody>
          <a:bodyPr wrap="square" anchor="t" lIns="0" rIns="0" tIns="0" bIns="0">
            <a:spAutoFit/>
          </a:bodyPr>
          <a:lstStyle/>
          <a:p>
            <a:pPr algn="r">
              <a:spcBef>
                <a:spcPts val="0"/>
              </a:spcBef>
              <a:spcAft>
                <a:spcPts val="0"/>
              </a:spcAft>
            </a:pPr>
            <a:r>
              <a:rPr sz="17000" b="1" i="0">
                <a:solidFill>
                  <a:srgbClr val="242F8E"/>
                </a:solidFill>
                <a:latin typeface="Georgia"/>
              </a:rPr>
              <a:t>05</a:t>
            </a:r>
          </a:p>
        </p:txBody>
      </p:sp>
      <p:sp>
        <p:nvSpPr>
          <p:cNvPr id="6" name="TextBox 5"/>
          <p:cNvSpPr txBox="1"/>
          <p:nvPr/>
        </p:nvSpPr>
        <p:spPr>
          <a:xfrm>
            <a:off x="841248" y="2359152"/>
            <a:ext cx="5943600" cy="274320"/>
          </a:xfrm>
          <a:prstGeom prst="rect">
            <a:avLst/>
          </a:prstGeom>
          <a:noFill/>
        </p:spPr>
        <p:txBody>
          <a:bodyPr wrap="square" anchor="t" lIns="0" rIns="0" tIns="0" bIns="0">
            <a:spAutoFit/>
          </a:bodyPr>
          <a:lstStyle/>
          <a:p>
            <a:pPr algn="l">
              <a:spcBef>
                <a:spcPts val="0"/>
              </a:spcBef>
              <a:spcAft>
                <a:spcPts val="0"/>
              </a:spcAft>
            </a:pPr>
            <a:r>
              <a:rPr sz="1000" b="1" i="0" spc="250">
                <a:solidFill>
                  <a:srgbClr val="F2A93C"/>
                </a:solidFill>
                <a:latin typeface="Bahnschrift"/>
              </a:rPr>
              <a:t>SECTION 05</a:t>
            </a:r>
          </a:p>
        </p:txBody>
      </p:sp>
      <p:sp>
        <p:nvSpPr>
          <p:cNvPr id="7" name="TextBox 6"/>
          <p:cNvSpPr txBox="1"/>
          <p:nvPr/>
        </p:nvSpPr>
        <p:spPr>
          <a:xfrm>
            <a:off x="841248" y="2706624"/>
            <a:ext cx="7863840" cy="685800"/>
          </a:xfrm>
          <a:prstGeom prst="rect">
            <a:avLst/>
          </a:prstGeom>
          <a:noFill/>
        </p:spPr>
        <p:txBody>
          <a:bodyPr wrap="square" anchor="t" lIns="0" rIns="0" tIns="0" bIns="0">
            <a:spAutoFit/>
          </a:bodyPr>
          <a:lstStyle/>
          <a:p>
            <a:pPr algn="l">
              <a:spcBef>
                <a:spcPts val="0"/>
              </a:spcBef>
              <a:spcAft>
                <a:spcPts val="0"/>
              </a:spcAft>
            </a:pPr>
            <a:r>
              <a:rPr sz="3000" b="1" i="0">
                <a:solidFill>
                  <a:srgbClr val="FFFFFF"/>
                </a:solidFill>
                <a:latin typeface="Georgia"/>
              </a:rPr>
              <a:t>Controls and the ask</a:t>
            </a:r>
          </a:p>
        </p:txBody>
      </p:sp>
      <p:sp>
        <p:nvSpPr>
          <p:cNvPr id="8" name="Rectangle 7"/>
          <p:cNvSpPr/>
          <p:nvPr/>
        </p:nvSpPr>
        <p:spPr>
          <a:xfrm>
            <a:off x="841248" y="3419856"/>
            <a:ext cx="2011680" cy="25603"/>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3639312"/>
            <a:ext cx="7863840" cy="548640"/>
          </a:xfrm>
          <a:prstGeom prst="rect">
            <a:avLst/>
          </a:prstGeom>
          <a:noFill/>
        </p:spPr>
        <p:txBody>
          <a:bodyPr wrap="square" anchor="t" lIns="0" rIns="0" tIns="0" bIns="0">
            <a:spAutoFit/>
          </a:bodyPr>
          <a:lstStyle/>
          <a:p>
            <a:pPr algn="l">
              <a:spcBef>
                <a:spcPts val="0"/>
              </a:spcBef>
              <a:spcAft>
                <a:spcPts val="0"/>
              </a:spcAft>
            </a:pPr>
            <a:r>
              <a:rPr sz="1300" b="0" i="1">
                <a:solidFill>
                  <a:srgbClr val="C9CEF0"/>
                </a:solidFill>
                <a:latin typeface="Georgia"/>
              </a:rPr>
              <a:t>Compliance posture, honest limitations, and the decision</a:t>
            </a:r>
          </a:p>
        </p:txBody>
      </p:sp>
      <p:sp>
        <p:nvSpPr>
          <p:cNvPr id="10" name="TextBox 9"/>
          <p:cNvSpPr txBox="1"/>
          <p:nvPr/>
        </p:nvSpPr>
        <p:spPr>
          <a:xfrm>
            <a:off x="841248" y="498348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Compliance posture</a:t>
            </a:r>
          </a:p>
        </p:txBody>
      </p:sp>
      <p:sp>
        <p:nvSpPr>
          <p:cNvPr id="11" name="TextBox 10"/>
          <p:cNvSpPr txBox="1"/>
          <p:nvPr/>
        </p:nvSpPr>
        <p:spPr>
          <a:xfrm>
            <a:off x="841248" y="525780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What this product does not do yet</a:t>
            </a:r>
          </a:p>
        </p:txBody>
      </p:sp>
      <p:sp>
        <p:nvSpPr>
          <p:cNvPr id="12" name="TextBox 11"/>
          <p:cNvSpPr txBox="1"/>
          <p:nvPr/>
        </p:nvSpPr>
        <p:spPr>
          <a:xfrm>
            <a:off x="841248" y="5532120"/>
            <a:ext cx="7315200" cy="219456"/>
          </a:xfrm>
          <a:prstGeom prst="rect">
            <a:avLst/>
          </a:prstGeom>
          <a:noFill/>
        </p:spPr>
        <p:txBody>
          <a:bodyPr wrap="square" anchor="t" lIns="0" rIns="0" tIns="0" bIns="0">
            <a:spAutoFit/>
          </a:bodyPr>
          <a:lstStyle/>
          <a:p>
            <a:pPr algn="l">
              <a:spcBef>
                <a:spcPts val="0"/>
              </a:spcBef>
              <a:spcAft>
                <a:spcPts val="0"/>
              </a:spcAft>
            </a:pPr>
            <a:r>
              <a:rPr sz="950" b="0" i="0" spc="40">
                <a:solidFill>
                  <a:srgbClr val="C9CEF0"/>
                </a:solidFill>
                <a:latin typeface="Bahnschrift"/>
              </a:rPr>
              <a:t>The ask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CONTROLS AND THE ASK</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Compliance posture</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Built for a non-discretionary mandate, and constrained accordingly</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26</a:t>
            </a:r>
          </a:p>
        </p:txBody>
      </p:sp>
      <p:sp>
        <p:nvSpPr>
          <p:cNvPr id="15" name="TextBox 14"/>
          <p:cNvSpPr txBox="1"/>
          <p:nvPr/>
        </p:nvSpPr>
        <p:spPr>
          <a:xfrm>
            <a:off x="914400" y="1755648"/>
            <a:ext cx="3006455"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CONTROL</a:t>
            </a:r>
          </a:p>
        </p:txBody>
      </p:sp>
      <p:sp>
        <p:nvSpPr>
          <p:cNvPr id="16" name="TextBox 15"/>
          <p:cNvSpPr txBox="1"/>
          <p:nvPr/>
        </p:nvSpPr>
        <p:spPr>
          <a:xfrm>
            <a:off x="4067159" y="1755648"/>
            <a:ext cx="7210135" cy="219456"/>
          </a:xfrm>
          <a:prstGeom prst="rect">
            <a:avLst/>
          </a:prstGeom>
          <a:noFill/>
        </p:spPr>
        <p:txBody>
          <a:bodyPr wrap="square" anchor="ctr" lIns="0" rIns="0" tIns="0" bIns="0">
            <a:spAutoFit/>
          </a:bodyPr>
          <a:lstStyle/>
          <a:p>
            <a:pPr algn="l">
              <a:spcBef>
                <a:spcPts val="0"/>
              </a:spcBef>
              <a:spcAft>
                <a:spcPts val="0"/>
              </a:spcAft>
            </a:pPr>
            <a:r>
              <a:rPr sz="800" b="1" i="0" spc="200">
                <a:solidFill>
                  <a:srgbClr val="6B7280"/>
                </a:solidFill>
                <a:latin typeface="Bahnschrift"/>
              </a:rPr>
              <a:t>HOW IT IS ENFORCED</a:t>
            </a:r>
          </a:p>
        </p:txBody>
      </p:sp>
      <p:sp>
        <p:nvSpPr>
          <p:cNvPr id="17" name="Rectangle 16"/>
          <p:cNvSpPr/>
          <p:nvPr/>
        </p:nvSpPr>
        <p:spPr>
          <a:xfrm>
            <a:off x="841248" y="2011680"/>
            <a:ext cx="10509199" cy="137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2057400"/>
            <a:ext cx="3006455" cy="475488"/>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No buy recommendations</a:t>
            </a:r>
          </a:p>
        </p:txBody>
      </p:sp>
      <p:sp>
        <p:nvSpPr>
          <p:cNvPr id="19" name="TextBox 18"/>
          <p:cNvSpPr txBox="1"/>
          <p:nvPr/>
        </p:nvSpPr>
        <p:spPr>
          <a:xfrm>
            <a:off x="4067159" y="2057400"/>
            <a:ext cx="7210135" cy="47548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The vocabulary is Sell, Trim or Hold. This is a review of holdings the client already owns, not a solicitation. The word is blocked by the client-copy scan.</a:t>
            </a:r>
          </a:p>
        </p:txBody>
      </p:sp>
      <p:sp>
        <p:nvSpPr>
          <p:cNvPr id="20" name="Rectangle 19"/>
          <p:cNvSpPr/>
          <p:nvPr/>
        </p:nvSpPr>
        <p:spPr>
          <a:xfrm>
            <a:off x="841248" y="2514600"/>
            <a:ext cx="10509199" cy="475488"/>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2532888"/>
            <a:ext cx="3006455" cy="475488"/>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No target prices</a:t>
            </a:r>
          </a:p>
        </p:txBody>
      </p:sp>
      <p:sp>
        <p:nvSpPr>
          <p:cNvPr id="22" name="TextBox 21"/>
          <p:cNvSpPr txBox="1"/>
          <p:nvPr/>
        </p:nvSpPr>
        <p:spPr>
          <a:xfrm>
            <a:off x="4067159" y="2532888"/>
            <a:ext cx="7210135" cy="47548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No page carries a price objective or an implied return promise. Valuation is expressed as a judgment on what the multiple already assumes.</a:t>
            </a:r>
          </a:p>
        </p:txBody>
      </p:sp>
      <p:sp>
        <p:nvSpPr>
          <p:cNvPr id="23" name="TextBox 22"/>
          <p:cNvSpPr txBox="1"/>
          <p:nvPr/>
        </p:nvSpPr>
        <p:spPr>
          <a:xfrm>
            <a:off x="914400" y="3008376"/>
            <a:ext cx="3006455" cy="475488"/>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Nothing executes on its own</a:t>
            </a:r>
          </a:p>
        </p:txBody>
      </p:sp>
      <p:sp>
        <p:nvSpPr>
          <p:cNvPr id="24" name="TextBox 23"/>
          <p:cNvSpPr txBox="1"/>
          <p:nvPr/>
        </p:nvSpPr>
        <p:spPr>
          <a:xfrm>
            <a:off x="4067159" y="3008376"/>
            <a:ext cx="7210135" cy="47548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The mandate is non-discretionary. Every deck states that nothing is executed until the client authorises it, and carries a signature line.</a:t>
            </a:r>
          </a:p>
        </p:txBody>
      </p:sp>
      <p:sp>
        <p:nvSpPr>
          <p:cNvPr id="25" name="Rectangle 24"/>
          <p:cNvSpPr/>
          <p:nvPr/>
        </p:nvSpPr>
        <p:spPr>
          <a:xfrm>
            <a:off x="841248" y="3465576"/>
            <a:ext cx="10509199" cy="475488"/>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3483864"/>
            <a:ext cx="3006455" cy="475488"/>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Tax is flagged as an estimate</a:t>
            </a:r>
          </a:p>
        </p:txBody>
      </p:sp>
      <p:sp>
        <p:nvSpPr>
          <p:cNvPr id="27" name="TextBox 26"/>
          <p:cNvSpPr txBox="1"/>
          <p:nvPr/>
        </p:nvSpPr>
        <p:spPr>
          <a:xfrm>
            <a:off x="4067159" y="3483864"/>
            <a:ext cx="7210135" cy="47548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Tax characterisations are labelled indicative, with the client's own adviser named as the authority before dealing.</a:t>
            </a:r>
          </a:p>
        </p:txBody>
      </p:sp>
      <p:sp>
        <p:nvSpPr>
          <p:cNvPr id="28" name="TextBox 27"/>
          <p:cNvSpPr txBox="1"/>
          <p:nvPr/>
        </p:nvSpPr>
        <p:spPr>
          <a:xfrm>
            <a:off x="914400" y="3959352"/>
            <a:ext cx="3006455" cy="475488"/>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Gaps are disclosed, not filled</a:t>
            </a:r>
          </a:p>
        </p:txBody>
      </p:sp>
      <p:sp>
        <p:nvSpPr>
          <p:cNvPr id="29" name="TextBox 28"/>
          <p:cNvSpPr txBox="1"/>
          <p:nvPr/>
        </p:nvSpPr>
        <p:spPr>
          <a:xfrm>
            <a:off x="4067159" y="3959352"/>
            <a:ext cx="7210135" cy="47548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Where cost basis, coverage or fund data is missing, the deck says so on the page rather than substituting an assumption.</a:t>
            </a:r>
          </a:p>
        </p:txBody>
      </p:sp>
      <p:sp>
        <p:nvSpPr>
          <p:cNvPr id="30" name="Rectangle 29"/>
          <p:cNvSpPr/>
          <p:nvPr/>
        </p:nvSpPr>
        <p:spPr>
          <a:xfrm>
            <a:off x="841248" y="4416552"/>
            <a:ext cx="10509199" cy="475488"/>
          </a:xfrm>
          <a:prstGeom prst="rect">
            <a:avLst/>
          </a:prstGeom>
          <a:solidFill>
            <a:srgbClr val="F5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4400" y="4434840"/>
            <a:ext cx="3006455" cy="475488"/>
          </a:xfrm>
          <a:prstGeom prst="rect">
            <a:avLst/>
          </a:prstGeom>
          <a:noFill/>
        </p:spPr>
        <p:txBody>
          <a:bodyPr wrap="square" anchor="ctr" lIns="0" rIns="0" tIns="0" bIns="0">
            <a:spAutoFit/>
          </a:bodyPr>
          <a:lstStyle/>
          <a:p>
            <a:pPr algn="l">
              <a:spcBef>
                <a:spcPts val="0"/>
              </a:spcBef>
              <a:spcAft>
                <a:spcPts val="0"/>
              </a:spcAft>
            </a:pPr>
            <a:r>
              <a:rPr sz="1000" b="1" i="0">
                <a:solidFill>
                  <a:srgbClr val="16233B"/>
                </a:solidFill>
                <a:latin typeface="Bahnschrift"/>
              </a:rPr>
              <a:t>Every client copy is signed</a:t>
            </a:r>
          </a:p>
        </p:txBody>
      </p:sp>
      <p:sp>
        <p:nvSpPr>
          <p:cNvPr id="32" name="TextBox 31"/>
          <p:cNvSpPr txBox="1"/>
          <p:nvPr/>
        </p:nvSpPr>
        <p:spPr>
          <a:xfrm>
            <a:off x="4067159" y="4434840"/>
            <a:ext cx="7210135" cy="475488"/>
          </a:xfrm>
          <a:prstGeom prst="rect">
            <a:avLst/>
          </a:prstGeom>
          <a:noFill/>
        </p:spPr>
        <p:txBody>
          <a:bodyPr wrap="square" anchor="ctr" lIns="0" rIns="0" tIns="0" bIns="0">
            <a:spAutoFit/>
          </a:bodyPr>
          <a:lstStyle/>
          <a:p>
            <a:pPr algn="l">
              <a:spcBef>
                <a:spcPts val="0"/>
              </a:spcBef>
              <a:spcAft>
                <a:spcPts val="0"/>
              </a:spcAft>
            </a:pPr>
            <a:r>
              <a:rPr sz="1000" b="0" i="0">
                <a:solidFill>
                  <a:srgbClr val="16233B"/>
                </a:solidFill>
                <a:latin typeface="Georgia"/>
              </a:rPr>
              <a:t>Principal or CEO countersignature, with no standing exemption for a repeat client or a routine refresh.</a:t>
            </a:r>
          </a:p>
        </p:txBody>
      </p:sp>
      <p:sp>
        <p:nvSpPr>
          <p:cNvPr id="33" name="Rounded Rectangle 32"/>
          <p:cNvSpPr/>
          <p:nvPr/>
        </p:nvSpPr>
        <p:spPr>
          <a:xfrm>
            <a:off x="841248" y="5056631"/>
            <a:ext cx="10509199" cy="786384"/>
          </a:xfrm>
          <a:prstGeom prst="roundRect">
            <a:avLst>
              <a:gd name="adj" fmla="val 4000"/>
            </a:avLst>
          </a:prstGeom>
          <a:solidFill>
            <a:srgbClr val="FB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41248" y="5056631"/>
            <a:ext cx="54864" cy="786384"/>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42416" y="5184647"/>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92400E"/>
                </a:solidFill>
                <a:latin typeface="Bahnschrift"/>
              </a:rPr>
              <a:t>THE STANDING RULE BEHIND ALL OF IT</a:t>
            </a:r>
          </a:p>
        </p:txBody>
      </p:sp>
      <p:sp>
        <p:nvSpPr>
          <p:cNvPr id="36" name="TextBox 35"/>
          <p:cNvSpPr txBox="1"/>
          <p:nvPr/>
        </p:nvSpPr>
        <p:spPr>
          <a:xfrm>
            <a:off x="1042416" y="5458968"/>
            <a:ext cx="10143439" cy="329184"/>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We do not fabricate. An estimate is labelled an estimate, a gap is shown as a gap, and a number we cannot source does not go on a client page. Every control above follows from that one commitment.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CONTROLS AND THE ASK</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What this product does not do yet</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The open items, stated plainly</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27</a:t>
            </a:r>
          </a:p>
        </p:txBody>
      </p:sp>
      <p:sp>
        <p:nvSpPr>
          <p:cNvPr id="15" name="Rectangle 14"/>
          <p:cNvSpPr/>
          <p:nvPr/>
        </p:nvSpPr>
        <p:spPr>
          <a:xfrm>
            <a:off x="841248" y="1819656"/>
            <a:ext cx="68580" cy="6858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0704" y="1723644"/>
            <a:ext cx="10289743" cy="475488"/>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Fund expense ratios render from a single placeholder, not each scheme's real figure. Visible on the scorecard pages, and first to close.</a:t>
            </a:r>
          </a:p>
        </p:txBody>
      </p:sp>
      <p:sp>
        <p:nvSpPr>
          <p:cNvPr id="17" name="Rectangle 16"/>
          <p:cNvSpPr/>
          <p:nvPr/>
        </p:nvSpPr>
        <p:spPr>
          <a:xfrm>
            <a:off x="841248" y="2404872"/>
            <a:ext cx="68580" cy="6858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60704" y="2308860"/>
            <a:ext cx="10289743" cy="475488"/>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Hybrid, sectoral, index, liquid and debt funds have no quality framework and show as No View, leaving part of a typical fund book unscored.</a:t>
            </a:r>
          </a:p>
        </p:txBody>
      </p:sp>
      <p:sp>
        <p:nvSpPr>
          <p:cNvPr id="19" name="Rectangle 18"/>
          <p:cNvSpPr/>
          <p:nvPr/>
        </p:nvSpPr>
        <p:spPr>
          <a:xfrm>
            <a:off x="841248" y="2990088"/>
            <a:ext cx="68580" cy="6858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0704" y="2894076"/>
            <a:ext cx="10289743" cy="475488"/>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Equity cost basis is absent from a CAS statement, so share-sale tax is a disclosed estimate rather than a computed figure.</a:t>
            </a:r>
          </a:p>
        </p:txBody>
      </p:sp>
      <p:sp>
        <p:nvSpPr>
          <p:cNvPr id="21" name="Rectangle 20"/>
          <p:cNvSpPr/>
          <p:nvPr/>
        </p:nvSpPr>
        <p:spPr>
          <a:xfrm>
            <a:off x="841248" y="3575304"/>
            <a:ext cx="68580" cy="6858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60704" y="3479292"/>
            <a:ext cx="10289743" cy="475488"/>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The long-term fund framework covers a curated 40 funds; a holding outside it gets the short-term view only, or none.</a:t>
            </a:r>
          </a:p>
        </p:txBody>
      </p:sp>
      <p:sp>
        <p:nvSpPr>
          <p:cNvPr id="23" name="Rectangle 22"/>
          <p:cNvSpPr/>
          <p:nvPr/>
        </p:nvSpPr>
        <p:spPr>
          <a:xfrm>
            <a:off x="841248" y="4160520"/>
            <a:ext cx="68580" cy="6858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60704" y="4064508"/>
            <a:ext cx="10289743" cy="475488"/>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There is no live performance track record yet. Coverage and process are demonstrable today; outcomes will take cycles.</a:t>
            </a:r>
          </a:p>
        </p:txBody>
      </p:sp>
      <p:sp>
        <p:nvSpPr>
          <p:cNvPr id="25" name="Rectangle 24"/>
          <p:cNvSpPr/>
          <p:nvPr/>
        </p:nvSpPr>
        <p:spPr>
          <a:xfrm>
            <a:off x="841248" y="4745736"/>
            <a:ext cx="68580" cy="6858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60704" y="4649724"/>
            <a:ext cx="10289743" cy="274320"/>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Fund look-through into true sector and single-name exposure is built but not yet wired into every page.</a:t>
            </a:r>
          </a:p>
        </p:txBody>
      </p:sp>
      <p:sp>
        <p:nvSpPr>
          <p:cNvPr id="27" name="Rounded Rectangle 26"/>
          <p:cNvSpPr/>
          <p:nvPr/>
        </p:nvSpPr>
        <p:spPr>
          <a:xfrm>
            <a:off x="841248" y="5212080"/>
            <a:ext cx="10509199" cy="786384"/>
          </a:xfrm>
          <a:prstGeom prst="roundRect">
            <a:avLst>
              <a:gd name="adj" fmla="val 4000"/>
            </a:avLst>
          </a:prstGeom>
          <a:solidFill>
            <a:srgbClr val="FB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41248" y="5212080"/>
            <a:ext cx="54864" cy="786384"/>
          </a:xfrm>
          <a:prstGeom prst="rect">
            <a:avLst/>
          </a:prstGeom>
          <a:solidFill>
            <a:srgbClr val="E0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42416" y="5340096"/>
            <a:ext cx="10143439" cy="274320"/>
          </a:xfrm>
          <a:prstGeom prst="rect">
            <a:avLst/>
          </a:prstGeom>
          <a:noFill/>
        </p:spPr>
        <p:txBody>
          <a:bodyPr wrap="square" anchor="t" lIns="0" rIns="0" tIns="0" bIns="0">
            <a:spAutoFit/>
          </a:bodyPr>
          <a:lstStyle/>
          <a:p>
            <a:pPr algn="l">
              <a:spcBef>
                <a:spcPts val="0"/>
              </a:spcBef>
              <a:spcAft>
                <a:spcPts val="0"/>
              </a:spcAft>
            </a:pPr>
            <a:r>
              <a:rPr sz="950" b="1" i="0" spc="60">
                <a:solidFill>
                  <a:srgbClr val="E0402F"/>
                </a:solidFill>
                <a:latin typeface="Bahnschrift"/>
              </a:rPr>
              <a:t>WHY THE COMMITTEE IS SEEING THIS LIST</a:t>
            </a:r>
          </a:p>
        </p:txBody>
      </p:sp>
      <p:sp>
        <p:nvSpPr>
          <p:cNvPr id="30" name="TextBox 29"/>
          <p:cNvSpPr txBox="1"/>
          <p:nvPr/>
        </p:nvSpPr>
        <p:spPr>
          <a:xfrm>
            <a:off x="1042416" y="5614416"/>
            <a:ext cx="10143439" cy="329184"/>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16233B"/>
                </a:solidFill>
                <a:latin typeface="Georgia"/>
              </a:rPr>
              <a:t>None of these block shipping a review today, because each is disclosed on the page where it matters. They are here so approval is given with the gaps in view, and so the committee can rank them.</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lean.png"/>
          <p:cNvPicPr>
            <a:picLocks noChangeAspect="1"/>
          </p:cNvPicPr>
          <p:nvPr/>
        </p:nvPicPr>
        <p:blipFill>
          <a:blip r:embed="rId2"/>
          <a:stretch>
            <a:fillRect/>
          </a:stretch>
        </p:blipFill>
        <p:spPr>
          <a:xfrm>
            <a:off x="9674809" y="365760"/>
            <a:ext cx="1629918" cy="283464"/>
          </a:xfrm>
          <a:prstGeom prst="rect">
            <a:avLst/>
          </a:prstGeom>
        </p:spPr>
      </p:pic>
      <p:sp>
        <p:nvSpPr>
          <p:cNvPr id="4" name="TextBox 3"/>
          <p:cNvSpPr txBox="1"/>
          <p:nvPr/>
        </p:nvSpPr>
        <p:spPr>
          <a:xfrm>
            <a:off x="4541367" y="128016"/>
            <a:ext cx="3108960" cy="182880"/>
          </a:xfrm>
          <a:prstGeom prst="rect">
            <a:avLst/>
          </a:prstGeom>
          <a:noFill/>
        </p:spPr>
        <p:txBody>
          <a:bodyPr wrap="square" anchor="t" lIns="0" rIns="0" tIns="0" bIns="0">
            <a:spAutoFit/>
          </a:bodyPr>
          <a:lstStyle/>
          <a:p>
            <a:pPr algn="ctr">
              <a:spcBef>
                <a:spcPts val="0"/>
              </a:spcBef>
              <a:spcAft>
                <a:spcPts val="0"/>
              </a:spcAft>
            </a:pPr>
            <a:r>
              <a:rPr sz="750" b="0" i="0">
                <a:solidFill>
                  <a:srgbClr val="6B7280"/>
                </a:solidFill>
                <a:latin typeface="Bahnschrift"/>
              </a:rPr>
              <a:t>Private &amp; Confidential</a:t>
            </a:r>
          </a:p>
        </p:txBody>
      </p:sp>
      <p:sp>
        <p:nvSpPr>
          <p:cNvPr id="5" name="TextBox 4"/>
          <p:cNvSpPr txBox="1"/>
          <p:nvPr/>
        </p:nvSpPr>
        <p:spPr>
          <a:xfrm>
            <a:off x="7863840" y="274320"/>
            <a:ext cx="1749247" cy="201168"/>
          </a:xfrm>
          <a:prstGeom prst="rect">
            <a:avLst/>
          </a:prstGeom>
          <a:noFill/>
        </p:spPr>
        <p:txBody>
          <a:bodyPr wrap="square" anchor="t" lIns="0" rIns="0" tIns="0" bIns="0">
            <a:spAutoFit/>
          </a:bodyPr>
          <a:lstStyle/>
          <a:p>
            <a:pPr algn="r">
              <a:spcBef>
                <a:spcPts val="0"/>
              </a:spcBef>
              <a:spcAft>
                <a:spcPts val="0"/>
              </a:spcAft>
            </a:pPr>
            <a:r>
              <a:rPr sz="750" b="1" i="0" spc="120">
                <a:solidFill>
                  <a:srgbClr val="8C95DE"/>
                </a:solidFill>
                <a:latin typeface="Bahnschrift"/>
              </a:rPr>
              <a:t>05 · CONTROLS AND THE ASK</a:t>
            </a:r>
          </a:p>
        </p:txBody>
      </p:sp>
      <p:sp>
        <p:nvSpPr>
          <p:cNvPr id="6" name="Rectangle 5"/>
          <p:cNvSpPr/>
          <p:nvPr/>
        </p:nvSpPr>
        <p:spPr>
          <a:xfrm>
            <a:off x="854964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19"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98280" y="512064"/>
            <a:ext cx="137160" cy="201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281160" y="512064"/>
            <a:ext cx="137160" cy="20116"/>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20624"/>
            <a:ext cx="6858000" cy="502920"/>
          </a:xfrm>
          <a:prstGeom prst="rect">
            <a:avLst/>
          </a:prstGeom>
          <a:noFill/>
        </p:spPr>
        <p:txBody>
          <a:bodyPr wrap="square" anchor="t" lIns="0" rIns="0" tIns="0" bIns="0">
            <a:spAutoFit/>
          </a:bodyPr>
          <a:lstStyle/>
          <a:p>
            <a:pPr algn="l">
              <a:spcBef>
                <a:spcPts val="0"/>
              </a:spcBef>
              <a:spcAft>
                <a:spcPts val="0"/>
              </a:spcAft>
            </a:pPr>
            <a:r>
              <a:rPr sz="2600" b="1" i="0">
                <a:solidFill>
                  <a:srgbClr val="1B27A3"/>
                </a:solidFill>
                <a:latin typeface="Bahnschrift"/>
              </a:rPr>
              <a:t>The ask</a:t>
            </a:r>
          </a:p>
        </p:txBody>
      </p:sp>
      <p:sp>
        <p:nvSpPr>
          <p:cNvPr id="12" name="TextBox 11"/>
          <p:cNvSpPr txBox="1"/>
          <p:nvPr/>
        </p:nvSpPr>
        <p:spPr>
          <a:xfrm>
            <a:off x="841248" y="950976"/>
            <a:ext cx="9692640" cy="411480"/>
          </a:xfrm>
          <a:prstGeom prst="rect">
            <a:avLst/>
          </a:prstGeom>
          <a:noFill/>
        </p:spPr>
        <p:txBody>
          <a:bodyPr wrap="square" anchor="t" lIns="0" rIns="0" tIns="0" bIns="0">
            <a:spAutoFit/>
          </a:bodyPr>
          <a:lstStyle/>
          <a:p>
            <a:pPr algn="l">
              <a:spcBef>
                <a:spcPts val="0"/>
              </a:spcBef>
              <a:spcAft>
                <a:spcPts val="0"/>
              </a:spcAft>
            </a:pPr>
            <a:r>
              <a:rPr sz="1750" b="1" i="0">
                <a:solidFill>
                  <a:srgbClr val="F2A93C"/>
                </a:solidFill>
                <a:latin typeface="Bahnschrift"/>
              </a:rPr>
              <a:t>What we would like the committee to approve</a:t>
            </a:r>
          </a:p>
        </p:txBody>
      </p:sp>
      <p:sp>
        <p:nvSpPr>
          <p:cNvPr id="13" name="Rectangle 12"/>
          <p:cNvSpPr/>
          <p:nvPr/>
        </p:nvSpPr>
        <p:spPr>
          <a:xfrm>
            <a:off x="841248" y="1408176"/>
            <a:ext cx="10509199" cy="21945"/>
          </a:xfrm>
          <a:prstGeom prst="rect">
            <a:avLst/>
          </a:prstGeom>
          <a:solidFill>
            <a:srgbClr val="1B27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5887" y="6528816"/>
            <a:ext cx="2194560" cy="182880"/>
          </a:xfrm>
          <a:prstGeom prst="rect">
            <a:avLst/>
          </a:prstGeom>
          <a:noFill/>
        </p:spPr>
        <p:txBody>
          <a:bodyPr wrap="square" anchor="t" lIns="0" rIns="0" tIns="0" bIns="0">
            <a:spAutoFit/>
          </a:bodyPr>
          <a:lstStyle/>
          <a:p>
            <a:pPr algn="r">
              <a:spcBef>
                <a:spcPts val="0"/>
              </a:spcBef>
              <a:spcAft>
                <a:spcPts val="0"/>
              </a:spcAft>
            </a:pPr>
            <a:r>
              <a:rPr sz="750" b="0" i="0">
                <a:solidFill>
                  <a:srgbClr val="6B7280"/>
                </a:solidFill>
                <a:latin typeface="Bahnschrift"/>
              </a:rPr>
              <a:t>Portfolio Review  ·  28</a:t>
            </a:r>
          </a:p>
        </p:txBody>
      </p:sp>
      <p:sp>
        <p:nvSpPr>
          <p:cNvPr id="15" name="Rounded Rectangle 14"/>
          <p:cNvSpPr/>
          <p:nvPr/>
        </p:nvSpPr>
        <p:spPr>
          <a:xfrm>
            <a:off x="841248" y="1755648"/>
            <a:ext cx="10509199" cy="1188720"/>
          </a:xfrm>
          <a:prstGeom prst="roundRect">
            <a:avLst>
              <a:gd name="adj" fmla="val 6000"/>
            </a:avLst>
          </a:prstGeom>
          <a:solidFill>
            <a:srgbClr val="F5F6FC"/>
          </a:solidFill>
          <a:ln w="13970">
            <a:solidFill>
              <a:srgbClr val="1B27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 y="1755648"/>
            <a:ext cx="64008" cy="118872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1883664"/>
            <a:ext cx="9960559" cy="274320"/>
          </a:xfrm>
          <a:prstGeom prst="rect">
            <a:avLst/>
          </a:prstGeom>
          <a:noFill/>
        </p:spPr>
        <p:txBody>
          <a:bodyPr wrap="square" anchor="t" lIns="0" rIns="0" tIns="0" bIns="0">
            <a:spAutoFit/>
          </a:bodyPr>
          <a:lstStyle/>
          <a:p>
            <a:pPr algn="l">
              <a:spcBef>
                <a:spcPts val="0"/>
              </a:spcBef>
              <a:spcAft>
                <a:spcPts val="0"/>
              </a:spcAft>
            </a:pPr>
            <a:r>
              <a:rPr sz="950" b="1" i="0" spc="200">
                <a:solidFill>
                  <a:srgbClr val="F2A93C"/>
                </a:solidFill>
                <a:latin typeface="Bahnschrift"/>
              </a:rPr>
              <a:t>APPROVAL SOUGHT</a:t>
            </a:r>
          </a:p>
        </p:txBody>
      </p:sp>
      <p:sp>
        <p:nvSpPr>
          <p:cNvPr id="18" name="TextBox 17"/>
          <p:cNvSpPr txBox="1"/>
          <p:nvPr/>
        </p:nvSpPr>
        <p:spPr>
          <a:xfrm>
            <a:off x="1097280" y="2157984"/>
            <a:ext cx="9960559" cy="731520"/>
          </a:xfrm>
          <a:prstGeom prst="rect">
            <a:avLst/>
          </a:prstGeom>
          <a:noFill/>
        </p:spPr>
        <p:txBody>
          <a:bodyPr wrap="square" anchor="t" lIns="0" rIns="0" tIns="0" bIns="0">
            <a:spAutoFit/>
          </a:bodyPr>
          <a:lstStyle/>
          <a:p>
            <a:pPr algn="l">
              <a:lnSpc>
                <a:spcPct val="108000"/>
              </a:lnSpc>
              <a:spcBef>
                <a:spcPts val="0"/>
              </a:spcBef>
              <a:spcAft>
                <a:spcPts val="0"/>
              </a:spcAft>
            </a:pPr>
            <a:r>
              <a:rPr sz="1300" b="0" i="0">
                <a:solidFill>
                  <a:srgbClr val="16233B"/>
                </a:solidFill>
                <a:latin typeface="Georgia"/>
              </a:rPr>
              <a:t>Adopt this engine as the standard NDPMS portfolio-review deliverable for client onboarding and periodic reviews, on the frozen methodology, the four-layer quality gate, and the signature requirement described in this deck.</a:t>
            </a:r>
          </a:p>
        </p:txBody>
      </p:sp>
      <p:sp>
        <p:nvSpPr>
          <p:cNvPr id="19" name="Rectangle 18"/>
          <p:cNvSpPr/>
          <p:nvPr/>
        </p:nvSpPr>
        <p:spPr>
          <a:xfrm>
            <a:off x="841248" y="3191256"/>
            <a:ext cx="68580" cy="6858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0704" y="3095244"/>
            <a:ext cx="10289743" cy="475488"/>
          </a:xfrm>
          <a:prstGeom prst="rect">
            <a:avLst/>
          </a:prstGeom>
          <a:noFill/>
        </p:spPr>
        <p:txBody>
          <a:bodyPr wrap="square" anchor="t" lIns="0" rIns="0" tIns="0" bIns="0">
            <a:spAutoFit/>
          </a:bodyPr>
          <a:lstStyle/>
          <a:p>
            <a:pPr algn="l">
              <a:lnSpc>
                <a:spcPct val="106000"/>
              </a:lnSpc>
              <a:spcBef>
                <a:spcPts val="0"/>
              </a:spcBef>
              <a:spcAft>
                <a:spcPts val="0"/>
              </a:spcAft>
            </a:pPr>
            <a:r>
              <a:rPr sz="1100" b="0" i="0">
                <a:solidFill>
                  <a:srgbClr val="16233B"/>
                </a:solidFill>
                <a:latin typeface="Georgia"/>
              </a:rPr>
              <a:t>Confirm the Sell, Trim and Hold vocabulary and the no-buy, no-target-price posture as permanent product constraints.</a:t>
            </a:r>
          </a:p>
        </p:txBody>
      </p:sp>
      <p:sp>
        <p:nvSpPr>
          <p:cNvPr id="21" name="Rectangle 20"/>
          <p:cNvSpPr/>
          <p:nvPr/>
        </p:nvSpPr>
        <p:spPr>
          <a:xfrm>
            <a:off x="841248" y="3776472"/>
            <a:ext cx="68580" cy="6858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60704" y="3680459"/>
            <a:ext cx="10289743" cy="475488"/>
          </a:xfrm>
          <a:prstGeom prst="rect">
            <a:avLst/>
          </a:prstGeom>
          <a:noFill/>
        </p:spPr>
        <p:txBody>
          <a:bodyPr wrap="square" anchor="t" lIns="0" rIns="0" tIns="0" bIns="0">
            <a:spAutoFit/>
          </a:bodyPr>
          <a:lstStyle/>
          <a:p>
            <a:pPr algn="l">
              <a:lnSpc>
                <a:spcPct val="106000"/>
              </a:lnSpc>
              <a:spcBef>
                <a:spcPts val="0"/>
              </a:spcBef>
              <a:spcAft>
                <a:spcPts val="0"/>
              </a:spcAft>
            </a:pPr>
            <a:r>
              <a:rPr sz="1100" b="0" i="0">
                <a:solidFill>
                  <a:srgbClr val="16233B"/>
                </a:solidFill>
                <a:latin typeface="Georgia"/>
              </a:rPr>
              <a:t>Confirm the one-way override rule and the escalation channel as the standing way analyst disagreement is handled.</a:t>
            </a:r>
          </a:p>
        </p:txBody>
      </p:sp>
      <p:sp>
        <p:nvSpPr>
          <p:cNvPr id="23" name="Rectangle 22"/>
          <p:cNvSpPr/>
          <p:nvPr/>
        </p:nvSpPr>
        <p:spPr>
          <a:xfrm>
            <a:off x="841248" y="4361688"/>
            <a:ext cx="68580" cy="6858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60704" y="4265675"/>
            <a:ext cx="10289743" cy="274320"/>
          </a:xfrm>
          <a:prstGeom prst="rect">
            <a:avLst/>
          </a:prstGeom>
          <a:noFill/>
        </p:spPr>
        <p:txBody>
          <a:bodyPr wrap="square" anchor="t" lIns="0" rIns="0" tIns="0" bIns="0">
            <a:spAutoFit/>
          </a:bodyPr>
          <a:lstStyle/>
          <a:p>
            <a:pPr algn="l">
              <a:lnSpc>
                <a:spcPct val="106000"/>
              </a:lnSpc>
              <a:spcBef>
                <a:spcPts val="0"/>
              </a:spcBef>
              <a:spcAft>
                <a:spcPts val="0"/>
              </a:spcAft>
            </a:pPr>
            <a:r>
              <a:rPr sz="1100" b="0" i="0">
                <a:solidFill>
                  <a:srgbClr val="16233B"/>
                </a:solidFill>
                <a:latin typeface="Georgia"/>
              </a:rPr>
              <a:t>Confirm that every client copy requires a Principal or CEO countersignature, with no standing exemption.</a:t>
            </a:r>
          </a:p>
        </p:txBody>
      </p:sp>
      <p:sp>
        <p:nvSpPr>
          <p:cNvPr id="25" name="Rectangle 24"/>
          <p:cNvSpPr/>
          <p:nvPr/>
        </p:nvSpPr>
        <p:spPr>
          <a:xfrm>
            <a:off x="841248" y="4764024"/>
            <a:ext cx="68580" cy="68580"/>
          </a:xfrm>
          <a:prstGeom prst="rect">
            <a:avLst/>
          </a:prstGeom>
          <a:solidFill>
            <a:srgbClr val="F2A9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60704" y="4668012"/>
            <a:ext cx="10289743" cy="274320"/>
          </a:xfrm>
          <a:prstGeom prst="rect">
            <a:avLst/>
          </a:prstGeom>
          <a:noFill/>
        </p:spPr>
        <p:txBody>
          <a:bodyPr wrap="square" anchor="t" lIns="0" rIns="0" tIns="0" bIns="0">
            <a:spAutoFit/>
          </a:bodyPr>
          <a:lstStyle/>
          <a:p>
            <a:pPr algn="l">
              <a:lnSpc>
                <a:spcPct val="106000"/>
              </a:lnSpc>
              <a:spcBef>
                <a:spcPts val="0"/>
              </a:spcBef>
              <a:spcAft>
                <a:spcPts val="0"/>
              </a:spcAft>
            </a:pPr>
            <a:r>
              <a:rPr sz="1100" b="0" i="0">
                <a:solidFill>
                  <a:srgbClr val="16233B"/>
                </a:solidFill>
                <a:latin typeface="Georgia"/>
              </a:rPr>
              <a:t>Direct which of the open items on the previous page should be closed first, and by when.</a:t>
            </a:r>
          </a:p>
        </p:txBody>
      </p:sp>
      <p:sp>
        <p:nvSpPr>
          <p:cNvPr id="27" name="TextBox 26"/>
          <p:cNvSpPr txBox="1"/>
          <p:nvPr/>
        </p:nvSpPr>
        <p:spPr>
          <a:xfrm>
            <a:off x="841248" y="4956048"/>
            <a:ext cx="10509199" cy="256032"/>
          </a:xfrm>
          <a:prstGeom prst="rect">
            <a:avLst/>
          </a:prstGeom>
          <a:noFill/>
        </p:spPr>
        <p:txBody>
          <a:bodyPr wrap="square" anchor="t" lIns="0" rIns="0" tIns="0" bIns="0">
            <a:spAutoFit/>
          </a:bodyPr>
          <a:lstStyle/>
          <a:p>
            <a:pPr algn="l">
              <a:spcBef>
                <a:spcPts val="0"/>
              </a:spcBef>
              <a:spcAft>
                <a:spcPts val="0"/>
              </a:spcAft>
            </a:pPr>
            <a:r>
              <a:rPr sz="900" b="1" i="0" spc="200">
                <a:solidFill>
                  <a:srgbClr val="6B7280"/>
                </a:solidFill>
                <a:latin typeface="Bahnschrift"/>
              </a:rPr>
              <a:t>SIGN-OFF</a:t>
            </a:r>
          </a:p>
        </p:txBody>
      </p:sp>
      <p:sp>
        <p:nvSpPr>
          <p:cNvPr id="28" name="Rectangle 27"/>
          <p:cNvSpPr/>
          <p:nvPr/>
        </p:nvSpPr>
        <p:spPr>
          <a:xfrm>
            <a:off x="841248" y="5632704"/>
            <a:ext cx="3045866" cy="9144"/>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1248" y="5687568"/>
            <a:ext cx="3320186" cy="237744"/>
          </a:xfrm>
          <a:prstGeom prst="rect">
            <a:avLst/>
          </a:prstGeom>
          <a:noFill/>
        </p:spPr>
        <p:txBody>
          <a:bodyPr wrap="square" anchor="t" lIns="0" rIns="0" tIns="0" bIns="0">
            <a:spAutoFit/>
          </a:bodyPr>
          <a:lstStyle/>
          <a:p>
            <a:pPr algn="l">
              <a:spcBef>
                <a:spcPts val="0"/>
              </a:spcBef>
              <a:spcAft>
                <a:spcPts val="0"/>
              </a:spcAft>
            </a:pPr>
            <a:r>
              <a:rPr sz="900" b="1" i="0">
                <a:solidFill>
                  <a:srgbClr val="16233B"/>
                </a:solidFill>
                <a:latin typeface="Bahnschrift"/>
              </a:rPr>
              <a:t>Product Approval Committee</a:t>
            </a:r>
          </a:p>
        </p:txBody>
      </p:sp>
      <p:sp>
        <p:nvSpPr>
          <p:cNvPr id="30" name="TextBox 29"/>
          <p:cNvSpPr txBox="1"/>
          <p:nvPr/>
        </p:nvSpPr>
        <p:spPr>
          <a:xfrm>
            <a:off x="841248" y="5888736"/>
            <a:ext cx="3320186" cy="219456"/>
          </a:xfrm>
          <a:prstGeom prst="rect">
            <a:avLst/>
          </a:prstGeom>
          <a:noFill/>
        </p:spPr>
        <p:txBody>
          <a:bodyPr wrap="square" anchor="t" lIns="0" rIns="0" tIns="0" bIns="0">
            <a:spAutoFit/>
          </a:bodyPr>
          <a:lstStyle/>
          <a:p>
            <a:pPr algn="l">
              <a:spcBef>
                <a:spcPts val="0"/>
              </a:spcBef>
              <a:spcAft>
                <a:spcPts val="0"/>
              </a:spcAft>
            </a:pPr>
            <a:r>
              <a:rPr sz="850" b="0" i="1">
                <a:solidFill>
                  <a:srgbClr val="6B7280"/>
                </a:solidFill>
                <a:latin typeface="Georgia"/>
              </a:rPr>
              <a:t>Name, signature, date</a:t>
            </a:r>
          </a:p>
        </p:txBody>
      </p:sp>
      <p:sp>
        <p:nvSpPr>
          <p:cNvPr id="31" name="Rectangle 30"/>
          <p:cNvSpPr/>
          <p:nvPr/>
        </p:nvSpPr>
        <p:spPr>
          <a:xfrm>
            <a:off x="4435754" y="5632704"/>
            <a:ext cx="3045866" cy="9144"/>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435754" y="5687568"/>
            <a:ext cx="3320186" cy="237744"/>
          </a:xfrm>
          <a:prstGeom prst="rect">
            <a:avLst/>
          </a:prstGeom>
          <a:noFill/>
        </p:spPr>
        <p:txBody>
          <a:bodyPr wrap="square" anchor="t" lIns="0" rIns="0" tIns="0" bIns="0">
            <a:spAutoFit/>
          </a:bodyPr>
          <a:lstStyle/>
          <a:p>
            <a:pPr algn="l">
              <a:spcBef>
                <a:spcPts val="0"/>
              </a:spcBef>
              <a:spcAft>
                <a:spcPts val="0"/>
              </a:spcAft>
            </a:pPr>
            <a:r>
              <a:rPr sz="900" b="1" i="0">
                <a:solidFill>
                  <a:srgbClr val="16233B"/>
                </a:solidFill>
                <a:latin typeface="Bahnschrift"/>
              </a:rPr>
              <a:t>Chief Executive Officer</a:t>
            </a:r>
          </a:p>
        </p:txBody>
      </p:sp>
      <p:sp>
        <p:nvSpPr>
          <p:cNvPr id="33" name="TextBox 32"/>
          <p:cNvSpPr txBox="1"/>
          <p:nvPr/>
        </p:nvSpPr>
        <p:spPr>
          <a:xfrm>
            <a:off x="4435754" y="5888736"/>
            <a:ext cx="3320186" cy="219456"/>
          </a:xfrm>
          <a:prstGeom prst="rect">
            <a:avLst/>
          </a:prstGeom>
          <a:noFill/>
        </p:spPr>
        <p:txBody>
          <a:bodyPr wrap="square" anchor="t" lIns="0" rIns="0" tIns="0" bIns="0">
            <a:spAutoFit/>
          </a:bodyPr>
          <a:lstStyle/>
          <a:p>
            <a:pPr algn="l">
              <a:spcBef>
                <a:spcPts val="0"/>
              </a:spcBef>
              <a:spcAft>
                <a:spcPts val="0"/>
              </a:spcAft>
            </a:pPr>
            <a:r>
              <a:rPr sz="850" b="0" i="1">
                <a:solidFill>
                  <a:srgbClr val="6B7280"/>
                </a:solidFill>
                <a:latin typeface="Georgia"/>
              </a:rPr>
              <a:t>Name, signature, date</a:t>
            </a:r>
          </a:p>
        </p:txBody>
      </p:sp>
      <p:sp>
        <p:nvSpPr>
          <p:cNvPr id="34" name="Rectangle 33"/>
          <p:cNvSpPr/>
          <p:nvPr/>
        </p:nvSpPr>
        <p:spPr>
          <a:xfrm>
            <a:off x="8030260" y="5632704"/>
            <a:ext cx="3045866" cy="9144"/>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30260" y="5687568"/>
            <a:ext cx="3320186" cy="237744"/>
          </a:xfrm>
          <a:prstGeom prst="rect">
            <a:avLst/>
          </a:prstGeom>
          <a:noFill/>
        </p:spPr>
        <p:txBody>
          <a:bodyPr wrap="square" anchor="t" lIns="0" rIns="0" tIns="0" bIns="0">
            <a:spAutoFit/>
          </a:bodyPr>
          <a:lstStyle/>
          <a:p>
            <a:pPr algn="l">
              <a:spcBef>
                <a:spcPts val="0"/>
              </a:spcBef>
              <a:spcAft>
                <a:spcPts val="0"/>
              </a:spcAft>
            </a:pPr>
            <a:r>
              <a:rPr sz="900" b="1" i="0">
                <a:solidFill>
                  <a:srgbClr val="16233B"/>
                </a:solidFill>
                <a:latin typeface="Bahnschrift"/>
              </a:rPr>
              <a:t>Chief Investment Officer</a:t>
            </a:r>
          </a:p>
        </p:txBody>
      </p:sp>
      <p:sp>
        <p:nvSpPr>
          <p:cNvPr id="36" name="TextBox 35"/>
          <p:cNvSpPr txBox="1"/>
          <p:nvPr/>
        </p:nvSpPr>
        <p:spPr>
          <a:xfrm>
            <a:off x="8030260" y="5888736"/>
            <a:ext cx="3320186" cy="219456"/>
          </a:xfrm>
          <a:prstGeom prst="rect">
            <a:avLst/>
          </a:prstGeom>
          <a:noFill/>
        </p:spPr>
        <p:txBody>
          <a:bodyPr wrap="square" anchor="t" lIns="0" rIns="0" tIns="0" bIns="0">
            <a:spAutoFit/>
          </a:bodyPr>
          <a:lstStyle/>
          <a:p>
            <a:pPr algn="l">
              <a:spcBef>
                <a:spcPts val="0"/>
              </a:spcBef>
              <a:spcAft>
                <a:spcPts val="0"/>
              </a:spcAft>
            </a:pPr>
            <a:r>
              <a:rPr sz="850" b="0" i="1">
                <a:solidFill>
                  <a:srgbClr val="6B7280"/>
                </a:solidFill>
                <a:latin typeface="Georgia"/>
              </a:rPr>
              <a:t>Name, signature, date</a:t>
            </a:r>
          </a:p>
        </p:txBody>
      </p:sp>
      <p:sp>
        <p:nvSpPr>
          <p:cNvPr id="37" name="TextBox 36"/>
          <p:cNvSpPr txBox="1"/>
          <p:nvPr/>
        </p:nvSpPr>
        <p:spPr>
          <a:xfrm>
            <a:off x="841248" y="6089904"/>
            <a:ext cx="10509199" cy="219456"/>
          </a:xfrm>
          <a:prstGeom prst="rect">
            <a:avLst/>
          </a:prstGeom>
          <a:noFill/>
        </p:spPr>
        <p:txBody>
          <a:bodyPr wrap="square" anchor="t" lIns="0" rIns="0" tIns="0" bIns="0">
            <a:spAutoFit/>
          </a:bodyPr>
          <a:lstStyle/>
          <a:p>
            <a:pPr algn="l">
              <a:spcBef>
                <a:spcPts val="0"/>
              </a:spcBef>
              <a:spcAft>
                <a:spcPts val="0"/>
              </a:spcAft>
            </a:pPr>
            <a:r>
              <a:rPr sz="700" b="0" i="0">
                <a:solidFill>
                  <a:srgbClr val="6B7280"/>
                </a:solidFill>
                <a:latin typeface="Bahnschrift"/>
              </a:rPr>
              <a:t>Internal committee paper. Sample pages use a synthetic demo book; no real client holdings appear in this deck.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