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 id="274" r:id="rId25"/>
    <p:sldId id="275" r:id="rId26"/>
    <p:sldId id="276" r:id="rId27"/>
    <p:sldId id="277" r:id="rId28"/>
    <p:sldId id="278" r:id="rId29"/>
    <p:sldId id="279" r:id="rId30"/>
    <p:sldId id="280" r:id="rId31"/>
    <p:sldId id="281" r:id="rId32"/>
    <p:sldId id="282" r:id="rId33"/>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 Id="rId26" Type="http://schemas.openxmlformats.org/officeDocument/2006/relationships/slide" Target="slides/slide20.xml"/><Relationship Id="rId27" Type="http://schemas.openxmlformats.org/officeDocument/2006/relationships/slide" Target="slides/slide21.xml"/><Relationship Id="rId28" Type="http://schemas.openxmlformats.org/officeDocument/2006/relationships/slide" Target="slides/slide22.xml"/><Relationship Id="rId29" Type="http://schemas.openxmlformats.org/officeDocument/2006/relationships/slide" Target="slides/slide23.xml"/><Relationship Id="rId30" Type="http://schemas.openxmlformats.org/officeDocument/2006/relationships/slide" Target="slides/slide24.xml"/><Relationship Id="rId31" Type="http://schemas.openxmlformats.org/officeDocument/2006/relationships/slide" Target="slides/slide25.xml"/><Relationship Id="rId32" Type="http://schemas.openxmlformats.org/officeDocument/2006/relationships/slide" Target="slides/slide26.xml"/><Relationship Id="rId33" Type="http://schemas.openxmlformats.org/officeDocument/2006/relationships/slide" Target="slides/slide27.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image" Target="../media/image7.png"/><Relationship Id="rId4" Type="http://schemas.openxmlformats.org/officeDocument/2006/relationships/image" Target="../media/image8.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image" Target="../media/image9.png"/><Relationship Id="rId4" Type="http://schemas.openxmlformats.org/officeDocument/2006/relationships/image" Target="../media/image10.pn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image" Target="../media/image11.png"/><Relationship Id="rId4" Type="http://schemas.openxmlformats.org/officeDocument/2006/relationships/image" Target="../media/image12.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image" Target="../media/image13.png"/><Relationship Id="rId4" Type="http://schemas.openxmlformats.org/officeDocument/2006/relationships/image" Target="../media/image14.pn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image" Target="../media/image15.png"/><Relationship Id="rId4" Type="http://schemas.openxmlformats.org/officeDocument/2006/relationships/image" Target="../media/image16.pn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image" Target="../media/image17.png"/><Relationship Id="rId4" Type="http://schemas.openxmlformats.org/officeDocument/2006/relationships/image" Target="../media/image18.pn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image" Target="../media/image19.png"/><Relationship Id="rId4" Type="http://schemas.openxmlformats.org/officeDocument/2006/relationships/image" Target="../media/image20.png"/></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1.png"/></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B27A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pac_cover_art.png"/>
          <p:cNvPicPr>
            <a:picLocks noChangeAspect="1"/>
          </p:cNvPicPr>
          <p:nvPr/>
        </p:nvPicPr>
        <p:blipFill>
          <a:blip r:embed="rId2"/>
          <a:stretch>
            <a:fillRect/>
          </a:stretch>
        </p:blipFill>
        <p:spPr>
          <a:xfrm>
            <a:off x="7351775" y="91440"/>
            <a:ext cx="4846320" cy="6766560"/>
          </a:xfrm>
          <a:prstGeom prst="rect">
            <a:avLst/>
          </a:prstGeom>
        </p:spPr>
      </p:pic>
      <p:sp>
        <p:nvSpPr>
          <p:cNvPr id="4" name="Rectangle 3"/>
          <p:cNvSpPr/>
          <p:nvPr/>
        </p:nvSpPr>
        <p:spPr>
          <a:xfrm>
            <a:off x="0" y="0"/>
            <a:ext cx="12191695" cy="91440"/>
          </a:xfrm>
          <a:prstGeom prst="rect">
            <a:avLst/>
          </a:prstGeom>
          <a:solidFill>
            <a:srgbClr val="F2A93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41248" y="475488"/>
            <a:ext cx="4572000" cy="365760"/>
          </a:xfrm>
          <a:prstGeom prst="rect">
            <a:avLst/>
          </a:prstGeom>
          <a:noFill/>
        </p:spPr>
        <p:txBody>
          <a:bodyPr wrap="square" anchor="t" lIns="0" rIns="0" tIns="0" bIns="0">
            <a:spAutoFit/>
          </a:bodyPr>
          <a:lstStyle/>
          <a:p>
            <a:pPr algn="l">
              <a:spcBef>
                <a:spcPts val="0"/>
              </a:spcBef>
              <a:spcAft>
                <a:spcPts val="0"/>
              </a:spcAft>
            </a:pPr>
            <a:r>
              <a:rPr sz="1700" b="1" i="0" spc="100">
                <a:solidFill>
                  <a:srgbClr val="FFFFFF"/>
                </a:solidFill>
                <a:latin typeface="Bahnschrift"/>
              </a:rPr>
              <a:t>IONIC </a:t>
            </a:r>
            <a:r>
              <a:rPr sz="1700" b="0" i="0" spc="100">
                <a:solidFill>
                  <a:srgbClr val="C9CEF0"/>
                </a:solidFill>
                <a:latin typeface="Bahnschrift"/>
              </a:rPr>
              <a:t>WEALTH</a:t>
            </a:r>
          </a:p>
        </p:txBody>
      </p:sp>
      <p:sp>
        <p:nvSpPr>
          <p:cNvPr id="6" name="TextBox 5"/>
          <p:cNvSpPr txBox="1"/>
          <p:nvPr/>
        </p:nvSpPr>
        <p:spPr>
          <a:xfrm>
            <a:off x="841248" y="841248"/>
            <a:ext cx="4572000" cy="201168"/>
          </a:xfrm>
          <a:prstGeom prst="rect">
            <a:avLst/>
          </a:prstGeom>
          <a:noFill/>
        </p:spPr>
        <p:txBody>
          <a:bodyPr wrap="square" anchor="t" lIns="0" rIns="0" tIns="0" bIns="0">
            <a:spAutoFit/>
          </a:bodyPr>
          <a:lstStyle/>
          <a:p>
            <a:pPr algn="l">
              <a:spcBef>
                <a:spcPts val="0"/>
              </a:spcBef>
              <a:spcAft>
                <a:spcPts val="0"/>
              </a:spcAft>
            </a:pPr>
            <a:r>
              <a:rPr sz="750" b="1" i="0" spc="260">
                <a:solidFill>
                  <a:srgbClr val="F2A93C"/>
                </a:solidFill>
                <a:latin typeface="Bahnschrift"/>
              </a:rPr>
              <a:t>BY ANGEL ONE</a:t>
            </a:r>
          </a:p>
        </p:txBody>
      </p:sp>
      <p:sp>
        <p:nvSpPr>
          <p:cNvPr id="7" name="TextBox 6"/>
          <p:cNvSpPr txBox="1"/>
          <p:nvPr/>
        </p:nvSpPr>
        <p:spPr>
          <a:xfrm>
            <a:off x="841248" y="1920240"/>
            <a:ext cx="6583680" cy="777240"/>
          </a:xfrm>
          <a:prstGeom prst="rect">
            <a:avLst/>
          </a:prstGeom>
          <a:noFill/>
        </p:spPr>
        <p:txBody>
          <a:bodyPr wrap="square" anchor="t" lIns="0" rIns="0" tIns="0" bIns="0">
            <a:spAutoFit/>
          </a:bodyPr>
          <a:lstStyle/>
          <a:p>
            <a:pPr algn="l">
              <a:spcBef>
                <a:spcPts val="0"/>
              </a:spcBef>
              <a:spcAft>
                <a:spcPts val="0"/>
              </a:spcAft>
            </a:pPr>
            <a:r>
              <a:rPr sz="3600" b="1" i="0">
                <a:solidFill>
                  <a:srgbClr val="FFFFFF"/>
                </a:solidFill>
                <a:latin typeface="Bahnschrift"/>
              </a:rPr>
              <a:t>Portfolio Review </a:t>
            </a:r>
            <a:r>
              <a:rPr sz="3600" b="1" i="0">
                <a:solidFill>
                  <a:srgbClr val="F2A93C"/>
                </a:solidFill>
                <a:latin typeface="Bahnschrift"/>
              </a:rPr>
              <a:t>Engine</a:t>
            </a:r>
          </a:p>
        </p:txBody>
      </p:sp>
      <p:sp>
        <p:nvSpPr>
          <p:cNvPr id="8" name="TextBox 7"/>
          <p:cNvSpPr txBox="1"/>
          <p:nvPr/>
        </p:nvSpPr>
        <p:spPr>
          <a:xfrm>
            <a:off x="841248" y="2834640"/>
            <a:ext cx="6583680" cy="457200"/>
          </a:xfrm>
          <a:prstGeom prst="rect">
            <a:avLst/>
          </a:prstGeom>
          <a:noFill/>
        </p:spPr>
        <p:txBody>
          <a:bodyPr wrap="square" anchor="t" lIns="0" rIns="0" tIns="0" bIns="0">
            <a:spAutoFit/>
          </a:bodyPr>
          <a:lstStyle/>
          <a:p>
            <a:pPr algn="l">
              <a:spcBef>
                <a:spcPts val="0"/>
              </a:spcBef>
              <a:spcAft>
                <a:spcPts val="0"/>
              </a:spcAft>
            </a:pPr>
            <a:r>
              <a:rPr sz="1500" b="0" i="1">
                <a:solidFill>
                  <a:srgbClr val="C9CEF0"/>
                </a:solidFill>
                <a:latin typeface="Georgia"/>
              </a:rPr>
              <a:t>An NDPMS client-reporting product, end to end</a:t>
            </a:r>
          </a:p>
        </p:txBody>
      </p:sp>
      <p:sp>
        <p:nvSpPr>
          <p:cNvPr id="9" name="TextBox 8"/>
          <p:cNvSpPr txBox="1"/>
          <p:nvPr/>
        </p:nvSpPr>
        <p:spPr>
          <a:xfrm>
            <a:off x="841248" y="3611880"/>
            <a:ext cx="6583680" cy="274320"/>
          </a:xfrm>
          <a:prstGeom prst="rect">
            <a:avLst/>
          </a:prstGeom>
          <a:noFill/>
        </p:spPr>
        <p:txBody>
          <a:bodyPr wrap="square" anchor="t" lIns="0" rIns="0" tIns="0" bIns="0">
            <a:spAutoFit/>
          </a:bodyPr>
          <a:lstStyle/>
          <a:p>
            <a:pPr algn="l">
              <a:spcBef>
                <a:spcPts val="0"/>
              </a:spcBef>
              <a:spcAft>
                <a:spcPts val="0"/>
              </a:spcAft>
            </a:pPr>
            <a:r>
              <a:rPr sz="1000" b="1" i="0" spc="260">
                <a:solidFill>
                  <a:srgbClr val="8C95DE"/>
                </a:solidFill>
                <a:latin typeface="Bahnschrift"/>
              </a:rPr>
              <a:t>FOR REVIEW BY</a:t>
            </a:r>
          </a:p>
        </p:txBody>
      </p:sp>
      <p:sp>
        <p:nvSpPr>
          <p:cNvPr id="10" name="TextBox 9"/>
          <p:cNvSpPr txBox="1"/>
          <p:nvPr/>
        </p:nvSpPr>
        <p:spPr>
          <a:xfrm>
            <a:off x="841248" y="3904487"/>
            <a:ext cx="6583680" cy="411480"/>
          </a:xfrm>
          <a:prstGeom prst="rect">
            <a:avLst/>
          </a:prstGeom>
          <a:noFill/>
        </p:spPr>
        <p:txBody>
          <a:bodyPr wrap="square" anchor="t" lIns="0" rIns="0" tIns="0" bIns="0">
            <a:spAutoFit/>
          </a:bodyPr>
          <a:lstStyle/>
          <a:p>
            <a:pPr algn="l">
              <a:spcBef>
                <a:spcPts val="0"/>
              </a:spcBef>
              <a:spcAft>
                <a:spcPts val="0"/>
              </a:spcAft>
            </a:pPr>
            <a:r>
              <a:rPr sz="1900" b="1" i="0">
                <a:solidFill>
                  <a:srgbClr val="FFFFFF"/>
                </a:solidFill>
                <a:latin typeface="Bahnschrift"/>
              </a:rPr>
              <a:t>Product Approval Committee</a:t>
            </a:r>
          </a:p>
        </p:txBody>
      </p:sp>
      <p:sp>
        <p:nvSpPr>
          <p:cNvPr id="11" name="Rectangle 10"/>
          <p:cNvSpPr/>
          <p:nvPr/>
        </p:nvSpPr>
        <p:spPr>
          <a:xfrm>
            <a:off x="841248" y="4462272"/>
            <a:ext cx="3108960" cy="27432"/>
          </a:xfrm>
          <a:prstGeom prst="rect">
            <a:avLst/>
          </a:prstGeom>
          <a:solidFill>
            <a:srgbClr val="F2A93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841248" y="4645152"/>
            <a:ext cx="6583680" cy="365760"/>
          </a:xfrm>
          <a:prstGeom prst="rect">
            <a:avLst/>
          </a:prstGeom>
          <a:noFill/>
        </p:spPr>
        <p:txBody>
          <a:bodyPr wrap="square" anchor="t" lIns="0" rIns="0" tIns="0" bIns="0">
            <a:spAutoFit/>
          </a:bodyPr>
          <a:lstStyle/>
          <a:p>
            <a:pPr algn="l">
              <a:spcBef>
                <a:spcPts val="0"/>
              </a:spcBef>
              <a:spcAft>
                <a:spcPts val="0"/>
              </a:spcAft>
            </a:pPr>
            <a:r>
              <a:rPr sz="1200" b="0" i="1">
                <a:solidFill>
                  <a:srgbClr val="C9CEF0"/>
                </a:solidFill>
                <a:latin typeface="Georgia"/>
              </a:rPr>
              <a:t>Methodology, workflow, controls, and the deliverable itself</a:t>
            </a:r>
          </a:p>
        </p:txBody>
      </p:sp>
      <p:sp>
        <p:nvSpPr>
          <p:cNvPr id="13" name="TextBox 12"/>
          <p:cNvSpPr txBox="1"/>
          <p:nvPr/>
        </p:nvSpPr>
        <p:spPr>
          <a:xfrm>
            <a:off x="841248" y="5980176"/>
            <a:ext cx="6766560" cy="457200"/>
          </a:xfrm>
          <a:prstGeom prst="rect">
            <a:avLst/>
          </a:prstGeom>
          <a:noFill/>
        </p:spPr>
        <p:txBody>
          <a:bodyPr wrap="square" anchor="t" lIns="0" rIns="0" tIns="0" bIns="0">
            <a:spAutoFit/>
          </a:bodyPr>
          <a:lstStyle/>
          <a:p>
            <a:pPr algn="l">
              <a:spcBef>
                <a:spcPts val="0"/>
              </a:spcBef>
              <a:spcAft>
                <a:spcPts val="0"/>
              </a:spcAft>
            </a:pPr>
            <a:r>
              <a:rPr sz="850" b="1" i="0" spc="120">
                <a:solidFill>
                  <a:srgbClr val="F2A93C"/>
                </a:solidFill>
                <a:latin typeface="Bahnschrift"/>
              </a:rPr>
              <a:t>INTERNAL   ·   </a:t>
            </a:r>
            <a:r>
              <a:rPr sz="850" b="0" i="0">
                <a:solidFill>
                  <a:srgbClr val="8C95DE"/>
                </a:solidFill>
                <a:latin typeface="Bahnschrift"/>
              </a:rPr>
              <a:t>Prepared by the Portfolio Review desk   ·   As of 2026-08-04   ·   Sample pages use a synthetic demo book, never a real client's holdings</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logo_clean.png"/>
          <p:cNvPicPr>
            <a:picLocks noChangeAspect="1"/>
          </p:cNvPicPr>
          <p:nvPr/>
        </p:nvPicPr>
        <p:blipFill>
          <a:blip r:embed="rId2"/>
          <a:stretch>
            <a:fillRect/>
          </a:stretch>
        </p:blipFill>
        <p:spPr>
          <a:xfrm>
            <a:off x="9674809" y="365760"/>
            <a:ext cx="1629918" cy="283464"/>
          </a:xfrm>
          <a:prstGeom prst="rect">
            <a:avLst/>
          </a:prstGeom>
        </p:spPr>
      </p:pic>
      <p:sp>
        <p:nvSpPr>
          <p:cNvPr id="4" name="TextBox 3"/>
          <p:cNvSpPr txBox="1"/>
          <p:nvPr/>
        </p:nvSpPr>
        <p:spPr>
          <a:xfrm>
            <a:off x="4541367" y="128016"/>
            <a:ext cx="3108960" cy="182880"/>
          </a:xfrm>
          <a:prstGeom prst="rect">
            <a:avLst/>
          </a:prstGeom>
          <a:noFill/>
        </p:spPr>
        <p:txBody>
          <a:bodyPr wrap="square" anchor="t" lIns="0" rIns="0" tIns="0" bIns="0">
            <a:spAutoFit/>
          </a:bodyPr>
          <a:lstStyle/>
          <a:p>
            <a:pPr algn="ctr">
              <a:spcBef>
                <a:spcPts val="0"/>
              </a:spcBef>
              <a:spcAft>
                <a:spcPts val="0"/>
              </a:spcAft>
            </a:pPr>
            <a:r>
              <a:rPr sz="750" b="0" i="0">
                <a:solidFill>
                  <a:srgbClr val="6B7280"/>
                </a:solidFill>
                <a:latin typeface="Bahnschrift"/>
              </a:rPr>
              <a:t>Private &amp; Confidential</a:t>
            </a:r>
          </a:p>
        </p:txBody>
      </p:sp>
      <p:sp>
        <p:nvSpPr>
          <p:cNvPr id="5" name="TextBox 4"/>
          <p:cNvSpPr txBox="1"/>
          <p:nvPr/>
        </p:nvSpPr>
        <p:spPr>
          <a:xfrm>
            <a:off x="7863840" y="274320"/>
            <a:ext cx="1749247" cy="201168"/>
          </a:xfrm>
          <a:prstGeom prst="rect">
            <a:avLst/>
          </a:prstGeom>
          <a:noFill/>
        </p:spPr>
        <p:txBody>
          <a:bodyPr wrap="square" anchor="t" lIns="0" rIns="0" tIns="0" bIns="0">
            <a:spAutoFit/>
          </a:bodyPr>
          <a:lstStyle/>
          <a:p>
            <a:pPr algn="r">
              <a:spcBef>
                <a:spcPts val="0"/>
              </a:spcBef>
              <a:spcAft>
                <a:spcPts val="0"/>
              </a:spcAft>
            </a:pPr>
            <a:r>
              <a:rPr sz="750" b="1" i="0" spc="120">
                <a:solidFill>
                  <a:srgbClr val="8C95DE"/>
                </a:solidFill>
                <a:latin typeface="Bahnschrift"/>
              </a:rPr>
              <a:t>00 · THE PROPOSAL</a:t>
            </a:r>
          </a:p>
        </p:txBody>
      </p:sp>
      <p:sp>
        <p:nvSpPr>
          <p:cNvPr id="6" name="Rectangle 5"/>
          <p:cNvSpPr/>
          <p:nvPr/>
        </p:nvSpPr>
        <p:spPr>
          <a:xfrm>
            <a:off x="8549640" y="512064"/>
            <a:ext cx="137160" cy="20116"/>
          </a:xfrm>
          <a:prstGeom prst="rect">
            <a:avLst/>
          </a:prstGeom>
          <a:solidFill>
            <a:srgbClr val="E5E7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8732519" y="512064"/>
            <a:ext cx="137160" cy="20116"/>
          </a:xfrm>
          <a:prstGeom prst="rect">
            <a:avLst/>
          </a:prstGeom>
          <a:solidFill>
            <a:srgbClr val="E5E7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8915400" y="512064"/>
            <a:ext cx="137160" cy="20116"/>
          </a:xfrm>
          <a:prstGeom prst="rect">
            <a:avLst/>
          </a:prstGeom>
          <a:solidFill>
            <a:srgbClr val="E5E7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9098280" y="512064"/>
            <a:ext cx="137160" cy="20116"/>
          </a:xfrm>
          <a:prstGeom prst="rect">
            <a:avLst/>
          </a:prstGeom>
          <a:solidFill>
            <a:srgbClr val="E5E7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9281160" y="512064"/>
            <a:ext cx="137160" cy="20116"/>
          </a:xfrm>
          <a:prstGeom prst="rect">
            <a:avLst/>
          </a:prstGeom>
          <a:solidFill>
            <a:srgbClr val="E5E7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41248" y="420624"/>
            <a:ext cx="6858000" cy="502920"/>
          </a:xfrm>
          <a:prstGeom prst="rect">
            <a:avLst/>
          </a:prstGeom>
          <a:noFill/>
        </p:spPr>
        <p:txBody>
          <a:bodyPr wrap="square" anchor="t" lIns="0" rIns="0" tIns="0" bIns="0">
            <a:spAutoFit/>
          </a:bodyPr>
          <a:lstStyle/>
          <a:p>
            <a:pPr algn="l">
              <a:spcBef>
                <a:spcPts val="0"/>
              </a:spcBef>
              <a:spcAft>
                <a:spcPts val="0"/>
              </a:spcAft>
            </a:pPr>
            <a:r>
              <a:rPr sz="2600" b="1" i="0">
                <a:solidFill>
                  <a:srgbClr val="1B27A3"/>
                </a:solidFill>
                <a:latin typeface="Bahnschrift"/>
              </a:rPr>
              <a:t>What is being approved</a:t>
            </a:r>
          </a:p>
        </p:txBody>
      </p:sp>
      <p:sp>
        <p:nvSpPr>
          <p:cNvPr id="12" name="TextBox 11"/>
          <p:cNvSpPr txBox="1"/>
          <p:nvPr/>
        </p:nvSpPr>
        <p:spPr>
          <a:xfrm>
            <a:off x="841248" y="950976"/>
            <a:ext cx="9692640" cy="411480"/>
          </a:xfrm>
          <a:prstGeom prst="rect">
            <a:avLst/>
          </a:prstGeom>
          <a:noFill/>
        </p:spPr>
        <p:txBody>
          <a:bodyPr wrap="square" anchor="t" lIns="0" rIns="0" tIns="0" bIns="0">
            <a:spAutoFit/>
          </a:bodyPr>
          <a:lstStyle/>
          <a:p>
            <a:pPr algn="l">
              <a:spcBef>
                <a:spcPts val="0"/>
              </a:spcBef>
              <a:spcAft>
                <a:spcPts val="0"/>
              </a:spcAft>
            </a:pPr>
            <a:r>
              <a:rPr sz="1700" b="1" i="0">
                <a:solidFill>
                  <a:srgbClr val="F2A93C"/>
                </a:solidFill>
                <a:latin typeface="Bahnschrift"/>
              </a:rPr>
              <a:t>A scored, evidence-backed portfolio review, produced as a repeatable product</a:t>
            </a:r>
          </a:p>
        </p:txBody>
      </p:sp>
      <p:sp>
        <p:nvSpPr>
          <p:cNvPr id="13" name="Rectangle 12"/>
          <p:cNvSpPr/>
          <p:nvPr/>
        </p:nvSpPr>
        <p:spPr>
          <a:xfrm>
            <a:off x="841248" y="1408176"/>
            <a:ext cx="10509199" cy="21945"/>
          </a:xfrm>
          <a:prstGeom prst="rect">
            <a:avLst/>
          </a:prstGeom>
          <a:solidFill>
            <a:srgbClr val="1B27A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9155887" y="6528816"/>
            <a:ext cx="2194560" cy="182880"/>
          </a:xfrm>
          <a:prstGeom prst="rect">
            <a:avLst/>
          </a:prstGeom>
          <a:noFill/>
        </p:spPr>
        <p:txBody>
          <a:bodyPr wrap="square" anchor="t" lIns="0" rIns="0" tIns="0" bIns="0">
            <a:spAutoFit/>
          </a:bodyPr>
          <a:lstStyle/>
          <a:p>
            <a:pPr algn="r">
              <a:spcBef>
                <a:spcPts val="0"/>
              </a:spcBef>
              <a:spcAft>
                <a:spcPts val="0"/>
              </a:spcAft>
            </a:pPr>
            <a:r>
              <a:rPr sz="750" b="0" i="0">
                <a:solidFill>
                  <a:srgbClr val="6B7280"/>
                </a:solidFill>
                <a:latin typeface="Bahnschrift"/>
              </a:rPr>
              <a:t>Portfolio Review  ·  02</a:t>
            </a:r>
          </a:p>
        </p:txBody>
      </p:sp>
      <p:sp>
        <p:nvSpPr>
          <p:cNvPr id="15" name="TextBox 14"/>
          <p:cNvSpPr txBox="1"/>
          <p:nvPr/>
        </p:nvSpPr>
        <p:spPr>
          <a:xfrm>
            <a:off x="841248" y="1627632"/>
            <a:ext cx="2490139" cy="457200"/>
          </a:xfrm>
          <a:prstGeom prst="rect">
            <a:avLst/>
          </a:prstGeom>
          <a:noFill/>
        </p:spPr>
        <p:txBody>
          <a:bodyPr wrap="square" anchor="t" lIns="0" rIns="0" tIns="0" bIns="0">
            <a:spAutoFit/>
          </a:bodyPr>
          <a:lstStyle/>
          <a:p>
            <a:pPr algn="l">
              <a:spcBef>
                <a:spcPts val="0"/>
              </a:spcBef>
              <a:spcAft>
                <a:spcPts val="0"/>
              </a:spcAft>
            </a:pPr>
            <a:r>
              <a:rPr sz="2700" b="0" i="0">
                <a:solidFill>
                  <a:srgbClr val="1B27A3"/>
                </a:solidFill>
                <a:latin typeface="Bahnschrift"/>
              </a:rPr>
              <a:t>751 / 751</a:t>
            </a:r>
          </a:p>
        </p:txBody>
      </p:sp>
      <p:sp>
        <p:nvSpPr>
          <p:cNvPr id="16" name="TextBox 15"/>
          <p:cNvSpPr txBox="1"/>
          <p:nvPr/>
        </p:nvSpPr>
        <p:spPr>
          <a:xfrm>
            <a:off x="841248" y="2103120"/>
            <a:ext cx="2490139" cy="173736"/>
          </a:xfrm>
          <a:prstGeom prst="rect">
            <a:avLst/>
          </a:prstGeom>
          <a:noFill/>
        </p:spPr>
        <p:txBody>
          <a:bodyPr wrap="square" anchor="t" lIns="0" rIns="0" tIns="0" bIns="0">
            <a:spAutoFit/>
          </a:bodyPr>
          <a:lstStyle/>
          <a:p>
            <a:pPr algn="l">
              <a:lnSpc>
                <a:spcPct val="100000"/>
              </a:lnSpc>
              <a:spcBef>
                <a:spcPts val="0"/>
              </a:spcBef>
              <a:spcAft>
                <a:spcPts val="0"/>
              </a:spcAft>
            </a:pPr>
            <a:r>
              <a:rPr sz="800" b="1" i="0" spc="200">
                <a:solidFill>
                  <a:srgbClr val="6B7280"/>
                </a:solidFill>
                <a:latin typeface="Bahnschrift"/>
              </a:rPr>
              <a:t>STOCKS SCORED</a:t>
            </a:r>
          </a:p>
        </p:txBody>
      </p:sp>
      <p:sp>
        <p:nvSpPr>
          <p:cNvPr id="17" name="TextBox 16"/>
          <p:cNvSpPr txBox="1"/>
          <p:nvPr/>
        </p:nvSpPr>
        <p:spPr>
          <a:xfrm>
            <a:off x="841248" y="2286000"/>
            <a:ext cx="2490139" cy="182880"/>
          </a:xfrm>
          <a:prstGeom prst="rect">
            <a:avLst/>
          </a:prstGeom>
          <a:noFill/>
        </p:spPr>
        <p:txBody>
          <a:bodyPr wrap="square" anchor="t" lIns="0" rIns="0" tIns="0" bIns="0">
            <a:spAutoFit/>
          </a:bodyPr>
          <a:lstStyle/>
          <a:p>
            <a:pPr algn="l">
              <a:spcBef>
                <a:spcPts val="0"/>
              </a:spcBef>
              <a:spcAft>
                <a:spcPts val="0"/>
              </a:spcAft>
            </a:pPr>
            <a:r>
              <a:rPr sz="800" b="0" i="0">
                <a:solidFill>
                  <a:srgbClr val="8C95DE"/>
                </a:solidFill>
                <a:latin typeface="Bahnschrift"/>
              </a:rPr>
              <a:t>quant + analyst</a:t>
            </a:r>
          </a:p>
        </p:txBody>
      </p:sp>
      <p:sp>
        <p:nvSpPr>
          <p:cNvPr id="18" name="TextBox 17"/>
          <p:cNvSpPr txBox="1"/>
          <p:nvPr/>
        </p:nvSpPr>
        <p:spPr>
          <a:xfrm>
            <a:off x="3468547" y="1627632"/>
            <a:ext cx="2490139" cy="457200"/>
          </a:xfrm>
          <a:prstGeom prst="rect">
            <a:avLst/>
          </a:prstGeom>
          <a:noFill/>
        </p:spPr>
        <p:txBody>
          <a:bodyPr wrap="square" anchor="t" lIns="0" rIns="0" tIns="0" bIns="0">
            <a:spAutoFit/>
          </a:bodyPr>
          <a:lstStyle/>
          <a:p>
            <a:pPr algn="l">
              <a:spcBef>
                <a:spcPts val="0"/>
              </a:spcBef>
              <a:spcAft>
                <a:spcPts val="0"/>
              </a:spcAft>
            </a:pPr>
            <a:r>
              <a:rPr sz="2700" b="0" i="0">
                <a:solidFill>
                  <a:srgbClr val="16233B"/>
                </a:solidFill>
                <a:latin typeface="Bahnschrift"/>
              </a:rPr>
              <a:t>3</a:t>
            </a:r>
          </a:p>
        </p:txBody>
      </p:sp>
      <p:sp>
        <p:nvSpPr>
          <p:cNvPr id="19" name="TextBox 18"/>
          <p:cNvSpPr txBox="1"/>
          <p:nvPr/>
        </p:nvSpPr>
        <p:spPr>
          <a:xfrm>
            <a:off x="3468547" y="2103120"/>
            <a:ext cx="2490139" cy="173736"/>
          </a:xfrm>
          <a:prstGeom prst="rect">
            <a:avLst/>
          </a:prstGeom>
          <a:noFill/>
        </p:spPr>
        <p:txBody>
          <a:bodyPr wrap="square" anchor="t" lIns="0" rIns="0" tIns="0" bIns="0">
            <a:spAutoFit/>
          </a:bodyPr>
          <a:lstStyle/>
          <a:p>
            <a:pPr algn="l">
              <a:lnSpc>
                <a:spcPct val="100000"/>
              </a:lnSpc>
              <a:spcBef>
                <a:spcPts val="0"/>
              </a:spcBef>
              <a:spcAft>
                <a:spcPts val="0"/>
              </a:spcAft>
            </a:pPr>
            <a:r>
              <a:rPr sz="800" b="1" i="0" spc="200">
                <a:solidFill>
                  <a:srgbClr val="6B7280"/>
                </a:solidFill>
                <a:latin typeface="Bahnschrift"/>
              </a:rPr>
              <a:t>CLIENT TIERS</a:t>
            </a:r>
          </a:p>
        </p:txBody>
      </p:sp>
      <p:sp>
        <p:nvSpPr>
          <p:cNvPr id="20" name="TextBox 19"/>
          <p:cNvSpPr txBox="1"/>
          <p:nvPr/>
        </p:nvSpPr>
        <p:spPr>
          <a:xfrm>
            <a:off x="3468547" y="2286000"/>
            <a:ext cx="2490139" cy="182880"/>
          </a:xfrm>
          <a:prstGeom prst="rect">
            <a:avLst/>
          </a:prstGeom>
          <a:noFill/>
        </p:spPr>
        <p:txBody>
          <a:bodyPr wrap="square" anchor="t" lIns="0" rIns="0" tIns="0" bIns="0">
            <a:spAutoFit/>
          </a:bodyPr>
          <a:lstStyle/>
          <a:p>
            <a:pPr algn="l">
              <a:spcBef>
                <a:spcPts val="0"/>
              </a:spcBef>
              <a:spcAft>
                <a:spcPts val="0"/>
              </a:spcAft>
            </a:pPr>
            <a:r>
              <a:rPr sz="800" b="0" i="0">
                <a:solidFill>
                  <a:srgbClr val="8C95DE"/>
                </a:solidFill>
                <a:latin typeface="Bahnschrift"/>
              </a:rPr>
              <a:t>depth by audience</a:t>
            </a:r>
          </a:p>
        </p:txBody>
      </p:sp>
      <p:sp>
        <p:nvSpPr>
          <p:cNvPr id="21" name="Rectangle 20"/>
          <p:cNvSpPr/>
          <p:nvPr/>
        </p:nvSpPr>
        <p:spPr>
          <a:xfrm>
            <a:off x="3413683" y="1673352"/>
            <a:ext cx="7315" cy="566928"/>
          </a:xfrm>
          <a:prstGeom prst="rect">
            <a:avLst/>
          </a:prstGeom>
          <a:solidFill>
            <a:srgbClr val="E5E7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095847" y="1627632"/>
            <a:ext cx="2490139" cy="457200"/>
          </a:xfrm>
          <a:prstGeom prst="rect">
            <a:avLst/>
          </a:prstGeom>
          <a:noFill/>
        </p:spPr>
        <p:txBody>
          <a:bodyPr wrap="square" anchor="t" lIns="0" rIns="0" tIns="0" bIns="0">
            <a:spAutoFit/>
          </a:bodyPr>
          <a:lstStyle/>
          <a:p>
            <a:pPr algn="l">
              <a:spcBef>
                <a:spcPts val="0"/>
              </a:spcBef>
              <a:spcAft>
                <a:spcPts val="0"/>
              </a:spcAft>
            </a:pPr>
            <a:r>
              <a:rPr sz="2700" b="0" i="0">
                <a:solidFill>
                  <a:srgbClr val="16233B"/>
                </a:solidFill>
                <a:latin typeface="Bahnschrift"/>
              </a:rPr>
              <a:t>60</a:t>
            </a:r>
          </a:p>
        </p:txBody>
      </p:sp>
      <p:sp>
        <p:nvSpPr>
          <p:cNvPr id="23" name="TextBox 22"/>
          <p:cNvSpPr txBox="1"/>
          <p:nvPr/>
        </p:nvSpPr>
        <p:spPr>
          <a:xfrm>
            <a:off x="6095847" y="2103120"/>
            <a:ext cx="2490139" cy="173736"/>
          </a:xfrm>
          <a:prstGeom prst="rect">
            <a:avLst/>
          </a:prstGeom>
          <a:noFill/>
        </p:spPr>
        <p:txBody>
          <a:bodyPr wrap="square" anchor="t" lIns="0" rIns="0" tIns="0" bIns="0">
            <a:spAutoFit/>
          </a:bodyPr>
          <a:lstStyle/>
          <a:p>
            <a:pPr algn="l">
              <a:lnSpc>
                <a:spcPct val="100000"/>
              </a:lnSpc>
              <a:spcBef>
                <a:spcPts val="0"/>
              </a:spcBef>
              <a:spcAft>
                <a:spcPts val="0"/>
              </a:spcAft>
            </a:pPr>
            <a:r>
              <a:rPr sz="800" b="1" i="0" spc="200">
                <a:solidFill>
                  <a:srgbClr val="6B7280"/>
                </a:solidFill>
                <a:latin typeface="Bahnschrift"/>
              </a:rPr>
              <a:t>PAGE MODULES</a:t>
            </a:r>
          </a:p>
        </p:txBody>
      </p:sp>
      <p:sp>
        <p:nvSpPr>
          <p:cNvPr id="24" name="TextBox 23"/>
          <p:cNvSpPr txBox="1"/>
          <p:nvPr/>
        </p:nvSpPr>
        <p:spPr>
          <a:xfrm>
            <a:off x="6095847" y="2286000"/>
            <a:ext cx="2490139" cy="182880"/>
          </a:xfrm>
          <a:prstGeom prst="rect">
            <a:avLst/>
          </a:prstGeom>
          <a:noFill/>
        </p:spPr>
        <p:txBody>
          <a:bodyPr wrap="square" anchor="t" lIns="0" rIns="0" tIns="0" bIns="0">
            <a:spAutoFit/>
          </a:bodyPr>
          <a:lstStyle/>
          <a:p>
            <a:pPr algn="l">
              <a:spcBef>
                <a:spcPts val="0"/>
              </a:spcBef>
              <a:spcAft>
                <a:spcPts val="0"/>
              </a:spcAft>
            </a:pPr>
            <a:r>
              <a:rPr sz="800" b="0" i="0">
                <a:solidFill>
                  <a:srgbClr val="8C95DE"/>
                </a:solidFill>
                <a:latin typeface="Bahnschrift"/>
              </a:rPr>
              <a:t>one library</a:t>
            </a:r>
          </a:p>
        </p:txBody>
      </p:sp>
      <p:sp>
        <p:nvSpPr>
          <p:cNvPr id="25" name="Rectangle 24"/>
          <p:cNvSpPr/>
          <p:nvPr/>
        </p:nvSpPr>
        <p:spPr>
          <a:xfrm>
            <a:off x="6040983" y="1673352"/>
            <a:ext cx="7315" cy="566928"/>
          </a:xfrm>
          <a:prstGeom prst="rect">
            <a:avLst/>
          </a:prstGeom>
          <a:solidFill>
            <a:srgbClr val="E5E7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8723147" y="1627632"/>
            <a:ext cx="2490139" cy="457200"/>
          </a:xfrm>
          <a:prstGeom prst="rect">
            <a:avLst/>
          </a:prstGeom>
          <a:noFill/>
        </p:spPr>
        <p:txBody>
          <a:bodyPr wrap="square" anchor="t" lIns="0" rIns="0" tIns="0" bIns="0">
            <a:spAutoFit/>
          </a:bodyPr>
          <a:lstStyle/>
          <a:p>
            <a:pPr algn="l">
              <a:spcBef>
                <a:spcPts val="0"/>
              </a:spcBef>
              <a:spcAft>
                <a:spcPts val="0"/>
              </a:spcAft>
            </a:pPr>
            <a:r>
              <a:rPr sz="2700" b="0" i="0">
                <a:solidFill>
                  <a:srgbClr val="1E9E6A"/>
                </a:solidFill>
                <a:latin typeface="Bahnschrift"/>
              </a:rPr>
              <a:t>4</a:t>
            </a:r>
          </a:p>
        </p:txBody>
      </p:sp>
      <p:sp>
        <p:nvSpPr>
          <p:cNvPr id="27" name="TextBox 26"/>
          <p:cNvSpPr txBox="1"/>
          <p:nvPr/>
        </p:nvSpPr>
        <p:spPr>
          <a:xfrm>
            <a:off x="8723147" y="2103120"/>
            <a:ext cx="2490139" cy="173736"/>
          </a:xfrm>
          <a:prstGeom prst="rect">
            <a:avLst/>
          </a:prstGeom>
          <a:noFill/>
        </p:spPr>
        <p:txBody>
          <a:bodyPr wrap="square" anchor="t" lIns="0" rIns="0" tIns="0" bIns="0">
            <a:spAutoFit/>
          </a:bodyPr>
          <a:lstStyle/>
          <a:p>
            <a:pPr algn="l">
              <a:lnSpc>
                <a:spcPct val="100000"/>
              </a:lnSpc>
              <a:spcBef>
                <a:spcPts val="0"/>
              </a:spcBef>
              <a:spcAft>
                <a:spcPts val="0"/>
              </a:spcAft>
            </a:pPr>
            <a:r>
              <a:rPr sz="800" b="1" i="0" spc="200">
                <a:solidFill>
                  <a:srgbClr val="6B7280"/>
                </a:solidFill>
                <a:latin typeface="Bahnschrift"/>
              </a:rPr>
              <a:t>QA GATE LAYERS</a:t>
            </a:r>
          </a:p>
        </p:txBody>
      </p:sp>
      <p:sp>
        <p:nvSpPr>
          <p:cNvPr id="28" name="TextBox 27"/>
          <p:cNvSpPr txBox="1"/>
          <p:nvPr/>
        </p:nvSpPr>
        <p:spPr>
          <a:xfrm>
            <a:off x="8723147" y="2286000"/>
            <a:ext cx="2490139" cy="182880"/>
          </a:xfrm>
          <a:prstGeom prst="rect">
            <a:avLst/>
          </a:prstGeom>
          <a:noFill/>
        </p:spPr>
        <p:txBody>
          <a:bodyPr wrap="square" anchor="t" lIns="0" rIns="0" tIns="0" bIns="0">
            <a:spAutoFit/>
          </a:bodyPr>
          <a:lstStyle/>
          <a:p>
            <a:pPr algn="l">
              <a:spcBef>
                <a:spcPts val="0"/>
              </a:spcBef>
              <a:spcAft>
                <a:spcPts val="0"/>
              </a:spcAft>
            </a:pPr>
            <a:r>
              <a:rPr sz="800" b="0" i="0">
                <a:solidFill>
                  <a:srgbClr val="8C95DE"/>
                </a:solidFill>
                <a:latin typeface="Bahnschrift"/>
              </a:rPr>
              <a:t>all must pass</a:t>
            </a:r>
          </a:p>
        </p:txBody>
      </p:sp>
      <p:sp>
        <p:nvSpPr>
          <p:cNvPr id="29" name="Rectangle 28"/>
          <p:cNvSpPr/>
          <p:nvPr/>
        </p:nvSpPr>
        <p:spPr>
          <a:xfrm>
            <a:off x="8668283" y="1673352"/>
            <a:ext cx="7315" cy="566928"/>
          </a:xfrm>
          <a:prstGeom prst="rect">
            <a:avLst/>
          </a:prstGeom>
          <a:solidFill>
            <a:srgbClr val="E5E7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841248" y="2852927"/>
            <a:ext cx="68580" cy="68580"/>
          </a:xfrm>
          <a:prstGeom prst="rect">
            <a:avLst/>
          </a:prstGeom>
          <a:solidFill>
            <a:srgbClr val="F2A93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1060704" y="2756915"/>
            <a:ext cx="4894783" cy="475488"/>
          </a:xfrm>
          <a:prstGeom prst="rect">
            <a:avLst/>
          </a:prstGeom>
          <a:noFill/>
        </p:spPr>
        <p:txBody>
          <a:bodyPr wrap="square" anchor="t" lIns="0" rIns="0" tIns="0" bIns="0">
            <a:spAutoFit/>
          </a:bodyPr>
          <a:lstStyle/>
          <a:p>
            <a:pPr algn="l">
              <a:lnSpc>
                <a:spcPct val="106000"/>
              </a:lnSpc>
              <a:spcBef>
                <a:spcPts val="0"/>
              </a:spcBef>
              <a:spcAft>
                <a:spcPts val="0"/>
              </a:spcAft>
            </a:pPr>
            <a:r>
              <a:rPr sz="1100" b="0" i="0">
                <a:solidFill>
                  <a:srgbClr val="16233B"/>
                </a:solidFill>
                <a:latin typeface="Georgia"/>
              </a:rPr>
              <a:t>The product is a client portfolio review: every direct holding and every fund carries a score, a call and a written reason.</a:t>
            </a:r>
          </a:p>
        </p:txBody>
      </p:sp>
      <p:sp>
        <p:nvSpPr>
          <p:cNvPr id="32" name="Rectangle 31"/>
          <p:cNvSpPr/>
          <p:nvPr/>
        </p:nvSpPr>
        <p:spPr>
          <a:xfrm>
            <a:off x="841248" y="3419856"/>
            <a:ext cx="68580" cy="68580"/>
          </a:xfrm>
          <a:prstGeom prst="rect">
            <a:avLst/>
          </a:prstGeom>
          <a:solidFill>
            <a:srgbClr val="F2A93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1060704" y="3323844"/>
            <a:ext cx="4894783" cy="475488"/>
          </a:xfrm>
          <a:prstGeom prst="rect">
            <a:avLst/>
          </a:prstGeom>
          <a:noFill/>
        </p:spPr>
        <p:txBody>
          <a:bodyPr wrap="square" anchor="t" lIns="0" rIns="0" tIns="0" bIns="0">
            <a:spAutoFit/>
          </a:bodyPr>
          <a:lstStyle/>
          <a:p>
            <a:pPr algn="l">
              <a:lnSpc>
                <a:spcPct val="106000"/>
              </a:lnSpc>
              <a:spcBef>
                <a:spcPts val="0"/>
              </a:spcBef>
              <a:spcAft>
                <a:spcPts val="0"/>
              </a:spcAft>
            </a:pPr>
            <a:r>
              <a:rPr sz="1100" b="0" i="0">
                <a:solidFill>
                  <a:srgbClr val="16233B"/>
                </a:solidFill>
                <a:latin typeface="Georgia"/>
              </a:rPr>
              <a:t>The engine is frozen and rerunnable. The same holdings file produces the same deck, and every number traces to a source.</a:t>
            </a:r>
          </a:p>
        </p:txBody>
      </p:sp>
      <p:sp>
        <p:nvSpPr>
          <p:cNvPr id="34" name="Rectangle 33"/>
          <p:cNvSpPr/>
          <p:nvPr/>
        </p:nvSpPr>
        <p:spPr>
          <a:xfrm>
            <a:off x="841248" y="3986784"/>
            <a:ext cx="68580" cy="68580"/>
          </a:xfrm>
          <a:prstGeom prst="rect">
            <a:avLst/>
          </a:prstGeom>
          <a:solidFill>
            <a:srgbClr val="F2A93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1060704" y="3890772"/>
            <a:ext cx="4894783" cy="274320"/>
          </a:xfrm>
          <a:prstGeom prst="rect">
            <a:avLst/>
          </a:prstGeom>
          <a:noFill/>
        </p:spPr>
        <p:txBody>
          <a:bodyPr wrap="square" anchor="t" lIns="0" rIns="0" tIns="0" bIns="0">
            <a:spAutoFit/>
          </a:bodyPr>
          <a:lstStyle/>
          <a:p>
            <a:pPr algn="l">
              <a:lnSpc>
                <a:spcPct val="106000"/>
              </a:lnSpc>
              <a:spcBef>
                <a:spcPts val="0"/>
              </a:spcBef>
              <a:spcAft>
                <a:spcPts val="0"/>
              </a:spcAft>
            </a:pPr>
            <a:r>
              <a:rPr sz="1100" b="0" i="0">
                <a:solidFill>
                  <a:srgbClr val="16233B"/>
                </a:solidFill>
                <a:latin typeface="Georgia"/>
              </a:rPr>
              <a:t>It reviews existing holdings only, and the vocabulary is Sell, Trim or Hold.</a:t>
            </a:r>
          </a:p>
        </p:txBody>
      </p:sp>
      <p:sp>
        <p:nvSpPr>
          <p:cNvPr id="36" name="Rectangle 35"/>
          <p:cNvSpPr/>
          <p:nvPr/>
        </p:nvSpPr>
        <p:spPr>
          <a:xfrm>
            <a:off x="841248" y="4370832"/>
            <a:ext cx="68580" cy="68580"/>
          </a:xfrm>
          <a:prstGeom prst="rect">
            <a:avLst/>
          </a:prstGeom>
          <a:solidFill>
            <a:srgbClr val="F2A93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1060704" y="4274820"/>
            <a:ext cx="4894783" cy="475488"/>
          </a:xfrm>
          <a:prstGeom prst="rect">
            <a:avLst/>
          </a:prstGeom>
          <a:noFill/>
        </p:spPr>
        <p:txBody>
          <a:bodyPr wrap="square" anchor="t" lIns="0" rIns="0" tIns="0" bIns="0">
            <a:spAutoFit/>
          </a:bodyPr>
          <a:lstStyle/>
          <a:p>
            <a:pPr algn="l">
              <a:lnSpc>
                <a:spcPct val="106000"/>
              </a:lnSpc>
              <a:spcBef>
                <a:spcPts val="0"/>
              </a:spcBef>
              <a:spcAft>
                <a:spcPts val="0"/>
              </a:spcAft>
            </a:pPr>
            <a:r>
              <a:rPr sz="1100" b="0" i="0">
                <a:solidFill>
                  <a:srgbClr val="16233B"/>
                </a:solidFill>
                <a:latin typeface="Georgia"/>
              </a:rPr>
              <a:t>Three depth tiers serve a family office, a typical NDPMS client and an RM-led conversation from one module library.</a:t>
            </a:r>
          </a:p>
        </p:txBody>
      </p:sp>
      <p:sp>
        <p:nvSpPr>
          <p:cNvPr id="38" name="Rounded Rectangle 37"/>
          <p:cNvSpPr/>
          <p:nvPr/>
        </p:nvSpPr>
        <p:spPr>
          <a:xfrm>
            <a:off x="6229807" y="2788920"/>
            <a:ext cx="5120640" cy="1581912"/>
          </a:xfrm>
          <a:prstGeom prst="roundRect">
            <a:avLst>
              <a:gd name="adj" fmla="val 4000"/>
            </a:avLst>
          </a:prstGeom>
          <a:solidFill>
            <a:srgbClr val="FBEFD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Rectangle 38"/>
          <p:cNvSpPr/>
          <p:nvPr/>
        </p:nvSpPr>
        <p:spPr>
          <a:xfrm>
            <a:off x="6229807" y="2788920"/>
            <a:ext cx="54864" cy="1581912"/>
          </a:xfrm>
          <a:prstGeom prst="rect">
            <a:avLst/>
          </a:prstGeom>
          <a:solidFill>
            <a:srgbClr val="F2A93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6430975" y="2916936"/>
            <a:ext cx="4754879" cy="274320"/>
          </a:xfrm>
          <a:prstGeom prst="rect">
            <a:avLst/>
          </a:prstGeom>
          <a:noFill/>
        </p:spPr>
        <p:txBody>
          <a:bodyPr wrap="square" anchor="t" lIns="0" rIns="0" tIns="0" bIns="0">
            <a:spAutoFit/>
          </a:bodyPr>
          <a:lstStyle/>
          <a:p>
            <a:pPr algn="l">
              <a:spcBef>
                <a:spcPts val="0"/>
              </a:spcBef>
              <a:spcAft>
                <a:spcPts val="0"/>
              </a:spcAft>
            </a:pPr>
            <a:r>
              <a:rPr sz="950" b="1" i="0" spc="60">
                <a:solidFill>
                  <a:srgbClr val="92400E"/>
                </a:solidFill>
                <a:latin typeface="Bahnschrift"/>
              </a:rPr>
              <a:t>THE APPROVAL SOUGHT</a:t>
            </a:r>
          </a:p>
        </p:txBody>
      </p:sp>
      <p:sp>
        <p:nvSpPr>
          <p:cNvPr id="41" name="TextBox 40"/>
          <p:cNvSpPr txBox="1"/>
          <p:nvPr/>
        </p:nvSpPr>
        <p:spPr>
          <a:xfrm>
            <a:off x="6430975" y="3191256"/>
            <a:ext cx="4754879" cy="1124712"/>
          </a:xfrm>
          <a:prstGeom prst="rect">
            <a:avLst/>
          </a:prstGeom>
          <a:noFill/>
        </p:spPr>
        <p:txBody>
          <a:bodyPr wrap="square" anchor="t" lIns="0" rIns="0" tIns="0" bIns="0">
            <a:spAutoFit/>
          </a:bodyPr>
          <a:lstStyle/>
          <a:p>
            <a:pPr algn="l">
              <a:lnSpc>
                <a:spcPct val="106000"/>
              </a:lnSpc>
              <a:spcBef>
                <a:spcPts val="0"/>
              </a:spcBef>
              <a:spcAft>
                <a:spcPts val="0"/>
              </a:spcAft>
            </a:pPr>
            <a:r>
              <a:rPr sz="1050" b="0" i="0">
                <a:solidFill>
                  <a:srgbClr val="16233B"/>
                </a:solidFill>
                <a:latin typeface="Georgia"/>
              </a:rPr>
              <a:t>Sign-off to use this engine as the standard NDPMS review deliverable for onboarding and periodic reviews, on the frozen methodology and the four-layer quality gate described here. Two real client books have already been produced end to end under this process.</a:t>
            </a:r>
          </a:p>
        </p:txBody>
      </p:sp>
      <p:sp>
        <p:nvSpPr>
          <p:cNvPr id="42" name="TextBox 41"/>
          <p:cNvSpPr txBox="1"/>
          <p:nvPr/>
        </p:nvSpPr>
        <p:spPr>
          <a:xfrm>
            <a:off x="841248" y="6089904"/>
            <a:ext cx="10509199" cy="219456"/>
          </a:xfrm>
          <a:prstGeom prst="rect">
            <a:avLst/>
          </a:prstGeom>
          <a:noFill/>
        </p:spPr>
        <p:txBody>
          <a:bodyPr wrap="square" anchor="t" lIns="0" rIns="0" tIns="0" bIns="0">
            <a:spAutoFit/>
          </a:bodyPr>
          <a:lstStyle/>
          <a:p>
            <a:pPr algn="l">
              <a:spcBef>
                <a:spcPts val="0"/>
              </a:spcBef>
              <a:spcAft>
                <a:spcPts val="0"/>
              </a:spcAft>
            </a:pPr>
            <a:r>
              <a:rPr sz="700" b="0" i="0">
                <a:solidFill>
                  <a:srgbClr val="6B7280"/>
                </a:solidFill>
                <a:latin typeface="Bahnschrift"/>
              </a:rPr>
              <a:t>Coverage as of 2026-08-03. Sample pages in this deck are rendered from a synthetic demo book.</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logo_clean.png"/>
          <p:cNvPicPr>
            <a:picLocks noChangeAspect="1"/>
          </p:cNvPicPr>
          <p:nvPr/>
        </p:nvPicPr>
        <p:blipFill>
          <a:blip r:embed="rId2"/>
          <a:stretch>
            <a:fillRect/>
          </a:stretch>
        </p:blipFill>
        <p:spPr>
          <a:xfrm>
            <a:off x="9674809" y="365760"/>
            <a:ext cx="1629918" cy="283464"/>
          </a:xfrm>
          <a:prstGeom prst="rect">
            <a:avLst/>
          </a:prstGeom>
        </p:spPr>
      </p:pic>
      <p:sp>
        <p:nvSpPr>
          <p:cNvPr id="4" name="TextBox 3"/>
          <p:cNvSpPr txBox="1"/>
          <p:nvPr/>
        </p:nvSpPr>
        <p:spPr>
          <a:xfrm>
            <a:off x="4541367" y="128016"/>
            <a:ext cx="3108960" cy="182880"/>
          </a:xfrm>
          <a:prstGeom prst="rect">
            <a:avLst/>
          </a:prstGeom>
          <a:noFill/>
        </p:spPr>
        <p:txBody>
          <a:bodyPr wrap="square" anchor="t" lIns="0" rIns="0" tIns="0" bIns="0">
            <a:spAutoFit/>
          </a:bodyPr>
          <a:lstStyle/>
          <a:p>
            <a:pPr algn="ctr">
              <a:spcBef>
                <a:spcPts val="0"/>
              </a:spcBef>
              <a:spcAft>
                <a:spcPts val="0"/>
              </a:spcAft>
            </a:pPr>
            <a:r>
              <a:rPr sz="750" b="0" i="0">
                <a:solidFill>
                  <a:srgbClr val="6B7280"/>
                </a:solidFill>
                <a:latin typeface="Bahnschrift"/>
              </a:rPr>
              <a:t>Private &amp; Confidential</a:t>
            </a:r>
          </a:p>
        </p:txBody>
      </p:sp>
      <p:sp>
        <p:nvSpPr>
          <p:cNvPr id="5" name="TextBox 4"/>
          <p:cNvSpPr txBox="1"/>
          <p:nvPr/>
        </p:nvSpPr>
        <p:spPr>
          <a:xfrm>
            <a:off x="7863840" y="274320"/>
            <a:ext cx="1749247" cy="201168"/>
          </a:xfrm>
          <a:prstGeom prst="rect">
            <a:avLst/>
          </a:prstGeom>
          <a:noFill/>
        </p:spPr>
        <p:txBody>
          <a:bodyPr wrap="square" anchor="t" lIns="0" rIns="0" tIns="0" bIns="0">
            <a:spAutoFit/>
          </a:bodyPr>
          <a:lstStyle/>
          <a:p>
            <a:pPr algn="r">
              <a:spcBef>
                <a:spcPts val="0"/>
              </a:spcBef>
              <a:spcAft>
                <a:spcPts val="0"/>
              </a:spcAft>
            </a:pPr>
            <a:r>
              <a:rPr sz="750" b="1" i="0" spc="120">
                <a:solidFill>
                  <a:srgbClr val="8C95DE"/>
                </a:solidFill>
                <a:latin typeface="Bahnschrift"/>
              </a:rPr>
              <a:t>00 · THE PROPOSAL</a:t>
            </a:r>
          </a:p>
        </p:txBody>
      </p:sp>
      <p:sp>
        <p:nvSpPr>
          <p:cNvPr id="6" name="Rectangle 5"/>
          <p:cNvSpPr/>
          <p:nvPr/>
        </p:nvSpPr>
        <p:spPr>
          <a:xfrm>
            <a:off x="8549640" y="512064"/>
            <a:ext cx="137160" cy="20116"/>
          </a:xfrm>
          <a:prstGeom prst="rect">
            <a:avLst/>
          </a:prstGeom>
          <a:solidFill>
            <a:srgbClr val="E5E7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8732519" y="512064"/>
            <a:ext cx="137160" cy="20116"/>
          </a:xfrm>
          <a:prstGeom prst="rect">
            <a:avLst/>
          </a:prstGeom>
          <a:solidFill>
            <a:srgbClr val="E5E7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8915400" y="512064"/>
            <a:ext cx="137160" cy="20116"/>
          </a:xfrm>
          <a:prstGeom prst="rect">
            <a:avLst/>
          </a:prstGeom>
          <a:solidFill>
            <a:srgbClr val="E5E7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9098280" y="512064"/>
            <a:ext cx="137160" cy="20116"/>
          </a:xfrm>
          <a:prstGeom prst="rect">
            <a:avLst/>
          </a:prstGeom>
          <a:solidFill>
            <a:srgbClr val="E5E7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9281160" y="512064"/>
            <a:ext cx="137160" cy="20116"/>
          </a:xfrm>
          <a:prstGeom prst="rect">
            <a:avLst/>
          </a:prstGeom>
          <a:solidFill>
            <a:srgbClr val="E5E7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41248" y="420624"/>
            <a:ext cx="6858000" cy="502920"/>
          </a:xfrm>
          <a:prstGeom prst="rect">
            <a:avLst/>
          </a:prstGeom>
          <a:noFill/>
        </p:spPr>
        <p:txBody>
          <a:bodyPr wrap="square" anchor="t" lIns="0" rIns="0" tIns="0" bIns="0">
            <a:spAutoFit/>
          </a:bodyPr>
          <a:lstStyle/>
          <a:p>
            <a:pPr algn="l">
              <a:spcBef>
                <a:spcPts val="0"/>
              </a:spcBef>
              <a:spcAft>
                <a:spcPts val="0"/>
              </a:spcAft>
            </a:pPr>
            <a:r>
              <a:rPr sz="2600" b="1" i="0">
                <a:solidFill>
                  <a:srgbClr val="1B27A3"/>
                </a:solidFill>
                <a:latin typeface="Bahnschrift"/>
              </a:rPr>
              <a:t>Input and output</a:t>
            </a:r>
          </a:p>
        </p:txBody>
      </p:sp>
      <p:sp>
        <p:nvSpPr>
          <p:cNvPr id="12" name="TextBox 11"/>
          <p:cNvSpPr txBox="1"/>
          <p:nvPr/>
        </p:nvSpPr>
        <p:spPr>
          <a:xfrm>
            <a:off x="841248" y="950976"/>
            <a:ext cx="9692640" cy="411480"/>
          </a:xfrm>
          <a:prstGeom prst="rect">
            <a:avLst/>
          </a:prstGeom>
          <a:noFill/>
        </p:spPr>
        <p:txBody>
          <a:bodyPr wrap="square" anchor="t" lIns="0" rIns="0" tIns="0" bIns="0">
            <a:spAutoFit/>
          </a:bodyPr>
          <a:lstStyle/>
          <a:p>
            <a:pPr algn="l">
              <a:spcBef>
                <a:spcPts val="0"/>
              </a:spcBef>
              <a:spcAft>
                <a:spcPts val="0"/>
              </a:spcAft>
            </a:pPr>
            <a:r>
              <a:rPr sz="1750" b="1" i="0">
                <a:solidFill>
                  <a:srgbClr val="F2A93C"/>
                </a:solidFill>
                <a:latin typeface="Bahnschrift"/>
              </a:rPr>
              <a:t>One holdings statement in, one reviewed and signed deck out</a:t>
            </a:r>
          </a:p>
        </p:txBody>
      </p:sp>
      <p:sp>
        <p:nvSpPr>
          <p:cNvPr id="13" name="Rectangle 12"/>
          <p:cNvSpPr/>
          <p:nvPr/>
        </p:nvSpPr>
        <p:spPr>
          <a:xfrm>
            <a:off x="841248" y="1408176"/>
            <a:ext cx="10509199" cy="21945"/>
          </a:xfrm>
          <a:prstGeom prst="rect">
            <a:avLst/>
          </a:prstGeom>
          <a:solidFill>
            <a:srgbClr val="1B27A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9155887" y="6528816"/>
            <a:ext cx="2194560" cy="182880"/>
          </a:xfrm>
          <a:prstGeom prst="rect">
            <a:avLst/>
          </a:prstGeom>
          <a:noFill/>
        </p:spPr>
        <p:txBody>
          <a:bodyPr wrap="square" anchor="t" lIns="0" rIns="0" tIns="0" bIns="0">
            <a:spAutoFit/>
          </a:bodyPr>
          <a:lstStyle/>
          <a:p>
            <a:pPr algn="r">
              <a:spcBef>
                <a:spcPts val="0"/>
              </a:spcBef>
              <a:spcAft>
                <a:spcPts val="0"/>
              </a:spcAft>
            </a:pPr>
            <a:r>
              <a:rPr sz="750" b="0" i="0">
                <a:solidFill>
                  <a:srgbClr val="6B7280"/>
                </a:solidFill>
                <a:latin typeface="Bahnschrift"/>
              </a:rPr>
              <a:t>Portfolio Review  ·  03</a:t>
            </a:r>
          </a:p>
        </p:txBody>
      </p:sp>
      <p:sp>
        <p:nvSpPr>
          <p:cNvPr id="15" name="Oval 14"/>
          <p:cNvSpPr/>
          <p:nvPr/>
        </p:nvSpPr>
        <p:spPr>
          <a:xfrm>
            <a:off x="841248" y="1828800"/>
            <a:ext cx="365760" cy="365760"/>
          </a:xfrm>
          <a:prstGeom prst="ellipse">
            <a:avLst/>
          </a:prstGeom>
          <a:solidFill>
            <a:srgbClr val="1B27A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841248" y="1828800"/>
            <a:ext cx="365760" cy="365760"/>
          </a:xfrm>
          <a:prstGeom prst="rect">
            <a:avLst/>
          </a:prstGeom>
          <a:noFill/>
        </p:spPr>
        <p:txBody>
          <a:bodyPr wrap="square" anchor="ctr" lIns="0" rIns="0" tIns="0" bIns="0">
            <a:spAutoFit/>
          </a:bodyPr>
          <a:lstStyle/>
          <a:p>
            <a:pPr algn="ctr">
              <a:spcBef>
                <a:spcPts val="0"/>
              </a:spcBef>
              <a:spcAft>
                <a:spcPts val="0"/>
              </a:spcAft>
            </a:pPr>
            <a:r>
              <a:rPr sz="1300" b="1" i="0">
                <a:solidFill>
                  <a:srgbClr val="FFFFFF"/>
                </a:solidFill>
                <a:latin typeface="Bahnschrift"/>
              </a:rPr>
              <a:t>1</a:t>
            </a:r>
          </a:p>
        </p:txBody>
      </p:sp>
      <p:sp>
        <p:nvSpPr>
          <p:cNvPr id="17" name="TextBox 16"/>
          <p:cNvSpPr txBox="1"/>
          <p:nvPr/>
        </p:nvSpPr>
        <p:spPr>
          <a:xfrm>
            <a:off x="1371600" y="1783080"/>
            <a:ext cx="3200400" cy="256032"/>
          </a:xfrm>
          <a:prstGeom prst="rect">
            <a:avLst/>
          </a:prstGeom>
          <a:noFill/>
        </p:spPr>
        <p:txBody>
          <a:bodyPr wrap="square" anchor="t" lIns="0" rIns="0" tIns="0" bIns="0">
            <a:spAutoFit/>
          </a:bodyPr>
          <a:lstStyle/>
          <a:p>
            <a:pPr algn="l">
              <a:spcBef>
                <a:spcPts val="0"/>
              </a:spcBef>
              <a:spcAft>
                <a:spcPts val="0"/>
              </a:spcAft>
            </a:pPr>
            <a:r>
              <a:rPr sz="1200" b="1" i="0">
                <a:solidFill>
                  <a:srgbClr val="16233B"/>
                </a:solidFill>
                <a:latin typeface="Bahnschrift"/>
              </a:rPr>
              <a:t>Holdings statement</a:t>
            </a:r>
          </a:p>
        </p:txBody>
      </p:sp>
      <p:sp>
        <p:nvSpPr>
          <p:cNvPr id="18" name="TextBox 17"/>
          <p:cNvSpPr txBox="1"/>
          <p:nvPr/>
        </p:nvSpPr>
        <p:spPr>
          <a:xfrm>
            <a:off x="4681728" y="1773936"/>
            <a:ext cx="6668719" cy="512064"/>
          </a:xfrm>
          <a:prstGeom prst="rect">
            <a:avLst/>
          </a:prstGeom>
          <a:noFill/>
        </p:spPr>
        <p:txBody>
          <a:bodyPr wrap="square" anchor="t" lIns="0" rIns="0" tIns="0" bIns="0">
            <a:spAutoFit/>
          </a:bodyPr>
          <a:lstStyle/>
          <a:p>
            <a:pPr algn="l">
              <a:lnSpc>
                <a:spcPct val="105000"/>
              </a:lnSpc>
              <a:spcBef>
                <a:spcPts val="0"/>
              </a:spcBef>
              <a:spcAft>
                <a:spcPts val="0"/>
              </a:spcAft>
            </a:pPr>
            <a:r>
              <a:rPr sz="1050" b="0" i="0">
                <a:solidFill>
                  <a:srgbClr val="6B7280"/>
                </a:solidFill>
                <a:latin typeface="Georgia"/>
              </a:rPr>
              <a:t>A client's CAS, demat or CAMS/Kfintech statement. Parsed to a validated holdings table, with corrupted or unmatched rows flagged to the RM rather than dropped.</a:t>
            </a:r>
          </a:p>
        </p:txBody>
      </p:sp>
      <p:sp>
        <p:nvSpPr>
          <p:cNvPr id="19" name="Rectangle 18"/>
          <p:cNvSpPr/>
          <p:nvPr/>
        </p:nvSpPr>
        <p:spPr>
          <a:xfrm>
            <a:off x="841248" y="2295144"/>
            <a:ext cx="10509199" cy="5486"/>
          </a:xfrm>
          <a:prstGeom prst="rect">
            <a:avLst/>
          </a:prstGeom>
          <a:solidFill>
            <a:srgbClr val="E5E7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Oval 19"/>
          <p:cNvSpPr/>
          <p:nvPr/>
        </p:nvSpPr>
        <p:spPr>
          <a:xfrm>
            <a:off x="841248" y="2432303"/>
            <a:ext cx="365760" cy="365760"/>
          </a:xfrm>
          <a:prstGeom prst="ellipse">
            <a:avLst/>
          </a:prstGeom>
          <a:solidFill>
            <a:srgbClr val="1B27A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841248" y="2432303"/>
            <a:ext cx="365760" cy="365760"/>
          </a:xfrm>
          <a:prstGeom prst="rect">
            <a:avLst/>
          </a:prstGeom>
          <a:noFill/>
        </p:spPr>
        <p:txBody>
          <a:bodyPr wrap="square" anchor="ctr" lIns="0" rIns="0" tIns="0" bIns="0">
            <a:spAutoFit/>
          </a:bodyPr>
          <a:lstStyle/>
          <a:p>
            <a:pPr algn="ctr">
              <a:spcBef>
                <a:spcPts val="0"/>
              </a:spcBef>
              <a:spcAft>
                <a:spcPts val="0"/>
              </a:spcAft>
            </a:pPr>
            <a:r>
              <a:rPr sz="1300" b="1" i="0">
                <a:solidFill>
                  <a:srgbClr val="FFFFFF"/>
                </a:solidFill>
                <a:latin typeface="Bahnschrift"/>
              </a:rPr>
              <a:t>2</a:t>
            </a:r>
          </a:p>
        </p:txBody>
      </p:sp>
      <p:sp>
        <p:nvSpPr>
          <p:cNvPr id="22" name="TextBox 21"/>
          <p:cNvSpPr txBox="1"/>
          <p:nvPr/>
        </p:nvSpPr>
        <p:spPr>
          <a:xfrm>
            <a:off x="1371600" y="2386584"/>
            <a:ext cx="3200400" cy="256032"/>
          </a:xfrm>
          <a:prstGeom prst="rect">
            <a:avLst/>
          </a:prstGeom>
          <a:noFill/>
        </p:spPr>
        <p:txBody>
          <a:bodyPr wrap="square" anchor="t" lIns="0" rIns="0" tIns="0" bIns="0">
            <a:spAutoFit/>
          </a:bodyPr>
          <a:lstStyle/>
          <a:p>
            <a:pPr algn="l">
              <a:spcBef>
                <a:spcPts val="0"/>
              </a:spcBef>
              <a:spcAft>
                <a:spcPts val="0"/>
              </a:spcAft>
            </a:pPr>
            <a:r>
              <a:rPr sz="1200" b="1" i="0">
                <a:solidFill>
                  <a:srgbClr val="16233B"/>
                </a:solidFill>
                <a:latin typeface="Bahnschrift"/>
              </a:rPr>
              <a:t>Match to coverage</a:t>
            </a:r>
          </a:p>
        </p:txBody>
      </p:sp>
      <p:sp>
        <p:nvSpPr>
          <p:cNvPr id="23" name="TextBox 22"/>
          <p:cNvSpPr txBox="1"/>
          <p:nvPr/>
        </p:nvSpPr>
        <p:spPr>
          <a:xfrm>
            <a:off x="4681728" y="2377440"/>
            <a:ext cx="6668719" cy="512064"/>
          </a:xfrm>
          <a:prstGeom prst="rect">
            <a:avLst/>
          </a:prstGeom>
          <a:noFill/>
        </p:spPr>
        <p:txBody>
          <a:bodyPr wrap="square" anchor="t" lIns="0" rIns="0" tIns="0" bIns="0">
            <a:spAutoFit/>
          </a:bodyPr>
          <a:lstStyle/>
          <a:p>
            <a:pPr algn="l">
              <a:lnSpc>
                <a:spcPct val="105000"/>
              </a:lnSpc>
              <a:spcBef>
                <a:spcPts val="0"/>
              </a:spcBef>
              <a:spcAft>
                <a:spcPts val="0"/>
              </a:spcAft>
            </a:pPr>
            <a:r>
              <a:rPr sz="1050" b="0" i="0">
                <a:solidFill>
                  <a:srgbClr val="6B7280"/>
                </a:solidFill>
                <a:latin typeface="Georgia"/>
              </a:rPr>
              <a:t>Equity matched by ISIN to the scored universe; funds matched by verified scheme identity to the fund frameworks. Anything unmatched is disclosed, never guessed.</a:t>
            </a:r>
          </a:p>
        </p:txBody>
      </p:sp>
      <p:sp>
        <p:nvSpPr>
          <p:cNvPr id="24" name="Rectangle 23"/>
          <p:cNvSpPr/>
          <p:nvPr/>
        </p:nvSpPr>
        <p:spPr>
          <a:xfrm>
            <a:off x="841248" y="2898648"/>
            <a:ext cx="10509199" cy="5486"/>
          </a:xfrm>
          <a:prstGeom prst="rect">
            <a:avLst/>
          </a:prstGeom>
          <a:solidFill>
            <a:srgbClr val="E5E7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Oval 24"/>
          <p:cNvSpPr/>
          <p:nvPr/>
        </p:nvSpPr>
        <p:spPr>
          <a:xfrm>
            <a:off x="841248" y="3035808"/>
            <a:ext cx="365760" cy="365760"/>
          </a:xfrm>
          <a:prstGeom prst="ellipse">
            <a:avLst/>
          </a:prstGeom>
          <a:solidFill>
            <a:srgbClr val="1B27A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841248" y="3035808"/>
            <a:ext cx="365760" cy="365760"/>
          </a:xfrm>
          <a:prstGeom prst="rect">
            <a:avLst/>
          </a:prstGeom>
          <a:noFill/>
        </p:spPr>
        <p:txBody>
          <a:bodyPr wrap="square" anchor="ctr" lIns="0" rIns="0" tIns="0" bIns="0">
            <a:spAutoFit/>
          </a:bodyPr>
          <a:lstStyle/>
          <a:p>
            <a:pPr algn="ctr">
              <a:spcBef>
                <a:spcPts val="0"/>
              </a:spcBef>
              <a:spcAft>
                <a:spcPts val="0"/>
              </a:spcAft>
            </a:pPr>
            <a:r>
              <a:rPr sz="1300" b="1" i="0">
                <a:solidFill>
                  <a:srgbClr val="FFFFFF"/>
                </a:solidFill>
                <a:latin typeface="Bahnschrift"/>
              </a:rPr>
              <a:t>3</a:t>
            </a:r>
          </a:p>
        </p:txBody>
      </p:sp>
      <p:sp>
        <p:nvSpPr>
          <p:cNvPr id="27" name="TextBox 26"/>
          <p:cNvSpPr txBox="1"/>
          <p:nvPr/>
        </p:nvSpPr>
        <p:spPr>
          <a:xfrm>
            <a:off x="1371600" y="2990088"/>
            <a:ext cx="3200400" cy="256032"/>
          </a:xfrm>
          <a:prstGeom prst="rect">
            <a:avLst/>
          </a:prstGeom>
          <a:noFill/>
        </p:spPr>
        <p:txBody>
          <a:bodyPr wrap="square" anchor="t" lIns="0" rIns="0" tIns="0" bIns="0">
            <a:spAutoFit/>
          </a:bodyPr>
          <a:lstStyle/>
          <a:p>
            <a:pPr algn="l">
              <a:spcBef>
                <a:spcPts val="0"/>
              </a:spcBef>
              <a:spcAft>
                <a:spcPts val="0"/>
              </a:spcAft>
            </a:pPr>
            <a:r>
              <a:rPr sz="1200" b="1" i="0">
                <a:solidFill>
                  <a:srgbClr val="16233B"/>
                </a:solidFill>
                <a:latin typeface="Bahnschrift"/>
              </a:rPr>
              <a:t>Score and read</a:t>
            </a:r>
          </a:p>
        </p:txBody>
      </p:sp>
      <p:sp>
        <p:nvSpPr>
          <p:cNvPr id="28" name="TextBox 27"/>
          <p:cNvSpPr txBox="1"/>
          <p:nvPr/>
        </p:nvSpPr>
        <p:spPr>
          <a:xfrm>
            <a:off x="4681728" y="2980944"/>
            <a:ext cx="6668719" cy="512064"/>
          </a:xfrm>
          <a:prstGeom prst="rect">
            <a:avLst/>
          </a:prstGeom>
          <a:noFill/>
        </p:spPr>
        <p:txBody>
          <a:bodyPr wrap="square" anchor="t" lIns="0" rIns="0" tIns="0" bIns="0">
            <a:spAutoFit/>
          </a:bodyPr>
          <a:lstStyle/>
          <a:p>
            <a:pPr algn="l">
              <a:lnSpc>
                <a:spcPct val="105000"/>
              </a:lnSpc>
              <a:spcBef>
                <a:spcPts val="0"/>
              </a:spcBef>
              <a:spcAft>
                <a:spcPts val="0"/>
              </a:spcAft>
            </a:pPr>
            <a:r>
              <a:rPr sz="1050" b="0" i="0">
                <a:solidFill>
                  <a:srgbClr val="6B7280"/>
                </a:solidFill>
                <a:latin typeface="Georgia"/>
              </a:rPr>
              <a:t>Frozen scoring engine produces the numbers; a sector analyst writes the case. The analyst can rescue a score-driven Sell to Hold, and cannot force the reverse.</a:t>
            </a:r>
          </a:p>
        </p:txBody>
      </p:sp>
      <p:sp>
        <p:nvSpPr>
          <p:cNvPr id="29" name="Rectangle 28"/>
          <p:cNvSpPr/>
          <p:nvPr/>
        </p:nvSpPr>
        <p:spPr>
          <a:xfrm>
            <a:off x="841248" y="3502152"/>
            <a:ext cx="10509199" cy="5486"/>
          </a:xfrm>
          <a:prstGeom prst="rect">
            <a:avLst/>
          </a:prstGeom>
          <a:solidFill>
            <a:srgbClr val="E5E7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Oval 29"/>
          <p:cNvSpPr/>
          <p:nvPr/>
        </p:nvSpPr>
        <p:spPr>
          <a:xfrm>
            <a:off x="841248" y="3639312"/>
            <a:ext cx="365760" cy="365760"/>
          </a:xfrm>
          <a:prstGeom prst="ellipse">
            <a:avLst/>
          </a:prstGeom>
          <a:solidFill>
            <a:srgbClr val="1B27A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841248" y="3639312"/>
            <a:ext cx="365760" cy="365760"/>
          </a:xfrm>
          <a:prstGeom prst="rect">
            <a:avLst/>
          </a:prstGeom>
          <a:noFill/>
        </p:spPr>
        <p:txBody>
          <a:bodyPr wrap="square" anchor="ctr" lIns="0" rIns="0" tIns="0" bIns="0">
            <a:spAutoFit/>
          </a:bodyPr>
          <a:lstStyle/>
          <a:p>
            <a:pPr algn="ctr">
              <a:spcBef>
                <a:spcPts val="0"/>
              </a:spcBef>
              <a:spcAft>
                <a:spcPts val="0"/>
              </a:spcAft>
            </a:pPr>
            <a:r>
              <a:rPr sz="1300" b="1" i="0">
                <a:solidFill>
                  <a:srgbClr val="FFFFFF"/>
                </a:solidFill>
                <a:latin typeface="Bahnschrift"/>
              </a:rPr>
              <a:t>4</a:t>
            </a:r>
          </a:p>
        </p:txBody>
      </p:sp>
      <p:sp>
        <p:nvSpPr>
          <p:cNvPr id="32" name="TextBox 31"/>
          <p:cNvSpPr txBox="1"/>
          <p:nvPr/>
        </p:nvSpPr>
        <p:spPr>
          <a:xfrm>
            <a:off x="1371600" y="3593592"/>
            <a:ext cx="3200400" cy="256032"/>
          </a:xfrm>
          <a:prstGeom prst="rect">
            <a:avLst/>
          </a:prstGeom>
          <a:noFill/>
        </p:spPr>
        <p:txBody>
          <a:bodyPr wrap="square" anchor="t" lIns="0" rIns="0" tIns="0" bIns="0">
            <a:spAutoFit/>
          </a:bodyPr>
          <a:lstStyle/>
          <a:p>
            <a:pPr algn="l">
              <a:spcBef>
                <a:spcPts val="0"/>
              </a:spcBef>
              <a:spcAft>
                <a:spcPts val="0"/>
              </a:spcAft>
            </a:pPr>
            <a:r>
              <a:rPr sz="1200" b="1" i="0">
                <a:solidFill>
                  <a:srgbClr val="16233B"/>
                </a:solidFill>
                <a:latin typeface="Bahnschrift"/>
              </a:rPr>
              <a:t>Assemble the deck</a:t>
            </a:r>
          </a:p>
        </p:txBody>
      </p:sp>
      <p:sp>
        <p:nvSpPr>
          <p:cNvPr id="33" name="TextBox 32"/>
          <p:cNvSpPr txBox="1"/>
          <p:nvPr/>
        </p:nvSpPr>
        <p:spPr>
          <a:xfrm>
            <a:off x="4681728" y="3584448"/>
            <a:ext cx="6668719" cy="512064"/>
          </a:xfrm>
          <a:prstGeom prst="rect">
            <a:avLst/>
          </a:prstGeom>
          <a:noFill/>
        </p:spPr>
        <p:txBody>
          <a:bodyPr wrap="square" anchor="t" lIns="0" rIns="0" tIns="0" bIns="0">
            <a:spAutoFit/>
          </a:bodyPr>
          <a:lstStyle/>
          <a:p>
            <a:pPr algn="l">
              <a:lnSpc>
                <a:spcPct val="105000"/>
              </a:lnSpc>
              <a:spcBef>
                <a:spcPts val="0"/>
              </a:spcBef>
              <a:spcAft>
                <a:spcPts val="0"/>
              </a:spcAft>
            </a:pPr>
            <a:r>
              <a:rPr sz="1050" b="0" i="0">
                <a:solidFill>
                  <a:srgbClr val="6B7280"/>
                </a:solidFill>
                <a:latin typeface="Georgia"/>
              </a:rPr>
              <a:t>The module library renders the tier the client's audience needs, computing every narrative sentence from the data rather than from stored prose.</a:t>
            </a:r>
          </a:p>
        </p:txBody>
      </p:sp>
      <p:sp>
        <p:nvSpPr>
          <p:cNvPr id="34" name="Rectangle 33"/>
          <p:cNvSpPr/>
          <p:nvPr/>
        </p:nvSpPr>
        <p:spPr>
          <a:xfrm>
            <a:off x="841248" y="4105656"/>
            <a:ext cx="10509199" cy="5486"/>
          </a:xfrm>
          <a:prstGeom prst="rect">
            <a:avLst/>
          </a:prstGeom>
          <a:solidFill>
            <a:srgbClr val="E5E7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Oval 34"/>
          <p:cNvSpPr/>
          <p:nvPr/>
        </p:nvSpPr>
        <p:spPr>
          <a:xfrm>
            <a:off x="841248" y="4242816"/>
            <a:ext cx="365760" cy="365760"/>
          </a:xfrm>
          <a:prstGeom prst="ellipse">
            <a:avLst/>
          </a:prstGeom>
          <a:solidFill>
            <a:srgbClr val="1B27A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841248" y="4242816"/>
            <a:ext cx="365760" cy="365760"/>
          </a:xfrm>
          <a:prstGeom prst="rect">
            <a:avLst/>
          </a:prstGeom>
          <a:noFill/>
        </p:spPr>
        <p:txBody>
          <a:bodyPr wrap="square" anchor="ctr" lIns="0" rIns="0" tIns="0" bIns="0">
            <a:spAutoFit/>
          </a:bodyPr>
          <a:lstStyle/>
          <a:p>
            <a:pPr algn="ctr">
              <a:spcBef>
                <a:spcPts val="0"/>
              </a:spcBef>
              <a:spcAft>
                <a:spcPts val="0"/>
              </a:spcAft>
            </a:pPr>
            <a:r>
              <a:rPr sz="1300" b="1" i="0">
                <a:solidFill>
                  <a:srgbClr val="FFFFFF"/>
                </a:solidFill>
                <a:latin typeface="Bahnschrift"/>
              </a:rPr>
              <a:t>5</a:t>
            </a:r>
          </a:p>
        </p:txBody>
      </p:sp>
      <p:sp>
        <p:nvSpPr>
          <p:cNvPr id="37" name="TextBox 36"/>
          <p:cNvSpPr txBox="1"/>
          <p:nvPr/>
        </p:nvSpPr>
        <p:spPr>
          <a:xfrm>
            <a:off x="1371600" y="4197096"/>
            <a:ext cx="3200400" cy="256032"/>
          </a:xfrm>
          <a:prstGeom prst="rect">
            <a:avLst/>
          </a:prstGeom>
          <a:noFill/>
        </p:spPr>
        <p:txBody>
          <a:bodyPr wrap="square" anchor="t" lIns="0" rIns="0" tIns="0" bIns="0">
            <a:spAutoFit/>
          </a:bodyPr>
          <a:lstStyle/>
          <a:p>
            <a:pPr algn="l">
              <a:spcBef>
                <a:spcPts val="0"/>
              </a:spcBef>
              <a:spcAft>
                <a:spcPts val="0"/>
              </a:spcAft>
            </a:pPr>
            <a:r>
              <a:rPr sz="1200" b="1" i="0">
                <a:solidFill>
                  <a:srgbClr val="16233B"/>
                </a:solidFill>
                <a:latin typeface="Bahnschrift"/>
              </a:rPr>
              <a:t>Prove it</a:t>
            </a:r>
          </a:p>
        </p:txBody>
      </p:sp>
      <p:sp>
        <p:nvSpPr>
          <p:cNvPr id="38" name="TextBox 37"/>
          <p:cNvSpPr txBox="1"/>
          <p:nvPr/>
        </p:nvSpPr>
        <p:spPr>
          <a:xfrm>
            <a:off x="4681728" y="4187952"/>
            <a:ext cx="6668719" cy="512064"/>
          </a:xfrm>
          <a:prstGeom prst="rect">
            <a:avLst/>
          </a:prstGeom>
          <a:noFill/>
        </p:spPr>
        <p:txBody>
          <a:bodyPr wrap="square" anchor="t" lIns="0" rIns="0" tIns="0" bIns="0">
            <a:spAutoFit/>
          </a:bodyPr>
          <a:lstStyle/>
          <a:p>
            <a:pPr algn="l">
              <a:lnSpc>
                <a:spcPct val="105000"/>
              </a:lnSpc>
              <a:spcBef>
                <a:spcPts val="0"/>
              </a:spcBef>
              <a:spcAft>
                <a:spcPts val="0"/>
              </a:spcAft>
            </a:pPr>
            <a:r>
              <a:rPr sz="1050" b="0" i="0">
                <a:solidFill>
                  <a:srgbClr val="6B7280"/>
                </a:solidFill>
                <a:latin typeface="Georgia"/>
              </a:rPr>
              <a:t>Four QA layers: two geometry checks, a client-copy scan, and a visual read of the rendered pages. All must pass.</a:t>
            </a:r>
          </a:p>
        </p:txBody>
      </p:sp>
      <p:sp>
        <p:nvSpPr>
          <p:cNvPr id="39" name="Rectangle 38"/>
          <p:cNvSpPr/>
          <p:nvPr/>
        </p:nvSpPr>
        <p:spPr>
          <a:xfrm>
            <a:off x="841248" y="4709160"/>
            <a:ext cx="10509199" cy="5486"/>
          </a:xfrm>
          <a:prstGeom prst="rect">
            <a:avLst/>
          </a:prstGeom>
          <a:solidFill>
            <a:srgbClr val="E5E7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Oval 39"/>
          <p:cNvSpPr/>
          <p:nvPr/>
        </p:nvSpPr>
        <p:spPr>
          <a:xfrm>
            <a:off x="841248" y="4846320"/>
            <a:ext cx="365760" cy="365760"/>
          </a:xfrm>
          <a:prstGeom prst="ellipse">
            <a:avLst/>
          </a:prstGeom>
          <a:solidFill>
            <a:srgbClr val="1B27A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841248" y="4846320"/>
            <a:ext cx="365760" cy="365760"/>
          </a:xfrm>
          <a:prstGeom prst="rect">
            <a:avLst/>
          </a:prstGeom>
          <a:noFill/>
        </p:spPr>
        <p:txBody>
          <a:bodyPr wrap="square" anchor="ctr" lIns="0" rIns="0" tIns="0" bIns="0">
            <a:spAutoFit/>
          </a:bodyPr>
          <a:lstStyle/>
          <a:p>
            <a:pPr algn="ctr">
              <a:spcBef>
                <a:spcPts val="0"/>
              </a:spcBef>
              <a:spcAft>
                <a:spcPts val="0"/>
              </a:spcAft>
            </a:pPr>
            <a:r>
              <a:rPr sz="1300" b="1" i="0">
                <a:solidFill>
                  <a:srgbClr val="FFFFFF"/>
                </a:solidFill>
                <a:latin typeface="Bahnschrift"/>
              </a:rPr>
              <a:t>6</a:t>
            </a:r>
          </a:p>
        </p:txBody>
      </p:sp>
      <p:sp>
        <p:nvSpPr>
          <p:cNvPr id="42" name="TextBox 41"/>
          <p:cNvSpPr txBox="1"/>
          <p:nvPr/>
        </p:nvSpPr>
        <p:spPr>
          <a:xfrm>
            <a:off x="1371600" y="4800600"/>
            <a:ext cx="3200400" cy="256032"/>
          </a:xfrm>
          <a:prstGeom prst="rect">
            <a:avLst/>
          </a:prstGeom>
          <a:noFill/>
        </p:spPr>
        <p:txBody>
          <a:bodyPr wrap="square" anchor="t" lIns="0" rIns="0" tIns="0" bIns="0">
            <a:spAutoFit/>
          </a:bodyPr>
          <a:lstStyle/>
          <a:p>
            <a:pPr algn="l">
              <a:spcBef>
                <a:spcPts val="0"/>
              </a:spcBef>
              <a:spcAft>
                <a:spcPts val="0"/>
              </a:spcAft>
            </a:pPr>
            <a:r>
              <a:rPr sz="1200" b="1" i="0">
                <a:solidFill>
                  <a:srgbClr val="16233B"/>
                </a:solidFill>
                <a:latin typeface="Bahnschrift"/>
              </a:rPr>
              <a:t>Analyst sign-off</a:t>
            </a:r>
          </a:p>
        </p:txBody>
      </p:sp>
      <p:sp>
        <p:nvSpPr>
          <p:cNvPr id="43" name="TextBox 42"/>
          <p:cNvSpPr txBox="1"/>
          <p:nvPr/>
        </p:nvSpPr>
        <p:spPr>
          <a:xfrm>
            <a:off x="4681728" y="4791456"/>
            <a:ext cx="6668719" cy="512064"/>
          </a:xfrm>
          <a:prstGeom prst="rect">
            <a:avLst/>
          </a:prstGeom>
          <a:noFill/>
        </p:spPr>
        <p:txBody>
          <a:bodyPr wrap="square" anchor="t" lIns="0" rIns="0" tIns="0" bIns="0">
            <a:spAutoFit/>
          </a:bodyPr>
          <a:lstStyle/>
          <a:p>
            <a:pPr algn="l">
              <a:lnSpc>
                <a:spcPct val="105000"/>
              </a:lnSpc>
              <a:spcBef>
                <a:spcPts val="0"/>
              </a:spcBef>
              <a:spcAft>
                <a:spcPts val="0"/>
              </a:spcAft>
            </a:pPr>
            <a:r>
              <a:rPr sz="1050" b="0" i="0">
                <a:solidFill>
                  <a:srgbClr val="6B7280"/>
                </a:solidFill>
                <a:latin typeface="Georgia"/>
              </a:rPr>
              <a:t>The reviewing analyst confirms the pack, name by name, before it goes to the client.</a:t>
            </a:r>
          </a:p>
        </p:txBody>
      </p:sp>
      <p:sp>
        <p:nvSpPr>
          <p:cNvPr id="44" name="Rectangle 43"/>
          <p:cNvSpPr/>
          <p:nvPr/>
        </p:nvSpPr>
        <p:spPr>
          <a:xfrm>
            <a:off x="841248" y="5312664"/>
            <a:ext cx="10509199" cy="5486"/>
          </a:xfrm>
          <a:prstGeom prst="rect">
            <a:avLst/>
          </a:prstGeom>
          <a:solidFill>
            <a:srgbClr val="E5E7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Rounded Rectangle 44"/>
          <p:cNvSpPr/>
          <p:nvPr/>
        </p:nvSpPr>
        <p:spPr>
          <a:xfrm>
            <a:off x="841248" y="5504688"/>
            <a:ext cx="10509199" cy="530352"/>
          </a:xfrm>
          <a:prstGeom prst="roundRect">
            <a:avLst>
              <a:gd name="adj" fmla="val 4000"/>
            </a:avLst>
          </a:prstGeom>
          <a:solidFill>
            <a:srgbClr val="F5F6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Rectangle 45"/>
          <p:cNvSpPr/>
          <p:nvPr/>
        </p:nvSpPr>
        <p:spPr>
          <a:xfrm>
            <a:off x="841248" y="5504688"/>
            <a:ext cx="54864" cy="530352"/>
          </a:xfrm>
          <a:prstGeom prst="rect">
            <a:avLst/>
          </a:prstGeom>
          <a:solidFill>
            <a:srgbClr val="1B27A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TextBox 46"/>
          <p:cNvSpPr txBox="1"/>
          <p:nvPr/>
        </p:nvSpPr>
        <p:spPr>
          <a:xfrm>
            <a:off x="1042416" y="5632703"/>
            <a:ext cx="10143439" cy="274320"/>
          </a:xfrm>
          <a:prstGeom prst="rect">
            <a:avLst/>
          </a:prstGeom>
          <a:noFill/>
        </p:spPr>
        <p:txBody>
          <a:bodyPr wrap="square" anchor="t" lIns="0" rIns="0" tIns="0" bIns="0">
            <a:spAutoFit/>
          </a:bodyPr>
          <a:lstStyle/>
          <a:p>
            <a:pPr algn="l">
              <a:spcBef>
                <a:spcPts val="0"/>
              </a:spcBef>
              <a:spcAft>
                <a:spcPts val="0"/>
              </a:spcAft>
            </a:pPr>
            <a:r>
              <a:rPr sz="950" b="1" i="0" spc="60">
                <a:solidFill>
                  <a:srgbClr val="1B27A3"/>
                </a:solidFill>
                <a:latin typeface="Bahnschrift"/>
              </a:rPr>
              <a:t>THE POINT</a:t>
            </a:r>
          </a:p>
        </p:txBody>
      </p:sp>
      <p:sp>
        <p:nvSpPr>
          <p:cNvPr id="48" name="TextBox 47"/>
          <p:cNvSpPr txBox="1"/>
          <p:nvPr/>
        </p:nvSpPr>
        <p:spPr>
          <a:xfrm>
            <a:off x="1042416" y="5907024"/>
            <a:ext cx="10143439" cy="73151"/>
          </a:xfrm>
          <a:prstGeom prst="rect">
            <a:avLst/>
          </a:prstGeom>
          <a:noFill/>
        </p:spPr>
        <p:txBody>
          <a:bodyPr wrap="square" anchor="t" lIns="0" rIns="0" tIns="0" bIns="0">
            <a:spAutoFit/>
          </a:bodyPr>
          <a:lstStyle/>
          <a:p>
            <a:pPr algn="l">
              <a:lnSpc>
                <a:spcPct val="106000"/>
              </a:lnSpc>
              <a:spcBef>
                <a:spcPts val="0"/>
              </a:spcBef>
              <a:spcAft>
                <a:spcPts val="0"/>
              </a:spcAft>
            </a:pPr>
            <a:r>
              <a:rPr sz="1050" b="0" i="0">
                <a:solidFill>
                  <a:srgbClr val="16233B"/>
                </a:solidFill>
                <a:latin typeface="Georgia"/>
              </a:rPr>
              <a:t>The judgment stays human. What the engine removes is the variance.</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logo_clean.png"/>
          <p:cNvPicPr>
            <a:picLocks noChangeAspect="1"/>
          </p:cNvPicPr>
          <p:nvPr/>
        </p:nvPicPr>
        <p:blipFill>
          <a:blip r:embed="rId2"/>
          <a:stretch>
            <a:fillRect/>
          </a:stretch>
        </p:blipFill>
        <p:spPr>
          <a:xfrm>
            <a:off x="9674809" y="365760"/>
            <a:ext cx="1629918" cy="283464"/>
          </a:xfrm>
          <a:prstGeom prst="rect">
            <a:avLst/>
          </a:prstGeom>
        </p:spPr>
      </p:pic>
      <p:sp>
        <p:nvSpPr>
          <p:cNvPr id="4" name="TextBox 3"/>
          <p:cNvSpPr txBox="1"/>
          <p:nvPr/>
        </p:nvSpPr>
        <p:spPr>
          <a:xfrm>
            <a:off x="4541367" y="128016"/>
            <a:ext cx="3108960" cy="182880"/>
          </a:xfrm>
          <a:prstGeom prst="rect">
            <a:avLst/>
          </a:prstGeom>
          <a:noFill/>
        </p:spPr>
        <p:txBody>
          <a:bodyPr wrap="square" anchor="t" lIns="0" rIns="0" tIns="0" bIns="0">
            <a:spAutoFit/>
          </a:bodyPr>
          <a:lstStyle/>
          <a:p>
            <a:pPr algn="ctr">
              <a:spcBef>
                <a:spcPts val="0"/>
              </a:spcBef>
              <a:spcAft>
                <a:spcPts val="0"/>
              </a:spcAft>
            </a:pPr>
            <a:r>
              <a:rPr sz="750" b="0" i="0">
                <a:solidFill>
                  <a:srgbClr val="6B7280"/>
                </a:solidFill>
                <a:latin typeface="Bahnschrift"/>
              </a:rPr>
              <a:t>Private &amp; Confidential</a:t>
            </a:r>
          </a:p>
        </p:txBody>
      </p:sp>
      <p:sp>
        <p:nvSpPr>
          <p:cNvPr id="5" name="TextBox 4"/>
          <p:cNvSpPr txBox="1"/>
          <p:nvPr/>
        </p:nvSpPr>
        <p:spPr>
          <a:xfrm>
            <a:off x="7863840" y="274320"/>
            <a:ext cx="1749247" cy="201168"/>
          </a:xfrm>
          <a:prstGeom prst="rect">
            <a:avLst/>
          </a:prstGeom>
          <a:noFill/>
        </p:spPr>
        <p:txBody>
          <a:bodyPr wrap="square" anchor="t" lIns="0" rIns="0" tIns="0" bIns="0">
            <a:spAutoFit/>
          </a:bodyPr>
          <a:lstStyle/>
          <a:p>
            <a:pPr algn="r">
              <a:spcBef>
                <a:spcPts val="0"/>
              </a:spcBef>
              <a:spcAft>
                <a:spcPts val="0"/>
              </a:spcAft>
            </a:pPr>
            <a:r>
              <a:rPr sz="750" b="1" i="0" spc="120">
                <a:solidFill>
                  <a:srgbClr val="8C95DE"/>
                </a:solidFill>
                <a:latin typeface="Bahnschrift"/>
              </a:rPr>
              <a:t>00 · THE PROPOSAL</a:t>
            </a:r>
          </a:p>
        </p:txBody>
      </p:sp>
      <p:sp>
        <p:nvSpPr>
          <p:cNvPr id="6" name="Rectangle 5"/>
          <p:cNvSpPr/>
          <p:nvPr/>
        </p:nvSpPr>
        <p:spPr>
          <a:xfrm>
            <a:off x="8549640" y="512064"/>
            <a:ext cx="137160" cy="20116"/>
          </a:xfrm>
          <a:prstGeom prst="rect">
            <a:avLst/>
          </a:prstGeom>
          <a:solidFill>
            <a:srgbClr val="E5E7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8732519" y="512064"/>
            <a:ext cx="137160" cy="20116"/>
          </a:xfrm>
          <a:prstGeom prst="rect">
            <a:avLst/>
          </a:prstGeom>
          <a:solidFill>
            <a:srgbClr val="E5E7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8915400" y="512064"/>
            <a:ext cx="137160" cy="20116"/>
          </a:xfrm>
          <a:prstGeom prst="rect">
            <a:avLst/>
          </a:prstGeom>
          <a:solidFill>
            <a:srgbClr val="E5E7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9098280" y="512064"/>
            <a:ext cx="137160" cy="20116"/>
          </a:xfrm>
          <a:prstGeom prst="rect">
            <a:avLst/>
          </a:prstGeom>
          <a:solidFill>
            <a:srgbClr val="E5E7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9281160" y="512064"/>
            <a:ext cx="137160" cy="20116"/>
          </a:xfrm>
          <a:prstGeom prst="rect">
            <a:avLst/>
          </a:prstGeom>
          <a:solidFill>
            <a:srgbClr val="E5E7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41248" y="420624"/>
            <a:ext cx="6858000" cy="502920"/>
          </a:xfrm>
          <a:prstGeom prst="rect">
            <a:avLst/>
          </a:prstGeom>
          <a:noFill/>
        </p:spPr>
        <p:txBody>
          <a:bodyPr wrap="square" anchor="t" lIns="0" rIns="0" tIns="0" bIns="0">
            <a:spAutoFit/>
          </a:bodyPr>
          <a:lstStyle/>
          <a:p>
            <a:pPr algn="l">
              <a:spcBef>
                <a:spcPts val="0"/>
              </a:spcBef>
              <a:spcAft>
                <a:spcPts val="0"/>
              </a:spcAft>
            </a:pPr>
            <a:r>
              <a:rPr sz="2400" b="1" i="0">
                <a:solidFill>
                  <a:srgbClr val="1B27A3"/>
                </a:solidFill>
                <a:latin typeface="Bahnschrift"/>
              </a:rPr>
              <a:t>Engine-led review against a manual one</a:t>
            </a:r>
          </a:p>
        </p:txBody>
      </p:sp>
      <p:sp>
        <p:nvSpPr>
          <p:cNvPr id="12" name="TextBox 11"/>
          <p:cNvSpPr txBox="1"/>
          <p:nvPr/>
        </p:nvSpPr>
        <p:spPr>
          <a:xfrm>
            <a:off x="841248" y="950976"/>
            <a:ext cx="9692640" cy="411480"/>
          </a:xfrm>
          <a:prstGeom prst="rect">
            <a:avLst/>
          </a:prstGeom>
          <a:noFill/>
        </p:spPr>
        <p:txBody>
          <a:bodyPr wrap="square" anchor="t" lIns="0" rIns="0" tIns="0" bIns="0">
            <a:spAutoFit/>
          </a:bodyPr>
          <a:lstStyle/>
          <a:p>
            <a:pPr algn="l">
              <a:spcBef>
                <a:spcPts val="0"/>
              </a:spcBef>
              <a:spcAft>
                <a:spcPts val="0"/>
              </a:spcAft>
            </a:pPr>
            <a:r>
              <a:rPr sz="1750" b="1" i="0">
                <a:solidFill>
                  <a:srgbClr val="F2A93C"/>
                </a:solidFill>
                <a:latin typeface="Bahnschrift"/>
              </a:rPr>
              <a:t>The same judgment, reached faster and applied to everything the client owns</a:t>
            </a:r>
          </a:p>
        </p:txBody>
      </p:sp>
      <p:sp>
        <p:nvSpPr>
          <p:cNvPr id="13" name="Rectangle 12"/>
          <p:cNvSpPr/>
          <p:nvPr/>
        </p:nvSpPr>
        <p:spPr>
          <a:xfrm>
            <a:off x="841248" y="1408176"/>
            <a:ext cx="10509199" cy="21945"/>
          </a:xfrm>
          <a:prstGeom prst="rect">
            <a:avLst/>
          </a:prstGeom>
          <a:solidFill>
            <a:srgbClr val="1B27A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9155887" y="6528816"/>
            <a:ext cx="2194560" cy="182880"/>
          </a:xfrm>
          <a:prstGeom prst="rect">
            <a:avLst/>
          </a:prstGeom>
          <a:noFill/>
        </p:spPr>
        <p:txBody>
          <a:bodyPr wrap="square" anchor="t" lIns="0" rIns="0" tIns="0" bIns="0">
            <a:spAutoFit/>
          </a:bodyPr>
          <a:lstStyle/>
          <a:p>
            <a:pPr algn="r">
              <a:spcBef>
                <a:spcPts val="0"/>
              </a:spcBef>
              <a:spcAft>
                <a:spcPts val="0"/>
              </a:spcAft>
            </a:pPr>
            <a:r>
              <a:rPr sz="750" b="0" i="0">
                <a:solidFill>
                  <a:srgbClr val="6B7280"/>
                </a:solidFill>
                <a:latin typeface="Bahnschrift"/>
              </a:rPr>
              <a:t>Portfolio Review  ·  04</a:t>
            </a:r>
          </a:p>
        </p:txBody>
      </p:sp>
      <p:sp>
        <p:nvSpPr>
          <p:cNvPr id="15" name="TextBox 14"/>
          <p:cNvSpPr txBox="1"/>
          <p:nvPr/>
        </p:nvSpPr>
        <p:spPr>
          <a:xfrm>
            <a:off x="914400" y="1783080"/>
            <a:ext cx="2586087" cy="219456"/>
          </a:xfrm>
          <a:prstGeom prst="rect">
            <a:avLst/>
          </a:prstGeom>
          <a:noFill/>
        </p:spPr>
        <p:txBody>
          <a:bodyPr wrap="square" anchor="ctr" lIns="0" rIns="0" tIns="0" bIns="0">
            <a:spAutoFit/>
          </a:bodyPr>
          <a:lstStyle/>
          <a:p>
            <a:pPr algn="l">
              <a:spcBef>
                <a:spcPts val="0"/>
              </a:spcBef>
              <a:spcAft>
                <a:spcPts val="0"/>
              </a:spcAft>
            </a:pPr>
            <a:r>
              <a:rPr sz="800" b="1" i="0" spc="200">
                <a:solidFill>
                  <a:srgbClr val="6B7280"/>
                </a:solidFill>
                <a:latin typeface="Bahnschrift"/>
              </a:rPr>
              <a:t/>
            </a:r>
          </a:p>
        </p:txBody>
      </p:sp>
      <p:sp>
        <p:nvSpPr>
          <p:cNvPr id="16" name="TextBox 15"/>
          <p:cNvSpPr txBox="1"/>
          <p:nvPr/>
        </p:nvSpPr>
        <p:spPr>
          <a:xfrm>
            <a:off x="3646791" y="1783080"/>
            <a:ext cx="3742099" cy="219456"/>
          </a:xfrm>
          <a:prstGeom prst="rect">
            <a:avLst/>
          </a:prstGeom>
          <a:noFill/>
        </p:spPr>
        <p:txBody>
          <a:bodyPr wrap="square" anchor="ctr" lIns="0" rIns="0" tIns="0" bIns="0">
            <a:spAutoFit/>
          </a:bodyPr>
          <a:lstStyle/>
          <a:p>
            <a:pPr algn="l">
              <a:spcBef>
                <a:spcPts val="0"/>
              </a:spcBef>
              <a:spcAft>
                <a:spcPts val="0"/>
              </a:spcAft>
            </a:pPr>
            <a:r>
              <a:rPr sz="800" b="1" i="0" spc="200">
                <a:solidFill>
                  <a:srgbClr val="6B7280"/>
                </a:solidFill>
                <a:latin typeface="Bahnschrift"/>
              </a:rPr>
              <a:t>A MANUAL REVIEW</a:t>
            </a:r>
          </a:p>
        </p:txBody>
      </p:sp>
      <p:sp>
        <p:nvSpPr>
          <p:cNvPr id="17" name="TextBox 16"/>
          <p:cNvSpPr txBox="1"/>
          <p:nvPr/>
        </p:nvSpPr>
        <p:spPr>
          <a:xfrm>
            <a:off x="7535195" y="1783080"/>
            <a:ext cx="3742099" cy="219456"/>
          </a:xfrm>
          <a:prstGeom prst="rect">
            <a:avLst/>
          </a:prstGeom>
          <a:noFill/>
        </p:spPr>
        <p:txBody>
          <a:bodyPr wrap="square" anchor="ctr" lIns="0" rIns="0" tIns="0" bIns="0">
            <a:spAutoFit/>
          </a:bodyPr>
          <a:lstStyle/>
          <a:p>
            <a:pPr algn="l">
              <a:spcBef>
                <a:spcPts val="0"/>
              </a:spcBef>
              <a:spcAft>
                <a:spcPts val="0"/>
              </a:spcAft>
            </a:pPr>
            <a:r>
              <a:rPr sz="800" b="1" i="0" spc="200">
                <a:solidFill>
                  <a:srgbClr val="6B7280"/>
                </a:solidFill>
                <a:latin typeface="Bahnschrift"/>
              </a:rPr>
              <a:t>THIS ENGINE</a:t>
            </a:r>
          </a:p>
        </p:txBody>
      </p:sp>
      <p:sp>
        <p:nvSpPr>
          <p:cNvPr id="18" name="Rectangle 17"/>
          <p:cNvSpPr/>
          <p:nvPr/>
        </p:nvSpPr>
        <p:spPr>
          <a:xfrm>
            <a:off x="841248" y="2039112"/>
            <a:ext cx="10509199" cy="13716"/>
          </a:xfrm>
          <a:prstGeom prst="rect">
            <a:avLst/>
          </a:prstGeom>
          <a:solidFill>
            <a:srgbClr val="1B27A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914400" y="2084831"/>
            <a:ext cx="2586087" cy="402336"/>
          </a:xfrm>
          <a:prstGeom prst="rect">
            <a:avLst/>
          </a:prstGeom>
          <a:noFill/>
        </p:spPr>
        <p:txBody>
          <a:bodyPr wrap="square" anchor="ctr" lIns="0" rIns="0" tIns="0" bIns="0">
            <a:spAutoFit/>
          </a:bodyPr>
          <a:lstStyle/>
          <a:p>
            <a:pPr algn="l">
              <a:spcBef>
                <a:spcPts val="0"/>
              </a:spcBef>
              <a:spcAft>
                <a:spcPts val="0"/>
              </a:spcAft>
            </a:pPr>
            <a:r>
              <a:rPr sz="1000" b="1" i="0">
                <a:solidFill>
                  <a:srgbClr val="16233B"/>
                </a:solidFill>
                <a:latin typeface="Bahnschrift"/>
              </a:rPr>
              <a:t>Turnaround per client</a:t>
            </a:r>
          </a:p>
        </p:txBody>
      </p:sp>
      <p:sp>
        <p:nvSpPr>
          <p:cNvPr id="20" name="TextBox 19"/>
          <p:cNvSpPr txBox="1"/>
          <p:nvPr/>
        </p:nvSpPr>
        <p:spPr>
          <a:xfrm>
            <a:off x="3646791" y="2084831"/>
            <a:ext cx="3742099" cy="402336"/>
          </a:xfrm>
          <a:prstGeom prst="rect">
            <a:avLst/>
          </a:prstGeom>
          <a:noFill/>
        </p:spPr>
        <p:txBody>
          <a:bodyPr wrap="square" anchor="ctr" lIns="0" rIns="0" tIns="0" bIns="0">
            <a:spAutoFit/>
          </a:bodyPr>
          <a:lstStyle/>
          <a:p>
            <a:pPr algn="l">
              <a:spcBef>
                <a:spcPts val="0"/>
              </a:spcBef>
              <a:spcAft>
                <a:spcPts val="0"/>
              </a:spcAft>
            </a:pPr>
            <a:r>
              <a:rPr sz="1000" b="0" i="0">
                <a:solidFill>
                  <a:srgbClr val="16233B"/>
                </a:solidFill>
                <a:latin typeface="Georgia"/>
              </a:rPr>
              <a:t>About a week</a:t>
            </a:r>
          </a:p>
        </p:txBody>
      </p:sp>
      <p:sp>
        <p:nvSpPr>
          <p:cNvPr id="21" name="TextBox 20"/>
          <p:cNvSpPr txBox="1"/>
          <p:nvPr/>
        </p:nvSpPr>
        <p:spPr>
          <a:xfrm>
            <a:off x="7535195" y="2084831"/>
            <a:ext cx="3742099" cy="402336"/>
          </a:xfrm>
          <a:prstGeom prst="rect">
            <a:avLst/>
          </a:prstGeom>
          <a:noFill/>
        </p:spPr>
        <p:txBody>
          <a:bodyPr wrap="square" anchor="ctr" lIns="0" rIns="0" tIns="0" bIns="0">
            <a:spAutoFit/>
          </a:bodyPr>
          <a:lstStyle/>
          <a:p>
            <a:pPr algn="l">
              <a:spcBef>
                <a:spcPts val="0"/>
              </a:spcBef>
              <a:spcAft>
                <a:spcPts val="0"/>
              </a:spcAft>
            </a:pPr>
            <a:r>
              <a:rPr sz="1000" b="1" i="0">
                <a:solidFill>
                  <a:srgbClr val="1E9E6A"/>
                </a:solidFill>
                <a:latin typeface="Bahnschrift"/>
              </a:rPr>
              <a:t>A few hours</a:t>
            </a:r>
          </a:p>
        </p:txBody>
      </p:sp>
      <p:sp>
        <p:nvSpPr>
          <p:cNvPr id="22" name="Rectangle 21"/>
          <p:cNvSpPr/>
          <p:nvPr/>
        </p:nvSpPr>
        <p:spPr>
          <a:xfrm>
            <a:off x="841248" y="2468879"/>
            <a:ext cx="10509199" cy="402336"/>
          </a:xfrm>
          <a:prstGeom prst="rect">
            <a:avLst/>
          </a:prstGeom>
          <a:solidFill>
            <a:srgbClr val="F5F6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914400" y="2487168"/>
            <a:ext cx="2586087" cy="402336"/>
          </a:xfrm>
          <a:prstGeom prst="rect">
            <a:avLst/>
          </a:prstGeom>
          <a:noFill/>
        </p:spPr>
        <p:txBody>
          <a:bodyPr wrap="square" anchor="ctr" lIns="0" rIns="0" tIns="0" bIns="0">
            <a:spAutoFit/>
          </a:bodyPr>
          <a:lstStyle/>
          <a:p>
            <a:pPr algn="l">
              <a:spcBef>
                <a:spcPts val="0"/>
              </a:spcBef>
              <a:spcAft>
                <a:spcPts val="0"/>
              </a:spcAft>
            </a:pPr>
            <a:r>
              <a:rPr sz="1000" b="1" i="0">
                <a:solidFill>
                  <a:srgbClr val="16233B"/>
                </a:solidFill>
                <a:latin typeface="Bahnschrift"/>
              </a:rPr>
              <a:t>Holdings covered</a:t>
            </a:r>
          </a:p>
        </p:txBody>
      </p:sp>
      <p:sp>
        <p:nvSpPr>
          <p:cNvPr id="24" name="TextBox 23"/>
          <p:cNvSpPr txBox="1"/>
          <p:nvPr/>
        </p:nvSpPr>
        <p:spPr>
          <a:xfrm>
            <a:off x="3646791" y="2487168"/>
            <a:ext cx="3742099" cy="402336"/>
          </a:xfrm>
          <a:prstGeom prst="rect">
            <a:avLst/>
          </a:prstGeom>
          <a:noFill/>
        </p:spPr>
        <p:txBody>
          <a:bodyPr wrap="square" anchor="ctr" lIns="0" rIns="0" tIns="0" bIns="0">
            <a:spAutoFit/>
          </a:bodyPr>
          <a:lstStyle/>
          <a:p>
            <a:pPr algn="l">
              <a:spcBef>
                <a:spcPts val="0"/>
              </a:spcBef>
              <a:spcAft>
                <a:spcPts val="0"/>
              </a:spcAft>
            </a:pPr>
            <a:r>
              <a:rPr sz="1000" b="0" i="0">
                <a:solidFill>
                  <a:srgbClr val="16233B"/>
                </a:solidFill>
                <a:latin typeface="Georgia"/>
              </a:rPr>
              <a:t>The larger names, sampled</a:t>
            </a:r>
          </a:p>
        </p:txBody>
      </p:sp>
      <p:sp>
        <p:nvSpPr>
          <p:cNvPr id="25" name="TextBox 24"/>
          <p:cNvSpPr txBox="1"/>
          <p:nvPr/>
        </p:nvSpPr>
        <p:spPr>
          <a:xfrm>
            <a:off x="7535195" y="2487168"/>
            <a:ext cx="3742099" cy="402336"/>
          </a:xfrm>
          <a:prstGeom prst="rect">
            <a:avLst/>
          </a:prstGeom>
          <a:noFill/>
        </p:spPr>
        <p:txBody>
          <a:bodyPr wrap="square" anchor="ctr" lIns="0" rIns="0" tIns="0" bIns="0">
            <a:spAutoFit/>
          </a:bodyPr>
          <a:lstStyle/>
          <a:p>
            <a:pPr algn="l">
              <a:spcBef>
                <a:spcPts val="0"/>
              </a:spcBef>
              <a:spcAft>
                <a:spcPts val="0"/>
              </a:spcAft>
            </a:pPr>
            <a:r>
              <a:rPr sz="1000" b="1" i="0">
                <a:solidFill>
                  <a:srgbClr val="1E9E6A"/>
                </a:solidFill>
                <a:latin typeface="Bahnschrift"/>
              </a:rPr>
              <a:t>Every holding, no sampling</a:t>
            </a:r>
          </a:p>
        </p:txBody>
      </p:sp>
      <p:sp>
        <p:nvSpPr>
          <p:cNvPr id="26" name="TextBox 25"/>
          <p:cNvSpPr txBox="1"/>
          <p:nvPr/>
        </p:nvSpPr>
        <p:spPr>
          <a:xfrm>
            <a:off x="914400" y="2889503"/>
            <a:ext cx="2586087" cy="402336"/>
          </a:xfrm>
          <a:prstGeom prst="rect">
            <a:avLst/>
          </a:prstGeom>
          <a:noFill/>
        </p:spPr>
        <p:txBody>
          <a:bodyPr wrap="square" anchor="ctr" lIns="0" rIns="0" tIns="0" bIns="0">
            <a:spAutoFit/>
          </a:bodyPr>
          <a:lstStyle/>
          <a:p>
            <a:pPr algn="l">
              <a:spcBef>
                <a:spcPts val="0"/>
              </a:spcBef>
              <a:spcAft>
                <a:spcPts val="0"/>
              </a:spcAft>
            </a:pPr>
            <a:r>
              <a:rPr sz="1000" b="1" i="0">
                <a:solidFill>
                  <a:srgbClr val="16233B"/>
                </a:solidFill>
                <a:latin typeface="Bahnschrift"/>
              </a:rPr>
              <a:t>Scored universe behind it</a:t>
            </a:r>
          </a:p>
        </p:txBody>
      </p:sp>
      <p:sp>
        <p:nvSpPr>
          <p:cNvPr id="27" name="TextBox 26"/>
          <p:cNvSpPr txBox="1"/>
          <p:nvPr/>
        </p:nvSpPr>
        <p:spPr>
          <a:xfrm>
            <a:off x="3646791" y="2889503"/>
            <a:ext cx="3742099" cy="402336"/>
          </a:xfrm>
          <a:prstGeom prst="rect">
            <a:avLst/>
          </a:prstGeom>
          <a:noFill/>
        </p:spPr>
        <p:txBody>
          <a:bodyPr wrap="square" anchor="ctr" lIns="0" rIns="0" tIns="0" bIns="0">
            <a:spAutoFit/>
          </a:bodyPr>
          <a:lstStyle/>
          <a:p>
            <a:pPr algn="l">
              <a:spcBef>
                <a:spcPts val="0"/>
              </a:spcBef>
              <a:spcAft>
                <a:spcPts val="0"/>
              </a:spcAft>
            </a:pPr>
            <a:r>
              <a:rPr sz="1000" b="0" i="0">
                <a:solidFill>
                  <a:srgbClr val="16233B"/>
                </a:solidFill>
                <a:latin typeface="Georgia"/>
              </a:rPr>
              <a:t>None maintained</a:t>
            </a:r>
          </a:p>
        </p:txBody>
      </p:sp>
      <p:sp>
        <p:nvSpPr>
          <p:cNvPr id="28" name="TextBox 27"/>
          <p:cNvSpPr txBox="1"/>
          <p:nvPr/>
        </p:nvSpPr>
        <p:spPr>
          <a:xfrm>
            <a:off x="7535195" y="2889503"/>
            <a:ext cx="3742099" cy="402336"/>
          </a:xfrm>
          <a:prstGeom prst="rect">
            <a:avLst/>
          </a:prstGeom>
          <a:noFill/>
        </p:spPr>
        <p:txBody>
          <a:bodyPr wrap="square" anchor="ctr" lIns="0" rIns="0" tIns="0" bIns="0">
            <a:spAutoFit/>
          </a:bodyPr>
          <a:lstStyle/>
          <a:p>
            <a:pPr algn="l">
              <a:spcBef>
                <a:spcPts val="0"/>
              </a:spcBef>
              <a:spcAft>
                <a:spcPts val="0"/>
              </a:spcAft>
            </a:pPr>
            <a:r>
              <a:rPr sz="1000" b="1" i="0">
                <a:solidFill>
                  <a:srgbClr val="1E9E6A"/>
                </a:solidFill>
                <a:latin typeface="Bahnschrift"/>
              </a:rPr>
              <a:t>751 names, refreshed weekly</a:t>
            </a:r>
          </a:p>
        </p:txBody>
      </p:sp>
      <p:sp>
        <p:nvSpPr>
          <p:cNvPr id="29" name="Rectangle 28"/>
          <p:cNvSpPr/>
          <p:nvPr/>
        </p:nvSpPr>
        <p:spPr>
          <a:xfrm>
            <a:off x="841248" y="3273551"/>
            <a:ext cx="10509199" cy="402336"/>
          </a:xfrm>
          <a:prstGeom prst="rect">
            <a:avLst/>
          </a:prstGeom>
          <a:solidFill>
            <a:srgbClr val="F5F6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914400" y="3291839"/>
            <a:ext cx="2586087" cy="402336"/>
          </a:xfrm>
          <a:prstGeom prst="rect">
            <a:avLst/>
          </a:prstGeom>
          <a:noFill/>
        </p:spPr>
        <p:txBody>
          <a:bodyPr wrap="square" anchor="ctr" lIns="0" rIns="0" tIns="0" bIns="0">
            <a:spAutoFit/>
          </a:bodyPr>
          <a:lstStyle/>
          <a:p>
            <a:pPr algn="l">
              <a:spcBef>
                <a:spcPts val="0"/>
              </a:spcBef>
              <a:spcAft>
                <a:spcPts val="0"/>
              </a:spcAft>
            </a:pPr>
            <a:r>
              <a:rPr sz="1000" b="1" i="0">
                <a:solidFill>
                  <a:srgbClr val="16233B"/>
                </a:solidFill>
                <a:latin typeface="Bahnschrift"/>
              </a:rPr>
              <a:t>Consistency between reviewers</a:t>
            </a:r>
          </a:p>
        </p:txBody>
      </p:sp>
      <p:sp>
        <p:nvSpPr>
          <p:cNvPr id="31" name="TextBox 30"/>
          <p:cNvSpPr txBox="1"/>
          <p:nvPr/>
        </p:nvSpPr>
        <p:spPr>
          <a:xfrm>
            <a:off x="3646791" y="3291839"/>
            <a:ext cx="3742099" cy="402336"/>
          </a:xfrm>
          <a:prstGeom prst="rect">
            <a:avLst/>
          </a:prstGeom>
          <a:noFill/>
        </p:spPr>
        <p:txBody>
          <a:bodyPr wrap="square" anchor="ctr" lIns="0" rIns="0" tIns="0" bIns="0">
            <a:spAutoFit/>
          </a:bodyPr>
          <a:lstStyle/>
          <a:p>
            <a:pPr algn="l">
              <a:spcBef>
                <a:spcPts val="0"/>
              </a:spcBef>
              <a:spcAft>
                <a:spcPts val="0"/>
              </a:spcAft>
            </a:pPr>
            <a:r>
              <a:rPr sz="1000" b="0" i="0">
                <a:solidFill>
                  <a:srgbClr val="16233B"/>
                </a:solidFill>
                <a:latin typeface="Georgia"/>
              </a:rPr>
              <a:t>Varies with who does it</a:t>
            </a:r>
          </a:p>
        </p:txBody>
      </p:sp>
      <p:sp>
        <p:nvSpPr>
          <p:cNvPr id="32" name="TextBox 31"/>
          <p:cNvSpPr txBox="1"/>
          <p:nvPr/>
        </p:nvSpPr>
        <p:spPr>
          <a:xfrm>
            <a:off x="7535195" y="3291839"/>
            <a:ext cx="3742099" cy="402336"/>
          </a:xfrm>
          <a:prstGeom prst="rect">
            <a:avLst/>
          </a:prstGeom>
          <a:noFill/>
        </p:spPr>
        <p:txBody>
          <a:bodyPr wrap="square" anchor="ctr" lIns="0" rIns="0" tIns="0" bIns="0">
            <a:spAutoFit/>
          </a:bodyPr>
          <a:lstStyle/>
          <a:p>
            <a:pPr algn="l">
              <a:spcBef>
                <a:spcPts val="0"/>
              </a:spcBef>
              <a:spcAft>
                <a:spcPts val="0"/>
              </a:spcAft>
            </a:pPr>
            <a:r>
              <a:rPr sz="1000" b="0" i="0">
                <a:solidFill>
                  <a:srgbClr val="16233B"/>
                </a:solidFill>
                <a:latin typeface="Georgia"/>
              </a:rPr>
              <a:t>One weight set, applied identically</a:t>
            </a:r>
          </a:p>
        </p:txBody>
      </p:sp>
      <p:sp>
        <p:nvSpPr>
          <p:cNvPr id="33" name="TextBox 32"/>
          <p:cNvSpPr txBox="1"/>
          <p:nvPr/>
        </p:nvSpPr>
        <p:spPr>
          <a:xfrm>
            <a:off x="914400" y="3694176"/>
            <a:ext cx="2586087" cy="402336"/>
          </a:xfrm>
          <a:prstGeom prst="rect">
            <a:avLst/>
          </a:prstGeom>
          <a:noFill/>
        </p:spPr>
        <p:txBody>
          <a:bodyPr wrap="square" anchor="ctr" lIns="0" rIns="0" tIns="0" bIns="0">
            <a:spAutoFit/>
          </a:bodyPr>
          <a:lstStyle/>
          <a:p>
            <a:pPr algn="l">
              <a:spcBef>
                <a:spcPts val="0"/>
              </a:spcBef>
              <a:spcAft>
                <a:spcPts val="0"/>
              </a:spcAft>
            </a:pPr>
            <a:r>
              <a:rPr sz="1000" b="1" i="0">
                <a:solidFill>
                  <a:srgbClr val="16233B"/>
                </a:solidFill>
                <a:latin typeface="Bahnschrift"/>
              </a:rPr>
              <a:t>Audit trail</a:t>
            </a:r>
          </a:p>
        </p:txBody>
      </p:sp>
      <p:sp>
        <p:nvSpPr>
          <p:cNvPr id="34" name="TextBox 33"/>
          <p:cNvSpPr txBox="1"/>
          <p:nvPr/>
        </p:nvSpPr>
        <p:spPr>
          <a:xfrm>
            <a:off x="3646791" y="3694176"/>
            <a:ext cx="3742099" cy="402336"/>
          </a:xfrm>
          <a:prstGeom prst="rect">
            <a:avLst/>
          </a:prstGeom>
          <a:noFill/>
        </p:spPr>
        <p:txBody>
          <a:bodyPr wrap="square" anchor="ctr" lIns="0" rIns="0" tIns="0" bIns="0">
            <a:spAutoFit/>
          </a:bodyPr>
          <a:lstStyle/>
          <a:p>
            <a:pPr algn="l">
              <a:spcBef>
                <a:spcPts val="0"/>
              </a:spcBef>
              <a:spcAft>
                <a:spcPts val="0"/>
              </a:spcAft>
            </a:pPr>
            <a:r>
              <a:rPr sz="1000" b="0" i="0">
                <a:solidFill>
                  <a:srgbClr val="16233B"/>
                </a:solidFill>
                <a:latin typeface="Georgia"/>
              </a:rPr>
              <a:t>Notes, if they were kept</a:t>
            </a:r>
          </a:p>
        </p:txBody>
      </p:sp>
      <p:sp>
        <p:nvSpPr>
          <p:cNvPr id="35" name="TextBox 34"/>
          <p:cNvSpPr txBox="1"/>
          <p:nvPr/>
        </p:nvSpPr>
        <p:spPr>
          <a:xfrm>
            <a:off x="7535195" y="3694176"/>
            <a:ext cx="3742099" cy="402336"/>
          </a:xfrm>
          <a:prstGeom prst="rect">
            <a:avLst/>
          </a:prstGeom>
          <a:noFill/>
        </p:spPr>
        <p:txBody>
          <a:bodyPr wrap="square" anchor="ctr" lIns="0" rIns="0" tIns="0" bIns="0">
            <a:spAutoFit/>
          </a:bodyPr>
          <a:lstStyle/>
          <a:p>
            <a:pPr algn="l">
              <a:spcBef>
                <a:spcPts val="0"/>
              </a:spcBef>
              <a:spcAft>
                <a:spcPts val="0"/>
              </a:spcAft>
            </a:pPr>
            <a:r>
              <a:rPr sz="1000" b="0" i="0">
                <a:solidFill>
                  <a:srgbClr val="16233B"/>
                </a:solidFill>
                <a:latin typeface="Georgia"/>
              </a:rPr>
              <a:t>Dated research and journalled state, per name</a:t>
            </a:r>
          </a:p>
        </p:txBody>
      </p:sp>
      <p:sp>
        <p:nvSpPr>
          <p:cNvPr id="36" name="Rectangle 35"/>
          <p:cNvSpPr/>
          <p:nvPr/>
        </p:nvSpPr>
        <p:spPr>
          <a:xfrm>
            <a:off x="841248" y="4078224"/>
            <a:ext cx="10509199" cy="402336"/>
          </a:xfrm>
          <a:prstGeom prst="rect">
            <a:avLst/>
          </a:prstGeom>
          <a:solidFill>
            <a:srgbClr val="F5F6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914400" y="4096512"/>
            <a:ext cx="2586087" cy="402336"/>
          </a:xfrm>
          <a:prstGeom prst="rect">
            <a:avLst/>
          </a:prstGeom>
          <a:noFill/>
        </p:spPr>
        <p:txBody>
          <a:bodyPr wrap="square" anchor="ctr" lIns="0" rIns="0" tIns="0" bIns="0">
            <a:spAutoFit/>
          </a:bodyPr>
          <a:lstStyle/>
          <a:p>
            <a:pPr algn="l">
              <a:spcBef>
                <a:spcPts val="0"/>
              </a:spcBef>
              <a:spcAft>
                <a:spcPts val="0"/>
              </a:spcAft>
            </a:pPr>
            <a:r>
              <a:rPr sz="1000" b="1" i="0">
                <a:solidFill>
                  <a:srgbClr val="16233B"/>
                </a:solidFill>
                <a:latin typeface="Bahnschrift"/>
              </a:rPr>
              <a:t>Cost of the next client</a:t>
            </a:r>
          </a:p>
        </p:txBody>
      </p:sp>
      <p:sp>
        <p:nvSpPr>
          <p:cNvPr id="38" name="TextBox 37"/>
          <p:cNvSpPr txBox="1"/>
          <p:nvPr/>
        </p:nvSpPr>
        <p:spPr>
          <a:xfrm>
            <a:off x="3646791" y="4096512"/>
            <a:ext cx="3742099" cy="402336"/>
          </a:xfrm>
          <a:prstGeom prst="rect">
            <a:avLst/>
          </a:prstGeom>
          <a:noFill/>
        </p:spPr>
        <p:txBody>
          <a:bodyPr wrap="square" anchor="ctr" lIns="0" rIns="0" tIns="0" bIns="0">
            <a:spAutoFit/>
          </a:bodyPr>
          <a:lstStyle/>
          <a:p>
            <a:pPr algn="l">
              <a:spcBef>
                <a:spcPts val="0"/>
              </a:spcBef>
              <a:spcAft>
                <a:spcPts val="0"/>
              </a:spcAft>
            </a:pPr>
            <a:r>
              <a:rPr sz="1000" b="0" i="0">
                <a:solidFill>
                  <a:srgbClr val="16233B"/>
                </a:solidFill>
                <a:latin typeface="Georgia"/>
              </a:rPr>
              <a:t>Another full cycle</a:t>
            </a:r>
          </a:p>
        </p:txBody>
      </p:sp>
      <p:sp>
        <p:nvSpPr>
          <p:cNvPr id="39" name="TextBox 38"/>
          <p:cNvSpPr txBox="1"/>
          <p:nvPr/>
        </p:nvSpPr>
        <p:spPr>
          <a:xfrm>
            <a:off x="7535195" y="4096512"/>
            <a:ext cx="3742099" cy="402336"/>
          </a:xfrm>
          <a:prstGeom prst="rect">
            <a:avLst/>
          </a:prstGeom>
          <a:noFill/>
        </p:spPr>
        <p:txBody>
          <a:bodyPr wrap="square" anchor="ctr" lIns="0" rIns="0" tIns="0" bIns="0">
            <a:spAutoFit/>
          </a:bodyPr>
          <a:lstStyle/>
          <a:p>
            <a:pPr algn="l">
              <a:spcBef>
                <a:spcPts val="0"/>
              </a:spcBef>
              <a:spcAft>
                <a:spcPts val="0"/>
              </a:spcAft>
            </a:pPr>
            <a:r>
              <a:rPr sz="1000" b="0" i="0">
                <a:solidFill>
                  <a:srgbClr val="16233B"/>
                </a:solidFill>
                <a:latin typeface="Georgia"/>
              </a:rPr>
              <a:t>Assembly is scripted; research is incremental</a:t>
            </a:r>
          </a:p>
        </p:txBody>
      </p:sp>
      <p:sp>
        <p:nvSpPr>
          <p:cNvPr id="40" name="TextBox 39"/>
          <p:cNvSpPr txBox="1"/>
          <p:nvPr/>
        </p:nvSpPr>
        <p:spPr>
          <a:xfrm>
            <a:off x="914400" y="4498848"/>
            <a:ext cx="2586087" cy="402336"/>
          </a:xfrm>
          <a:prstGeom prst="rect">
            <a:avLst/>
          </a:prstGeom>
          <a:noFill/>
        </p:spPr>
        <p:txBody>
          <a:bodyPr wrap="square" anchor="ctr" lIns="0" rIns="0" tIns="0" bIns="0">
            <a:spAutoFit/>
          </a:bodyPr>
          <a:lstStyle/>
          <a:p>
            <a:pPr algn="l">
              <a:spcBef>
                <a:spcPts val="0"/>
              </a:spcBef>
              <a:spcAft>
                <a:spcPts val="0"/>
              </a:spcAft>
            </a:pPr>
            <a:r>
              <a:rPr sz="1000" b="1" i="0">
                <a:solidFill>
                  <a:srgbClr val="16233B"/>
                </a:solidFill>
                <a:latin typeface="Bahnschrift"/>
              </a:rPr>
              <a:t>What stays human</a:t>
            </a:r>
          </a:p>
        </p:txBody>
      </p:sp>
      <p:sp>
        <p:nvSpPr>
          <p:cNvPr id="41" name="TextBox 40"/>
          <p:cNvSpPr txBox="1"/>
          <p:nvPr/>
        </p:nvSpPr>
        <p:spPr>
          <a:xfrm>
            <a:off x="3646791" y="4498848"/>
            <a:ext cx="3742099" cy="402336"/>
          </a:xfrm>
          <a:prstGeom prst="rect">
            <a:avLst/>
          </a:prstGeom>
          <a:noFill/>
        </p:spPr>
        <p:txBody>
          <a:bodyPr wrap="square" anchor="ctr" lIns="0" rIns="0" tIns="0" bIns="0">
            <a:spAutoFit/>
          </a:bodyPr>
          <a:lstStyle/>
          <a:p>
            <a:pPr algn="l">
              <a:spcBef>
                <a:spcPts val="0"/>
              </a:spcBef>
              <a:spcAft>
                <a:spcPts val="0"/>
              </a:spcAft>
            </a:pPr>
            <a:r>
              <a:rPr sz="1000" b="0" i="0">
                <a:solidFill>
                  <a:srgbClr val="16233B"/>
                </a:solidFill>
                <a:latin typeface="Georgia"/>
              </a:rPr>
              <a:t>Everything</a:t>
            </a:r>
          </a:p>
        </p:txBody>
      </p:sp>
      <p:sp>
        <p:nvSpPr>
          <p:cNvPr id="42" name="TextBox 41"/>
          <p:cNvSpPr txBox="1"/>
          <p:nvPr/>
        </p:nvSpPr>
        <p:spPr>
          <a:xfrm>
            <a:off x="7535195" y="4498848"/>
            <a:ext cx="3742099" cy="402336"/>
          </a:xfrm>
          <a:prstGeom prst="rect">
            <a:avLst/>
          </a:prstGeom>
          <a:noFill/>
        </p:spPr>
        <p:txBody>
          <a:bodyPr wrap="square" anchor="ctr" lIns="0" rIns="0" tIns="0" bIns="0">
            <a:spAutoFit/>
          </a:bodyPr>
          <a:lstStyle/>
          <a:p>
            <a:pPr algn="l">
              <a:spcBef>
                <a:spcPts val="0"/>
              </a:spcBef>
              <a:spcAft>
                <a:spcPts val="0"/>
              </a:spcAft>
            </a:pPr>
            <a:r>
              <a:rPr sz="1000" b="1" i="0">
                <a:solidFill>
                  <a:srgbClr val="1B27A3"/>
                </a:solidFill>
                <a:latin typeface="Bahnschrift"/>
              </a:rPr>
              <a:t>The call, the override, the sign-off</a:t>
            </a:r>
          </a:p>
        </p:txBody>
      </p:sp>
      <p:sp>
        <p:nvSpPr>
          <p:cNvPr id="43" name="Rounded Rectangle 42"/>
          <p:cNvSpPr/>
          <p:nvPr/>
        </p:nvSpPr>
        <p:spPr>
          <a:xfrm>
            <a:off x="841248" y="4992624"/>
            <a:ext cx="10509199" cy="804672"/>
          </a:xfrm>
          <a:prstGeom prst="roundRect">
            <a:avLst>
              <a:gd name="adj" fmla="val 4000"/>
            </a:avLst>
          </a:prstGeom>
          <a:solidFill>
            <a:srgbClr val="FBEFD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Rectangle 43"/>
          <p:cNvSpPr/>
          <p:nvPr/>
        </p:nvSpPr>
        <p:spPr>
          <a:xfrm>
            <a:off x="841248" y="4992624"/>
            <a:ext cx="54864" cy="804672"/>
          </a:xfrm>
          <a:prstGeom prst="rect">
            <a:avLst/>
          </a:prstGeom>
          <a:solidFill>
            <a:srgbClr val="F2A93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TextBox 44"/>
          <p:cNvSpPr txBox="1"/>
          <p:nvPr/>
        </p:nvSpPr>
        <p:spPr>
          <a:xfrm>
            <a:off x="1042416" y="5120640"/>
            <a:ext cx="10143439" cy="274320"/>
          </a:xfrm>
          <a:prstGeom prst="rect">
            <a:avLst/>
          </a:prstGeom>
          <a:noFill/>
        </p:spPr>
        <p:txBody>
          <a:bodyPr wrap="square" anchor="t" lIns="0" rIns="0" tIns="0" bIns="0">
            <a:spAutoFit/>
          </a:bodyPr>
          <a:lstStyle/>
          <a:p>
            <a:pPr algn="l">
              <a:spcBef>
                <a:spcPts val="0"/>
              </a:spcBef>
              <a:spcAft>
                <a:spcPts val="0"/>
              </a:spcAft>
            </a:pPr>
            <a:r>
              <a:rPr sz="950" b="1" i="0" spc="60">
                <a:solidFill>
                  <a:srgbClr val="92400E"/>
                </a:solidFill>
                <a:latin typeface="Bahnschrift"/>
              </a:rPr>
              <a:t>WHAT THIS COMPARISON IS NOT SAYING</a:t>
            </a:r>
          </a:p>
        </p:txBody>
      </p:sp>
      <p:sp>
        <p:nvSpPr>
          <p:cNvPr id="46" name="TextBox 45"/>
          <p:cNvSpPr txBox="1"/>
          <p:nvPr/>
        </p:nvSpPr>
        <p:spPr>
          <a:xfrm>
            <a:off x="1042416" y="5394960"/>
            <a:ext cx="10143439" cy="347472"/>
          </a:xfrm>
          <a:prstGeom prst="rect">
            <a:avLst/>
          </a:prstGeom>
          <a:noFill/>
        </p:spPr>
        <p:txBody>
          <a:bodyPr wrap="square" anchor="t" lIns="0" rIns="0" tIns="0" bIns="0">
            <a:spAutoFit/>
          </a:bodyPr>
          <a:lstStyle/>
          <a:p>
            <a:pPr algn="l">
              <a:lnSpc>
                <a:spcPct val="106000"/>
              </a:lnSpc>
              <a:spcBef>
                <a:spcPts val="0"/>
              </a:spcBef>
              <a:spcAft>
                <a:spcPts val="0"/>
              </a:spcAft>
            </a:pPr>
            <a:r>
              <a:rPr sz="1050" b="0" i="0">
                <a:solidFill>
                  <a:srgbClr val="16233B"/>
                </a:solidFill>
                <a:latin typeface="Georgia"/>
              </a:rPr>
              <a:t>Not that the engine reviews better than an analyst. That the analyst should spend their time on judgment rather than assembling arithmetic, and a client with 98 holdings should get all 98 looked at. The week-versus-hours figure is our own estimate, not a measured benchmark.</a:t>
            </a:r>
          </a:p>
        </p:txBody>
      </p:sp>
      <p:sp>
        <p:nvSpPr>
          <p:cNvPr id="47" name="TextBox 46"/>
          <p:cNvSpPr txBox="1"/>
          <p:nvPr/>
        </p:nvSpPr>
        <p:spPr>
          <a:xfrm>
            <a:off x="841248" y="6089904"/>
            <a:ext cx="10509199" cy="219456"/>
          </a:xfrm>
          <a:prstGeom prst="rect">
            <a:avLst/>
          </a:prstGeom>
          <a:noFill/>
        </p:spPr>
        <p:txBody>
          <a:bodyPr wrap="square" anchor="t" lIns="0" rIns="0" tIns="0" bIns="0">
            <a:spAutoFit/>
          </a:bodyPr>
          <a:lstStyle/>
          <a:p>
            <a:pPr algn="l">
              <a:spcBef>
                <a:spcPts val="0"/>
              </a:spcBef>
              <a:spcAft>
                <a:spcPts val="0"/>
              </a:spcAft>
            </a:pPr>
            <a:r>
              <a:rPr sz="700" b="0" i="0">
                <a:solidFill>
                  <a:srgbClr val="6B7280"/>
                </a:solidFill>
                <a:latin typeface="Bahnschrift"/>
              </a:rPr>
              <a:t>Turnaround and coverage for the engine are observed from the two client books produced to date; the manual baseline is an internal estimate and is labelled as such.</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019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div_art_1.png"/>
          <p:cNvPicPr>
            <a:picLocks noChangeAspect="1"/>
          </p:cNvPicPr>
          <p:nvPr/>
        </p:nvPicPr>
        <p:blipFill>
          <a:blip r:embed="rId2"/>
          <a:stretch>
            <a:fillRect/>
          </a:stretch>
        </p:blipFill>
        <p:spPr>
          <a:xfrm>
            <a:off x="6339535" y="0"/>
            <a:ext cx="5852160" cy="6858000"/>
          </a:xfrm>
          <a:prstGeom prst="rect">
            <a:avLst/>
          </a:prstGeom>
        </p:spPr>
      </p:pic>
      <p:sp>
        <p:nvSpPr>
          <p:cNvPr id="4" name="TextBox 3"/>
          <p:cNvSpPr txBox="1"/>
          <p:nvPr/>
        </p:nvSpPr>
        <p:spPr>
          <a:xfrm>
            <a:off x="4541367" y="128016"/>
            <a:ext cx="3108960" cy="182880"/>
          </a:xfrm>
          <a:prstGeom prst="rect">
            <a:avLst/>
          </a:prstGeom>
          <a:noFill/>
        </p:spPr>
        <p:txBody>
          <a:bodyPr wrap="square" anchor="t" lIns="0" rIns="0" tIns="0" bIns="0">
            <a:spAutoFit/>
          </a:bodyPr>
          <a:lstStyle/>
          <a:p>
            <a:pPr algn="ctr">
              <a:spcBef>
                <a:spcPts val="0"/>
              </a:spcBef>
              <a:spcAft>
                <a:spcPts val="0"/>
              </a:spcAft>
            </a:pPr>
            <a:r>
              <a:rPr sz="750" b="0" i="0">
                <a:solidFill>
                  <a:srgbClr val="8C95DE"/>
                </a:solidFill>
                <a:latin typeface="Bahnschrift"/>
              </a:rPr>
              <a:t>Private &amp; Confidential</a:t>
            </a:r>
          </a:p>
        </p:txBody>
      </p:sp>
      <p:sp>
        <p:nvSpPr>
          <p:cNvPr id="5" name="TextBox 4"/>
          <p:cNvSpPr txBox="1"/>
          <p:nvPr/>
        </p:nvSpPr>
        <p:spPr>
          <a:xfrm>
            <a:off x="6766560" y="868680"/>
            <a:ext cx="4583887" cy="2377440"/>
          </a:xfrm>
          <a:prstGeom prst="rect">
            <a:avLst/>
          </a:prstGeom>
          <a:noFill/>
        </p:spPr>
        <p:txBody>
          <a:bodyPr wrap="square" anchor="t" lIns="0" rIns="0" tIns="0" bIns="0">
            <a:spAutoFit/>
          </a:bodyPr>
          <a:lstStyle/>
          <a:p>
            <a:pPr algn="r">
              <a:spcBef>
                <a:spcPts val="0"/>
              </a:spcBef>
              <a:spcAft>
                <a:spcPts val="0"/>
              </a:spcAft>
            </a:pPr>
            <a:r>
              <a:rPr sz="17000" b="1" i="0">
                <a:solidFill>
                  <a:srgbClr val="242F8E"/>
                </a:solidFill>
                <a:latin typeface="Georgia"/>
              </a:rPr>
              <a:t>01</a:t>
            </a:r>
          </a:p>
        </p:txBody>
      </p:sp>
      <p:sp>
        <p:nvSpPr>
          <p:cNvPr id="6" name="TextBox 5"/>
          <p:cNvSpPr txBox="1"/>
          <p:nvPr/>
        </p:nvSpPr>
        <p:spPr>
          <a:xfrm>
            <a:off x="841248" y="2359152"/>
            <a:ext cx="5943600" cy="274320"/>
          </a:xfrm>
          <a:prstGeom prst="rect">
            <a:avLst/>
          </a:prstGeom>
          <a:noFill/>
        </p:spPr>
        <p:txBody>
          <a:bodyPr wrap="square" anchor="t" lIns="0" rIns="0" tIns="0" bIns="0">
            <a:spAutoFit/>
          </a:bodyPr>
          <a:lstStyle/>
          <a:p>
            <a:pPr algn="l">
              <a:spcBef>
                <a:spcPts val="0"/>
              </a:spcBef>
              <a:spcAft>
                <a:spcPts val="0"/>
              </a:spcAft>
            </a:pPr>
            <a:r>
              <a:rPr sz="1000" b="1" i="0" spc="250">
                <a:solidFill>
                  <a:srgbClr val="F2A93C"/>
                </a:solidFill>
                <a:latin typeface="Bahnschrift"/>
              </a:rPr>
              <a:t>SECTION 01</a:t>
            </a:r>
          </a:p>
        </p:txBody>
      </p:sp>
      <p:sp>
        <p:nvSpPr>
          <p:cNvPr id="7" name="TextBox 6"/>
          <p:cNvSpPr txBox="1"/>
          <p:nvPr/>
        </p:nvSpPr>
        <p:spPr>
          <a:xfrm>
            <a:off x="841248" y="2706624"/>
            <a:ext cx="7863840" cy="685800"/>
          </a:xfrm>
          <a:prstGeom prst="rect">
            <a:avLst/>
          </a:prstGeom>
          <a:noFill/>
        </p:spPr>
        <p:txBody>
          <a:bodyPr wrap="square" anchor="t" lIns="0" rIns="0" tIns="0" bIns="0">
            <a:spAutoFit/>
          </a:bodyPr>
          <a:lstStyle/>
          <a:p>
            <a:pPr algn="l">
              <a:spcBef>
                <a:spcPts val="0"/>
              </a:spcBef>
              <a:spcAft>
                <a:spcPts val="0"/>
              </a:spcAft>
            </a:pPr>
            <a:r>
              <a:rPr sz="3000" b="1" i="0">
                <a:solidFill>
                  <a:srgbClr val="FFFFFF"/>
                </a:solidFill>
                <a:latin typeface="Georgia"/>
              </a:rPr>
              <a:t>The model</a:t>
            </a:r>
          </a:p>
        </p:txBody>
      </p:sp>
      <p:sp>
        <p:nvSpPr>
          <p:cNvPr id="8" name="Rectangle 7"/>
          <p:cNvSpPr/>
          <p:nvPr/>
        </p:nvSpPr>
        <p:spPr>
          <a:xfrm>
            <a:off x="841248" y="3419856"/>
            <a:ext cx="2011680" cy="25603"/>
          </a:xfrm>
          <a:prstGeom prst="rect">
            <a:avLst/>
          </a:prstGeom>
          <a:solidFill>
            <a:srgbClr val="F2A93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41248" y="3639312"/>
            <a:ext cx="7863840" cy="548640"/>
          </a:xfrm>
          <a:prstGeom prst="rect">
            <a:avLst/>
          </a:prstGeom>
          <a:noFill/>
        </p:spPr>
        <p:txBody>
          <a:bodyPr wrap="square" anchor="t" lIns="0" rIns="0" tIns="0" bIns="0">
            <a:spAutoFit/>
          </a:bodyPr>
          <a:lstStyle/>
          <a:p>
            <a:pPr algn="l">
              <a:spcBef>
                <a:spcPts val="0"/>
              </a:spcBef>
              <a:spcAft>
                <a:spcPts val="0"/>
              </a:spcAft>
            </a:pPr>
            <a:r>
              <a:rPr sz="1300" b="0" i="1">
                <a:solidFill>
                  <a:srgbClr val="C9CEF0"/>
                </a:solidFill>
                <a:latin typeface="Georgia"/>
              </a:rPr>
              <a:t>What produces a score, what produces a call, and what the evidence shows</a:t>
            </a:r>
          </a:p>
        </p:txBody>
      </p:sp>
      <p:sp>
        <p:nvSpPr>
          <p:cNvPr id="10" name="TextBox 9"/>
          <p:cNvSpPr txBox="1"/>
          <p:nvPr/>
        </p:nvSpPr>
        <p:spPr>
          <a:xfrm>
            <a:off x="841248" y="4983480"/>
            <a:ext cx="7315200" cy="219456"/>
          </a:xfrm>
          <a:prstGeom prst="rect">
            <a:avLst/>
          </a:prstGeom>
          <a:noFill/>
        </p:spPr>
        <p:txBody>
          <a:bodyPr wrap="square" anchor="t" lIns="0" rIns="0" tIns="0" bIns="0">
            <a:spAutoFit/>
          </a:bodyPr>
          <a:lstStyle/>
          <a:p>
            <a:pPr algn="l">
              <a:spcBef>
                <a:spcPts val="0"/>
              </a:spcBef>
              <a:spcAft>
                <a:spcPts val="0"/>
              </a:spcAft>
            </a:pPr>
            <a:r>
              <a:rPr sz="950" b="0" i="0" spc="40">
                <a:solidFill>
                  <a:srgbClr val="C9CEF0"/>
                </a:solidFill>
                <a:latin typeface="Bahnschrift"/>
              </a:rPr>
              <a:t>Scoring architecture</a:t>
            </a:r>
          </a:p>
        </p:txBody>
      </p:sp>
      <p:sp>
        <p:nvSpPr>
          <p:cNvPr id="11" name="TextBox 10"/>
          <p:cNvSpPr txBox="1"/>
          <p:nvPr/>
        </p:nvSpPr>
        <p:spPr>
          <a:xfrm>
            <a:off x="841248" y="5257800"/>
            <a:ext cx="7315200" cy="219456"/>
          </a:xfrm>
          <a:prstGeom prst="rect">
            <a:avLst/>
          </a:prstGeom>
          <a:noFill/>
        </p:spPr>
        <p:txBody>
          <a:bodyPr wrap="square" anchor="t" lIns="0" rIns="0" tIns="0" bIns="0">
            <a:spAutoFit/>
          </a:bodyPr>
          <a:lstStyle/>
          <a:p>
            <a:pPr algn="l">
              <a:spcBef>
                <a:spcPts val="0"/>
              </a:spcBef>
              <a:spcAft>
                <a:spcPts val="0"/>
              </a:spcAft>
            </a:pPr>
            <a:r>
              <a:rPr sz="950" b="0" i="0" spc="40">
                <a:solidFill>
                  <a:srgbClr val="C9CEF0"/>
                </a:solidFill>
                <a:latin typeface="Bahnschrift"/>
              </a:rPr>
              <a:t>Where the weights come from</a:t>
            </a:r>
          </a:p>
        </p:txBody>
      </p:sp>
      <p:sp>
        <p:nvSpPr>
          <p:cNvPr id="12" name="TextBox 11"/>
          <p:cNvSpPr txBox="1"/>
          <p:nvPr/>
        </p:nvSpPr>
        <p:spPr>
          <a:xfrm>
            <a:off x="841248" y="5532120"/>
            <a:ext cx="7315200" cy="219456"/>
          </a:xfrm>
          <a:prstGeom prst="rect">
            <a:avLst/>
          </a:prstGeom>
          <a:noFill/>
        </p:spPr>
        <p:txBody>
          <a:bodyPr wrap="square" anchor="t" lIns="0" rIns="0" tIns="0" bIns="0">
            <a:spAutoFit/>
          </a:bodyPr>
          <a:lstStyle/>
          <a:p>
            <a:pPr algn="l">
              <a:spcBef>
                <a:spcPts val="0"/>
              </a:spcBef>
              <a:spcAft>
                <a:spcPts val="0"/>
              </a:spcAft>
            </a:pPr>
            <a:r>
              <a:rPr sz="950" b="0" i="0" spc="40">
                <a:solidFill>
                  <a:srgbClr val="C9CEF0"/>
                </a:solidFill>
                <a:latin typeface="Bahnschrift"/>
              </a:rPr>
              <a:t>Gates and the call</a:t>
            </a:r>
          </a:p>
        </p:txBody>
      </p:sp>
      <p:sp>
        <p:nvSpPr>
          <p:cNvPr id="13" name="TextBox 12"/>
          <p:cNvSpPr txBox="1"/>
          <p:nvPr/>
        </p:nvSpPr>
        <p:spPr>
          <a:xfrm>
            <a:off x="841248" y="5806440"/>
            <a:ext cx="7315200" cy="219456"/>
          </a:xfrm>
          <a:prstGeom prst="rect">
            <a:avLst/>
          </a:prstGeom>
          <a:noFill/>
        </p:spPr>
        <p:txBody>
          <a:bodyPr wrap="square" anchor="t" lIns="0" rIns="0" tIns="0" bIns="0">
            <a:spAutoFit/>
          </a:bodyPr>
          <a:lstStyle/>
          <a:p>
            <a:pPr algn="l">
              <a:spcBef>
                <a:spcPts val="0"/>
              </a:spcBef>
              <a:spcAft>
                <a:spcPts val="0"/>
              </a:spcAft>
            </a:pPr>
            <a:r>
              <a:rPr sz="950" b="0" i="0" spc="40">
                <a:solidFill>
                  <a:srgbClr val="C9CEF0"/>
                </a:solidFill>
                <a:latin typeface="Bahnschrift"/>
              </a:rPr>
              <a:t>The one number a client sees</a:t>
            </a:r>
          </a:p>
        </p:txBody>
      </p:sp>
      <p:sp>
        <p:nvSpPr>
          <p:cNvPr id="14" name="TextBox 13"/>
          <p:cNvSpPr txBox="1"/>
          <p:nvPr/>
        </p:nvSpPr>
        <p:spPr>
          <a:xfrm>
            <a:off x="841248" y="6080759"/>
            <a:ext cx="7315200" cy="219456"/>
          </a:xfrm>
          <a:prstGeom prst="rect">
            <a:avLst/>
          </a:prstGeom>
          <a:noFill/>
        </p:spPr>
        <p:txBody>
          <a:bodyPr wrap="square" anchor="t" lIns="0" rIns="0" tIns="0" bIns="0">
            <a:spAutoFit/>
          </a:bodyPr>
          <a:lstStyle/>
          <a:p>
            <a:pPr algn="l">
              <a:spcBef>
                <a:spcPts val="0"/>
              </a:spcBef>
              <a:spcAft>
                <a:spcPts val="0"/>
              </a:spcAft>
            </a:pPr>
            <a:r>
              <a:rPr sz="950" b="0" i="0" spc="40">
                <a:solidFill>
                  <a:srgbClr val="C9CEF0"/>
                </a:solidFill>
                <a:latin typeface="Bahnschrift"/>
              </a:rPr>
              <a:t>Coverage, and does it work</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logo_clean.png"/>
          <p:cNvPicPr>
            <a:picLocks noChangeAspect="1"/>
          </p:cNvPicPr>
          <p:nvPr/>
        </p:nvPicPr>
        <p:blipFill>
          <a:blip r:embed="rId2"/>
          <a:stretch>
            <a:fillRect/>
          </a:stretch>
        </p:blipFill>
        <p:spPr>
          <a:xfrm>
            <a:off x="9674809" y="365760"/>
            <a:ext cx="1629918" cy="283464"/>
          </a:xfrm>
          <a:prstGeom prst="rect">
            <a:avLst/>
          </a:prstGeom>
        </p:spPr>
      </p:pic>
      <p:sp>
        <p:nvSpPr>
          <p:cNvPr id="4" name="TextBox 3"/>
          <p:cNvSpPr txBox="1"/>
          <p:nvPr/>
        </p:nvSpPr>
        <p:spPr>
          <a:xfrm>
            <a:off x="4541367" y="128016"/>
            <a:ext cx="3108960" cy="182880"/>
          </a:xfrm>
          <a:prstGeom prst="rect">
            <a:avLst/>
          </a:prstGeom>
          <a:noFill/>
        </p:spPr>
        <p:txBody>
          <a:bodyPr wrap="square" anchor="t" lIns="0" rIns="0" tIns="0" bIns="0">
            <a:spAutoFit/>
          </a:bodyPr>
          <a:lstStyle/>
          <a:p>
            <a:pPr algn="ctr">
              <a:spcBef>
                <a:spcPts val="0"/>
              </a:spcBef>
              <a:spcAft>
                <a:spcPts val="0"/>
              </a:spcAft>
            </a:pPr>
            <a:r>
              <a:rPr sz="750" b="0" i="0">
                <a:solidFill>
                  <a:srgbClr val="6B7280"/>
                </a:solidFill>
                <a:latin typeface="Bahnschrift"/>
              </a:rPr>
              <a:t>Private &amp; Confidential</a:t>
            </a:r>
          </a:p>
        </p:txBody>
      </p:sp>
      <p:sp>
        <p:nvSpPr>
          <p:cNvPr id="5" name="TextBox 4"/>
          <p:cNvSpPr txBox="1"/>
          <p:nvPr/>
        </p:nvSpPr>
        <p:spPr>
          <a:xfrm>
            <a:off x="7863840" y="274320"/>
            <a:ext cx="1749247" cy="201168"/>
          </a:xfrm>
          <a:prstGeom prst="rect">
            <a:avLst/>
          </a:prstGeom>
          <a:noFill/>
        </p:spPr>
        <p:txBody>
          <a:bodyPr wrap="square" anchor="t" lIns="0" rIns="0" tIns="0" bIns="0">
            <a:spAutoFit/>
          </a:bodyPr>
          <a:lstStyle/>
          <a:p>
            <a:pPr algn="r">
              <a:spcBef>
                <a:spcPts val="0"/>
              </a:spcBef>
              <a:spcAft>
                <a:spcPts val="0"/>
              </a:spcAft>
            </a:pPr>
            <a:r>
              <a:rPr sz="750" b="1" i="0" spc="120">
                <a:solidFill>
                  <a:srgbClr val="8C95DE"/>
                </a:solidFill>
                <a:latin typeface="Bahnschrift"/>
              </a:rPr>
              <a:t>01 · THE MODEL</a:t>
            </a:r>
          </a:p>
        </p:txBody>
      </p:sp>
      <p:sp>
        <p:nvSpPr>
          <p:cNvPr id="6" name="Rectangle 5"/>
          <p:cNvSpPr/>
          <p:nvPr/>
        </p:nvSpPr>
        <p:spPr>
          <a:xfrm>
            <a:off x="8549640" y="512064"/>
            <a:ext cx="137160" cy="20116"/>
          </a:xfrm>
          <a:prstGeom prst="rect">
            <a:avLst/>
          </a:prstGeom>
          <a:solidFill>
            <a:srgbClr val="1B27A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8732519" y="512064"/>
            <a:ext cx="137160" cy="20116"/>
          </a:xfrm>
          <a:prstGeom prst="rect">
            <a:avLst/>
          </a:prstGeom>
          <a:solidFill>
            <a:srgbClr val="E5E7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8915400" y="512064"/>
            <a:ext cx="137160" cy="20116"/>
          </a:xfrm>
          <a:prstGeom prst="rect">
            <a:avLst/>
          </a:prstGeom>
          <a:solidFill>
            <a:srgbClr val="E5E7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9098280" y="512064"/>
            <a:ext cx="137160" cy="20116"/>
          </a:xfrm>
          <a:prstGeom prst="rect">
            <a:avLst/>
          </a:prstGeom>
          <a:solidFill>
            <a:srgbClr val="E5E7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9281160" y="512064"/>
            <a:ext cx="137160" cy="20116"/>
          </a:xfrm>
          <a:prstGeom prst="rect">
            <a:avLst/>
          </a:prstGeom>
          <a:solidFill>
            <a:srgbClr val="E5E7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41248" y="420624"/>
            <a:ext cx="6858000" cy="502920"/>
          </a:xfrm>
          <a:prstGeom prst="rect">
            <a:avLst/>
          </a:prstGeom>
          <a:noFill/>
        </p:spPr>
        <p:txBody>
          <a:bodyPr wrap="square" anchor="t" lIns="0" rIns="0" tIns="0" bIns="0">
            <a:spAutoFit/>
          </a:bodyPr>
          <a:lstStyle/>
          <a:p>
            <a:pPr algn="l">
              <a:spcBef>
                <a:spcPts val="0"/>
              </a:spcBef>
              <a:spcAft>
                <a:spcPts val="0"/>
              </a:spcAft>
            </a:pPr>
            <a:r>
              <a:rPr sz="2600" b="1" i="0">
                <a:solidFill>
                  <a:srgbClr val="1B27A3"/>
                </a:solidFill>
                <a:latin typeface="Bahnschrift"/>
              </a:rPr>
              <a:t>Scoring architecture</a:t>
            </a:r>
          </a:p>
        </p:txBody>
      </p:sp>
      <p:sp>
        <p:nvSpPr>
          <p:cNvPr id="12" name="TextBox 11"/>
          <p:cNvSpPr txBox="1"/>
          <p:nvPr/>
        </p:nvSpPr>
        <p:spPr>
          <a:xfrm>
            <a:off x="841248" y="950976"/>
            <a:ext cx="9692640" cy="411480"/>
          </a:xfrm>
          <a:prstGeom prst="rect">
            <a:avLst/>
          </a:prstGeom>
          <a:noFill/>
        </p:spPr>
        <p:txBody>
          <a:bodyPr wrap="square" anchor="t" lIns="0" rIns="0" tIns="0" bIns="0">
            <a:spAutoFit/>
          </a:bodyPr>
          <a:lstStyle/>
          <a:p>
            <a:pPr algn="l">
              <a:spcBef>
                <a:spcPts val="0"/>
              </a:spcBef>
              <a:spcAft>
                <a:spcPts val="0"/>
              </a:spcAft>
            </a:pPr>
            <a:r>
              <a:rPr sz="1750" b="1" i="0">
                <a:solidFill>
                  <a:srgbClr val="F2A93C"/>
                </a:solidFill>
                <a:latin typeface="Bahnschrift"/>
              </a:rPr>
              <a:t>Two horizons, seven pillars, never blended at the analyst's desk</a:t>
            </a:r>
          </a:p>
        </p:txBody>
      </p:sp>
      <p:sp>
        <p:nvSpPr>
          <p:cNvPr id="13" name="Rectangle 12"/>
          <p:cNvSpPr/>
          <p:nvPr/>
        </p:nvSpPr>
        <p:spPr>
          <a:xfrm>
            <a:off x="841248" y="1408176"/>
            <a:ext cx="10509199" cy="21945"/>
          </a:xfrm>
          <a:prstGeom prst="rect">
            <a:avLst/>
          </a:prstGeom>
          <a:solidFill>
            <a:srgbClr val="1B27A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9155887" y="6528816"/>
            <a:ext cx="2194560" cy="182880"/>
          </a:xfrm>
          <a:prstGeom prst="rect">
            <a:avLst/>
          </a:prstGeom>
          <a:noFill/>
        </p:spPr>
        <p:txBody>
          <a:bodyPr wrap="square" anchor="t" lIns="0" rIns="0" tIns="0" bIns="0">
            <a:spAutoFit/>
          </a:bodyPr>
          <a:lstStyle/>
          <a:p>
            <a:pPr algn="r">
              <a:spcBef>
                <a:spcPts val="0"/>
              </a:spcBef>
              <a:spcAft>
                <a:spcPts val="0"/>
              </a:spcAft>
            </a:pPr>
            <a:r>
              <a:rPr sz="750" b="0" i="0">
                <a:solidFill>
                  <a:srgbClr val="6B7280"/>
                </a:solidFill>
                <a:latin typeface="Bahnschrift"/>
              </a:rPr>
              <a:t>Portfolio Review  ·  06</a:t>
            </a:r>
          </a:p>
        </p:txBody>
      </p:sp>
      <p:sp>
        <p:nvSpPr>
          <p:cNvPr id="15" name="TextBox 14"/>
          <p:cNvSpPr txBox="1"/>
          <p:nvPr/>
        </p:nvSpPr>
        <p:spPr>
          <a:xfrm>
            <a:off x="914400" y="1783080"/>
            <a:ext cx="3006455" cy="219456"/>
          </a:xfrm>
          <a:prstGeom prst="rect">
            <a:avLst/>
          </a:prstGeom>
          <a:noFill/>
        </p:spPr>
        <p:txBody>
          <a:bodyPr wrap="square" anchor="ctr" lIns="0" rIns="0" tIns="0" bIns="0">
            <a:spAutoFit/>
          </a:bodyPr>
          <a:lstStyle/>
          <a:p>
            <a:pPr algn="l">
              <a:spcBef>
                <a:spcPts val="0"/>
              </a:spcBef>
              <a:spcAft>
                <a:spcPts val="0"/>
              </a:spcAft>
            </a:pPr>
            <a:r>
              <a:rPr sz="800" b="1" i="0" spc="200">
                <a:solidFill>
                  <a:srgbClr val="6B7280"/>
                </a:solidFill>
                <a:latin typeface="Bahnschrift"/>
              </a:rPr>
              <a:t>PILLAR</a:t>
            </a:r>
          </a:p>
        </p:txBody>
      </p:sp>
      <p:sp>
        <p:nvSpPr>
          <p:cNvPr id="16" name="TextBox 15"/>
          <p:cNvSpPr txBox="1"/>
          <p:nvPr/>
        </p:nvSpPr>
        <p:spPr>
          <a:xfrm>
            <a:off x="4067159" y="1783080"/>
            <a:ext cx="4267559" cy="219456"/>
          </a:xfrm>
          <a:prstGeom prst="rect">
            <a:avLst/>
          </a:prstGeom>
          <a:noFill/>
        </p:spPr>
        <p:txBody>
          <a:bodyPr wrap="square" anchor="ctr" lIns="0" rIns="0" tIns="0" bIns="0">
            <a:spAutoFit/>
          </a:bodyPr>
          <a:lstStyle/>
          <a:p>
            <a:pPr algn="l">
              <a:spcBef>
                <a:spcPts val="0"/>
              </a:spcBef>
              <a:spcAft>
                <a:spcPts val="0"/>
              </a:spcAft>
            </a:pPr>
            <a:r>
              <a:rPr sz="800" b="1" i="0" spc="200">
                <a:solidFill>
                  <a:srgbClr val="6B7280"/>
                </a:solidFill>
                <a:latin typeface="Bahnschrift"/>
              </a:rPr>
              <a:t>WHAT IT MEASURES</a:t>
            </a:r>
          </a:p>
        </p:txBody>
      </p:sp>
      <p:sp>
        <p:nvSpPr>
          <p:cNvPr id="17" name="TextBox 16"/>
          <p:cNvSpPr txBox="1"/>
          <p:nvPr/>
        </p:nvSpPr>
        <p:spPr>
          <a:xfrm>
            <a:off x="8481023" y="1783080"/>
            <a:ext cx="1324983" cy="219456"/>
          </a:xfrm>
          <a:prstGeom prst="rect">
            <a:avLst/>
          </a:prstGeom>
          <a:noFill/>
        </p:spPr>
        <p:txBody>
          <a:bodyPr wrap="square" anchor="ctr" lIns="0" rIns="0" tIns="0" bIns="0">
            <a:spAutoFit/>
          </a:bodyPr>
          <a:lstStyle/>
          <a:p>
            <a:pPr algn="r">
              <a:spcBef>
                <a:spcPts val="0"/>
              </a:spcBef>
              <a:spcAft>
                <a:spcPts val="0"/>
              </a:spcAft>
            </a:pPr>
            <a:r>
              <a:rPr sz="800" b="1" i="0" spc="200">
                <a:solidFill>
                  <a:srgbClr val="6B7280"/>
                </a:solidFill>
                <a:latin typeface="Bahnschrift"/>
              </a:rPr>
              <a:t>3-YEAR WEIGHT</a:t>
            </a:r>
          </a:p>
        </p:txBody>
      </p:sp>
      <p:sp>
        <p:nvSpPr>
          <p:cNvPr id="18" name="TextBox 17"/>
          <p:cNvSpPr txBox="1"/>
          <p:nvPr/>
        </p:nvSpPr>
        <p:spPr>
          <a:xfrm>
            <a:off x="9952311" y="1783080"/>
            <a:ext cx="1324983" cy="219456"/>
          </a:xfrm>
          <a:prstGeom prst="rect">
            <a:avLst/>
          </a:prstGeom>
          <a:noFill/>
        </p:spPr>
        <p:txBody>
          <a:bodyPr wrap="square" anchor="ctr" lIns="0" rIns="0" tIns="0" bIns="0">
            <a:spAutoFit/>
          </a:bodyPr>
          <a:lstStyle/>
          <a:p>
            <a:pPr algn="r">
              <a:spcBef>
                <a:spcPts val="0"/>
              </a:spcBef>
              <a:spcAft>
                <a:spcPts val="0"/>
              </a:spcAft>
            </a:pPr>
            <a:r>
              <a:rPr sz="800" b="1" i="0" spc="200">
                <a:solidFill>
                  <a:srgbClr val="6B7280"/>
                </a:solidFill>
                <a:latin typeface="Bahnschrift"/>
              </a:rPr>
              <a:t>1-YEAR WEIGHT</a:t>
            </a:r>
          </a:p>
        </p:txBody>
      </p:sp>
      <p:sp>
        <p:nvSpPr>
          <p:cNvPr id="19" name="Rectangle 18"/>
          <p:cNvSpPr/>
          <p:nvPr/>
        </p:nvSpPr>
        <p:spPr>
          <a:xfrm>
            <a:off x="841248" y="2039112"/>
            <a:ext cx="10509199" cy="13716"/>
          </a:xfrm>
          <a:prstGeom prst="rect">
            <a:avLst/>
          </a:prstGeom>
          <a:solidFill>
            <a:srgbClr val="1B27A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914400" y="2084831"/>
            <a:ext cx="3006455" cy="365760"/>
          </a:xfrm>
          <a:prstGeom prst="rect">
            <a:avLst/>
          </a:prstGeom>
          <a:noFill/>
        </p:spPr>
        <p:txBody>
          <a:bodyPr wrap="square" anchor="ctr" lIns="0" rIns="0" tIns="0" bIns="0">
            <a:spAutoFit/>
          </a:bodyPr>
          <a:lstStyle/>
          <a:p>
            <a:pPr algn="l">
              <a:spcBef>
                <a:spcPts val="0"/>
              </a:spcBef>
              <a:spcAft>
                <a:spcPts val="0"/>
              </a:spcAft>
            </a:pPr>
            <a:r>
              <a:rPr sz="1000" b="1" i="0">
                <a:solidFill>
                  <a:srgbClr val="16233B"/>
                </a:solidFill>
                <a:latin typeface="Bahnschrift"/>
              </a:rPr>
              <a:t>Quality</a:t>
            </a:r>
          </a:p>
        </p:txBody>
      </p:sp>
      <p:sp>
        <p:nvSpPr>
          <p:cNvPr id="21" name="TextBox 20"/>
          <p:cNvSpPr txBox="1"/>
          <p:nvPr/>
        </p:nvSpPr>
        <p:spPr>
          <a:xfrm>
            <a:off x="4067159" y="2084831"/>
            <a:ext cx="4267559" cy="365760"/>
          </a:xfrm>
          <a:prstGeom prst="rect">
            <a:avLst/>
          </a:prstGeom>
          <a:noFill/>
        </p:spPr>
        <p:txBody>
          <a:bodyPr wrap="square" anchor="ctr" lIns="0" rIns="0" tIns="0" bIns="0">
            <a:spAutoFit/>
          </a:bodyPr>
          <a:lstStyle/>
          <a:p>
            <a:pPr algn="l">
              <a:spcBef>
                <a:spcPts val="0"/>
              </a:spcBef>
              <a:spcAft>
                <a:spcPts val="0"/>
              </a:spcAft>
            </a:pPr>
            <a:r>
              <a:rPr sz="1000" b="0" i="0">
                <a:solidFill>
                  <a:srgbClr val="16233B"/>
                </a:solidFill>
                <a:latin typeface="Georgia"/>
              </a:rPr>
              <a:t>Return on equity and capital, ranked within sector</a:t>
            </a:r>
          </a:p>
        </p:txBody>
      </p:sp>
      <p:sp>
        <p:nvSpPr>
          <p:cNvPr id="22" name="TextBox 21"/>
          <p:cNvSpPr txBox="1"/>
          <p:nvPr/>
        </p:nvSpPr>
        <p:spPr>
          <a:xfrm>
            <a:off x="8481023" y="2084831"/>
            <a:ext cx="1324983" cy="365760"/>
          </a:xfrm>
          <a:prstGeom prst="rect">
            <a:avLst/>
          </a:prstGeom>
          <a:noFill/>
        </p:spPr>
        <p:txBody>
          <a:bodyPr wrap="square" anchor="ctr" lIns="0" rIns="0" tIns="0" bIns="0">
            <a:spAutoFit/>
          </a:bodyPr>
          <a:lstStyle/>
          <a:p>
            <a:pPr algn="r">
              <a:spcBef>
                <a:spcPts val="0"/>
              </a:spcBef>
              <a:spcAft>
                <a:spcPts val="0"/>
              </a:spcAft>
            </a:pPr>
            <a:r>
              <a:rPr sz="1000" b="0" i="0">
                <a:solidFill>
                  <a:srgbClr val="16233B"/>
                </a:solidFill>
                <a:latin typeface="Georgia"/>
              </a:rPr>
              <a:t>20%</a:t>
            </a:r>
          </a:p>
        </p:txBody>
      </p:sp>
      <p:sp>
        <p:nvSpPr>
          <p:cNvPr id="23" name="TextBox 22"/>
          <p:cNvSpPr txBox="1"/>
          <p:nvPr/>
        </p:nvSpPr>
        <p:spPr>
          <a:xfrm>
            <a:off x="9952311" y="2084831"/>
            <a:ext cx="1324983" cy="365760"/>
          </a:xfrm>
          <a:prstGeom prst="rect">
            <a:avLst/>
          </a:prstGeom>
          <a:noFill/>
        </p:spPr>
        <p:txBody>
          <a:bodyPr wrap="square" anchor="ctr" lIns="0" rIns="0" tIns="0" bIns="0">
            <a:spAutoFit/>
          </a:bodyPr>
          <a:lstStyle/>
          <a:p>
            <a:pPr algn="r">
              <a:spcBef>
                <a:spcPts val="0"/>
              </a:spcBef>
              <a:spcAft>
                <a:spcPts val="0"/>
              </a:spcAft>
            </a:pPr>
            <a:r>
              <a:rPr sz="1000" b="0" i="0">
                <a:solidFill>
                  <a:srgbClr val="16233B"/>
                </a:solidFill>
                <a:latin typeface="Georgia"/>
              </a:rPr>
              <a:t>16%</a:t>
            </a:r>
          </a:p>
        </p:txBody>
      </p:sp>
      <p:sp>
        <p:nvSpPr>
          <p:cNvPr id="24" name="Rectangle 23"/>
          <p:cNvSpPr/>
          <p:nvPr/>
        </p:nvSpPr>
        <p:spPr>
          <a:xfrm>
            <a:off x="841248" y="2432303"/>
            <a:ext cx="10509199" cy="365760"/>
          </a:xfrm>
          <a:prstGeom prst="rect">
            <a:avLst/>
          </a:prstGeom>
          <a:solidFill>
            <a:srgbClr val="F5F6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914400" y="2450591"/>
            <a:ext cx="3006455" cy="365760"/>
          </a:xfrm>
          <a:prstGeom prst="rect">
            <a:avLst/>
          </a:prstGeom>
          <a:noFill/>
        </p:spPr>
        <p:txBody>
          <a:bodyPr wrap="square" anchor="ctr" lIns="0" rIns="0" tIns="0" bIns="0">
            <a:spAutoFit/>
          </a:bodyPr>
          <a:lstStyle/>
          <a:p>
            <a:pPr algn="l">
              <a:spcBef>
                <a:spcPts val="0"/>
              </a:spcBef>
              <a:spcAft>
                <a:spcPts val="0"/>
              </a:spcAft>
            </a:pPr>
            <a:r>
              <a:rPr sz="1000" b="1" i="0">
                <a:solidFill>
                  <a:srgbClr val="16233B"/>
                </a:solidFill>
                <a:latin typeface="Bahnschrift"/>
              </a:rPr>
              <a:t>Growth</a:t>
            </a:r>
          </a:p>
        </p:txBody>
      </p:sp>
      <p:sp>
        <p:nvSpPr>
          <p:cNvPr id="26" name="TextBox 25"/>
          <p:cNvSpPr txBox="1"/>
          <p:nvPr/>
        </p:nvSpPr>
        <p:spPr>
          <a:xfrm>
            <a:off x="4067159" y="2450591"/>
            <a:ext cx="4267559" cy="365760"/>
          </a:xfrm>
          <a:prstGeom prst="rect">
            <a:avLst/>
          </a:prstGeom>
          <a:noFill/>
        </p:spPr>
        <p:txBody>
          <a:bodyPr wrap="square" anchor="ctr" lIns="0" rIns="0" tIns="0" bIns="0">
            <a:spAutoFit/>
          </a:bodyPr>
          <a:lstStyle/>
          <a:p>
            <a:pPr algn="l">
              <a:spcBef>
                <a:spcPts val="0"/>
              </a:spcBef>
              <a:spcAft>
                <a:spcPts val="0"/>
              </a:spcAft>
            </a:pPr>
            <a:r>
              <a:rPr sz="1000" b="0" i="0">
                <a:solidFill>
                  <a:srgbClr val="16233B"/>
                </a:solidFill>
                <a:latin typeface="Georgia"/>
              </a:rPr>
              <a:t>Revenue compounding, three-year and trailing-twelve-month</a:t>
            </a:r>
          </a:p>
        </p:txBody>
      </p:sp>
      <p:sp>
        <p:nvSpPr>
          <p:cNvPr id="27" name="TextBox 26"/>
          <p:cNvSpPr txBox="1"/>
          <p:nvPr/>
        </p:nvSpPr>
        <p:spPr>
          <a:xfrm>
            <a:off x="8481023" y="2450591"/>
            <a:ext cx="1324983" cy="365760"/>
          </a:xfrm>
          <a:prstGeom prst="rect">
            <a:avLst/>
          </a:prstGeom>
          <a:noFill/>
        </p:spPr>
        <p:txBody>
          <a:bodyPr wrap="square" anchor="ctr" lIns="0" rIns="0" tIns="0" bIns="0">
            <a:spAutoFit/>
          </a:bodyPr>
          <a:lstStyle/>
          <a:p>
            <a:pPr algn="r">
              <a:spcBef>
                <a:spcPts val="0"/>
              </a:spcBef>
              <a:spcAft>
                <a:spcPts val="0"/>
              </a:spcAft>
            </a:pPr>
            <a:r>
              <a:rPr sz="1000" b="0" i="0">
                <a:solidFill>
                  <a:srgbClr val="16233B"/>
                </a:solidFill>
                <a:latin typeface="Georgia"/>
              </a:rPr>
              <a:t>20%</a:t>
            </a:r>
          </a:p>
        </p:txBody>
      </p:sp>
      <p:sp>
        <p:nvSpPr>
          <p:cNvPr id="28" name="TextBox 27"/>
          <p:cNvSpPr txBox="1"/>
          <p:nvPr/>
        </p:nvSpPr>
        <p:spPr>
          <a:xfrm>
            <a:off x="9952311" y="2450591"/>
            <a:ext cx="1324983" cy="365760"/>
          </a:xfrm>
          <a:prstGeom prst="rect">
            <a:avLst/>
          </a:prstGeom>
          <a:noFill/>
        </p:spPr>
        <p:txBody>
          <a:bodyPr wrap="square" anchor="ctr" lIns="0" rIns="0" tIns="0" bIns="0">
            <a:spAutoFit/>
          </a:bodyPr>
          <a:lstStyle/>
          <a:p>
            <a:pPr algn="r">
              <a:spcBef>
                <a:spcPts val="0"/>
              </a:spcBef>
              <a:spcAft>
                <a:spcPts val="0"/>
              </a:spcAft>
            </a:pPr>
            <a:r>
              <a:rPr sz="1000" b="0" i="0">
                <a:solidFill>
                  <a:srgbClr val="16233B"/>
                </a:solidFill>
                <a:latin typeface="Georgia"/>
              </a:rPr>
              <a:t>16%</a:t>
            </a:r>
          </a:p>
        </p:txBody>
      </p:sp>
      <p:sp>
        <p:nvSpPr>
          <p:cNvPr id="29" name="TextBox 28"/>
          <p:cNvSpPr txBox="1"/>
          <p:nvPr/>
        </p:nvSpPr>
        <p:spPr>
          <a:xfrm>
            <a:off x="914400" y="2816351"/>
            <a:ext cx="3006455" cy="365760"/>
          </a:xfrm>
          <a:prstGeom prst="rect">
            <a:avLst/>
          </a:prstGeom>
          <a:noFill/>
        </p:spPr>
        <p:txBody>
          <a:bodyPr wrap="square" anchor="ctr" lIns="0" rIns="0" tIns="0" bIns="0">
            <a:spAutoFit/>
          </a:bodyPr>
          <a:lstStyle/>
          <a:p>
            <a:pPr algn="l">
              <a:spcBef>
                <a:spcPts val="0"/>
              </a:spcBef>
              <a:spcAft>
                <a:spcPts val="0"/>
              </a:spcAft>
            </a:pPr>
            <a:r>
              <a:rPr sz="1000" b="1" i="0">
                <a:solidFill>
                  <a:srgbClr val="16233B"/>
                </a:solidFill>
                <a:latin typeface="Bahnschrift"/>
              </a:rPr>
              <a:t>Value</a:t>
            </a:r>
          </a:p>
        </p:txBody>
      </p:sp>
      <p:sp>
        <p:nvSpPr>
          <p:cNvPr id="30" name="TextBox 29"/>
          <p:cNvSpPr txBox="1"/>
          <p:nvPr/>
        </p:nvSpPr>
        <p:spPr>
          <a:xfrm>
            <a:off x="4067159" y="2816351"/>
            <a:ext cx="4267559" cy="365760"/>
          </a:xfrm>
          <a:prstGeom prst="rect">
            <a:avLst/>
          </a:prstGeom>
          <a:noFill/>
        </p:spPr>
        <p:txBody>
          <a:bodyPr wrap="square" anchor="ctr" lIns="0" rIns="0" tIns="0" bIns="0">
            <a:spAutoFit/>
          </a:bodyPr>
          <a:lstStyle/>
          <a:p>
            <a:pPr algn="l">
              <a:spcBef>
                <a:spcPts val="0"/>
              </a:spcBef>
              <a:spcAft>
                <a:spcPts val="0"/>
              </a:spcAft>
            </a:pPr>
            <a:r>
              <a:rPr sz="1000" b="0" i="0">
                <a:solidFill>
                  <a:srgbClr val="16233B"/>
                </a:solidFill>
                <a:latin typeface="Georgia"/>
              </a:rPr>
              <a:t>Earnings, book and cash-flow yield versus sector and size peers</a:t>
            </a:r>
          </a:p>
        </p:txBody>
      </p:sp>
      <p:sp>
        <p:nvSpPr>
          <p:cNvPr id="31" name="TextBox 30"/>
          <p:cNvSpPr txBox="1"/>
          <p:nvPr/>
        </p:nvSpPr>
        <p:spPr>
          <a:xfrm>
            <a:off x="8481023" y="2816351"/>
            <a:ext cx="1324983" cy="365760"/>
          </a:xfrm>
          <a:prstGeom prst="rect">
            <a:avLst/>
          </a:prstGeom>
          <a:noFill/>
        </p:spPr>
        <p:txBody>
          <a:bodyPr wrap="square" anchor="ctr" lIns="0" rIns="0" tIns="0" bIns="0">
            <a:spAutoFit/>
          </a:bodyPr>
          <a:lstStyle/>
          <a:p>
            <a:pPr algn="r">
              <a:spcBef>
                <a:spcPts val="0"/>
              </a:spcBef>
              <a:spcAft>
                <a:spcPts val="0"/>
              </a:spcAft>
            </a:pPr>
            <a:r>
              <a:rPr sz="1000" b="0" i="0">
                <a:solidFill>
                  <a:srgbClr val="16233B"/>
                </a:solidFill>
                <a:latin typeface="Georgia"/>
              </a:rPr>
              <a:t>18%</a:t>
            </a:r>
          </a:p>
        </p:txBody>
      </p:sp>
      <p:sp>
        <p:nvSpPr>
          <p:cNvPr id="32" name="TextBox 31"/>
          <p:cNvSpPr txBox="1"/>
          <p:nvPr/>
        </p:nvSpPr>
        <p:spPr>
          <a:xfrm>
            <a:off x="9952311" y="2816351"/>
            <a:ext cx="1324983" cy="365760"/>
          </a:xfrm>
          <a:prstGeom prst="rect">
            <a:avLst/>
          </a:prstGeom>
          <a:noFill/>
        </p:spPr>
        <p:txBody>
          <a:bodyPr wrap="square" anchor="ctr" lIns="0" rIns="0" tIns="0" bIns="0">
            <a:spAutoFit/>
          </a:bodyPr>
          <a:lstStyle/>
          <a:p>
            <a:pPr algn="r">
              <a:spcBef>
                <a:spcPts val="0"/>
              </a:spcBef>
              <a:spcAft>
                <a:spcPts val="0"/>
              </a:spcAft>
            </a:pPr>
            <a:r>
              <a:rPr sz="1000" b="0" i="0">
                <a:solidFill>
                  <a:srgbClr val="16233B"/>
                </a:solidFill>
                <a:latin typeface="Georgia"/>
              </a:rPr>
              <a:t>16%</a:t>
            </a:r>
          </a:p>
        </p:txBody>
      </p:sp>
      <p:sp>
        <p:nvSpPr>
          <p:cNvPr id="33" name="Rectangle 32"/>
          <p:cNvSpPr/>
          <p:nvPr/>
        </p:nvSpPr>
        <p:spPr>
          <a:xfrm>
            <a:off x="841248" y="3163823"/>
            <a:ext cx="10509199" cy="365760"/>
          </a:xfrm>
          <a:prstGeom prst="rect">
            <a:avLst/>
          </a:prstGeom>
          <a:solidFill>
            <a:srgbClr val="F5F6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914400" y="3182111"/>
            <a:ext cx="3006455" cy="365760"/>
          </a:xfrm>
          <a:prstGeom prst="rect">
            <a:avLst/>
          </a:prstGeom>
          <a:noFill/>
        </p:spPr>
        <p:txBody>
          <a:bodyPr wrap="square" anchor="ctr" lIns="0" rIns="0" tIns="0" bIns="0">
            <a:spAutoFit/>
          </a:bodyPr>
          <a:lstStyle/>
          <a:p>
            <a:pPr algn="l">
              <a:spcBef>
                <a:spcPts val="0"/>
              </a:spcBef>
              <a:spcAft>
                <a:spcPts val="0"/>
              </a:spcAft>
            </a:pPr>
            <a:r>
              <a:rPr sz="1000" b="1" i="0">
                <a:solidFill>
                  <a:srgbClr val="16233B"/>
                </a:solidFill>
                <a:latin typeface="Bahnschrift"/>
              </a:rPr>
              <a:t>Stage / technical</a:t>
            </a:r>
          </a:p>
        </p:txBody>
      </p:sp>
      <p:sp>
        <p:nvSpPr>
          <p:cNvPr id="35" name="TextBox 34"/>
          <p:cNvSpPr txBox="1"/>
          <p:nvPr/>
        </p:nvSpPr>
        <p:spPr>
          <a:xfrm>
            <a:off x="4067159" y="3182111"/>
            <a:ext cx="4267559" cy="365760"/>
          </a:xfrm>
          <a:prstGeom prst="rect">
            <a:avLst/>
          </a:prstGeom>
          <a:noFill/>
        </p:spPr>
        <p:txBody>
          <a:bodyPr wrap="square" anchor="ctr" lIns="0" rIns="0" tIns="0" bIns="0">
            <a:spAutoFit/>
          </a:bodyPr>
          <a:lstStyle/>
          <a:p>
            <a:pPr algn="l">
              <a:spcBef>
                <a:spcPts val="0"/>
              </a:spcBef>
              <a:spcAft>
                <a:spcPts val="0"/>
              </a:spcAft>
            </a:pPr>
            <a:r>
              <a:rPr sz="1000" b="0" i="0">
                <a:solidFill>
                  <a:srgbClr val="16233B"/>
                </a:solidFill>
                <a:latin typeface="Georgia"/>
              </a:rPr>
              <a:t>Price trend against its own history and its sector</a:t>
            </a:r>
          </a:p>
        </p:txBody>
      </p:sp>
      <p:sp>
        <p:nvSpPr>
          <p:cNvPr id="36" name="TextBox 35"/>
          <p:cNvSpPr txBox="1"/>
          <p:nvPr/>
        </p:nvSpPr>
        <p:spPr>
          <a:xfrm>
            <a:off x="8481023" y="3182111"/>
            <a:ext cx="1324983" cy="365760"/>
          </a:xfrm>
          <a:prstGeom prst="rect">
            <a:avLst/>
          </a:prstGeom>
          <a:noFill/>
        </p:spPr>
        <p:txBody>
          <a:bodyPr wrap="square" anchor="ctr" lIns="0" rIns="0" tIns="0" bIns="0">
            <a:spAutoFit/>
          </a:bodyPr>
          <a:lstStyle/>
          <a:p>
            <a:pPr algn="r">
              <a:spcBef>
                <a:spcPts val="0"/>
              </a:spcBef>
              <a:spcAft>
                <a:spcPts val="0"/>
              </a:spcAft>
            </a:pPr>
            <a:r>
              <a:rPr sz="1000" b="0" i="0">
                <a:solidFill>
                  <a:srgbClr val="16233B"/>
                </a:solidFill>
                <a:latin typeface="Georgia"/>
              </a:rPr>
              <a:t>14%</a:t>
            </a:r>
          </a:p>
        </p:txBody>
      </p:sp>
      <p:sp>
        <p:nvSpPr>
          <p:cNvPr id="37" name="TextBox 36"/>
          <p:cNvSpPr txBox="1"/>
          <p:nvPr/>
        </p:nvSpPr>
        <p:spPr>
          <a:xfrm>
            <a:off x="9952311" y="3182111"/>
            <a:ext cx="1324983" cy="365760"/>
          </a:xfrm>
          <a:prstGeom prst="rect">
            <a:avLst/>
          </a:prstGeom>
          <a:noFill/>
        </p:spPr>
        <p:txBody>
          <a:bodyPr wrap="square" anchor="ctr" lIns="0" rIns="0" tIns="0" bIns="0">
            <a:spAutoFit/>
          </a:bodyPr>
          <a:lstStyle/>
          <a:p>
            <a:pPr algn="r">
              <a:spcBef>
                <a:spcPts val="0"/>
              </a:spcBef>
              <a:spcAft>
                <a:spcPts val="0"/>
              </a:spcAft>
            </a:pPr>
            <a:r>
              <a:rPr sz="1000" b="0" i="0">
                <a:solidFill>
                  <a:srgbClr val="16233B"/>
                </a:solidFill>
                <a:latin typeface="Georgia"/>
              </a:rPr>
              <a:t>26%</a:t>
            </a:r>
          </a:p>
        </p:txBody>
      </p:sp>
      <p:sp>
        <p:nvSpPr>
          <p:cNvPr id="38" name="TextBox 37"/>
          <p:cNvSpPr txBox="1"/>
          <p:nvPr/>
        </p:nvSpPr>
        <p:spPr>
          <a:xfrm>
            <a:off x="914400" y="3547871"/>
            <a:ext cx="3006455" cy="365760"/>
          </a:xfrm>
          <a:prstGeom prst="rect">
            <a:avLst/>
          </a:prstGeom>
          <a:noFill/>
        </p:spPr>
        <p:txBody>
          <a:bodyPr wrap="square" anchor="ctr" lIns="0" rIns="0" tIns="0" bIns="0">
            <a:spAutoFit/>
          </a:bodyPr>
          <a:lstStyle/>
          <a:p>
            <a:pPr algn="l">
              <a:spcBef>
                <a:spcPts val="0"/>
              </a:spcBef>
              <a:spcAft>
                <a:spcPts val="0"/>
              </a:spcAft>
            </a:pPr>
            <a:r>
              <a:rPr sz="1000" b="1" i="0">
                <a:solidFill>
                  <a:srgbClr val="16233B"/>
                </a:solidFill>
                <a:latin typeface="Bahnschrift"/>
              </a:rPr>
              <a:t>Sector &amp; macro</a:t>
            </a:r>
          </a:p>
        </p:txBody>
      </p:sp>
      <p:sp>
        <p:nvSpPr>
          <p:cNvPr id="39" name="TextBox 38"/>
          <p:cNvSpPr txBox="1"/>
          <p:nvPr/>
        </p:nvSpPr>
        <p:spPr>
          <a:xfrm>
            <a:off x="4067159" y="3547871"/>
            <a:ext cx="4267559" cy="365760"/>
          </a:xfrm>
          <a:prstGeom prst="rect">
            <a:avLst/>
          </a:prstGeom>
          <a:noFill/>
        </p:spPr>
        <p:txBody>
          <a:bodyPr wrap="square" anchor="ctr" lIns="0" rIns="0" tIns="0" bIns="0">
            <a:spAutoFit/>
          </a:bodyPr>
          <a:lstStyle/>
          <a:p>
            <a:pPr algn="l">
              <a:spcBef>
                <a:spcPts val="0"/>
              </a:spcBef>
              <a:spcAft>
                <a:spcPts val="0"/>
              </a:spcAft>
            </a:pPr>
            <a:r>
              <a:rPr sz="1000" b="0" i="0">
                <a:solidFill>
                  <a:srgbClr val="16233B"/>
                </a:solidFill>
                <a:latin typeface="Georgia"/>
              </a:rPr>
              <a:t>Sector strength, adjusted for cyclicality in the current regime</a:t>
            </a:r>
          </a:p>
        </p:txBody>
      </p:sp>
      <p:sp>
        <p:nvSpPr>
          <p:cNvPr id="40" name="TextBox 39"/>
          <p:cNvSpPr txBox="1"/>
          <p:nvPr/>
        </p:nvSpPr>
        <p:spPr>
          <a:xfrm>
            <a:off x="8481023" y="3547871"/>
            <a:ext cx="1324983" cy="365760"/>
          </a:xfrm>
          <a:prstGeom prst="rect">
            <a:avLst/>
          </a:prstGeom>
          <a:noFill/>
        </p:spPr>
        <p:txBody>
          <a:bodyPr wrap="square" anchor="ctr" lIns="0" rIns="0" tIns="0" bIns="0">
            <a:spAutoFit/>
          </a:bodyPr>
          <a:lstStyle/>
          <a:p>
            <a:pPr algn="r">
              <a:spcBef>
                <a:spcPts val="0"/>
              </a:spcBef>
              <a:spcAft>
                <a:spcPts val="0"/>
              </a:spcAft>
            </a:pPr>
            <a:r>
              <a:rPr sz="1000" b="0" i="0">
                <a:solidFill>
                  <a:srgbClr val="16233B"/>
                </a:solidFill>
                <a:latin typeface="Georgia"/>
              </a:rPr>
              <a:t>11%</a:t>
            </a:r>
          </a:p>
        </p:txBody>
      </p:sp>
      <p:sp>
        <p:nvSpPr>
          <p:cNvPr id="41" name="TextBox 40"/>
          <p:cNvSpPr txBox="1"/>
          <p:nvPr/>
        </p:nvSpPr>
        <p:spPr>
          <a:xfrm>
            <a:off x="9952311" y="3547871"/>
            <a:ext cx="1324983" cy="365760"/>
          </a:xfrm>
          <a:prstGeom prst="rect">
            <a:avLst/>
          </a:prstGeom>
          <a:noFill/>
        </p:spPr>
        <p:txBody>
          <a:bodyPr wrap="square" anchor="ctr" lIns="0" rIns="0" tIns="0" bIns="0">
            <a:spAutoFit/>
          </a:bodyPr>
          <a:lstStyle/>
          <a:p>
            <a:pPr algn="r">
              <a:spcBef>
                <a:spcPts val="0"/>
              </a:spcBef>
              <a:spcAft>
                <a:spcPts val="0"/>
              </a:spcAft>
            </a:pPr>
            <a:r>
              <a:rPr sz="1000" b="0" i="0">
                <a:solidFill>
                  <a:srgbClr val="16233B"/>
                </a:solidFill>
                <a:latin typeface="Georgia"/>
              </a:rPr>
              <a:t>13%</a:t>
            </a:r>
          </a:p>
        </p:txBody>
      </p:sp>
      <p:sp>
        <p:nvSpPr>
          <p:cNvPr id="42" name="Rectangle 41"/>
          <p:cNvSpPr/>
          <p:nvPr/>
        </p:nvSpPr>
        <p:spPr>
          <a:xfrm>
            <a:off x="841248" y="3895344"/>
            <a:ext cx="10509199" cy="365760"/>
          </a:xfrm>
          <a:prstGeom prst="rect">
            <a:avLst/>
          </a:prstGeom>
          <a:solidFill>
            <a:srgbClr val="F5F6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914400" y="3913631"/>
            <a:ext cx="3006455" cy="365760"/>
          </a:xfrm>
          <a:prstGeom prst="rect">
            <a:avLst/>
          </a:prstGeom>
          <a:noFill/>
        </p:spPr>
        <p:txBody>
          <a:bodyPr wrap="square" anchor="ctr" lIns="0" rIns="0" tIns="0" bIns="0">
            <a:spAutoFit/>
          </a:bodyPr>
          <a:lstStyle/>
          <a:p>
            <a:pPr algn="l">
              <a:spcBef>
                <a:spcPts val="0"/>
              </a:spcBef>
              <a:spcAft>
                <a:spcPts val="0"/>
              </a:spcAft>
            </a:pPr>
            <a:r>
              <a:rPr sz="1000" b="1" i="0">
                <a:solidFill>
                  <a:srgbClr val="16233B"/>
                </a:solidFill>
                <a:latin typeface="Bahnschrift"/>
              </a:rPr>
              <a:t>Ownership flow</a:t>
            </a:r>
          </a:p>
        </p:txBody>
      </p:sp>
      <p:sp>
        <p:nvSpPr>
          <p:cNvPr id="44" name="TextBox 43"/>
          <p:cNvSpPr txBox="1"/>
          <p:nvPr/>
        </p:nvSpPr>
        <p:spPr>
          <a:xfrm>
            <a:off x="4067159" y="3913631"/>
            <a:ext cx="4267559" cy="365760"/>
          </a:xfrm>
          <a:prstGeom prst="rect">
            <a:avLst/>
          </a:prstGeom>
          <a:noFill/>
        </p:spPr>
        <p:txBody>
          <a:bodyPr wrap="square" anchor="ctr" lIns="0" rIns="0" tIns="0" bIns="0">
            <a:spAutoFit/>
          </a:bodyPr>
          <a:lstStyle/>
          <a:p>
            <a:pPr algn="l">
              <a:spcBef>
                <a:spcPts val="0"/>
              </a:spcBef>
              <a:spcAft>
                <a:spcPts val="0"/>
              </a:spcAft>
            </a:pPr>
            <a:r>
              <a:rPr sz="1000" b="0" i="0">
                <a:solidFill>
                  <a:srgbClr val="16233B"/>
                </a:solidFill>
                <a:latin typeface="Georgia"/>
              </a:rPr>
              <a:t>Institutional buying and selling across recent quarters</a:t>
            </a:r>
          </a:p>
        </p:txBody>
      </p:sp>
      <p:sp>
        <p:nvSpPr>
          <p:cNvPr id="45" name="TextBox 44"/>
          <p:cNvSpPr txBox="1"/>
          <p:nvPr/>
        </p:nvSpPr>
        <p:spPr>
          <a:xfrm>
            <a:off x="8481023" y="3913631"/>
            <a:ext cx="1324983" cy="365760"/>
          </a:xfrm>
          <a:prstGeom prst="rect">
            <a:avLst/>
          </a:prstGeom>
          <a:noFill/>
        </p:spPr>
        <p:txBody>
          <a:bodyPr wrap="square" anchor="ctr" lIns="0" rIns="0" tIns="0" bIns="0">
            <a:spAutoFit/>
          </a:bodyPr>
          <a:lstStyle/>
          <a:p>
            <a:pPr algn="r">
              <a:spcBef>
                <a:spcPts val="0"/>
              </a:spcBef>
              <a:spcAft>
                <a:spcPts val="0"/>
              </a:spcAft>
            </a:pPr>
            <a:r>
              <a:rPr sz="1000" b="0" i="0">
                <a:solidFill>
                  <a:srgbClr val="16233B"/>
                </a:solidFill>
                <a:latin typeface="Georgia"/>
              </a:rPr>
              <a:t>9%</a:t>
            </a:r>
          </a:p>
        </p:txBody>
      </p:sp>
      <p:sp>
        <p:nvSpPr>
          <p:cNvPr id="46" name="TextBox 45"/>
          <p:cNvSpPr txBox="1"/>
          <p:nvPr/>
        </p:nvSpPr>
        <p:spPr>
          <a:xfrm>
            <a:off x="9952311" y="3913631"/>
            <a:ext cx="1324983" cy="365760"/>
          </a:xfrm>
          <a:prstGeom prst="rect">
            <a:avLst/>
          </a:prstGeom>
          <a:noFill/>
        </p:spPr>
        <p:txBody>
          <a:bodyPr wrap="square" anchor="ctr" lIns="0" rIns="0" tIns="0" bIns="0">
            <a:spAutoFit/>
          </a:bodyPr>
          <a:lstStyle/>
          <a:p>
            <a:pPr algn="r">
              <a:spcBef>
                <a:spcPts val="0"/>
              </a:spcBef>
              <a:spcAft>
                <a:spcPts val="0"/>
              </a:spcAft>
            </a:pPr>
            <a:r>
              <a:rPr sz="1000" b="0" i="0">
                <a:solidFill>
                  <a:srgbClr val="16233B"/>
                </a:solidFill>
                <a:latin typeface="Georgia"/>
              </a:rPr>
              <a:t>8%</a:t>
            </a:r>
          </a:p>
        </p:txBody>
      </p:sp>
      <p:sp>
        <p:nvSpPr>
          <p:cNvPr id="47" name="TextBox 46"/>
          <p:cNvSpPr txBox="1"/>
          <p:nvPr/>
        </p:nvSpPr>
        <p:spPr>
          <a:xfrm>
            <a:off x="914400" y="4279392"/>
            <a:ext cx="3006455" cy="365760"/>
          </a:xfrm>
          <a:prstGeom prst="rect">
            <a:avLst/>
          </a:prstGeom>
          <a:noFill/>
        </p:spPr>
        <p:txBody>
          <a:bodyPr wrap="square" anchor="ctr" lIns="0" rIns="0" tIns="0" bIns="0">
            <a:spAutoFit/>
          </a:bodyPr>
          <a:lstStyle/>
          <a:p>
            <a:pPr algn="l">
              <a:spcBef>
                <a:spcPts val="0"/>
              </a:spcBef>
              <a:spcAft>
                <a:spcPts val="0"/>
              </a:spcAft>
            </a:pPr>
            <a:r>
              <a:rPr sz="1000" b="1" i="0">
                <a:solidFill>
                  <a:srgbClr val="16233B"/>
                </a:solidFill>
                <a:latin typeface="Bahnschrift"/>
              </a:rPr>
              <a:t>Accumulation</a:t>
            </a:r>
          </a:p>
        </p:txBody>
      </p:sp>
      <p:sp>
        <p:nvSpPr>
          <p:cNvPr id="48" name="TextBox 47"/>
          <p:cNvSpPr txBox="1"/>
          <p:nvPr/>
        </p:nvSpPr>
        <p:spPr>
          <a:xfrm>
            <a:off x="4067159" y="4279392"/>
            <a:ext cx="4267559" cy="365760"/>
          </a:xfrm>
          <a:prstGeom prst="rect">
            <a:avLst/>
          </a:prstGeom>
          <a:noFill/>
        </p:spPr>
        <p:txBody>
          <a:bodyPr wrap="square" anchor="ctr" lIns="0" rIns="0" tIns="0" bIns="0">
            <a:spAutoFit/>
          </a:bodyPr>
          <a:lstStyle/>
          <a:p>
            <a:pPr algn="l">
              <a:spcBef>
                <a:spcPts val="0"/>
              </a:spcBef>
              <a:spcAft>
                <a:spcPts val="0"/>
              </a:spcAft>
            </a:pPr>
            <a:r>
              <a:rPr sz="1000" b="0" i="0">
                <a:solidFill>
                  <a:srgbClr val="16233B"/>
                </a:solidFill>
                <a:latin typeface="Georgia"/>
              </a:rPr>
              <a:t>Volume-flow trend behind the price</a:t>
            </a:r>
          </a:p>
        </p:txBody>
      </p:sp>
      <p:sp>
        <p:nvSpPr>
          <p:cNvPr id="49" name="TextBox 48"/>
          <p:cNvSpPr txBox="1"/>
          <p:nvPr/>
        </p:nvSpPr>
        <p:spPr>
          <a:xfrm>
            <a:off x="8481023" y="4279392"/>
            <a:ext cx="1324983" cy="365760"/>
          </a:xfrm>
          <a:prstGeom prst="rect">
            <a:avLst/>
          </a:prstGeom>
          <a:noFill/>
        </p:spPr>
        <p:txBody>
          <a:bodyPr wrap="square" anchor="ctr" lIns="0" rIns="0" tIns="0" bIns="0">
            <a:spAutoFit/>
          </a:bodyPr>
          <a:lstStyle/>
          <a:p>
            <a:pPr algn="r">
              <a:spcBef>
                <a:spcPts val="0"/>
              </a:spcBef>
              <a:spcAft>
                <a:spcPts val="0"/>
              </a:spcAft>
            </a:pPr>
            <a:r>
              <a:rPr sz="1000" b="0" i="0">
                <a:solidFill>
                  <a:srgbClr val="16233B"/>
                </a:solidFill>
                <a:latin typeface="Georgia"/>
              </a:rPr>
              <a:t>8%</a:t>
            </a:r>
          </a:p>
        </p:txBody>
      </p:sp>
      <p:sp>
        <p:nvSpPr>
          <p:cNvPr id="50" name="TextBox 49"/>
          <p:cNvSpPr txBox="1"/>
          <p:nvPr/>
        </p:nvSpPr>
        <p:spPr>
          <a:xfrm>
            <a:off x="9952311" y="4279392"/>
            <a:ext cx="1324983" cy="365760"/>
          </a:xfrm>
          <a:prstGeom prst="rect">
            <a:avLst/>
          </a:prstGeom>
          <a:noFill/>
        </p:spPr>
        <p:txBody>
          <a:bodyPr wrap="square" anchor="ctr" lIns="0" rIns="0" tIns="0" bIns="0">
            <a:spAutoFit/>
          </a:bodyPr>
          <a:lstStyle/>
          <a:p>
            <a:pPr algn="r">
              <a:spcBef>
                <a:spcPts val="0"/>
              </a:spcBef>
              <a:spcAft>
                <a:spcPts val="0"/>
              </a:spcAft>
            </a:pPr>
            <a:r>
              <a:rPr sz="1000" b="0" i="0">
                <a:solidFill>
                  <a:srgbClr val="16233B"/>
                </a:solidFill>
                <a:latin typeface="Georgia"/>
              </a:rPr>
              <a:t>5%</a:t>
            </a:r>
          </a:p>
        </p:txBody>
      </p:sp>
      <p:sp>
        <p:nvSpPr>
          <p:cNvPr id="51" name="Rounded Rectangle 50"/>
          <p:cNvSpPr/>
          <p:nvPr/>
        </p:nvSpPr>
        <p:spPr>
          <a:xfrm>
            <a:off x="841248" y="4590288"/>
            <a:ext cx="5117439" cy="1412748"/>
          </a:xfrm>
          <a:prstGeom prst="roundRect">
            <a:avLst>
              <a:gd name="adj" fmla="val 4000"/>
            </a:avLst>
          </a:prstGeom>
          <a:solidFill>
            <a:srgbClr val="F5F6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 name="Rectangle 51"/>
          <p:cNvSpPr/>
          <p:nvPr/>
        </p:nvSpPr>
        <p:spPr>
          <a:xfrm>
            <a:off x="841248" y="4590288"/>
            <a:ext cx="54864" cy="1412748"/>
          </a:xfrm>
          <a:prstGeom prst="rect">
            <a:avLst/>
          </a:prstGeom>
          <a:solidFill>
            <a:srgbClr val="1B27A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 name="TextBox 52"/>
          <p:cNvSpPr txBox="1"/>
          <p:nvPr/>
        </p:nvSpPr>
        <p:spPr>
          <a:xfrm>
            <a:off x="1042416" y="4718303"/>
            <a:ext cx="4751679" cy="274320"/>
          </a:xfrm>
          <a:prstGeom prst="rect">
            <a:avLst/>
          </a:prstGeom>
          <a:noFill/>
        </p:spPr>
        <p:txBody>
          <a:bodyPr wrap="square" anchor="t" lIns="0" rIns="0" tIns="0" bIns="0">
            <a:spAutoFit/>
          </a:bodyPr>
          <a:lstStyle/>
          <a:p>
            <a:pPr algn="l">
              <a:spcBef>
                <a:spcPts val="0"/>
              </a:spcBef>
              <a:spcAft>
                <a:spcPts val="0"/>
              </a:spcAft>
            </a:pPr>
            <a:r>
              <a:rPr sz="950" b="1" i="0" spc="60">
                <a:solidFill>
                  <a:srgbClr val="1B27A3"/>
                </a:solidFill>
                <a:latin typeface="Bahnschrift"/>
              </a:rPr>
              <a:t>WHY TWO HORIZONS</a:t>
            </a:r>
          </a:p>
        </p:txBody>
      </p:sp>
      <p:sp>
        <p:nvSpPr>
          <p:cNvPr id="54" name="TextBox 53"/>
          <p:cNvSpPr txBox="1"/>
          <p:nvPr/>
        </p:nvSpPr>
        <p:spPr>
          <a:xfrm>
            <a:off x="1042416" y="4992624"/>
            <a:ext cx="4751679" cy="955547"/>
          </a:xfrm>
          <a:prstGeom prst="rect">
            <a:avLst/>
          </a:prstGeom>
          <a:noFill/>
        </p:spPr>
        <p:txBody>
          <a:bodyPr wrap="square" anchor="t" lIns="0" rIns="0" tIns="0" bIns="0">
            <a:spAutoFit/>
          </a:bodyPr>
          <a:lstStyle/>
          <a:p>
            <a:pPr algn="l">
              <a:lnSpc>
                <a:spcPct val="106000"/>
              </a:lnSpc>
              <a:spcBef>
                <a:spcPts val="0"/>
              </a:spcBef>
              <a:spcAft>
                <a:spcPts val="0"/>
              </a:spcAft>
            </a:pPr>
            <a:r>
              <a:rPr sz="1050" b="0" i="0">
                <a:solidFill>
                  <a:srgbClr val="16233B"/>
                </a:solidFill>
                <a:latin typeface="Georgia"/>
              </a:rPr>
              <a:t>A three-year score leans on fundamentals; a one-year score leans on market behaviour. Keeping them apart means a good business in a bad tape and a weak business in a strong tape read differently, instead of averaging into the same middle.</a:t>
            </a:r>
          </a:p>
        </p:txBody>
      </p:sp>
      <p:sp>
        <p:nvSpPr>
          <p:cNvPr id="55" name="Rounded Rectangle 54"/>
          <p:cNvSpPr/>
          <p:nvPr/>
        </p:nvSpPr>
        <p:spPr>
          <a:xfrm>
            <a:off x="6233007" y="4590288"/>
            <a:ext cx="5117439" cy="1412748"/>
          </a:xfrm>
          <a:prstGeom prst="roundRect">
            <a:avLst>
              <a:gd name="adj" fmla="val 4000"/>
            </a:avLst>
          </a:prstGeom>
          <a:solidFill>
            <a:srgbClr val="F5F6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6" name="Rectangle 55"/>
          <p:cNvSpPr/>
          <p:nvPr/>
        </p:nvSpPr>
        <p:spPr>
          <a:xfrm>
            <a:off x="6233007" y="4590288"/>
            <a:ext cx="54864" cy="1412748"/>
          </a:xfrm>
          <a:prstGeom prst="rect">
            <a:avLst/>
          </a:prstGeom>
          <a:solidFill>
            <a:srgbClr val="1B27A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7" name="TextBox 56"/>
          <p:cNvSpPr txBox="1"/>
          <p:nvPr/>
        </p:nvSpPr>
        <p:spPr>
          <a:xfrm>
            <a:off x="6434175" y="4718303"/>
            <a:ext cx="4751679" cy="274320"/>
          </a:xfrm>
          <a:prstGeom prst="rect">
            <a:avLst/>
          </a:prstGeom>
          <a:noFill/>
        </p:spPr>
        <p:txBody>
          <a:bodyPr wrap="square" anchor="t" lIns="0" rIns="0" tIns="0" bIns="0">
            <a:spAutoFit/>
          </a:bodyPr>
          <a:lstStyle/>
          <a:p>
            <a:pPr algn="l">
              <a:spcBef>
                <a:spcPts val="0"/>
              </a:spcBef>
              <a:spcAft>
                <a:spcPts val="0"/>
              </a:spcAft>
            </a:pPr>
            <a:r>
              <a:rPr sz="950" b="1" i="0" spc="60">
                <a:solidFill>
                  <a:srgbClr val="1B27A3"/>
                </a:solidFill>
                <a:latin typeface="Bahnschrift"/>
              </a:rPr>
              <a:t>DISCIPLINE BEHIND THE RANKS</a:t>
            </a:r>
          </a:p>
        </p:txBody>
      </p:sp>
      <p:sp>
        <p:nvSpPr>
          <p:cNvPr id="58" name="TextBox 57"/>
          <p:cNvSpPr txBox="1"/>
          <p:nvPr/>
        </p:nvSpPr>
        <p:spPr>
          <a:xfrm>
            <a:off x="6434175" y="4992624"/>
            <a:ext cx="4751679" cy="955547"/>
          </a:xfrm>
          <a:prstGeom prst="rect">
            <a:avLst/>
          </a:prstGeom>
          <a:noFill/>
        </p:spPr>
        <p:txBody>
          <a:bodyPr wrap="square" anchor="t" lIns="0" rIns="0" tIns="0" bIns="0">
            <a:spAutoFit/>
          </a:bodyPr>
          <a:lstStyle/>
          <a:p>
            <a:pPr algn="l">
              <a:lnSpc>
                <a:spcPct val="106000"/>
              </a:lnSpc>
              <a:spcBef>
                <a:spcPts val="0"/>
              </a:spcBef>
              <a:spcAft>
                <a:spcPts val="0"/>
              </a:spcAft>
            </a:pPr>
            <a:r>
              <a:rPr sz="1050" b="0" i="0">
                <a:solidFill>
                  <a:srgbClr val="16233B"/>
                </a:solidFill>
                <a:latin typeface="Georgia"/>
              </a:rPr>
              <a:t>Every input is winsorised before ranking, so one outlier cannot claim an extreme percentile. Value ranks within sector and size tier, because a cement multiple and a software multiple are not comparable numbers.</a:t>
            </a:r>
          </a:p>
        </p:txBody>
      </p:sp>
      <p:sp>
        <p:nvSpPr>
          <p:cNvPr id="59" name="TextBox 58"/>
          <p:cNvSpPr txBox="1"/>
          <p:nvPr/>
        </p:nvSpPr>
        <p:spPr>
          <a:xfrm>
            <a:off x="841248" y="6089904"/>
            <a:ext cx="10509199" cy="219456"/>
          </a:xfrm>
          <a:prstGeom prst="rect">
            <a:avLst/>
          </a:prstGeom>
          <a:noFill/>
        </p:spPr>
        <p:txBody>
          <a:bodyPr wrap="square" anchor="t" lIns="0" rIns="0" tIns="0" bIns="0">
            <a:spAutoFit/>
          </a:bodyPr>
          <a:lstStyle/>
          <a:p>
            <a:pPr algn="l">
              <a:spcBef>
                <a:spcPts val="0"/>
              </a:spcBef>
              <a:spcAft>
                <a:spcPts val="0"/>
              </a:spcAft>
            </a:pPr>
            <a:r>
              <a:rPr sz="700" b="0" i="0">
                <a:solidFill>
                  <a:srgbClr val="6B7280"/>
                </a:solidFill>
                <a:latin typeface="Bahnschrift"/>
              </a:rPr>
              <a:t>Frozen scoring contract; discounted-cash-flow is deliberately excluded as a mechanical pillar and lives as the analyst's own reverse-DCF judgment.</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logo_clean.png"/>
          <p:cNvPicPr>
            <a:picLocks noChangeAspect="1"/>
          </p:cNvPicPr>
          <p:nvPr/>
        </p:nvPicPr>
        <p:blipFill>
          <a:blip r:embed="rId2"/>
          <a:stretch>
            <a:fillRect/>
          </a:stretch>
        </p:blipFill>
        <p:spPr>
          <a:xfrm>
            <a:off x="9674809" y="365760"/>
            <a:ext cx="1629918" cy="283464"/>
          </a:xfrm>
          <a:prstGeom prst="rect">
            <a:avLst/>
          </a:prstGeom>
        </p:spPr>
      </p:pic>
      <p:sp>
        <p:nvSpPr>
          <p:cNvPr id="4" name="TextBox 3"/>
          <p:cNvSpPr txBox="1"/>
          <p:nvPr/>
        </p:nvSpPr>
        <p:spPr>
          <a:xfrm>
            <a:off x="4541367" y="128016"/>
            <a:ext cx="3108960" cy="182880"/>
          </a:xfrm>
          <a:prstGeom prst="rect">
            <a:avLst/>
          </a:prstGeom>
          <a:noFill/>
        </p:spPr>
        <p:txBody>
          <a:bodyPr wrap="square" anchor="t" lIns="0" rIns="0" tIns="0" bIns="0">
            <a:spAutoFit/>
          </a:bodyPr>
          <a:lstStyle/>
          <a:p>
            <a:pPr algn="ctr">
              <a:spcBef>
                <a:spcPts val="0"/>
              </a:spcBef>
              <a:spcAft>
                <a:spcPts val="0"/>
              </a:spcAft>
            </a:pPr>
            <a:r>
              <a:rPr sz="750" b="0" i="0">
                <a:solidFill>
                  <a:srgbClr val="6B7280"/>
                </a:solidFill>
                <a:latin typeface="Bahnschrift"/>
              </a:rPr>
              <a:t>Private &amp; Confidential</a:t>
            </a:r>
          </a:p>
        </p:txBody>
      </p:sp>
      <p:sp>
        <p:nvSpPr>
          <p:cNvPr id="5" name="TextBox 4"/>
          <p:cNvSpPr txBox="1"/>
          <p:nvPr/>
        </p:nvSpPr>
        <p:spPr>
          <a:xfrm>
            <a:off x="7863840" y="274320"/>
            <a:ext cx="1749247" cy="201168"/>
          </a:xfrm>
          <a:prstGeom prst="rect">
            <a:avLst/>
          </a:prstGeom>
          <a:noFill/>
        </p:spPr>
        <p:txBody>
          <a:bodyPr wrap="square" anchor="t" lIns="0" rIns="0" tIns="0" bIns="0">
            <a:spAutoFit/>
          </a:bodyPr>
          <a:lstStyle/>
          <a:p>
            <a:pPr algn="r">
              <a:spcBef>
                <a:spcPts val="0"/>
              </a:spcBef>
              <a:spcAft>
                <a:spcPts val="0"/>
              </a:spcAft>
            </a:pPr>
            <a:r>
              <a:rPr sz="750" b="1" i="0" spc="120">
                <a:solidFill>
                  <a:srgbClr val="8C95DE"/>
                </a:solidFill>
                <a:latin typeface="Bahnschrift"/>
              </a:rPr>
              <a:t>01 · THE MODEL</a:t>
            </a:r>
          </a:p>
        </p:txBody>
      </p:sp>
      <p:sp>
        <p:nvSpPr>
          <p:cNvPr id="6" name="Rectangle 5"/>
          <p:cNvSpPr/>
          <p:nvPr/>
        </p:nvSpPr>
        <p:spPr>
          <a:xfrm>
            <a:off x="8549640" y="512064"/>
            <a:ext cx="137160" cy="20116"/>
          </a:xfrm>
          <a:prstGeom prst="rect">
            <a:avLst/>
          </a:prstGeom>
          <a:solidFill>
            <a:srgbClr val="1B27A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8732519" y="512064"/>
            <a:ext cx="137160" cy="20116"/>
          </a:xfrm>
          <a:prstGeom prst="rect">
            <a:avLst/>
          </a:prstGeom>
          <a:solidFill>
            <a:srgbClr val="E5E7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8915400" y="512064"/>
            <a:ext cx="137160" cy="20116"/>
          </a:xfrm>
          <a:prstGeom prst="rect">
            <a:avLst/>
          </a:prstGeom>
          <a:solidFill>
            <a:srgbClr val="E5E7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9098280" y="512064"/>
            <a:ext cx="137160" cy="20116"/>
          </a:xfrm>
          <a:prstGeom prst="rect">
            <a:avLst/>
          </a:prstGeom>
          <a:solidFill>
            <a:srgbClr val="E5E7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9281160" y="512064"/>
            <a:ext cx="137160" cy="20116"/>
          </a:xfrm>
          <a:prstGeom prst="rect">
            <a:avLst/>
          </a:prstGeom>
          <a:solidFill>
            <a:srgbClr val="E5E7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41248" y="420624"/>
            <a:ext cx="6858000" cy="502920"/>
          </a:xfrm>
          <a:prstGeom prst="rect">
            <a:avLst/>
          </a:prstGeom>
          <a:noFill/>
        </p:spPr>
        <p:txBody>
          <a:bodyPr wrap="square" anchor="t" lIns="0" rIns="0" tIns="0" bIns="0">
            <a:spAutoFit/>
          </a:bodyPr>
          <a:lstStyle/>
          <a:p>
            <a:pPr algn="l">
              <a:spcBef>
                <a:spcPts val="0"/>
              </a:spcBef>
              <a:spcAft>
                <a:spcPts val="0"/>
              </a:spcAft>
            </a:pPr>
            <a:r>
              <a:rPr sz="2600" b="1" i="0">
                <a:solidFill>
                  <a:srgbClr val="1B27A3"/>
                </a:solidFill>
                <a:latin typeface="Bahnschrift"/>
              </a:rPr>
              <a:t>Where the weights come from</a:t>
            </a:r>
          </a:p>
        </p:txBody>
      </p:sp>
      <p:sp>
        <p:nvSpPr>
          <p:cNvPr id="12" name="TextBox 11"/>
          <p:cNvSpPr txBox="1"/>
          <p:nvPr/>
        </p:nvSpPr>
        <p:spPr>
          <a:xfrm>
            <a:off x="841248" y="950976"/>
            <a:ext cx="9692640" cy="411480"/>
          </a:xfrm>
          <a:prstGeom prst="rect">
            <a:avLst/>
          </a:prstGeom>
          <a:noFill/>
        </p:spPr>
        <p:txBody>
          <a:bodyPr wrap="square" anchor="t" lIns="0" rIns="0" tIns="0" bIns="0">
            <a:spAutoFit/>
          </a:bodyPr>
          <a:lstStyle/>
          <a:p>
            <a:pPr algn="l">
              <a:spcBef>
                <a:spcPts val="0"/>
              </a:spcBef>
              <a:spcAft>
                <a:spcPts val="0"/>
              </a:spcAft>
            </a:pPr>
            <a:r>
              <a:rPr sz="1750" b="1" i="0">
                <a:solidFill>
                  <a:srgbClr val="F2A93C"/>
                </a:solidFill>
                <a:latin typeface="Bahnschrift"/>
              </a:rPr>
              <a:t>Set by judgment, not fitted to returns, and we would rather say so</a:t>
            </a:r>
          </a:p>
        </p:txBody>
      </p:sp>
      <p:sp>
        <p:nvSpPr>
          <p:cNvPr id="13" name="Rectangle 12"/>
          <p:cNvSpPr/>
          <p:nvPr/>
        </p:nvSpPr>
        <p:spPr>
          <a:xfrm>
            <a:off x="841248" y="1408176"/>
            <a:ext cx="10509199" cy="21945"/>
          </a:xfrm>
          <a:prstGeom prst="rect">
            <a:avLst/>
          </a:prstGeom>
          <a:solidFill>
            <a:srgbClr val="1B27A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9155887" y="6528816"/>
            <a:ext cx="2194560" cy="182880"/>
          </a:xfrm>
          <a:prstGeom prst="rect">
            <a:avLst/>
          </a:prstGeom>
          <a:noFill/>
        </p:spPr>
        <p:txBody>
          <a:bodyPr wrap="square" anchor="t" lIns="0" rIns="0" tIns="0" bIns="0">
            <a:spAutoFit/>
          </a:bodyPr>
          <a:lstStyle/>
          <a:p>
            <a:pPr algn="r">
              <a:spcBef>
                <a:spcPts val="0"/>
              </a:spcBef>
              <a:spcAft>
                <a:spcPts val="0"/>
              </a:spcAft>
            </a:pPr>
            <a:r>
              <a:rPr sz="750" b="0" i="0">
                <a:solidFill>
                  <a:srgbClr val="6B7280"/>
                </a:solidFill>
                <a:latin typeface="Bahnschrift"/>
              </a:rPr>
              <a:t>Portfolio Review  ·  07</a:t>
            </a:r>
          </a:p>
        </p:txBody>
      </p:sp>
      <p:sp>
        <p:nvSpPr>
          <p:cNvPr id="15" name="TextBox 14"/>
          <p:cNvSpPr txBox="1"/>
          <p:nvPr/>
        </p:nvSpPr>
        <p:spPr>
          <a:xfrm>
            <a:off x="841248" y="1627632"/>
            <a:ext cx="2490139" cy="457200"/>
          </a:xfrm>
          <a:prstGeom prst="rect">
            <a:avLst/>
          </a:prstGeom>
          <a:noFill/>
        </p:spPr>
        <p:txBody>
          <a:bodyPr wrap="square" anchor="t" lIns="0" rIns="0" tIns="0" bIns="0">
            <a:spAutoFit/>
          </a:bodyPr>
          <a:lstStyle/>
          <a:p>
            <a:pPr algn="l">
              <a:spcBef>
                <a:spcPts val="0"/>
              </a:spcBef>
              <a:spcAft>
                <a:spcPts val="0"/>
              </a:spcAft>
            </a:pPr>
            <a:r>
              <a:rPr sz="2700" b="0" i="0">
                <a:solidFill>
                  <a:srgbClr val="1B27A3"/>
                </a:solidFill>
                <a:latin typeface="Bahnschrift"/>
              </a:rPr>
              <a:t>58 / 42</a:t>
            </a:r>
          </a:p>
        </p:txBody>
      </p:sp>
      <p:sp>
        <p:nvSpPr>
          <p:cNvPr id="16" name="TextBox 15"/>
          <p:cNvSpPr txBox="1"/>
          <p:nvPr/>
        </p:nvSpPr>
        <p:spPr>
          <a:xfrm>
            <a:off x="841248" y="2103120"/>
            <a:ext cx="2490139" cy="173736"/>
          </a:xfrm>
          <a:prstGeom prst="rect">
            <a:avLst/>
          </a:prstGeom>
          <a:noFill/>
        </p:spPr>
        <p:txBody>
          <a:bodyPr wrap="square" anchor="t" lIns="0" rIns="0" tIns="0" bIns="0">
            <a:spAutoFit/>
          </a:bodyPr>
          <a:lstStyle/>
          <a:p>
            <a:pPr algn="l">
              <a:lnSpc>
                <a:spcPct val="100000"/>
              </a:lnSpc>
              <a:spcBef>
                <a:spcPts val="0"/>
              </a:spcBef>
              <a:spcAft>
                <a:spcPts val="0"/>
              </a:spcAft>
            </a:pPr>
            <a:r>
              <a:rPr sz="800" b="1" i="0" spc="200">
                <a:solidFill>
                  <a:srgbClr val="6B7280"/>
                </a:solidFill>
                <a:latin typeface="Bahnschrift"/>
              </a:rPr>
              <a:t>3-YEAR SPLIT</a:t>
            </a:r>
          </a:p>
        </p:txBody>
      </p:sp>
      <p:sp>
        <p:nvSpPr>
          <p:cNvPr id="17" name="TextBox 16"/>
          <p:cNvSpPr txBox="1"/>
          <p:nvPr/>
        </p:nvSpPr>
        <p:spPr>
          <a:xfrm>
            <a:off x="841248" y="2286000"/>
            <a:ext cx="2490139" cy="182880"/>
          </a:xfrm>
          <a:prstGeom prst="rect">
            <a:avLst/>
          </a:prstGeom>
          <a:noFill/>
        </p:spPr>
        <p:txBody>
          <a:bodyPr wrap="square" anchor="t" lIns="0" rIns="0" tIns="0" bIns="0">
            <a:spAutoFit/>
          </a:bodyPr>
          <a:lstStyle/>
          <a:p>
            <a:pPr algn="l">
              <a:spcBef>
                <a:spcPts val="0"/>
              </a:spcBef>
              <a:spcAft>
                <a:spcPts val="0"/>
              </a:spcAft>
            </a:pPr>
            <a:r>
              <a:rPr sz="800" b="0" i="0">
                <a:solidFill>
                  <a:srgbClr val="8C95DE"/>
                </a:solidFill>
                <a:latin typeface="Bahnschrift"/>
              </a:rPr>
              <a:t>fundamentals / market</a:t>
            </a:r>
          </a:p>
        </p:txBody>
      </p:sp>
      <p:sp>
        <p:nvSpPr>
          <p:cNvPr id="18" name="TextBox 17"/>
          <p:cNvSpPr txBox="1"/>
          <p:nvPr/>
        </p:nvSpPr>
        <p:spPr>
          <a:xfrm>
            <a:off x="3468547" y="1627632"/>
            <a:ext cx="2490139" cy="457200"/>
          </a:xfrm>
          <a:prstGeom prst="rect">
            <a:avLst/>
          </a:prstGeom>
          <a:noFill/>
        </p:spPr>
        <p:txBody>
          <a:bodyPr wrap="square" anchor="t" lIns="0" rIns="0" tIns="0" bIns="0">
            <a:spAutoFit/>
          </a:bodyPr>
          <a:lstStyle/>
          <a:p>
            <a:pPr algn="l">
              <a:spcBef>
                <a:spcPts val="0"/>
              </a:spcBef>
              <a:spcAft>
                <a:spcPts val="0"/>
              </a:spcAft>
            </a:pPr>
            <a:r>
              <a:rPr sz="2700" b="0" i="0">
                <a:solidFill>
                  <a:srgbClr val="1B27A3"/>
                </a:solidFill>
                <a:latin typeface="Bahnschrift"/>
              </a:rPr>
              <a:t>48 / 52</a:t>
            </a:r>
          </a:p>
        </p:txBody>
      </p:sp>
      <p:sp>
        <p:nvSpPr>
          <p:cNvPr id="19" name="TextBox 18"/>
          <p:cNvSpPr txBox="1"/>
          <p:nvPr/>
        </p:nvSpPr>
        <p:spPr>
          <a:xfrm>
            <a:off x="3468547" y="2103120"/>
            <a:ext cx="2490139" cy="173736"/>
          </a:xfrm>
          <a:prstGeom prst="rect">
            <a:avLst/>
          </a:prstGeom>
          <a:noFill/>
        </p:spPr>
        <p:txBody>
          <a:bodyPr wrap="square" anchor="t" lIns="0" rIns="0" tIns="0" bIns="0">
            <a:spAutoFit/>
          </a:bodyPr>
          <a:lstStyle/>
          <a:p>
            <a:pPr algn="l">
              <a:lnSpc>
                <a:spcPct val="100000"/>
              </a:lnSpc>
              <a:spcBef>
                <a:spcPts val="0"/>
              </a:spcBef>
              <a:spcAft>
                <a:spcPts val="0"/>
              </a:spcAft>
            </a:pPr>
            <a:r>
              <a:rPr sz="800" b="1" i="0" spc="200">
                <a:solidFill>
                  <a:srgbClr val="6B7280"/>
                </a:solidFill>
                <a:latin typeface="Bahnschrift"/>
              </a:rPr>
              <a:t>1-YEAR SPLIT</a:t>
            </a:r>
          </a:p>
        </p:txBody>
      </p:sp>
      <p:sp>
        <p:nvSpPr>
          <p:cNvPr id="20" name="TextBox 19"/>
          <p:cNvSpPr txBox="1"/>
          <p:nvPr/>
        </p:nvSpPr>
        <p:spPr>
          <a:xfrm>
            <a:off x="3468547" y="2286000"/>
            <a:ext cx="2490139" cy="182880"/>
          </a:xfrm>
          <a:prstGeom prst="rect">
            <a:avLst/>
          </a:prstGeom>
          <a:noFill/>
        </p:spPr>
        <p:txBody>
          <a:bodyPr wrap="square" anchor="t" lIns="0" rIns="0" tIns="0" bIns="0">
            <a:spAutoFit/>
          </a:bodyPr>
          <a:lstStyle/>
          <a:p>
            <a:pPr algn="l">
              <a:spcBef>
                <a:spcPts val="0"/>
              </a:spcBef>
              <a:spcAft>
                <a:spcPts val="0"/>
              </a:spcAft>
            </a:pPr>
            <a:r>
              <a:rPr sz="800" b="0" i="0">
                <a:solidFill>
                  <a:srgbClr val="8C95DE"/>
                </a:solidFill>
                <a:latin typeface="Bahnschrift"/>
              </a:rPr>
              <a:t>fundamentals / market</a:t>
            </a:r>
          </a:p>
        </p:txBody>
      </p:sp>
      <p:sp>
        <p:nvSpPr>
          <p:cNvPr id="21" name="Rectangle 20"/>
          <p:cNvSpPr/>
          <p:nvPr/>
        </p:nvSpPr>
        <p:spPr>
          <a:xfrm>
            <a:off x="3413683" y="1673352"/>
            <a:ext cx="7315" cy="566928"/>
          </a:xfrm>
          <a:prstGeom prst="rect">
            <a:avLst/>
          </a:prstGeom>
          <a:solidFill>
            <a:srgbClr val="E5E7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095847" y="1627632"/>
            <a:ext cx="2490139" cy="457200"/>
          </a:xfrm>
          <a:prstGeom prst="rect">
            <a:avLst/>
          </a:prstGeom>
          <a:noFill/>
        </p:spPr>
        <p:txBody>
          <a:bodyPr wrap="square" anchor="t" lIns="0" rIns="0" tIns="0" bIns="0">
            <a:spAutoFit/>
          </a:bodyPr>
          <a:lstStyle/>
          <a:p>
            <a:pPr algn="l">
              <a:spcBef>
                <a:spcPts val="0"/>
              </a:spcBef>
              <a:spcAft>
                <a:spcPts val="0"/>
              </a:spcAft>
            </a:pPr>
            <a:r>
              <a:rPr sz="2700" b="0" i="0">
                <a:solidFill>
                  <a:srgbClr val="E0402F"/>
                </a:solidFill>
                <a:latin typeface="Bahnschrift"/>
              </a:rPr>
              <a:t>0</a:t>
            </a:r>
          </a:p>
        </p:txBody>
      </p:sp>
      <p:sp>
        <p:nvSpPr>
          <p:cNvPr id="23" name="TextBox 22"/>
          <p:cNvSpPr txBox="1"/>
          <p:nvPr/>
        </p:nvSpPr>
        <p:spPr>
          <a:xfrm>
            <a:off x="6095847" y="2103120"/>
            <a:ext cx="2490139" cy="173736"/>
          </a:xfrm>
          <a:prstGeom prst="rect">
            <a:avLst/>
          </a:prstGeom>
          <a:noFill/>
        </p:spPr>
        <p:txBody>
          <a:bodyPr wrap="square" anchor="t" lIns="0" rIns="0" tIns="0" bIns="0">
            <a:spAutoFit/>
          </a:bodyPr>
          <a:lstStyle/>
          <a:p>
            <a:pPr algn="l">
              <a:lnSpc>
                <a:spcPct val="100000"/>
              </a:lnSpc>
              <a:spcBef>
                <a:spcPts val="0"/>
              </a:spcBef>
              <a:spcAft>
                <a:spcPts val="0"/>
              </a:spcAft>
            </a:pPr>
            <a:r>
              <a:rPr sz="800" b="1" i="0" spc="200">
                <a:solidFill>
                  <a:srgbClr val="6B7280"/>
                </a:solidFill>
                <a:latin typeface="Bahnschrift"/>
              </a:rPr>
              <a:t>WEIGHTS FITTED TO RETURNS</a:t>
            </a:r>
          </a:p>
        </p:txBody>
      </p:sp>
      <p:sp>
        <p:nvSpPr>
          <p:cNvPr id="24" name="TextBox 23"/>
          <p:cNvSpPr txBox="1"/>
          <p:nvPr/>
        </p:nvSpPr>
        <p:spPr>
          <a:xfrm>
            <a:off x="6095847" y="2286000"/>
            <a:ext cx="2490139" cy="182880"/>
          </a:xfrm>
          <a:prstGeom prst="rect">
            <a:avLst/>
          </a:prstGeom>
          <a:noFill/>
        </p:spPr>
        <p:txBody>
          <a:bodyPr wrap="square" anchor="t" lIns="0" rIns="0" tIns="0" bIns="0">
            <a:spAutoFit/>
          </a:bodyPr>
          <a:lstStyle/>
          <a:p>
            <a:pPr algn="l">
              <a:spcBef>
                <a:spcPts val="0"/>
              </a:spcBef>
              <a:spcAft>
                <a:spcPts val="0"/>
              </a:spcAft>
            </a:pPr>
            <a:r>
              <a:rPr sz="800" b="0" i="0">
                <a:solidFill>
                  <a:srgbClr val="8C95DE"/>
                </a:solidFill>
                <a:latin typeface="Bahnschrift"/>
              </a:rPr>
              <a:t>none optimised</a:t>
            </a:r>
          </a:p>
        </p:txBody>
      </p:sp>
      <p:sp>
        <p:nvSpPr>
          <p:cNvPr id="25" name="Rectangle 24"/>
          <p:cNvSpPr/>
          <p:nvPr/>
        </p:nvSpPr>
        <p:spPr>
          <a:xfrm>
            <a:off x="6040983" y="1673352"/>
            <a:ext cx="7315" cy="566928"/>
          </a:xfrm>
          <a:prstGeom prst="rect">
            <a:avLst/>
          </a:prstGeom>
          <a:solidFill>
            <a:srgbClr val="E5E7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8723147" y="1627632"/>
            <a:ext cx="2490139" cy="457200"/>
          </a:xfrm>
          <a:prstGeom prst="rect">
            <a:avLst/>
          </a:prstGeom>
          <a:noFill/>
        </p:spPr>
        <p:txBody>
          <a:bodyPr wrap="square" anchor="t" lIns="0" rIns="0" tIns="0" bIns="0">
            <a:spAutoFit/>
          </a:bodyPr>
          <a:lstStyle/>
          <a:p>
            <a:pPr algn="l">
              <a:spcBef>
                <a:spcPts val="0"/>
              </a:spcBef>
              <a:spcAft>
                <a:spcPts val="0"/>
              </a:spcAft>
            </a:pPr>
            <a:r>
              <a:rPr sz="2700" b="0" i="0">
                <a:solidFill>
                  <a:srgbClr val="92400E"/>
                </a:solidFill>
                <a:latin typeface="Bahnschrift"/>
              </a:rPr>
              <a:t>8</a:t>
            </a:r>
          </a:p>
        </p:txBody>
      </p:sp>
      <p:sp>
        <p:nvSpPr>
          <p:cNvPr id="27" name="TextBox 26"/>
          <p:cNvSpPr txBox="1"/>
          <p:nvPr/>
        </p:nvSpPr>
        <p:spPr>
          <a:xfrm>
            <a:off x="8723147" y="2103120"/>
            <a:ext cx="2490139" cy="173736"/>
          </a:xfrm>
          <a:prstGeom prst="rect">
            <a:avLst/>
          </a:prstGeom>
          <a:noFill/>
        </p:spPr>
        <p:txBody>
          <a:bodyPr wrap="square" anchor="t" lIns="0" rIns="0" tIns="0" bIns="0">
            <a:spAutoFit/>
          </a:bodyPr>
          <a:lstStyle/>
          <a:p>
            <a:pPr algn="l">
              <a:lnSpc>
                <a:spcPct val="100000"/>
              </a:lnSpc>
              <a:spcBef>
                <a:spcPts val="0"/>
              </a:spcBef>
              <a:spcAft>
                <a:spcPts val="0"/>
              </a:spcAft>
            </a:pPr>
            <a:r>
              <a:rPr sz="800" b="1" i="0" spc="200">
                <a:solidFill>
                  <a:srgbClr val="6B7280"/>
                </a:solidFill>
                <a:latin typeface="Bahnschrift"/>
              </a:rPr>
              <a:t>QUARTERLY REBALANCES</a:t>
            </a:r>
          </a:p>
        </p:txBody>
      </p:sp>
      <p:sp>
        <p:nvSpPr>
          <p:cNvPr id="28" name="TextBox 27"/>
          <p:cNvSpPr txBox="1"/>
          <p:nvPr/>
        </p:nvSpPr>
        <p:spPr>
          <a:xfrm>
            <a:off x="8723147" y="2286000"/>
            <a:ext cx="2490139" cy="182880"/>
          </a:xfrm>
          <a:prstGeom prst="rect">
            <a:avLst/>
          </a:prstGeom>
          <a:noFill/>
        </p:spPr>
        <p:txBody>
          <a:bodyPr wrap="square" anchor="t" lIns="0" rIns="0" tIns="0" bIns="0">
            <a:spAutoFit/>
          </a:bodyPr>
          <a:lstStyle/>
          <a:p>
            <a:pPr algn="l">
              <a:spcBef>
                <a:spcPts val="0"/>
              </a:spcBef>
              <a:spcAft>
                <a:spcPts val="0"/>
              </a:spcAft>
            </a:pPr>
            <a:r>
              <a:rPr sz="800" b="0" i="0">
                <a:solidFill>
                  <a:srgbClr val="8C95DE"/>
                </a:solidFill>
                <a:latin typeface="Bahnschrift"/>
              </a:rPr>
              <a:t>of clean point-in-time data</a:t>
            </a:r>
          </a:p>
        </p:txBody>
      </p:sp>
      <p:sp>
        <p:nvSpPr>
          <p:cNvPr id="29" name="Rectangle 28"/>
          <p:cNvSpPr/>
          <p:nvPr/>
        </p:nvSpPr>
        <p:spPr>
          <a:xfrm>
            <a:off x="8668283" y="1673352"/>
            <a:ext cx="7315" cy="566928"/>
          </a:xfrm>
          <a:prstGeom prst="rect">
            <a:avLst/>
          </a:prstGeom>
          <a:solidFill>
            <a:srgbClr val="E5E7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841248" y="2852927"/>
            <a:ext cx="68580" cy="68580"/>
          </a:xfrm>
          <a:prstGeom prst="rect">
            <a:avLst/>
          </a:prstGeom>
          <a:solidFill>
            <a:srgbClr val="F2A93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1060704" y="2756915"/>
            <a:ext cx="4894783" cy="475488"/>
          </a:xfrm>
          <a:prstGeom prst="rect">
            <a:avLst/>
          </a:prstGeom>
          <a:noFill/>
        </p:spPr>
        <p:txBody>
          <a:bodyPr wrap="square" anchor="t" lIns="0" rIns="0" tIns="0" bIns="0">
            <a:spAutoFit/>
          </a:bodyPr>
          <a:lstStyle/>
          <a:p>
            <a:pPr algn="l">
              <a:lnSpc>
                <a:spcPct val="106000"/>
              </a:lnSpc>
              <a:spcBef>
                <a:spcPts val="0"/>
              </a:spcBef>
              <a:spcAft>
                <a:spcPts val="0"/>
              </a:spcAft>
            </a:pPr>
            <a:r>
              <a:rPr sz="1050" b="0" i="0">
                <a:solidFill>
                  <a:srgbClr val="16233B"/>
                </a:solidFill>
                <a:latin typeface="Georgia"/>
              </a:rPr>
              <a:t>The weights encode a stated view: over three years fundamentals should dominate, over one year market behaviour should. The shipped weights deliver exactly that, at 58/42 and 48/52.</a:t>
            </a:r>
          </a:p>
        </p:txBody>
      </p:sp>
      <p:sp>
        <p:nvSpPr>
          <p:cNvPr id="32" name="Rectangle 31"/>
          <p:cNvSpPr/>
          <p:nvPr/>
        </p:nvSpPr>
        <p:spPr>
          <a:xfrm>
            <a:off x="841248" y="3456432"/>
            <a:ext cx="68580" cy="68580"/>
          </a:xfrm>
          <a:prstGeom prst="rect">
            <a:avLst/>
          </a:prstGeom>
          <a:solidFill>
            <a:srgbClr val="F2A93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1060704" y="3360420"/>
            <a:ext cx="4894783" cy="475488"/>
          </a:xfrm>
          <a:prstGeom prst="rect">
            <a:avLst/>
          </a:prstGeom>
          <a:noFill/>
        </p:spPr>
        <p:txBody>
          <a:bodyPr wrap="square" anchor="t" lIns="0" rIns="0" tIns="0" bIns="0">
            <a:spAutoFit/>
          </a:bodyPr>
          <a:lstStyle/>
          <a:p>
            <a:pPr algn="l">
              <a:lnSpc>
                <a:spcPct val="106000"/>
              </a:lnSpc>
              <a:spcBef>
                <a:spcPts val="0"/>
              </a:spcBef>
              <a:spcAft>
                <a:spcPts val="0"/>
              </a:spcAft>
            </a:pPr>
            <a:r>
              <a:rPr sz="1050" b="0" i="0">
                <a:solidFill>
                  <a:srgbClr val="16233B"/>
                </a:solidFill>
                <a:latin typeface="Georgia"/>
              </a:rPr>
              <a:t>No weight was fitted to maximise a backtested return. With eight quarterly rebalances of clean history, optimising would be curve-fitting dressed as rigour.</a:t>
            </a:r>
          </a:p>
        </p:txBody>
      </p:sp>
      <p:sp>
        <p:nvSpPr>
          <p:cNvPr id="34" name="Rectangle 33"/>
          <p:cNvSpPr/>
          <p:nvPr/>
        </p:nvSpPr>
        <p:spPr>
          <a:xfrm>
            <a:off x="841248" y="4059936"/>
            <a:ext cx="68580" cy="68580"/>
          </a:xfrm>
          <a:prstGeom prst="rect">
            <a:avLst/>
          </a:prstGeom>
          <a:solidFill>
            <a:srgbClr val="F2A93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1060704" y="3963924"/>
            <a:ext cx="4894783" cy="475488"/>
          </a:xfrm>
          <a:prstGeom prst="rect">
            <a:avLst/>
          </a:prstGeom>
          <a:noFill/>
        </p:spPr>
        <p:txBody>
          <a:bodyPr wrap="square" anchor="t" lIns="0" rIns="0" tIns="0" bIns="0">
            <a:spAutoFit/>
          </a:bodyPr>
          <a:lstStyle/>
          <a:p>
            <a:pPr algn="l">
              <a:lnSpc>
                <a:spcPct val="106000"/>
              </a:lnSpc>
              <a:spcBef>
                <a:spcPts val="0"/>
              </a:spcBef>
              <a:spcAft>
                <a:spcPts val="0"/>
              </a:spcAft>
            </a:pPr>
            <a:r>
              <a:rPr sz="1050" b="0" i="0">
                <a:solidFill>
                  <a:srgbClr val="16233B"/>
                </a:solidFill>
                <a:latin typeface="Georgia"/>
              </a:rPr>
              <a:t>What we do claim is narrower and checkable: one set of weights applied identically to every name, frozen, versioned, and changeable only by signed amendment.</a:t>
            </a:r>
          </a:p>
        </p:txBody>
      </p:sp>
      <p:sp>
        <p:nvSpPr>
          <p:cNvPr id="36" name="Rectangle 35"/>
          <p:cNvSpPr/>
          <p:nvPr/>
        </p:nvSpPr>
        <p:spPr>
          <a:xfrm>
            <a:off x="841248" y="4663440"/>
            <a:ext cx="68580" cy="68580"/>
          </a:xfrm>
          <a:prstGeom prst="rect">
            <a:avLst/>
          </a:prstGeom>
          <a:solidFill>
            <a:srgbClr val="F2A93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1060704" y="4567428"/>
            <a:ext cx="4894783" cy="274320"/>
          </a:xfrm>
          <a:prstGeom prst="rect">
            <a:avLst/>
          </a:prstGeom>
          <a:noFill/>
        </p:spPr>
        <p:txBody>
          <a:bodyPr wrap="square" anchor="t" lIns="0" rIns="0" tIns="0" bIns="0">
            <a:spAutoFit/>
          </a:bodyPr>
          <a:lstStyle/>
          <a:p>
            <a:pPr algn="l">
              <a:lnSpc>
                <a:spcPct val="106000"/>
              </a:lnSpc>
              <a:spcBef>
                <a:spcPts val="0"/>
              </a:spcBef>
              <a:spcAft>
                <a:spcPts val="0"/>
              </a:spcAft>
            </a:pPr>
            <a:r>
              <a:rPr sz="1050" b="0" i="0">
                <a:solidFill>
                  <a:srgbClr val="16233B"/>
                </a:solidFill>
                <a:latin typeface="Georgia"/>
              </a:rPr>
              <a:t>The weights are a hypothesis the forward record will judge, not a proven finding.</a:t>
            </a:r>
          </a:p>
        </p:txBody>
      </p:sp>
      <p:sp>
        <p:nvSpPr>
          <p:cNvPr id="38" name="Rounded Rectangle 37"/>
          <p:cNvSpPr/>
          <p:nvPr/>
        </p:nvSpPr>
        <p:spPr>
          <a:xfrm>
            <a:off x="6229807" y="2788920"/>
            <a:ext cx="5120640" cy="1325880"/>
          </a:xfrm>
          <a:prstGeom prst="roundRect">
            <a:avLst>
              <a:gd name="adj" fmla="val 4000"/>
            </a:avLst>
          </a:prstGeom>
          <a:solidFill>
            <a:srgbClr val="FBEFD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Rectangle 38"/>
          <p:cNvSpPr/>
          <p:nvPr/>
        </p:nvSpPr>
        <p:spPr>
          <a:xfrm>
            <a:off x="6229807" y="2788920"/>
            <a:ext cx="54864" cy="1325880"/>
          </a:xfrm>
          <a:prstGeom prst="rect">
            <a:avLst/>
          </a:prstGeom>
          <a:solidFill>
            <a:srgbClr val="F2A93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6430975" y="2916936"/>
            <a:ext cx="4754879" cy="274320"/>
          </a:xfrm>
          <a:prstGeom prst="rect">
            <a:avLst/>
          </a:prstGeom>
          <a:noFill/>
        </p:spPr>
        <p:txBody>
          <a:bodyPr wrap="square" anchor="t" lIns="0" rIns="0" tIns="0" bIns="0">
            <a:spAutoFit/>
          </a:bodyPr>
          <a:lstStyle/>
          <a:p>
            <a:pPr algn="l">
              <a:spcBef>
                <a:spcPts val="0"/>
              </a:spcBef>
              <a:spcAft>
                <a:spcPts val="0"/>
              </a:spcAft>
            </a:pPr>
            <a:r>
              <a:rPr sz="950" b="1" i="0" spc="60">
                <a:solidFill>
                  <a:srgbClr val="92400E"/>
                </a:solidFill>
                <a:latin typeface="Bahnschrift"/>
              </a:rPr>
              <a:t>THE LIVE QUESTION ON THIS PAGE</a:t>
            </a:r>
          </a:p>
        </p:txBody>
      </p:sp>
      <p:sp>
        <p:nvSpPr>
          <p:cNvPr id="41" name="TextBox 40"/>
          <p:cNvSpPr txBox="1"/>
          <p:nvPr/>
        </p:nvSpPr>
        <p:spPr>
          <a:xfrm>
            <a:off x="6430975" y="3191256"/>
            <a:ext cx="4754879" cy="868680"/>
          </a:xfrm>
          <a:prstGeom prst="rect">
            <a:avLst/>
          </a:prstGeom>
          <a:noFill/>
        </p:spPr>
        <p:txBody>
          <a:bodyPr wrap="square" anchor="t" lIns="0" rIns="0" tIns="0" bIns="0">
            <a:spAutoFit/>
          </a:bodyPr>
          <a:lstStyle/>
          <a:p>
            <a:pPr algn="l">
              <a:lnSpc>
                <a:spcPct val="106000"/>
              </a:lnSpc>
              <a:spcBef>
                <a:spcPts val="0"/>
              </a:spcBef>
              <a:spcAft>
                <a:spcPts val="0"/>
              </a:spcAft>
            </a:pPr>
            <a:r>
              <a:rPr sz="1050" b="0" i="0">
                <a:solidFill>
                  <a:srgbClr val="16233B"/>
                </a:solidFill>
                <a:latin typeface="Georgia"/>
              </a:rPr>
              <a:t>Value sits at 18% of the three-year score, the smallest of the three fundamental pillars, which is arguably wrong for a discipline whose job is deciding what to exit. Raising it is under consideration.</a:t>
            </a:r>
          </a:p>
        </p:txBody>
      </p:sp>
      <p:sp>
        <p:nvSpPr>
          <p:cNvPr id="42" name="Rounded Rectangle 41"/>
          <p:cNvSpPr/>
          <p:nvPr/>
        </p:nvSpPr>
        <p:spPr>
          <a:xfrm>
            <a:off x="6229807" y="4261104"/>
            <a:ext cx="5120640" cy="1737360"/>
          </a:xfrm>
          <a:prstGeom prst="roundRect">
            <a:avLst>
              <a:gd name="adj" fmla="val 4000"/>
            </a:avLst>
          </a:prstGeom>
          <a:solidFill>
            <a:srgbClr val="FBE3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Rectangle 42"/>
          <p:cNvSpPr/>
          <p:nvPr/>
        </p:nvSpPr>
        <p:spPr>
          <a:xfrm>
            <a:off x="6229807" y="4261104"/>
            <a:ext cx="54864" cy="1737360"/>
          </a:xfrm>
          <a:prstGeom prst="rect">
            <a:avLst/>
          </a:prstGeom>
          <a:solidFill>
            <a:srgbClr val="E0402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TextBox 43"/>
          <p:cNvSpPr txBox="1"/>
          <p:nvPr/>
        </p:nvSpPr>
        <p:spPr>
          <a:xfrm>
            <a:off x="6430975" y="4389120"/>
            <a:ext cx="4754879" cy="274320"/>
          </a:xfrm>
          <a:prstGeom prst="rect">
            <a:avLst/>
          </a:prstGeom>
          <a:noFill/>
        </p:spPr>
        <p:txBody>
          <a:bodyPr wrap="square" anchor="t" lIns="0" rIns="0" tIns="0" bIns="0">
            <a:spAutoFit/>
          </a:bodyPr>
          <a:lstStyle/>
          <a:p>
            <a:pPr algn="l">
              <a:spcBef>
                <a:spcPts val="0"/>
              </a:spcBef>
              <a:spcAft>
                <a:spcPts val="0"/>
              </a:spcAft>
            </a:pPr>
            <a:r>
              <a:rPr sz="950" b="1" i="0" spc="60">
                <a:solidFill>
                  <a:srgbClr val="E0402F"/>
                </a:solidFill>
                <a:latin typeface="Bahnschrift"/>
              </a:rPr>
              <a:t>WHY WE HAVE NOT SIMPLY RAISED IT</a:t>
            </a:r>
          </a:p>
        </p:txBody>
      </p:sp>
      <p:sp>
        <p:nvSpPr>
          <p:cNvPr id="45" name="TextBox 44"/>
          <p:cNvSpPr txBox="1"/>
          <p:nvPr/>
        </p:nvSpPr>
        <p:spPr>
          <a:xfrm>
            <a:off x="6430975" y="4663440"/>
            <a:ext cx="4754879" cy="1280160"/>
          </a:xfrm>
          <a:prstGeom prst="rect">
            <a:avLst/>
          </a:prstGeom>
          <a:noFill/>
        </p:spPr>
        <p:txBody>
          <a:bodyPr wrap="square" anchor="t" lIns="0" rIns="0" tIns="0" bIns="0">
            <a:spAutoFit/>
          </a:bodyPr>
          <a:lstStyle/>
          <a:p>
            <a:pPr algn="l">
              <a:lnSpc>
                <a:spcPct val="106000"/>
              </a:lnSpc>
              <a:spcBef>
                <a:spcPts val="0"/>
              </a:spcBef>
              <a:spcAft>
                <a:spcPts val="0"/>
              </a:spcAft>
            </a:pPr>
            <a:r>
              <a:rPr sz="1050" b="0" i="0">
                <a:solidFill>
                  <a:srgbClr val="16233B"/>
                </a:solidFill>
                <a:latin typeface="Georgia"/>
              </a:rPr>
              <a:t>Sixty per cent of the Value pillar is price-to-earnings by construction, so moving Value from 18% to 25% would take that one ratio from 10.8% to 15.0% of the whole score, and a low-multiple tilt in India loads onto public-sector and cyclical names. Valuation also already enters twice more, through the analyst's own reverse-DCF and the forward adjustment. We would rather test it on the point-in-time harness than assert it.</a:t>
            </a:r>
          </a:p>
        </p:txBody>
      </p:sp>
      <p:sp>
        <p:nvSpPr>
          <p:cNvPr id="46" name="TextBox 45"/>
          <p:cNvSpPr txBox="1"/>
          <p:nvPr/>
        </p:nvSpPr>
        <p:spPr>
          <a:xfrm>
            <a:off x="841248" y="6089904"/>
            <a:ext cx="10509199" cy="219456"/>
          </a:xfrm>
          <a:prstGeom prst="rect">
            <a:avLst/>
          </a:prstGeom>
          <a:noFill/>
        </p:spPr>
        <p:txBody>
          <a:bodyPr wrap="square" anchor="t" lIns="0" rIns="0" tIns="0" bIns="0">
            <a:spAutoFit/>
          </a:bodyPr>
          <a:lstStyle/>
          <a:p>
            <a:pPr algn="l">
              <a:spcBef>
                <a:spcPts val="0"/>
              </a:spcBef>
              <a:spcAft>
                <a:spcPts val="0"/>
              </a:spcAft>
            </a:pPr>
            <a:r>
              <a:rPr sz="700" b="0" i="0">
                <a:solidFill>
                  <a:srgbClr val="6B7280"/>
                </a:solidFill>
                <a:latin typeface="Bahnschrift"/>
              </a:rPr>
              <a:t>Splits are the fundamentals block (quality, growth, value) against the market block (stage, sector and macro, ownership, accumulation), computed from the shipped weights on the previous page.</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logo_clean.png"/>
          <p:cNvPicPr>
            <a:picLocks noChangeAspect="1"/>
          </p:cNvPicPr>
          <p:nvPr/>
        </p:nvPicPr>
        <p:blipFill>
          <a:blip r:embed="rId2"/>
          <a:stretch>
            <a:fillRect/>
          </a:stretch>
        </p:blipFill>
        <p:spPr>
          <a:xfrm>
            <a:off x="9674809" y="365760"/>
            <a:ext cx="1629918" cy="283464"/>
          </a:xfrm>
          <a:prstGeom prst="rect">
            <a:avLst/>
          </a:prstGeom>
        </p:spPr>
      </p:pic>
      <p:sp>
        <p:nvSpPr>
          <p:cNvPr id="4" name="TextBox 3"/>
          <p:cNvSpPr txBox="1"/>
          <p:nvPr/>
        </p:nvSpPr>
        <p:spPr>
          <a:xfrm>
            <a:off x="4541367" y="128016"/>
            <a:ext cx="3108960" cy="182880"/>
          </a:xfrm>
          <a:prstGeom prst="rect">
            <a:avLst/>
          </a:prstGeom>
          <a:noFill/>
        </p:spPr>
        <p:txBody>
          <a:bodyPr wrap="square" anchor="t" lIns="0" rIns="0" tIns="0" bIns="0">
            <a:spAutoFit/>
          </a:bodyPr>
          <a:lstStyle/>
          <a:p>
            <a:pPr algn="ctr">
              <a:spcBef>
                <a:spcPts val="0"/>
              </a:spcBef>
              <a:spcAft>
                <a:spcPts val="0"/>
              </a:spcAft>
            </a:pPr>
            <a:r>
              <a:rPr sz="750" b="0" i="0">
                <a:solidFill>
                  <a:srgbClr val="6B7280"/>
                </a:solidFill>
                <a:latin typeface="Bahnschrift"/>
              </a:rPr>
              <a:t>Private &amp; Confidential</a:t>
            </a:r>
          </a:p>
        </p:txBody>
      </p:sp>
      <p:sp>
        <p:nvSpPr>
          <p:cNvPr id="5" name="TextBox 4"/>
          <p:cNvSpPr txBox="1"/>
          <p:nvPr/>
        </p:nvSpPr>
        <p:spPr>
          <a:xfrm>
            <a:off x="7863840" y="274320"/>
            <a:ext cx="1749247" cy="201168"/>
          </a:xfrm>
          <a:prstGeom prst="rect">
            <a:avLst/>
          </a:prstGeom>
          <a:noFill/>
        </p:spPr>
        <p:txBody>
          <a:bodyPr wrap="square" anchor="t" lIns="0" rIns="0" tIns="0" bIns="0">
            <a:spAutoFit/>
          </a:bodyPr>
          <a:lstStyle/>
          <a:p>
            <a:pPr algn="r">
              <a:spcBef>
                <a:spcPts val="0"/>
              </a:spcBef>
              <a:spcAft>
                <a:spcPts val="0"/>
              </a:spcAft>
            </a:pPr>
            <a:r>
              <a:rPr sz="750" b="1" i="0" spc="120">
                <a:solidFill>
                  <a:srgbClr val="8C95DE"/>
                </a:solidFill>
                <a:latin typeface="Bahnschrift"/>
              </a:rPr>
              <a:t>01 · THE MODEL</a:t>
            </a:r>
          </a:p>
        </p:txBody>
      </p:sp>
      <p:sp>
        <p:nvSpPr>
          <p:cNvPr id="6" name="Rectangle 5"/>
          <p:cNvSpPr/>
          <p:nvPr/>
        </p:nvSpPr>
        <p:spPr>
          <a:xfrm>
            <a:off x="8549640" y="512064"/>
            <a:ext cx="137160" cy="20116"/>
          </a:xfrm>
          <a:prstGeom prst="rect">
            <a:avLst/>
          </a:prstGeom>
          <a:solidFill>
            <a:srgbClr val="1B27A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8732519" y="512064"/>
            <a:ext cx="137160" cy="20116"/>
          </a:xfrm>
          <a:prstGeom prst="rect">
            <a:avLst/>
          </a:prstGeom>
          <a:solidFill>
            <a:srgbClr val="E5E7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8915400" y="512064"/>
            <a:ext cx="137160" cy="20116"/>
          </a:xfrm>
          <a:prstGeom prst="rect">
            <a:avLst/>
          </a:prstGeom>
          <a:solidFill>
            <a:srgbClr val="E5E7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9098280" y="512064"/>
            <a:ext cx="137160" cy="20116"/>
          </a:xfrm>
          <a:prstGeom prst="rect">
            <a:avLst/>
          </a:prstGeom>
          <a:solidFill>
            <a:srgbClr val="E5E7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9281160" y="512064"/>
            <a:ext cx="137160" cy="20116"/>
          </a:xfrm>
          <a:prstGeom prst="rect">
            <a:avLst/>
          </a:prstGeom>
          <a:solidFill>
            <a:srgbClr val="E5E7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41248" y="420624"/>
            <a:ext cx="6858000" cy="502920"/>
          </a:xfrm>
          <a:prstGeom prst="rect">
            <a:avLst/>
          </a:prstGeom>
          <a:noFill/>
        </p:spPr>
        <p:txBody>
          <a:bodyPr wrap="square" anchor="t" lIns="0" rIns="0" tIns="0" bIns="0">
            <a:spAutoFit/>
          </a:bodyPr>
          <a:lstStyle/>
          <a:p>
            <a:pPr algn="l">
              <a:spcBef>
                <a:spcPts val="0"/>
              </a:spcBef>
              <a:spcAft>
                <a:spcPts val="0"/>
              </a:spcAft>
            </a:pPr>
            <a:r>
              <a:rPr sz="2600" b="1" i="0">
                <a:solidFill>
                  <a:srgbClr val="1B27A3"/>
                </a:solidFill>
                <a:latin typeface="Bahnschrift"/>
              </a:rPr>
              <a:t>Gates, penalties, and the call</a:t>
            </a:r>
          </a:p>
        </p:txBody>
      </p:sp>
      <p:sp>
        <p:nvSpPr>
          <p:cNvPr id="12" name="TextBox 11"/>
          <p:cNvSpPr txBox="1"/>
          <p:nvPr/>
        </p:nvSpPr>
        <p:spPr>
          <a:xfrm>
            <a:off x="841248" y="950976"/>
            <a:ext cx="9692640" cy="411480"/>
          </a:xfrm>
          <a:prstGeom prst="rect">
            <a:avLst/>
          </a:prstGeom>
          <a:noFill/>
        </p:spPr>
        <p:txBody>
          <a:bodyPr wrap="square" anchor="t" lIns="0" rIns="0" tIns="0" bIns="0">
            <a:spAutoFit/>
          </a:bodyPr>
          <a:lstStyle/>
          <a:p>
            <a:pPr algn="l">
              <a:spcBef>
                <a:spcPts val="0"/>
              </a:spcBef>
              <a:spcAft>
                <a:spcPts val="0"/>
              </a:spcAft>
            </a:pPr>
            <a:r>
              <a:rPr sz="1750" b="1" i="0">
                <a:solidFill>
                  <a:srgbClr val="F2A93C"/>
                </a:solidFill>
                <a:latin typeface="Bahnschrift"/>
              </a:rPr>
              <a:t>A score can be capped by risk before it is ever compared</a:t>
            </a:r>
          </a:p>
        </p:txBody>
      </p:sp>
      <p:sp>
        <p:nvSpPr>
          <p:cNvPr id="13" name="Rectangle 12"/>
          <p:cNvSpPr/>
          <p:nvPr/>
        </p:nvSpPr>
        <p:spPr>
          <a:xfrm>
            <a:off x="841248" y="1408176"/>
            <a:ext cx="10509199" cy="21945"/>
          </a:xfrm>
          <a:prstGeom prst="rect">
            <a:avLst/>
          </a:prstGeom>
          <a:solidFill>
            <a:srgbClr val="1B27A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9155887" y="6528816"/>
            <a:ext cx="2194560" cy="182880"/>
          </a:xfrm>
          <a:prstGeom prst="rect">
            <a:avLst/>
          </a:prstGeom>
          <a:noFill/>
        </p:spPr>
        <p:txBody>
          <a:bodyPr wrap="square" anchor="t" lIns="0" rIns="0" tIns="0" bIns="0">
            <a:spAutoFit/>
          </a:bodyPr>
          <a:lstStyle/>
          <a:p>
            <a:pPr algn="r">
              <a:spcBef>
                <a:spcPts val="0"/>
              </a:spcBef>
              <a:spcAft>
                <a:spcPts val="0"/>
              </a:spcAft>
            </a:pPr>
            <a:r>
              <a:rPr sz="750" b="0" i="0">
                <a:solidFill>
                  <a:srgbClr val="6B7280"/>
                </a:solidFill>
                <a:latin typeface="Bahnschrift"/>
              </a:rPr>
              <a:t>Portfolio Review  ·  08</a:t>
            </a:r>
          </a:p>
        </p:txBody>
      </p:sp>
      <p:sp>
        <p:nvSpPr>
          <p:cNvPr id="15" name="TextBox 14"/>
          <p:cNvSpPr txBox="1"/>
          <p:nvPr/>
        </p:nvSpPr>
        <p:spPr>
          <a:xfrm>
            <a:off x="841248" y="1737360"/>
            <a:ext cx="10509199" cy="274320"/>
          </a:xfrm>
          <a:prstGeom prst="rect">
            <a:avLst/>
          </a:prstGeom>
          <a:noFill/>
        </p:spPr>
        <p:txBody>
          <a:bodyPr wrap="square" anchor="t" lIns="0" rIns="0" tIns="0" bIns="0">
            <a:spAutoFit/>
          </a:bodyPr>
          <a:lstStyle/>
          <a:p>
            <a:pPr algn="l">
              <a:spcBef>
                <a:spcPts val="0"/>
              </a:spcBef>
              <a:spcAft>
                <a:spcPts val="0"/>
              </a:spcAft>
            </a:pPr>
            <a:r>
              <a:rPr sz="1100" b="0" i="1">
                <a:solidFill>
                  <a:srgbClr val="16233B"/>
                </a:solidFill>
                <a:latin typeface="Georgia"/>
              </a:rPr>
              <a:t>Overlay gates apply after the weighted composite and can cap a score outright.</a:t>
            </a:r>
          </a:p>
        </p:txBody>
      </p:sp>
      <p:sp>
        <p:nvSpPr>
          <p:cNvPr id="16" name="TextBox 15"/>
          <p:cNvSpPr txBox="1"/>
          <p:nvPr/>
        </p:nvSpPr>
        <p:spPr>
          <a:xfrm>
            <a:off x="914400" y="2084831"/>
            <a:ext cx="2165719" cy="219456"/>
          </a:xfrm>
          <a:prstGeom prst="rect">
            <a:avLst/>
          </a:prstGeom>
          <a:noFill/>
        </p:spPr>
        <p:txBody>
          <a:bodyPr wrap="square" anchor="ctr" lIns="0" rIns="0" tIns="0" bIns="0">
            <a:spAutoFit/>
          </a:bodyPr>
          <a:lstStyle/>
          <a:p>
            <a:pPr algn="l">
              <a:spcBef>
                <a:spcPts val="0"/>
              </a:spcBef>
              <a:spcAft>
                <a:spcPts val="0"/>
              </a:spcAft>
            </a:pPr>
            <a:r>
              <a:rPr sz="800" b="1" i="0" spc="200">
                <a:solidFill>
                  <a:srgbClr val="6B7280"/>
                </a:solidFill>
                <a:latin typeface="Bahnschrift"/>
              </a:rPr>
              <a:t>GATE</a:t>
            </a:r>
          </a:p>
        </p:txBody>
      </p:sp>
      <p:sp>
        <p:nvSpPr>
          <p:cNvPr id="17" name="TextBox 16"/>
          <p:cNvSpPr txBox="1"/>
          <p:nvPr/>
        </p:nvSpPr>
        <p:spPr>
          <a:xfrm>
            <a:off x="3226423" y="2084831"/>
            <a:ext cx="4477743" cy="219456"/>
          </a:xfrm>
          <a:prstGeom prst="rect">
            <a:avLst/>
          </a:prstGeom>
          <a:noFill/>
        </p:spPr>
        <p:txBody>
          <a:bodyPr wrap="square" anchor="ctr" lIns="0" rIns="0" tIns="0" bIns="0">
            <a:spAutoFit/>
          </a:bodyPr>
          <a:lstStyle/>
          <a:p>
            <a:pPr algn="l">
              <a:spcBef>
                <a:spcPts val="0"/>
              </a:spcBef>
              <a:spcAft>
                <a:spcPts val="0"/>
              </a:spcAft>
            </a:pPr>
            <a:r>
              <a:rPr sz="800" b="1" i="0" spc="200">
                <a:solidFill>
                  <a:srgbClr val="6B7280"/>
                </a:solidFill>
                <a:latin typeface="Bahnschrift"/>
              </a:rPr>
              <a:t>TRIPS WHEN</a:t>
            </a:r>
          </a:p>
        </p:txBody>
      </p:sp>
      <p:sp>
        <p:nvSpPr>
          <p:cNvPr id="18" name="TextBox 17"/>
          <p:cNvSpPr txBox="1"/>
          <p:nvPr/>
        </p:nvSpPr>
        <p:spPr>
          <a:xfrm>
            <a:off x="7850471" y="2084831"/>
            <a:ext cx="3426823" cy="219456"/>
          </a:xfrm>
          <a:prstGeom prst="rect">
            <a:avLst/>
          </a:prstGeom>
          <a:noFill/>
        </p:spPr>
        <p:txBody>
          <a:bodyPr wrap="square" anchor="ctr" lIns="0" rIns="0" tIns="0" bIns="0">
            <a:spAutoFit/>
          </a:bodyPr>
          <a:lstStyle/>
          <a:p>
            <a:pPr algn="l">
              <a:spcBef>
                <a:spcPts val="0"/>
              </a:spcBef>
              <a:spcAft>
                <a:spcPts val="0"/>
              </a:spcAft>
            </a:pPr>
            <a:r>
              <a:rPr sz="800" b="1" i="0" spc="200">
                <a:solidFill>
                  <a:srgbClr val="6B7280"/>
                </a:solidFill>
                <a:latin typeface="Bahnschrift"/>
              </a:rPr>
              <a:t>EFFECT</a:t>
            </a:r>
          </a:p>
        </p:txBody>
      </p:sp>
      <p:sp>
        <p:nvSpPr>
          <p:cNvPr id="19" name="Rectangle 18"/>
          <p:cNvSpPr/>
          <p:nvPr/>
        </p:nvSpPr>
        <p:spPr>
          <a:xfrm>
            <a:off x="841248" y="2340863"/>
            <a:ext cx="10509199" cy="13716"/>
          </a:xfrm>
          <a:prstGeom prst="rect">
            <a:avLst/>
          </a:prstGeom>
          <a:solidFill>
            <a:srgbClr val="1B27A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914400" y="2386584"/>
            <a:ext cx="2165719" cy="384048"/>
          </a:xfrm>
          <a:prstGeom prst="rect">
            <a:avLst/>
          </a:prstGeom>
          <a:noFill/>
        </p:spPr>
        <p:txBody>
          <a:bodyPr wrap="square" anchor="ctr" lIns="0" rIns="0" tIns="0" bIns="0">
            <a:spAutoFit/>
          </a:bodyPr>
          <a:lstStyle/>
          <a:p>
            <a:pPr algn="l">
              <a:spcBef>
                <a:spcPts val="0"/>
              </a:spcBef>
              <a:spcAft>
                <a:spcPts val="0"/>
              </a:spcAft>
            </a:pPr>
            <a:r>
              <a:rPr sz="1000" b="1" i="0">
                <a:solidFill>
                  <a:srgbClr val="16233B"/>
                </a:solidFill>
                <a:latin typeface="Bahnschrift"/>
              </a:rPr>
              <a:t>Balance-sheet safety</a:t>
            </a:r>
          </a:p>
        </p:txBody>
      </p:sp>
      <p:sp>
        <p:nvSpPr>
          <p:cNvPr id="21" name="TextBox 20"/>
          <p:cNvSpPr txBox="1"/>
          <p:nvPr/>
        </p:nvSpPr>
        <p:spPr>
          <a:xfrm>
            <a:off x="3226423" y="2386584"/>
            <a:ext cx="4477743" cy="384048"/>
          </a:xfrm>
          <a:prstGeom prst="rect">
            <a:avLst/>
          </a:prstGeom>
          <a:noFill/>
        </p:spPr>
        <p:txBody>
          <a:bodyPr wrap="square" anchor="ctr" lIns="0" rIns="0" tIns="0" bIns="0">
            <a:spAutoFit/>
          </a:bodyPr>
          <a:lstStyle/>
          <a:p>
            <a:pPr algn="l">
              <a:spcBef>
                <a:spcPts val="0"/>
              </a:spcBef>
              <a:spcAft>
                <a:spcPts val="0"/>
              </a:spcAft>
            </a:pPr>
            <a:r>
              <a:rPr sz="1000" b="0" i="0">
                <a:solidFill>
                  <a:srgbClr val="16233B"/>
                </a:solidFill>
                <a:latin typeface="Georgia"/>
              </a:rPr>
              <a:t>Debt/equity above 2.5x or interest cover below 1.5x</a:t>
            </a:r>
          </a:p>
        </p:txBody>
      </p:sp>
      <p:sp>
        <p:nvSpPr>
          <p:cNvPr id="22" name="TextBox 21"/>
          <p:cNvSpPr txBox="1"/>
          <p:nvPr/>
        </p:nvSpPr>
        <p:spPr>
          <a:xfrm>
            <a:off x="7850471" y="2386584"/>
            <a:ext cx="3426823" cy="384048"/>
          </a:xfrm>
          <a:prstGeom prst="rect">
            <a:avLst/>
          </a:prstGeom>
          <a:noFill/>
        </p:spPr>
        <p:txBody>
          <a:bodyPr wrap="square" anchor="ctr" lIns="0" rIns="0" tIns="0" bIns="0">
            <a:spAutoFit/>
          </a:bodyPr>
          <a:lstStyle/>
          <a:p>
            <a:pPr algn="l">
              <a:spcBef>
                <a:spcPts val="0"/>
              </a:spcBef>
              <a:spcAft>
                <a:spcPts val="0"/>
              </a:spcAft>
            </a:pPr>
            <a:r>
              <a:rPr sz="1000" b="0" i="0">
                <a:solidFill>
                  <a:srgbClr val="E0402F"/>
                </a:solidFill>
                <a:latin typeface="Bahnschrift"/>
              </a:rPr>
              <a:t>Caps the score at 40</a:t>
            </a:r>
          </a:p>
        </p:txBody>
      </p:sp>
      <p:sp>
        <p:nvSpPr>
          <p:cNvPr id="23" name="Rectangle 22"/>
          <p:cNvSpPr/>
          <p:nvPr/>
        </p:nvSpPr>
        <p:spPr>
          <a:xfrm>
            <a:off x="841248" y="2752344"/>
            <a:ext cx="10509199" cy="5486"/>
          </a:xfrm>
          <a:prstGeom prst="rect">
            <a:avLst/>
          </a:prstGeom>
          <a:solidFill>
            <a:srgbClr val="E5E7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914400" y="2770632"/>
            <a:ext cx="2165719" cy="384048"/>
          </a:xfrm>
          <a:prstGeom prst="rect">
            <a:avLst/>
          </a:prstGeom>
          <a:noFill/>
        </p:spPr>
        <p:txBody>
          <a:bodyPr wrap="square" anchor="ctr" lIns="0" rIns="0" tIns="0" bIns="0">
            <a:spAutoFit/>
          </a:bodyPr>
          <a:lstStyle/>
          <a:p>
            <a:pPr algn="l">
              <a:spcBef>
                <a:spcPts val="0"/>
              </a:spcBef>
              <a:spcAft>
                <a:spcPts val="0"/>
              </a:spcAft>
            </a:pPr>
            <a:r>
              <a:rPr sz="1000" b="1" i="0">
                <a:solidFill>
                  <a:srgbClr val="16233B"/>
                </a:solidFill>
                <a:latin typeface="Bahnschrift"/>
              </a:rPr>
              <a:t>Balance-sheet caution</a:t>
            </a:r>
          </a:p>
        </p:txBody>
      </p:sp>
      <p:sp>
        <p:nvSpPr>
          <p:cNvPr id="25" name="TextBox 24"/>
          <p:cNvSpPr txBox="1"/>
          <p:nvPr/>
        </p:nvSpPr>
        <p:spPr>
          <a:xfrm>
            <a:off x="3226423" y="2770632"/>
            <a:ext cx="4477743" cy="384048"/>
          </a:xfrm>
          <a:prstGeom prst="rect">
            <a:avLst/>
          </a:prstGeom>
          <a:noFill/>
        </p:spPr>
        <p:txBody>
          <a:bodyPr wrap="square" anchor="ctr" lIns="0" rIns="0" tIns="0" bIns="0">
            <a:spAutoFit/>
          </a:bodyPr>
          <a:lstStyle/>
          <a:p>
            <a:pPr algn="l">
              <a:spcBef>
                <a:spcPts val="0"/>
              </a:spcBef>
              <a:spcAft>
                <a:spcPts val="0"/>
              </a:spcAft>
            </a:pPr>
            <a:r>
              <a:rPr sz="1000" b="0" i="0">
                <a:solidFill>
                  <a:srgbClr val="16233B"/>
                </a:solidFill>
                <a:latin typeface="Georgia"/>
              </a:rPr>
              <a:t>Debt/equity above 1.5x or interest cover below 3x</a:t>
            </a:r>
          </a:p>
        </p:txBody>
      </p:sp>
      <p:sp>
        <p:nvSpPr>
          <p:cNvPr id="26" name="TextBox 25"/>
          <p:cNvSpPr txBox="1"/>
          <p:nvPr/>
        </p:nvSpPr>
        <p:spPr>
          <a:xfrm>
            <a:off x="7850471" y="2770632"/>
            <a:ext cx="3426823" cy="384048"/>
          </a:xfrm>
          <a:prstGeom prst="rect">
            <a:avLst/>
          </a:prstGeom>
          <a:noFill/>
        </p:spPr>
        <p:txBody>
          <a:bodyPr wrap="square" anchor="ctr" lIns="0" rIns="0" tIns="0" bIns="0">
            <a:spAutoFit/>
          </a:bodyPr>
          <a:lstStyle/>
          <a:p>
            <a:pPr algn="l">
              <a:spcBef>
                <a:spcPts val="0"/>
              </a:spcBef>
              <a:spcAft>
                <a:spcPts val="0"/>
              </a:spcAft>
            </a:pPr>
            <a:r>
              <a:rPr sz="1000" b="0" i="0">
                <a:solidFill>
                  <a:srgbClr val="92400E"/>
                </a:solidFill>
                <a:latin typeface="Bahnschrift"/>
              </a:rPr>
              <a:t>Multiplies the score by 0.85</a:t>
            </a:r>
          </a:p>
        </p:txBody>
      </p:sp>
      <p:sp>
        <p:nvSpPr>
          <p:cNvPr id="27" name="Rectangle 26"/>
          <p:cNvSpPr/>
          <p:nvPr/>
        </p:nvSpPr>
        <p:spPr>
          <a:xfrm>
            <a:off x="841248" y="3136391"/>
            <a:ext cx="10509199" cy="5486"/>
          </a:xfrm>
          <a:prstGeom prst="rect">
            <a:avLst/>
          </a:prstGeom>
          <a:solidFill>
            <a:srgbClr val="E5E7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914400" y="3154679"/>
            <a:ext cx="2165719" cy="384048"/>
          </a:xfrm>
          <a:prstGeom prst="rect">
            <a:avLst/>
          </a:prstGeom>
          <a:noFill/>
        </p:spPr>
        <p:txBody>
          <a:bodyPr wrap="square" anchor="ctr" lIns="0" rIns="0" tIns="0" bIns="0">
            <a:spAutoFit/>
          </a:bodyPr>
          <a:lstStyle/>
          <a:p>
            <a:pPr algn="l">
              <a:spcBef>
                <a:spcPts val="0"/>
              </a:spcBef>
              <a:spcAft>
                <a:spcPts val="0"/>
              </a:spcAft>
            </a:pPr>
            <a:r>
              <a:rPr sz="1000" b="1" i="0">
                <a:solidFill>
                  <a:srgbClr val="16233B"/>
                </a:solidFill>
                <a:latin typeface="Bahnschrift"/>
              </a:rPr>
              <a:t>Liquidity</a:t>
            </a:r>
          </a:p>
        </p:txBody>
      </p:sp>
      <p:sp>
        <p:nvSpPr>
          <p:cNvPr id="29" name="TextBox 28"/>
          <p:cNvSpPr txBox="1"/>
          <p:nvPr/>
        </p:nvSpPr>
        <p:spPr>
          <a:xfrm>
            <a:off x="3226423" y="3154679"/>
            <a:ext cx="4477743" cy="384048"/>
          </a:xfrm>
          <a:prstGeom prst="rect">
            <a:avLst/>
          </a:prstGeom>
          <a:noFill/>
        </p:spPr>
        <p:txBody>
          <a:bodyPr wrap="square" anchor="ctr" lIns="0" rIns="0" tIns="0" bIns="0">
            <a:spAutoFit/>
          </a:bodyPr>
          <a:lstStyle/>
          <a:p>
            <a:pPr algn="l">
              <a:spcBef>
                <a:spcPts val="0"/>
              </a:spcBef>
              <a:spcAft>
                <a:spcPts val="0"/>
              </a:spcAft>
            </a:pPr>
            <a:r>
              <a:rPr sz="1000" b="0" i="0">
                <a:solidFill>
                  <a:srgbClr val="16233B"/>
                </a:solidFill>
                <a:latin typeface="Georgia"/>
              </a:rPr>
              <a:t>Median traded value below the bar for the stock's size tier</a:t>
            </a:r>
          </a:p>
        </p:txBody>
      </p:sp>
      <p:sp>
        <p:nvSpPr>
          <p:cNvPr id="30" name="TextBox 29"/>
          <p:cNvSpPr txBox="1"/>
          <p:nvPr/>
        </p:nvSpPr>
        <p:spPr>
          <a:xfrm>
            <a:off x="7850471" y="3154679"/>
            <a:ext cx="3426823" cy="384048"/>
          </a:xfrm>
          <a:prstGeom prst="rect">
            <a:avLst/>
          </a:prstGeom>
          <a:noFill/>
        </p:spPr>
        <p:txBody>
          <a:bodyPr wrap="square" anchor="ctr" lIns="0" rIns="0" tIns="0" bIns="0">
            <a:spAutoFit/>
          </a:bodyPr>
          <a:lstStyle/>
          <a:p>
            <a:pPr algn="l">
              <a:spcBef>
                <a:spcPts val="0"/>
              </a:spcBef>
              <a:spcAft>
                <a:spcPts val="0"/>
              </a:spcAft>
            </a:pPr>
            <a:r>
              <a:rPr sz="1000" b="0" i="0">
                <a:solidFill>
                  <a:srgbClr val="E0402F"/>
                </a:solidFill>
                <a:latin typeface="Bahnschrift"/>
              </a:rPr>
              <a:t>Caps the score at 40</a:t>
            </a:r>
          </a:p>
        </p:txBody>
      </p:sp>
      <p:sp>
        <p:nvSpPr>
          <p:cNvPr id="31" name="Rectangle 30"/>
          <p:cNvSpPr/>
          <p:nvPr/>
        </p:nvSpPr>
        <p:spPr>
          <a:xfrm>
            <a:off x="841248" y="3520439"/>
            <a:ext cx="10509199" cy="5486"/>
          </a:xfrm>
          <a:prstGeom prst="rect">
            <a:avLst/>
          </a:prstGeom>
          <a:solidFill>
            <a:srgbClr val="E5E7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Rounded Rectangle 31"/>
          <p:cNvSpPr/>
          <p:nvPr/>
        </p:nvSpPr>
        <p:spPr>
          <a:xfrm>
            <a:off x="841248" y="3602736"/>
            <a:ext cx="5117439" cy="969264"/>
          </a:xfrm>
          <a:prstGeom prst="roundRect">
            <a:avLst>
              <a:gd name="adj" fmla="val 4000"/>
            </a:avLst>
          </a:prstGeom>
          <a:solidFill>
            <a:srgbClr val="E0F2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841248" y="3602736"/>
            <a:ext cx="54864" cy="969264"/>
          </a:xfrm>
          <a:prstGeom prst="rect">
            <a:avLst/>
          </a:prstGeom>
          <a:solidFill>
            <a:srgbClr val="1E9E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1042416" y="3730752"/>
            <a:ext cx="4751679" cy="274320"/>
          </a:xfrm>
          <a:prstGeom prst="rect">
            <a:avLst/>
          </a:prstGeom>
          <a:noFill/>
        </p:spPr>
        <p:txBody>
          <a:bodyPr wrap="square" anchor="t" lIns="0" rIns="0" tIns="0" bIns="0">
            <a:spAutoFit/>
          </a:bodyPr>
          <a:lstStyle/>
          <a:p>
            <a:pPr algn="l">
              <a:spcBef>
                <a:spcPts val="0"/>
              </a:spcBef>
              <a:spcAft>
                <a:spcPts val="0"/>
              </a:spcAft>
            </a:pPr>
            <a:r>
              <a:rPr sz="950" b="1" i="0" spc="60">
                <a:solidFill>
                  <a:srgbClr val="1E9E6A"/>
                </a:solidFill>
                <a:latin typeface="Bahnschrift"/>
              </a:rPr>
              <a:t>THE LENDERS EXEMPTION</a:t>
            </a:r>
          </a:p>
        </p:txBody>
      </p:sp>
      <p:sp>
        <p:nvSpPr>
          <p:cNvPr id="35" name="TextBox 34"/>
          <p:cNvSpPr txBox="1"/>
          <p:nvPr/>
        </p:nvSpPr>
        <p:spPr>
          <a:xfrm>
            <a:off x="1042416" y="4005072"/>
            <a:ext cx="4751679" cy="512064"/>
          </a:xfrm>
          <a:prstGeom prst="rect">
            <a:avLst/>
          </a:prstGeom>
          <a:noFill/>
        </p:spPr>
        <p:txBody>
          <a:bodyPr wrap="square" anchor="t" lIns="0" rIns="0" tIns="0" bIns="0">
            <a:spAutoFit/>
          </a:bodyPr>
          <a:lstStyle/>
          <a:p>
            <a:pPr algn="l">
              <a:lnSpc>
                <a:spcPct val="106000"/>
              </a:lnSpc>
              <a:spcBef>
                <a:spcPts val="0"/>
              </a:spcBef>
              <a:spcAft>
                <a:spcPts val="0"/>
              </a:spcAft>
            </a:pPr>
            <a:r>
              <a:rPr sz="1050" b="0" i="0">
                <a:solidFill>
                  <a:srgbClr val="16233B"/>
                </a:solidFill>
                <a:latin typeface="Georgia"/>
              </a:rPr>
              <a:t>Banks, NBFCs and insurers are exempt from the debt/equity trigger: leverage is their business model, not distress. They are judged on asset quality instead.</a:t>
            </a:r>
          </a:p>
        </p:txBody>
      </p:sp>
      <p:sp>
        <p:nvSpPr>
          <p:cNvPr id="36" name="Rounded Rectangle 35"/>
          <p:cNvSpPr/>
          <p:nvPr/>
        </p:nvSpPr>
        <p:spPr>
          <a:xfrm>
            <a:off x="6233007" y="3602736"/>
            <a:ext cx="5117439" cy="969264"/>
          </a:xfrm>
          <a:prstGeom prst="roundRect">
            <a:avLst>
              <a:gd name="adj" fmla="val 4000"/>
            </a:avLst>
          </a:prstGeom>
          <a:solidFill>
            <a:srgbClr val="F5F6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Rectangle 36"/>
          <p:cNvSpPr/>
          <p:nvPr/>
        </p:nvSpPr>
        <p:spPr>
          <a:xfrm>
            <a:off x="6233007" y="3602736"/>
            <a:ext cx="54864" cy="969264"/>
          </a:xfrm>
          <a:prstGeom prst="rect">
            <a:avLst/>
          </a:prstGeom>
          <a:solidFill>
            <a:srgbClr val="1B27A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6434175" y="3730752"/>
            <a:ext cx="4751679" cy="274320"/>
          </a:xfrm>
          <a:prstGeom prst="rect">
            <a:avLst/>
          </a:prstGeom>
          <a:noFill/>
        </p:spPr>
        <p:txBody>
          <a:bodyPr wrap="square" anchor="t" lIns="0" rIns="0" tIns="0" bIns="0">
            <a:spAutoFit/>
          </a:bodyPr>
          <a:lstStyle/>
          <a:p>
            <a:pPr algn="l">
              <a:spcBef>
                <a:spcPts val="0"/>
              </a:spcBef>
              <a:spcAft>
                <a:spcPts val="0"/>
              </a:spcAft>
            </a:pPr>
            <a:r>
              <a:rPr sz="950" b="1" i="0" spc="60">
                <a:solidFill>
                  <a:srgbClr val="1B27A3"/>
                </a:solidFill>
                <a:latin typeface="Bahnschrift"/>
              </a:rPr>
              <a:t>RED FLAGS COMPOUND</a:t>
            </a:r>
          </a:p>
        </p:txBody>
      </p:sp>
      <p:sp>
        <p:nvSpPr>
          <p:cNvPr id="39" name="TextBox 38"/>
          <p:cNvSpPr txBox="1"/>
          <p:nvPr/>
        </p:nvSpPr>
        <p:spPr>
          <a:xfrm>
            <a:off x="6434175" y="4005072"/>
            <a:ext cx="4751679" cy="512064"/>
          </a:xfrm>
          <a:prstGeom prst="rect">
            <a:avLst/>
          </a:prstGeom>
          <a:noFill/>
        </p:spPr>
        <p:txBody>
          <a:bodyPr wrap="square" anchor="t" lIns="0" rIns="0" tIns="0" bIns="0">
            <a:spAutoFit/>
          </a:bodyPr>
          <a:lstStyle/>
          <a:p>
            <a:pPr algn="l">
              <a:lnSpc>
                <a:spcPct val="106000"/>
              </a:lnSpc>
              <a:spcBef>
                <a:spcPts val="0"/>
              </a:spcBef>
              <a:spcAft>
                <a:spcPts val="0"/>
              </a:spcAft>
            </a:pPr>
            <a:r>
              <a:rPr sz="1050" b="0" i="0">
                <a:solidFill>
                  <a:srgbClr val="16233B"/>
                </a:solidFill>
                <a:latin typeface="Georgia"/>
              </a:rPr>
              <a:t>Penalties scale non-linearly, so several problems are punished far harder than one blemish. A clean bill of health earns a small capped boost.</a:t>
            </a:r>
          </a:p>
        </p:txBody>
      </p:sp>
      <p:sp>
        <p:nvSpPr>
          <p:cNvPr id="40" name="TextBox 39"/>
          <p:cNvSpPr txBox="1"/>
          <p:nvPr/>
        </p:nvSpPr>
        <p:spPr>
          <a:xfrm>
            <a:off x="841248" y="4736592"/>
            <a:ext cx="10509199" cy="256032"/>
          </a:xfrm>
          <a:prstGeom prst="rect">
            <a:avLst/>
          </a:prstGeom>
          <a:noFill/>
        </p:spPr>
        <p:txBody>
          <a:bodyPr wrap="square" anchor="t" lIns="0" rIns="0" tIns="0" bIns="0">
            <a:spAutoFit/>
          </a:bodyPr>
          <a:lstStyle/>
          <a:p>
            <a:pPr algn="l">
              <a:spcBef>
                <a:spcPts val="0"/>
              </a:spcBef>
              <a:spcAft>
                <a:spcPts val="0"/>
              </a:spcAft>
            </a:pPr>
            <a:r>
              <a:rPr sz="900" b="1" i="0" spc="200">
                <a:solidFill>
                  <a:srgbClr val="6B7280"/>
                </a:solidFill>
                <a:latin typeface="Bahnschrift"/>
              </a:rPr>
              <a:t>THE CALL</a:t>
            </a:r>
          </a:p>
        </p:txBody>
      </p:sp>
      <p:sp>
        <p:nvSpPr>
          <p:cNvPr id="41" name="Rounded Rectangle 40"/>
          <p:cNvSpPr/>
          <p:nvPr/>
        </p:nvSpPr>
        <p:spPr>
          <a:xfrm>
            <a:off x="841248" y="5010912"/>
            <a:ext cx="3320186" cy="475488"/>
          </a:xfrm>
          <a:prstGeom prst="roundRect">
            <a:avLst>
              <a:gd name="adj" fmla="val 6000"/>
            </a:avLst>
          </a:prstGeom>
          <a:solidFill>
            <a:srgbClr val="F5F6FC"/>
          </a:solidFill>
          <a:ln w="9525">
            <a:solidFill>
              <a:srgbClr val="E5E7E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987552" y="5010912"/>
            <a:ext cx="1948586" cy="475488"/>
          </a:xfrm>
          <a:prstGeom prst="rect">
            <a:avLst/>
          </a:prstGeom>
          <a:noFill/>
        </p:spPr>
        <p:txBody>
          <a:bodyPr wrap="square" anchor="ctr" lIns="0" rIns="0" tIns="0" bIns="0">
            <a:spAutoFit/>
          </a:bodyPr>
          <a:lstStyle/>
          <a:p>
            <a:pPr algn="l">
              <a:spcBef>
                <a:spcPts val="0"/>
              </a:spcBef>
              <a:spcAft>
                <a:spcPts val="0"/>
              </a:spcAft>
            </a:pPr>
            <a:r>
              <a:rPr sz="1000" b="0" i="0">
                <a:solidFill>
                  <a:srgbClr val="16233B"/>
                </a:solidFill>
                <a:latin typeface="Georgia"/>
              </a:rPr>
              <a:t>Score below 40, on either horizon</a:t>
            </a:r>
          </a:p>
        </p:txBody>
      </p:sp>
      <p:sp>
        <p:nvSpPr>
          <p:cNvPr id="43" name="Rounded Rectangle 42"/>
          <p:cNvSpPr/>
          <p:nvPr/>
        </p:nvSpPr>
        <p:spPr>
          <a:xfrm>
            <a:off x="3018434" y="5120640"/>
            <a:ext cx="960120" cy="219456"/>
          </a:xfrm>
          <a:prstGeom prst="roundRect">
            <a:avLst>
              <a:gd name="adj" fmla="val 50000"/>
            </a:avLst>
          </a:prstGeom>
          <a:solidFill>
            <a:srgbClr val="FBE3E0"/>
          </a:solidFill>
          <a:ln w="9525">
            <a:solidFill>
              <a:srgbClr val="E0402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TextBox 43"/>
          <p:cNvSpPr txBox="1"/>
          <p:nvPr/>
        </p:nvSpPr>
        <p:spPr>
          <a:xfrm>
            <a:off x="3018434" y="5115153"/>
            <a:ext cx="960120" cy="228600"/>
          </a:xfrm>
          <a:prstGeom prst="rect">
            <a:avLst/>
          </a:prstGeom>
          <a:noFill/>
        </p:spPr>
        <p:txBody>
          <a:bodyPr wrap="square" anchor="ctr" lIns="0" rIns="0" tIns="0" bIns="0">
            <a:spAutoFit/>
          </a:bodyPr>
          <a:lstStyle/>
          <a:p>
            <a:pPr algn="ctr">
              <a:spcBef>
                <a:spcPts val="0"/>
              </a:spcBef>
              <a:spcAft>
                <a:spcPts val="0"/>
              </a:spcAft>
            </a:pPr>
            <a:r>
              <a:rPr sz="800" b="1" i="0" spc="60">
                <a:solidFill>
                  <a:srgbClr val="E0402F"/>
                </a:solidFill>
                <a:latin typeface="Bahnschrift"/>
              </a:rPr>
              <a:t>SELL</a:t>
            </a:r>
          </a:p>
        </p:txBody>
      </p:sp>
      <p:sp>
        <p:nvSpPr>
          <p:cNvPr id="45" name="Rounded Rectangle 44"/>
          <p:cNvSpPr/>
          <p:nvPr/>
        </p:nvSpPr>
        <p:spPr>
          <a:xfrm>
            <a:off x="4435754" y="5010912"/>
            <a:ext cx="3320186" cy="475488"/>
          </a:xfrm>
          <a:prstGeom prst="roundRect">
            <a:avLst>
              <a:gd name="adj" fmla="val 6000"/>
            </a:avLst>
          </a:prstGeom>
          <a:solidFill>
            <a:srgbClr val="F5F6FC"/>
          </a:solidFill>
          <a:ln w="9525">
            <a:solidFill>
              <a:srgbClr val="E5E7E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TextBox 45"/>
          <p:cNvSpPr txBox="1"/>
          <p:nvPr/>
        </p:nvSpPr>
        <p:spPr>
          <a:xfrm>
            <a:off x="4582058" y="5010912"/>
            <a:ext cx="1948586" cy="475488"/>
          </a:xfrm>
          <a:prstGeom prst="rect">
            <a:avLst/>
          </a:prstGeom>
          <a:noFill/>
        </p:spPr>
        <p:txBody>
          <a:bodyPr wrap="square" anchor="ctr" lIns="0" rIns="0" tIns="0" bIns="0">
            <a:spAutoFit/>
          </a:bodyPr>
          <a:lstStyle/>
          <a:p>
            <a:pPr algn="l">
              <a:spcBef>
                <a:spcPts val="0"/>
              </a:spcBef>
              <a:spcAft>
                <a:spcPts val="0"/>
              </a:spcAft>
            </a:pPr>
            <a:r>
              <a:rPr sz="1000" b="0" i="0">
                <a:solidFill>
                  <a:srgbClr val="16233B"/>
                </a:solidFill>
                <a:latin typeface="Georgia"/>
              </a:rPr>
              <a:t>40 to 50, with a concentration or risk flag</a:t>
            </a:r>
          </a:p>
        </p:txBody>
      </p:sp>
      <p:sp>
        <p:nvSpPr>
          <p:cNvPr id="47" name="Rounded Rectangle 46"/>
          <p:cNvSpPr/>
          <p:nvPr/>
        </p:nvSpPr>
        <p:spPr>
          <a:xfrm>
            <a:off x="6612940" y="5120640"/>
            <a:ext cx="960120" cy="219456"/>
          </a:xfrm>
          <a:prstGeom prst="roundRect">
            <a:avLst>
              <a:gd name="adj" fmla="val 50000"/>
            </a:avLst>
          </a:prstGeom>
          <a:solidFill>
            <a:srgbClr val="FBEFDC"/>
          </a:solidFill>
          <a:ln w="9525">
            <a:solidFill>
              <a:srgbClr val="92400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TextBox 47"/>
          <p:cNvSpPr txBox="1"/>
          <p:nvPr/>
        </p:nvSpPr>
        <p:spPr>
          <a:xfrm>
            <a:off x="6612940" y="5115153"/>
            <a:ext cx="960120" cy="228600"/>
          </a:xfrm>
          <a:prstGeom prst="rect">
            <a:avLst/>
          </a:prstGeom>
          <a:noFill/>
        </p:spPr>
        <p:txBody>
          <a:bodyPr wrap="square" anchor="ctr" lIns="0" rIns="0" tIns="0" bIns="0">
            <a:spAutoFit/>
          </a:bodyPr>
          <a:lstStyle/>
          <a:p>
            <a:pPr algn="ctr">
              <a:spcBef>
                <a:spcPts val="0"/>
              </a:spcBef>
              <a:spcAft>
                <a:spcPts val="0"/>
              </a:spcAft>
            </a:pPr>
            <a:r>
              <a:rPr sz="800" b="1" i="0" spc="60">
                <a:solidFill>
                  <a:srgbClr val="92400E"/>
                </a:solidFill>
                <a:latin typeface="Bahnschrift"/>
              </a:rPr>
              <a:t>TRIM</a:t>
            </a:r>
          </a:p>
        </p:txBody>
      </p:sp>
      <p:sp>
        <p:nvSpPr>
          <p:cNvPr id="49" name="Rounded Rectangle 48"/>
          <p:cNvSpPr/>
          <p:nvPr/>
        </p:nvSpPr>
        <p:spPr>
          <a:xfrm>
            <a:off x="8030260" y="5010912"/>
            <a:ext cx="3320186" cy="475488"/>
          </a:xfrm>
          <a:prstGeom prst="roundRect">
            <a:avLst>
              <a:gd name="adj" fmla="val 6000"/>
            </a:avLst>
          </a:prstGeom>
          <a:solidFill>
            <a:srgbClr val="F5F6FC"/>
          </a:solidFill>
          <a:ln w="9525">
            <a:solidFill>
              <a:srgbClr val="E5E7E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TextBox 49"/>
          <p:cNvSpPr txBox="1"/>
          <p:nvPr/>
        </p:nvSpPr>
        <p:spPr>
          <a:xfrm>
            <a:off x="8176564" y="5010912"/>
            <a:ext cx="1948586" cy="475488"/>
          </a:xfrm>
          <a:prstGeom prst="rect">
            <a:avLst/>
          </a:prstGeom>
          <a:noFill/>
        </p:spPr>
        <p:txBody>
          <a:bodyPr wrap="square" anchor="ctr" lIns="0" rIns="0" tIns="0" bIns="0">
            <a:spAutoFit/>
          </a:bodyPr>
          <a:lstStyle/>
          <a:p>
            <a:pPr algn="l">
              <a:spcBef>
                <a:spcPts val="0"/>
              </a:spcBef>
              <a:spcAft>
                <a:spcPts val="0"/>
              </a:spcAft>
            </a:pPr>
            <a:r>
              <a:rPr sz="1000" b="0" i="0">
                <a:solidFill>
                  <a:srgbClr val="16233B"/>
                </a:solidFill>
                <a:latin typeface="Georgia"/>
              </a:rPr>
              <a:t>50 and above</a:t>
            </a:r>
          </a:p>
        </p:txBody>
      </p:sp>
      <p:sp>
        <p:nvSpPr>
          <p:cNvPr id="51" name="Rounded Rectangle 50"/>
          <p:cNvSpPr/>
          <p:nvPr/>
        </p:nvSpPr>
        <p:spPr>
          <a:xfrm>
            <a:off x="10207447" y="5120640"/>
            <a:ext cx="960120" cy="219456"/>
          </a:xfrm>
          <a:prstGeom prst="roundRect">
            <a:avLst>
              <a:gd name="adj" fmla="val 50000"/>
            </a:avLst>
          </a:prstGeom>
          <a:solidFill>
            <a:srgbClr val="E0F2EA"/>
          </a:solidFill>
          <a:ln w="9525">
            <a:solidFill>
              <a:srgbClr val="1E9E6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 name="TextBox 51"/>
          <p:cNvSpPr txBox="1"/>
          <p:nvPr/>
        </p:nvSpPr>
        <p:spPr>
          <a:xfrm>
            <a:off x="10207447" y="5115153"/>
            <a:ext cx="960120" cy="228600"/>
          </a:xfrm>
          <a:prstGeom prst="rect">
            <a:avLst/>
          </a:prstGeom>
          <a:noFill/>
        </p:spPr>
        <p:txBody>
          <a:bodyPr wrap="square" anchor="ctr" lIns="0" rIns="0" tIns="0" bIns="0">
            <a:spAutoFit/>
          </a:bodyPr>
          <a:lstStyle/>
          <a:p>
            <a:pPr algn="ctr">
              <a:spcBef>
                <a:spcPts val="0"/>
              </a:spcBef>
              <a:spcAft>
                <a:spcPts val="0"/>
              </a:spcAft>
            </a:pPr>
            <a:r>
              <a:rPr sz="800" b="1" i="0" spc="60">
                <a:solidFill>
                  <a:srgbClr val="1E9E6A"/>
                </a:solidFill>
                <a:latin typeface="Bahnschrift"/>
              </a:rPr>
              <a:t>HOLD</a:t>
            </a:r>
          </a:p>
        </p:txBody>
      </p:sp>
      <p:sp>
        <p:nvSpPr>
          <p:cNvPr id="53" name="Rounded Rectangle 52"/>
          <p:cNvSpPr/>
          <p:nvPr/>
        </p:nvSpPr>
        <p:spPr>
          <a:xfrm>
            <a:off x="841248" y="5596128"/>
            <a:ext cx="10509199" cy="457200"/>
          </a:xfrm>
          <a:prstGeom prst="roundRect">
            <a:avLst>
              <a:gd name="adj" fmla="val 4000"/>
            </a:avLst>
          </a:prstGeom>
          <a:solidFill>
            <a:srgbClr val="FBEFD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4" name="Rectangle 53"/>
          <p:cNvSpPr/>
          <p:nvPr/>
        </p:nvSpPr>
        <p:spPr>
          <a:xfrm>
            <a:off x="841248" y="5596128"/>
            <a:ext cx="54864" cy="457200"/>
          </a:xfrm>
          <a:prstGeom prst="rect">
            <a:avLst/>
          </a:prstGeom>
          <a:solidFill>
            <a:srgbClr val="F2A93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5" name="TextBox 54"/>
          <p:cNvSpPr txBox="1"/>
          <p:nvPr/>
        </p:nvSpPr>
        <p:spPr>
          <a:xfrm>
            <a:off x="1042416" y="5724144"/>
            <a:ext cx="10143439" cy="274320"/>
          </a:xfrm>
          <a:prstGeom prst="rect">
            <a:avLst/>
          </a:prstGeom>
          <a:noFill/>
        </p:spPr>
        <p:txBody>
          <a:bodyPr wrap="square" anchor="t" lIns="0" rIns="0" tIns="0" bIns="0">
            <a:spAutoFit/>
          </a:bodyPr>
          <a:lstStyle/>
          <a:p>
            <a:pPr algn="l">
              <a:spcBef>
                <a:spcPts val="0"/>
              </a:spcBef>
              <a:spcAft>
                <a:spcPts val="0"/>
              </a:spcAft>
            </a:pPr>
            <a:r>
              <a:rPr sz="950" b="1" i="0" spc="60">
                <a:solidFill>
                  <a:srgbClr val="92400E"/>
                </a:solidFill>
                <a:latin typeface="Bahnschrift"/>
              </a:rPr>
              <a:t>ONE-WAY OVERRIDE</a:t>
            </a:r>
          </a:p>
        </p:txBody>
      </p:sp>
      <p:sp>
        <p:nvSpPr>
          <p:cNvPr id="56" name="TextBox 55"/>
          <p:cNvSpPr txBox="1"/>
          <p:nvPr/>
        </p:nvSpPr>
        <p:spPr>
          <a:xfrm>
            <a:off x="1042416" y="5998464"/>
            <a:ext cx="10143439" cy="0"/>
          </a:xfrm>
          <a:prstGeom prst="rect">
            <a:avLst/>
          </a:prstGeom>
          <a:noFill/>
        </p:spPr>
        <p:txBody>
          <a:bodyPr wrap="square" anchor="t" lIns="0" rIns="0" tIns="0" bIns="0">
            <a:spAutoFit/>
          </a:bodyPr>
          <a:lstStyle/>
          <a:p>
            <a:pPr algn="l">
              <a:lnSpc>
                <a:spcPct val="106000"/>
              </a:lnSpc>
              <a:spcBef>
                <a:spcPts val="0"/>
              </a:spcBef>
              <a:spcAft>
                <a:spcPts val="0"/>
              </a:spcAft>
            </a:pPr>
            <a:r>
              <a:rPr sz="1050" b="0" i="0">
                <a:solidFill>
                  <a:srgbClr val="16233B"/>
                </a:solidFill>
                <a:latin typeface="Georgia"/>
              </a:rPr>
              <a:t>A Sell can be rescued to Hold with a written reason. A Hold cannot be forced to Sell; it escalates.</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logo_clean.png"/>
          <p:cNvPicPr>
            <a:picLocks noChangeAspect="1"/>
          </p:cNvPicPr>
          <p:nvPr/>
        </p:nvPicPr>
        <p:blipFill>
          <a:blip r:embed="rId2"/>
          <a:stretch>
            <a:fillRect/>
          </a:stretch>
        </p:blipFill>
        <p:spPr>
          <a:xfrm>
            <a:off x="9674809" y="365760"/>
            <a:ext cx="1629918" cy="283464"/>
          </a:xfrm>
          <a:prstGeom prst="rect">
            <a:avLst/>
          </a:prstGeom>
        </p:spPr>
      </p:pic>
      <p:sp>
        <p:nvSpPr>
          <p:cNvPr id="4" name="TextBox 3"/>
          <p:cNvSpPr txBox="1"/>
          <p:nvPr/>
        </p:nvSpPr>
        <p:spPr>
          <a:xfrm>
            <a:off x="4541367" y="128016"/>
            <a:ext cx="3108960" cy="182880"/>
          </a:xfrm>
          <a:prstGeom prst="rect">
            <a:avLst/>
          </a:prstGeom>
          <a:noFill/>
        </p:spPr>
        <p:txBody>
          <a:bodyPr wrap="square" anchor="t" lIns="0" rIns="0" tIns="0" bIns="0">
            <a:spAutoFit/>
          </a:bodyPr>
          <a:lstStyle/>
          <a:p>
            <a:pPr algn="ctr">
              <a:spcBef>
                <a:spcPts val="0"/>
              </a:spcBef>
              <a:spcAft>
                <a:spcPts val="0"/>
              </a:spcAft>
            </a:pPr>
            <a:r>
              <a:rPr sz="750" b="0" i="0">
                <a:solidFill>
                  <a:srgbClr val="6B7280"/>
                </a:solidFill>
                <a:latin typeface="Bahnschrift"/>
              </a:rPr>
              <a:t>Private &amp; Confidential</a:t>
            </a:r>
          </a:p>
        </p:txBody>
      </p:sp>
      <p:sp>
        <p:nvSpPr>
          <p:cNvPr id="5" name="TextBox 4"/>
          <p:cNvSpPr txBox="1"/>
          <p:nvPr/>
        </p:nvSpPr>
        <p:spPr>
          <a:xfrm>
            <a:off x="7863840" y="274320"/>
            <a:ext cx="1749247" cy="201168"/>
          </a:xfrm>
          <a:prstGeom prst="rect">
            <a:avLst/>
          </a:prstGeom>
          <a:noFill/>
        </p:spPr>
        <p:txBody>
          <a:bodyPr wrap="square" anchor="t" lIns="0" rIns="0" tIns="0" bIns="0">
            <a:spAutoFit/>
          </a:bodyPr>
          <a:lstStyle/>
          <a:p>
            <a:pPr algn="r">
              <a:spcBef>
                <a:spcPts val="0"/>
              </a:spcBef>
              <a:spcAft>
                <a:spcPts val="0"/>
              </a:spcAft>
            </a:pPr>
            <a:r>
              <a:rPr sz="750" b="1" i="0" spc="120">
                <a:solidFill>
                  <a:srgbClr val="8C95DE"/>
                </a:solidFill>
                <a:latin typeface="Bahnschrift"/>
              </a:rPr>
              <a:t>01 · THE MODEL</a:t>
            </a:r>
          </a:p>
        </p:txBody>
      </p:sp>
      <p:sp>
        <p:nvSpPr>
          <p:cNvPr id="6" name="Rectangle 5"/>
          <p:cNvSpPr/>
          <p:nvPr/>
        </p:nvSpPr>
        <p:spPr>
          <a:xfrm>
            <a:off x="8549640" y="512064"/>
            <a:ext cx="137160" cy="20116"/>
          </a:xfrm>
          <a:prstGeom prst="rect">
            <a:avLst/>
          </a:prstGeom>
          <a:solidFill>
            <a:srgbClr val="1B27A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8732519" y="512064"/>
            <a:ext cx="137160" cy="20116"/>
          </a:xfrm>
          <a:prstGeom prst="rect">
            <a:avLst/>
          </a:prstGeom>
          <a:solidFill>
            <a:srgbClr val="E5E7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8915400" y="512064"/>
            <a:ext cx="137160" cy="20116"/>
          </a:xfrm>
          <a:prstGeom prst="rect">
            <a:avLst/>
          </a:prstGeom>
          <a:solidFill>
            <a:srgbClr val="E5E7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9098280" y="512064"/>
            <a:ext cx="137160" cy="20116"/>
          </a:xfrm>
          <a:prstGeom prst="rect">
            <a:avLst/>
          </a:prstGeom>
          <a:solidFill>
            <a:srgbClr val="E5E7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9281160" y="512064"/>
            <a:ext cx="137160" cy="20116"/>
          </a:xfrm>
          <a:prstGeom prst="rect">
            <a:avLst/>
          </a:prstGeom>
          <a:solidFill>
            <a:srgbClr val="E5E7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41248" y="420624"/>
            <a:ext cx="6858000" cy="502920"/>
          </a:xfrm>
          <a:prstGeom prst="rect">
            <a:avLst/>
          </a:prstGeom>
          <a:noFill/>
        </p:spPr>
        <p:txBody>
          <a:bodyPr wrap="square" anchor="t" lIns="0" rIns="0" tIns="0" bIns="0">
            <a:spAutoFit/>
          </a:bodyPr>
          <a:lstStyle/>
          <a:p>
            <a:pPr algn="l">
              <a:spcBef>
                <a:spcPts val="0"/>
              </a:spcBef>
              <a:spcAft>
                <a:spcPts val="0"/>
              </a:spcAft>
            </a:pPr>
            <a:r>
              <a:rPr sz="2600" b="1" i="0">
                <a:solidFill>
                  <a:srgbClr val="1B27A3"/>
                </a:solidFill>
                <a:latin typeface="Bahnschrift"/>
              </a:rPr>
              <a:t>The one number a client sees</a:t>
            </a:r>
          </a:p>
        </p:txBody>
      </p:sp>
      <p:sp>
        <p:nvSpPr>
          <p:cNvPr id="12" name="TextBox 11"/>
          <p:cNvSpPr txBox="1"/>
          <p:nvPr/>
        </p:nvSpPr>
        <p:spPr>
          <a:xfrm>
            <a:off x="841248" y="950976"/>
            <a:ext cx="9692640" cy="411480"/>
          </a:xfrm>
          <a:prstGeom prst="rect">
            <a:avLst/>
          </a:prstGeom>
          <a:noFill/>
        </p:spPr>
        <p:txBody>
          <a:bodyPr wrap="square" anchor="t" lIns="0" rIns="0" tIns="0" bIns="0">
            <a:spAutoFit/>
          </a:bodyPr>
          <a:lstStyle/>
          <a:p>
            <a:pPr algn="l">
              <a:spcBef>
                <a:spcPts val="0"/>
              </a:spcBef>
              <a:spcAft>
                <a:spcPts val="0"/>
              </a:spcAft>
            </a:pPr>
            <a:r>
              <a:rPr sz="1750" b="1" i="0">
                <a:solidFill>
                  <a:srgbClr val="F2A93C"/>
                </a:solidFill>
                <a:latin typeface="Bahnschrift"/>
              </a:rPr>
              <a:t>A blended score, then a bounded forward adjustment</a:t>
            </a:r>
          </a:p>
        </p:txBody>
      </p:sp>
      <p:sp>
        <p:nvSpPr>
          <p:cNvPr id="13" name="Rectangle 12"/>
          <p:cNvSpPr/>
          <p:nvPr/>
        </p:nvSpPr>
        <p:spPr>
          <a:xfrm>
            <a:off x="841248" y="1408176"/>
            <a:ext cx="10509199" cy="21945"/>
          </a:xfrm>
          <a:prstGeom prst="rect">
            <a:avLst/>
          </a:prstGeom>
          <a:solidFill>
            <a:srgbClr val="1B27A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9155887" y="6528816"/>
            <a:ext cx="2194560" cy="182880"/>
          </a:xfrm>
          <a:prstGeom prst="rect">
            <a:avLst/>
          </a:prstGeom>
          <a:noFill/>
        </p:spPr>
        <p:txBody>
          <a:bodyPr wrap="square" anchor="t" lIns="0" rIns="0" tIns="0" bIns="0">
            <a:spAutoFit/>
          </a:bodyPr>
          <a:lstStyle/>
          <a:p>
            <a:pPr algn="r">
              <a:spcBef>
                <a:spcPts val="0"/>
              </a:spcBef>
              <a:spcAft>
                <a:spcPts val="0"/>
              </a:spcAft>
            </a:pPr>
            <a:r>
              <a:rPr sz="750" b="0" i="0">
                <a:solidFill>
                  <a:srgbClr val="6B7280"/>
                </a:solidFill>
                <a:latin typeface="Bahnschrift"/>
              </a:rPr>
              <a:t>Portfolio Review  ·  09</a:t>
            </a:r>
          </a:p>
        </p:txBody>
      </p:sp>
      <p:sp>
        <p:nvSpPr>
          <p:cNvPr id="15" name="Rounded Rectangle 14"/>
          <p:cNvSpPr/>
          <p:nvPr/>
        </p:nvSpPr>
        <p:spPr>
          <a:xfrm>
            <a:off x="841248" y="1755648"/>
            <a:ext cx="10509199" cy="658368"/>
          </a:xfrm>
          <a:prstGeom prst="roundRect">
            <a:avLst>
              <a:gd name="adj" fmla="val 6000"/>
            </a:avLst>
          </a:prstGeom>
          <a:solidFill>
            <a:srgbClr val="F5F6FC"/>
          </a:solidFill>
          <a:ln w="9525">
            <a:solidFill>
              <a:srgbClr val="E5E7E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1115568" y="1755648"/>
            <a:ext cx="9960559" cy="658368"/>
          </a:xfrm>
          <a:prstGeom prst="rect">
            <a:avLst/>
          </a:prstGeom>
          <a:noFill/>
        </p:spPr>
        <p:txBody>
          <a:bodyPr wrap="square" anchor="ctr" lIns="0" rIns="0" tIns="0" bIns="0">
            <a:spAutoFit/>
          </a:bodyPr>
          <a:lstStyle/>
          <a:p>
            <a:pPr algn="l">
              <a:spcBef>
                <a:spcPts val="0"/>
              </a:spcBef>
              <a:spcAft>
                <a:spcPts val="0"/>
              </a:spcAft>
            </a:pPr>
            <a:r>
              <a:rPr sz="1400" b="1" i="0">
                <a:solidFill>
                  <a:srgbClr val="1B27A3"/>
                </a:solidFill>
                <a:latin typeface="Bahnschrift"/>
              </a:rPr>
              <a:t>Ionic Score   =   0.60 x three-year score   +   0.40 x one-year score   +   forward adjustment</a:t>
            </a:r>
          </a:p>
        </p:txBody>
      </p:sp>
      <p:sp>
        <p:nvSpPr>
          <p:cNvPr id="17" name="TextBox 16"/>
          <p:cNvSpPr txBox="1"/>
          <p:nvPr/>
        </p:nvSpPr>
        <p:spPr>
          <a:xfrm>
            <a:off x="841248" y="2615184"/>
            <a:ext cx="10509199" cy="256032"/>
          </a:xfrm>
          <a:prstGeom prst="rect">
            <a:avLst/>
          </a:prstGeom>
          <a:noFill/>
        </p:spPr>
        <p:txBody>
          <a:bodyPr wrap="square" anchor="t" lIns="0" rIns="0" tIns="0" bIns="0">
            <a:spAutoFit/>
          </a:bodyPr>
          <a:lstStyle/>
          <a:p>
            <a:pPr algn="l">
              <a:spcBef>
                <a:spcPts val="0"/>
              </a:spcBef>
              <a:spcAft>
                <a:spcPts val="0"/>
              </a:spcAft>
            </a:pPr>
            <a:r>
              <a:rPr sz="1100" b="0" i="1">
                <a:solidFill>
                  <a:srgbClr val="16233B"/>
                </a:solidFill>
                <a:latin typeface="Georgia"/>
              </a:rPr>
              <a:t>The adjustment makes the number forward-looking. It is bounded, and it can never flatter a name we are telling the client to exit.</a:t>
            </a:r>
          </a:p>
        </p:txBody>
      </p:sp>
      <p:sp>
        <p:nvSpPr>
          <p:cNvPr id="18" name="TextBox 17"/>
          <p:cNvSpPr txBox="1"/>
          <p:nvPr/>
        </p:nvSpPr>
        <p:spPr>
          <a:xfrm>
            <a:off x="914400" y="2962656"/>
            <a:ext cx="2374495" cy="219456"/>
          </a:xfrm>
          <a:prstGeom prst="rect">
            <a:avLst/>
          </a:prstGeom>
          <a:noFill/>
        </p:spPr>
        <p:txBody>
          <a:bodyPr wrap="square" anchor="ctr" lIns="0" rIns="0" tIns="0" bIns="0">
            <a:spAutoFit/>
          </a:bodyPr>
          <a:lstStyle/>
          <a:p>
            <a:pPr algn="l">
              <a:spcBef>
                <a:spcPts val="0"/>
              </a:spcBef>
              <a:spcAft>
                <a:spcPts val="0"/>
              </a:spcAft>
            </a:pPr>
            <a:r>
              <a:rPr sz="800" b="1" i="0" spc="200">
                <a:solidFill>
                  <a:srgbClr val="6B7280"/>
                </a:solidFill>
                <a:latin typeface="Bahnschrift"/>
              </a:rPr>
              <a:t>ANALYST'S FORWARD GROWTH VIEW</a:t>
            </a:r>
          </a:p>
        </p:txBody>
      </p:sp>
      <p:sp>
        <p:nvSpPr>
          <p:cNvPr id="19" name="TextBox 18"/>
          <p:cNvSpPr txBox="1"/>
          <p:nvPr/>
        </p:nvSpPr>
        <p:spPr>
          <a:xfrm>
            <a:off x="3435199" y="2962656"/>
            <a:ext cx="1059295" cy="219456"/>
          </a:xfrm>
          <a:prstGeom prst="rect">
            <a:avLst/>
          </a:prstGeom>
          <a:noFill/>
        </p:spPr>
        <p:txBody>
          <a:bodyPr wrap="square" anchor="ctr" lIns="0" rIns="0" tIns="0" bIns="0">
            <a:spAutoFit/>
          </a:bodyPr>
          <a:lstStyle/>
          <a:p>
            <a:pPr algn="ctr">
              <a:spcBef>
                <a:spcPts val="0"/>
              </a:spcBef>
              <a:spcAft>
                <a:spcPts val="0"/>
              </a:spcAft>
            </a:pPr>
            <a:r>
              <a:rPr sz="800" b="1" i="0" spc="200">
                <a:solidFill>
                  <a:srgbClr val="6B7280"/>
                </a:solidFill>
                <a:latin typeface="Bahnschrift"/>
              </a:rPr>
              <a:t>ADJUSTMENT</a:t>
            </a:r>
          </a:p>
        </p:txBody>
      </p:sp>
      <p:sp>
        <p:nvSpPr>
          <p:cNvPr id="20" name="TextBox 19"/>
          <p:cNvSpPr txBox="1"/>
          <p:nvPr/>
        </p:nvSpPr>
        <p:spPr>
          <a:xfrm>
            <a:off x="4640799" y="2962656"/>
            <a:ext cx="1607295" cy="219456"/>
          </a:xfrm>
          <a:prstGeom prst="rect">
            <a:avLst/>
          </a:prstGeom>
          <a:noFill/>
        </p:spPr>
        <p:txBody>
          <a:bodyPr wrap="square" anchor="ctr" lIns="0" rIns="0" tIns="0" bIns="0">
            <a:spAutoFit/>
          </a:bodyPr>
          <a:lstStyle/>
          <a:p>
            <a:pPr algn="l">
              <a:spcBef>
                <a:spcPts val="0"/>
              </a:spcBef>
              <a:spcAft>
                <a:spcPts val="0"/>
              </a:spcAft>
            </a:pPr>
            <a:r>
              <a:rPr sz="800" b="1" i="0" spc="200">
                <a:solidFill>
                  <a:srgbClr val="6B7280"/>
                </a:solidFill>
                <a:latin typeface="Bahnschrift"/>
              </a:rPr>
              <a:t>READING</a:t>
            </a:r>
          </a:p>
        </p:txBody>
      </p:sp>
      <p:sp>
        <p:nvSpPr>
          <p:cNvPr id="21" name="Rectangle 20"/>
          <p:cNvSpPr/>
          <p:nvPr/>
        </p:nvSpPr>
        <p:spPr>
          <a:xfrm>
            <a:off x="841248" y="3218688"/>
            <a:ext cx="5479999" cy="13716"/>
          </a:xfrm>
          <a:prstGeom prst="rect">
            <a:avLst/>
          </a:prstGeom>
          <a:solidFill>
            <a:srgbClr val="1B27A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914400" y="3264408"/>
            <a:ext cx="2374495" cy="329184"/>
          </a:xfrm>
          <a:prstGeom prst="rect">
            <a:avLst/>
          </a:prstGeom>
          <a:noFill/>
        </p:spPr>
        <p:txBody>
          <a:bodyPr wrap="square" anchor="ctr" lIns="0" rIns="0" tIns="0" bIns="0">
            <a:spAutoFit/>
          </a:bodyPr>
          <a:lstStyle/>
          <a:p>
            <a:pPr algn="l">
              <a:spcBef>
                <a:spcPts val="0"/>
              </a:spcBef>
              <a:spcAft>
                <a:spcPts val="0"/>
              </a:spcAft>
            </a:pPr>
            <a:r>
              <a:rPr sz="950" b="1" i="0">
                <a:solidFill>
                  <a:srgbClr val="16233B"/>
                </a:solidFill>
                <a:latin typeface="Bahnschrift"/>
              </a:rPr>
              <a:t>Below 5%</a:t>
            </a:r>
          </a:p>
        </p:txBody>
      </p:sp>
      <p:sp>
        <p:nvSpPr>
          <p:cNvPr id="23" name="TextBox 22"/>
          <p:cNvSpPr txBox="1"/>
          <p:nvPr/>
        </p:nvSpPr>
        <p:spPr>
          <a:xfrm>
            <a:off x="3435199" y="3264408"/>
            <a:ext cx="1059295" cy="329184"/>
          </a:xfrm>
          <a:prstGeom prst="rect">
            <a:avLst/>
          </a:prstGeom>
          <a:noFill/>
        </p:spPr>
        <p:txBody>
          <a:bodyPr wrap="square" anchor="ctr" lIns="0" rIns="0" tIns="0" bIns="0">
            <a:spAutoFit/>
          </a:bodyPr>
          <a:lstStyle/>
          <a:p>
            <a:pPr algn="ctr">
              <a:spcBef>
                <a:spcPts val="0"/>
              </a:spcBef>
              <a:spcAft>
                <a:spcPts val="0"/>
              </a:spcAft>
            </a:pPr>
            <a:r>
              <a:rPr sz="950" b="0" i="0">
                <a:solidFill>
                  <a:srgbClr val="E0402F"/>
                </a:solidFill>
                <a:latin typeface="Bahnschrift"/>
              </a:rPr>
              <a:t>-15</a:t>
            </a:r>
          </a:p>
        </p:txBody>
      </p:sp>
      <p:sp>
        <p:nvSpPr>
          <p:cNvPr id="24" name="TextBox 23"/>
          <p:cNvSpPr txBox="1"/>
          <p:nvPr/>
        </p:nvSpPr>
        <p:spPr>
          <a:xfrm>
            <a:off x="4640799" y="3264408"/>
            <a:ext cx="1607295" cy="329184"/>
          </a:xfrm>
          <a:prstGeom prst="rect">
            <a:avLst/>
          </a:prstGeom>
          <a:noFill/>
        </p:spPr>
        <p:txBody>
          <a:bodyPr wrap="square" anchor="ctr" lIns="0" rIns="0" tIns="0" bIns="0">
            <a:spAutoFit/>
          </a:bodyPr>
          <a:lstStyle/>
          <a:p>
            <a:pPr algn="l">
              <a:spcBef>
                <a:spcPts val="0"/>
              </a:spcBef>
              <a:spcAft>
                <a:spcPts val="0"/>
              </a:spcAft>
            </a:pPr>
            <a:r>
              <a:rPr sz="950" b="0" i="0">
                <a:solidFill>
                  <a:srgbClr val="16233B"/>
                </a:solidFill>
                <a:latin typeface="Georgia"/>
              </a:rPr>
              <a:t>Structurally stagnant or declining</a:t>
            </a:r>
          </a:p>
        </p:txBody>
      </p:sp>
      <p:sp>
        <p:nvSpPr>
          <p:cNvPr id="25" name="Rectangle 24"/>
          <p:cNvSpPr/>
          <p:nvPr/>
        </p:nvSpPr>
        <p:spPr>
          <a:xfrm>
            <a:off x="841248" y="3575304"/>
            <a:ext cx="5479999" cy="329184"/>
          </a:xfrm>
          <a:prstGeom prst="rect">
            <a:avLst/>
          </a:prstGeom>
          <a:solidFill>
            <a:srgbClr val="F5F6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914400" y="3593592"/>
            <a:ext cx="2374495" cy="329184"/>
          </a:xfrm>
          <a:prstGeom prst="rect">
            <a:avLst/>
          </a:prstGeom>
          <a:noFill/>
        </p:spPr>
        <p:txBody>
          <a:bodyPr wrap="square" anchor="ctr" lIns="0" rIns="0" tIns="0" bIns="0">
            <a:spAutoFit/>
          </a:bodyPr>
          <a:lstStyle/>
          <a:p>
            <a:pPr algn="l">
              <a:spcBef>
                <a:spcPts val="0"/>
              </a:spcBef>
              <a:spcAft>
                <a:spcPts val="0"/>
              </a:spcAft>
            </a:pPr>
            <a:r>
              <a:rPr sz="950" b="1" i="0">
                <a:solidFill>
                  <a:srgbClr val="16233B"/>
                </a:solidFill>
                <a:latin typeface="Bahnschrift"/>
              </a:rPr>
              <a:t>5 to 10%</a:t>
            </a:r>
          </a:p>
        </p:txBody>
      </p:sp>
      <p:sp>
        <p:nvSpPr>
          <p:cNvPr id="27" name="TextBox 26"/>
          <p:cNvSpPr txBox="1"/>
          <p:nvPr/>
        </p:nvSpPr>
        <p:spPr>
          <a:xfrm>
            <a:off x="3435199" y="3593592"/>
            <a:ext cx="1059295" cy="329184"/>
          </a:xfrm>
          <a:prstGeom prst="rect">
            <a:avLst/>
          </a:prstGeom>
          <a:noFill/>
        </p:spPr>
        <p:txBody>
          <a:bodyPr wrap="square" anchor="ctr" lIns="0" rIns="0" tIns="0" bIns="0">
            <a:spAutoFit/>
          </a:bodyPr>
          <a:lstStyle/>
          <a:p>
            <a:pPr algn="ctr">
              <a:spcBef>
                <a:spcPts val="0"/>
              </a:spcBef>
              <a:spcAft>
                <a:spcPts val="0"/>
              </a:spcAft>
            </a:pPr>
            <a:r>
              <a:rPr sz="950" b="0" i="0">
                <a:solidFill>
                  <a:srgbClr val="E0402F"/>
                </a:solidFill>
                <a:latin typeface="Bahnschrift"/>
              </a:rPr>
              <a:t>-5</a:t>
            </a:r>
          </a:p>
        </p:txBody>
      </p:sp>
      <p:sp>
        <p:nvSpPr>
          <p:cNvPr id="28" name="TextBox 27"/>
          <p:cNvSpPr txBox="1"/>
          <p:nvPr/>
        </p:nvSpPr>
        <p:spPr>
          <a:xfrm>
            <a:off x="4640799" y="3593592"/>
            <a:ext cx="1607295" cy="329184"/>
          </a:xfrm>
          <a:prstGeom prst="rect">
            <a:avLst/>
          </a:prstGeom>
          <a:noFill/>
        </p:spPr>
        <p:txBody>
          <a:bodyPr wrap="square" anchor="ctr" lIns="0" rIns="0" tIns="0" bIns="0">
            <a:spAutoFit/>
          </a:bodyPr>
          <a:lstStyle/>
          <a:p>
            <a:pPr algn="l">
              <a:spcBef>
                <a:spcPts val="0"/>
              </a:spcBef>
              <a:spcAft>
                <a:spcPts val="0"/>
              </a:spcAft>
            </a:pPr>
            <a:r>
              <a:rPr sz="950" b="0" i="0">
                <a:solidFill>
                  <a:srgbClr val="16233B"/>
                </a:solidFill>
                <a:latin typeface="Georgia"/>
              </a:rPr>
              <a:t>Below nominal growth in the economy</a:t>
            </a:r>
          </a:p>
        </p:txBody>
      </p:sp>
      <p:sp>
        <p:nvSpPr>
          <p:cNvPr id="29" name="TextBox 28"/>
          <p:cNvSpPr txBox="1"/>
          <p:nvPr/>
        </p:nvSpPr>
        <p:spPr>
          <a:xfrm>
            <a:off x="914400" y="3922776"/>
            <a:ext cx="2374495" cy="329184"/>
          </a:xfrm>
          <a:prstGeom prst="rect">
            <a:avLst/>
          </a:prstGeom>
          <a:noFill/>
        </p:spPr>
        <p:txBody>
          <a:bodyPr wrap="square" anchor="ctr" lIns="0" rIns="0" tIns="0" bIns="0">
            <a:spAutoFit/>
          </a:bodyPr>
          <a:lstStyle/>
          <a:p>
            <a:pPr algn="l">
              <a:spcBef>
                <a:spcPts val="0"/>
              </a:spcBef>
              <a:spcAft>
                <a:spcPts val="0"/>
              </a:spcAft>
            </a:pPr>
            <a:r>
              <a:rPr sz="950" b="1" i="0">
                <a:solidFill>
                  <a:srgbClr val="16233B"/>
                </a:solidFill>
                <a:latin typeface="Bahnschrift"/>
              </a:rPr>
              <a:t>10 to 15%</a:t>
            </a:r>
          </a:p>
        </p:txBody>
      </p:sp>
      <p:sp>
        <p:nvSpPr>
          <p:cNvPr id="30" name="TextBox 29"/>
          <p:cNvSpPr txBox="1"/>
          <p:nvPr/>
        </p:nvSpPr>
        <p:spPr>
          <a:xfrm>
            <a:off x="3435199" y="3922776"/>
            <a:ext cx="1059295" cy="329184"/>
          </a:xfrm>
          <a:prstGeom prst="rect">
            <a:avLst/>
          </a:prstGeom>
          <a:noFill/>
        </p:spPr>
        <p:txBody>
          <a:bodyPr wrap="square" anchor="ctr" lIns="0" rIns="0" tIns="0" bIns="0">
            <a:spAutoFit/>
          </a:bodyPr>
          <a:lstStyle/>
          <a:p>
            <a:pPr algn="ctr">
              <a:spcBef>
                <a:spcPts val="0"/>
              </a:spcBef>
              <a:spcAft>
                <a:spcPts val="0"/>
              </a:spcAft>
            </a:pPr>
            <a:r>
              <a:rPr sz="950" b="0" i="0">
                <a:solidFill>
                  <a:srgbClr val="6B7280"/>
                </a:solidFill>
                <a:latin typeface="Bahnschrift"/>
              </a:rPr>
              <a:t>0</a:t>
            </a:r>
          </a:p>
        </p:txBody>
      </p:sp>
      <p:sp>
        <p:nvSpPr>
          <p:cNvPr id="31" name="TextBox 30"/>
          <p:cNvSpPr txBox="1"/>
          <p:nvPr/>
        </p:nvSpPr>
        <p:spPr>
          <a:xfrm>
            <a:off x="4640799" y="3922776"/>
            <a:ext cx="1607295" cy="329184"/>
          </a:xfrm>
          <a:prstGeom prst="rect">
            <a:avLst/>
          </a:prstGeom>
          <a:noFill/>
        </p:spPr>
        <p:txBody>
          <a:bodyPr wrap="square" anchor="ctr" lIns="0" rIns="0" tIns="0" bIns="0">
            <a:spAutoFit/>
          </a:bodyPr>
          <a:lstStyle/>
          <a:p>
            <a:pPr algn="l">
              <a:spcBef>
                <a:spcPts val="0"/>
              </a:spcBef>
              <a:spcAft>
                <a:spcPts val="0"/>
              </a:spcAft>
            </a:pPr>
            <a:r>
              <a:rPr sz="950" b="0" i="0">
                <a:solidFill>
                  <a:srgbClr val="16233B"/>
                </a:solidFill>
                <a:latin typeface="Georgia"/>
              </a:rPr>
              <a:t>Steady compounder, the neutral zone</a:t>
            </a:r>
          </a:p>
        </p:txBody>
      </p:sp>
      <p:sp>
        <p:nvSpPr>
          <p:cNvPr id="32" name="Rectangle 31"/>
          <p:cNvSpPr/>
          <p:nvPr/>
        </p:nvSpPr>
        <p:spPr>
          <a:xfrm>
            <a:off x="841248" y="4233672"/>
            <a:ext cx="5479999" cy="329184"/>
          </a:xfrm>
          <a:prstGeom prst="rect">
            <a:avLst/>
          </a:prstGeom>
          <a:solidFill>
            <a:srgbClr val="F5F6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914400" y="4251960"/>
            <a:ext cx="2374495" cy="329184"/>
          </a:xfrm>
          <a:prstGeom prst="rect">
            <a:avLst/>
          </a:prstGeom>
          <a:noFill/>
        </p:spPr>
        <p:txBody>
          <a:bodyPr wrap="square" anchor="ctr" lIns="0" rIns="0" tIns="0" bIns="0">
            <a:spAutoFit/>
          </a:bodyPr>
          <a:lstStyle/>
          <a:p>
            <a:pPr algn="l">
              <a:spcBef>
                <a:spcPts val="0"/>
              </a:spcBef>
              <a:spcAft>
                <a:spcPts val="0"/>
              </a:spcAft>
            </a:pPr>
            <a:r>
              <a:rPr sz="950" b="1" i="0">
                <a:solidFill>
                  <a:srgbClr val="16233B"/>
                </a:solidFill>
                <a:latin typeface="Bahnschrift"/>
              </a:rPr>
              <a:t>15 to 20%</a:t>
            </a:r>
          </a:p>
        </p:txBody>
      </p:sp>
      <p:sp>
        <p:nvSpPr>
          <p:cNvPr id="34" name="TextBox 33"/>
          <p:cNvSpPr txBox="1"/>
          <p:nvPr/>
        </p:nvSpPr>
        <p:spPr>
          <a:xfrm>
            <a:off x="3435199" y="4251960"/>
            <a:ext cx="1059295" cy="329184"/>
          </a:xfrm>
          <a:prstGeom prst="rect">
            <a:avLst/>
          </a:prstGeom>
          <a:noFill/>
        </p:spPr>
        <p:txBody>
          <a:bodyPr wrap="square" anchor="ctr" lIns="0" rIns="0" tIns="0" bIns="0">
            <a:spAutoFit/>
          </a:bodyPr>
          <a:lstStyle/>
          <a:p>
            <a:pPr algn="ctr">
              <a:spcBef>
                <a:spcPts val="0"/>
              </a:spcBef>
              <a:spcAft>
                <a:spcPts val="0"/>
              </a:spcAft>
            </a:pPr>
            <a:r>
              <a:rPr sz="950" b="0" i="0">
                <a:solidFill>
                  <a:srgbClr val="1E9E6A"/>
                </a:solidFill>
                <a:latin typeface="Bahnschrift"/>
              </a:rPr>
              <a:t>+5</a:t>
            </a:r>
          </a:p>
        </p:txBody>
      </p:sp>
      <p:sp>
        <p:nvSpPr>
          <p:cNvPr id="35" name="TextBox 34"/>
          <p:cNvSpPr txBox="1"/>
          <p:nvPr/>
        </p:nvSpPr>
        <p:spPr>
          <a:xfrm>
            <a:off x="4640799" y="4251960"/>
            <a:ext cx="1607295" cy="329184"/>
          </a:xfrm>
          <a:prstGeom prst="rect">
            <a:avLst/>
          </a:prstGeom>
          <a:noFill/>
        </p:spPr>
        <p:txBody>
          <a:bodyPr wrap="square" anchor="ctr" lIns="0" rIns="0" tIns="0" bIns="0">
            <a:spAutoFit/>
          </a:bodyPr>
          <a:lstStyle/>
          <a:p>
            <a:pPr algn="l">
              <a:spcBef>
                <a:spcPts val="0"/>
              </a:spcBef>
              <a:spcAft>
                <a:spcPts val="0"/>
              </a:spcAft>
            </a:pPr>
            <a:r>
              <a:rPr sz="950" b="0" i="0">
                <a:solidFill>
                  <a:srgbClr val="16233B"/>
                </a:solidFill>
                <a:latin typeface="Georgia"/>
              </a:rPr>
              <a:t>Strong</a:t>
            </a:r>
          </a:p>
        </p:txBody>
      </p:sp>
      <p:sp>
        <p:nvSpPr>
          <p:cNvPr id="36" name="TextBox 35"/>
          <p:cNvSpPr txBox="1"/>
          <p:nvPr/>
        </p:nvSpPr>
        <p:spPr>
          <a:xfrm>
            <a:off x="914400" y="4581144"/>
            <a:ext cx="2374495" cy="329184"/>
          </a:xfrm>
          <a:prstGeom prst="rect">
            <a:avLst/>
          </a:prstGeom>
          <a:noFill/>
        </p:spPr>
        <p:txBody>
          <a:bodyPr wrap="square" anchor="ctr" lIns="0" rIns="0" tIns="0" bIns="0">
            <a:spAutoFit/>
          </a:bodyPr>
          <a:lstStyle/>
          <a:p>
            <a:pPr algn="l">
              <a:spcBef>
                <a:spcPts val="0"/>
              </a:spcBef>
              <a:spcAft>
                <a:spcPts val="0"/>
              </a:spcAft>
            </a:pPr>
            <a:r>
              <a:rPr sz="950" b="1" i="0">
                <a:solidFill>
                  <a:srgbClr val="16233B"/>
                </a:solidFill>
                <a:latin typeface="Bahnschrift"/>
              </a:rPr>
              <a:t>20 to 25%</a:t>
            </a:r>
          </a:p>
        </p:txBody>
      </p:sp>
      <p:sp>
        <p:nvSpPr>
          <p:cNvPr id="37" name="TextBox 36"/>
          <p:cNvSpPr txBox="1"/>
          <p:nvPr/>
        </p:nvSpPr>
        <p:spPr>
          <a:xfrm>
            <a:off x="3435199" y="4581144"/>
            <a:ext cx="1059295" cy="329184"/>
          </a:xfrm>
          <a:prstGeom prst="rect">
            <a:avLst/>
          </a:prstGeom>
          <a:noFill/>
        </p:spPr>
        <p:txBody>
          <a:bodyPr wrap="square" anchor="ctr" lIns="0" rIns="0" tIns="0" bIns="0">
            <a:spAutoFit/>
          </a:bodyPr>
          <a:lstStyle/>
          <a:p>
            <a:pPr algn="ctr">
              <a:spcBef>
                <a:spcPts val="0"/>
              </a:spcBef>
              <a:spcAft>
                <a:spcPts val="0"/>
              </a:spcAft>
            </a:pPr>
            <a:r>
              <a:rPr sz="950" b="0" i="0">
                <a:solidFill>
                  <a:srgbClr val="1E9E6A"/>
                </a:solidFill>
                <a:latin typeface="Bahnschrift"/>
              </a:rPr>
              <a:t>+10</a:t>
            </a:r>
          </a:p>
        </p:txBody>
      </p:sp>
      <p:sp>
        <p:nvSpPr>
          <p:cNvPr id="38" name="TextBox 37"/>
          <p:cNvSpPr txBox="1"/>
          <p:nvPr/>
        </p:nvSpPr>
        <p:spPr>
          <a:xfrm>
            <a:off x="4640799" y="4581144"/>
            <a:ext cx="1607295" cy="329184"/>
          </a:xfrm>
          <a:prstGeom prst="rect">
            <a:avLst/>
          </a:prstGeom>
          <a:noFill/>
        </p:spPr>
        <p:txBody>
          <a:bodyPr wrap="square" anchor="ctr" lIns="0" rIns="0" tIns="0" bIns="0">
            <a:spAutoFit/>
          </a:bodyPr>
          <a:lstStyle/>
          <a:p>
            <a:pPr algn="l">
              <a:spcBef>
                <a:spcPts val="0"/>
              </a:spcBef>
              <a:spcAft>
                <a:spcPts val="0"/>
              </a:spcAft>
            </a:pPr>
            <a:r>
              <a:rPr sz="950" b="0" i="0">
                <a:solidFill>
                  <a:srgbClr val="16233B"/>
                </a:solidFill>
                <a:latin typeface="Georgia"/>
              </a:rPr>
              <a:t>Exceptional momentum</a:t>
            </a:r>
          </a:p>
        </p:txBody>
      </p:sp>
      <p:sp>
        <p:nvSpPr>
          <p:cNvPr id="39" name="Rectangle 38"/>
          <p:cNvSpPr/>
          <p:nvPr/>
        </p:nvSpPr>
        <p:spPr>
          <a:xfrm>
            <a:off x="841248" y="4892040"/>
            <a:ext cx="5479999" cy="329184"/>
          </a:xfrm>
          <a:prstGeom prst="rect">
            <a:avLst/>
          </a:prstGeom>
          <a:solidFill>
            <a:srgbClr val="F5F6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914400" y="4910328"/>
            <a:ext cx="2374495" cy="329184"/>
          </a:xfrm>
          <a:prstGeom prst="rect">
            <a:avLst/>
          </a:prstGeom>
          <a:noFill/>
        </p:spPr>
        <p:txBody>
          <a:bodyPr wrap="square" anchor="ctr" lIns="0" rIns="0" tIns="0" bIns="0">
            <a:spAutoFit/>
          </a:bodyPr>
          <a:lstStyle/>
          <a:p>
            <a:pPr algn="l">
              <a:spcBef>
                <a:spcPts val="0"/>
              </a:spcBef>
              <a:spcAft>
                <a:spcPts val="0"/>
              </a:spcAft>
            </a:pPr>
            <a:r>
              <a:rPr sz="950" b="1" i="0">
                <a:solidFill>
                  <a:srgbClr val="16233B"/>
                </a:solidFill>
                <a:latin typeface="Bahnschrift"/>
              </a:rPr>
              <a:t>25% and above</a:t>
            </a:r>
          </a:p>
        </p:txBody>
      </p:sp>
      <p:sp>
        <p:nvSpPr>
          <p:cNvPr id="41" name="TextBox 40"/>
          <p:cNvSpPr txBox="1"/>
          <p:nvPr/>
        </p:nvSpPr>
        <p:spPr>
          <a:xfrm>
            <a:off x="3435199" y="4910328"/>
            <a:ext cx="1059295" cy="329184"/>
          </a:xfrm>
          <a:prstGeom prst="rect">
            <a:avLst/>
          </a:prstGeom>
          <a:noFill/>
        </p:spPr>
        <p:txBody>
          <a:bodyPr wrap="square" anchor="ctr" lIns="0" rIns="0" tIns="0" bIns="0">
            <a:spAutoFit/>
          </a:bodyPr>
          <a:lstStyle/>
          <a:p>
            <a:pPr algn="ctr">
              <a:spcBef>
                <a:spcPts val="0"/>
              </a:spcBef>
              <a:spcAft>
                <a:spcPts val="0"/>
              </a:spcAft>
            </a:pPr>
            <a:r>
              <a:rPr sz="950" b="0" i="0">
                <a:solidFill>
                  <a:srgbClr val="1E9E6A"/>
                </a:solidFill>
                <a:latin typeface="Bahnschrift"/>
              </a:rPr>
              <a:t>+15</a:t>
            </a:r>
          </a:p>
        </p:txBody>
      </p:sp>
      <p:sp>
        <p:nvSpPr>
          <p:cNvPr id="42" name="TextBox 41"/>
          <p:cNvSpPr txBox="1"/>
          <p:nvPr/>
        </p:nvSpPr>
        <p:spPr>
          <a:xfrm>
            <a:off x="4640799" y="4910328"/>
            <a:ext cx="1607295" cy="329184"/>
          </a:xfrm>
          <a:prstGeom prst="rect">
            <a:avLst/>
          </a:prstGeom>
          <a:noFill/>
        </p:spPr>
        <p:txBody>
          <a:bodyPr wrap="square" anchor="ctr" lIns="0" rIns="0" tIns="0" bIns="0">
            <a:spAutoFit/>
          </a:bodyPr>
          <a:lstStyle/>
          <a:p>
            <a:pPr algn="l">
              <a:spcBef>
                <a:spcPts val="0"/>
              </a:spcBef>
              <a:spcAft>
                <a:spcPts val="0"/>
              </a:spcAft>
            </a:pPr>
            <a:r>
              <a:rPr sz="950" b="0" i="0">
                <a:solidFill>
                  <a:srgbClr val="16233B"/>
                </a:solidFill>
                <a:latin typeface="Georgia"/>
              </a:rPr>
              <a:t>Hypergrowth, evidence required</a:t>
            </a:r>
          </a:p>
        </p:txBody>
      </p:sp>
      <p:sp>
        <p:nvSpPr>
          <p:cNvPr id="43" name="Rounded Rectangle 42"/>
          <p:cNvSpPr/>
          <p:nvPr/>
        </p:nvSpPr>
        <p:spPr>
          <a:xfrm>
            <a:off x="6595567" y="2962656"/>
            <a:ext cx="4754880" cy="1581912"/>
          </a:xfrm>
          <a:prstGeom prst="roundRect">
            <a:avLst>
              <a:gd name="adj" fmla="val 4000"/>
            </a:avLst>
          </a:prstGeom>
          <a:solidFill>
            <a:srgbClr val="FBE3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Rectangle 43"/>
          <p:cNvSpPr/>
          <p:nvPr/>
        </p:nvSpPr>
        <p:spPr>
          <a:xfrm>
            <a:off x="6595567" y="2962656"/>
            <a:ext cx="54864" cy="1581912"/>
          </a:xfrm>
          <a:prstGeom prst="rect">
            <a:avLst/>
          </a:prstGeom>
          <a:solidFill>
            <a:srgbClr val="E0402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TextBox 44"/>
          <p:cNvSpPr txBox="1"/>
          <p:nvPr/>
        </p:nvSpPr>
        <p:spPr>
          <a:xfrm>
            <a:off x="6796735" y="3090672"/>
            <a:ext cx="4389120" cy="274320"/>
          </a:xfrm>
          <a:prstGeom prst="rect">
            <a:avLst/>
          </a:prstGeom>
          <a:noFill/>
        </p:spPr>
        <p:txBody>
          <a:bodyPr wrap="square" anchor="t" lIns="0" rIns="0" tIns="0" bIns="0">
            <a:spAutoFit/>
          </a:bodyPr>
          <a:lstStyle/>
          <a:p>
            <a:pPr algn="l">
              <a:spcBef>
                <a:spcPts val="0"/>
              </a:spcBef>
              <a:spcAft>
                <a:spcPts val="0"/>
              </a:spcAft>
            </a:pPr>
            <a:r>
              <a:rPr sz="950" b="1" i="0" spc="60">
                <a:solidFill>
                  <a:srgbClr val="E0402F"/>
                </a:solidFill>
                <a:latin typeface="Bahnschrift"/>
              </a:rPr>
              <a:t>TWO COHERENCE CAPS</a:t>
            </a:r>
          </a:p>
        </p:txBody>
      </p:sp>
      <p:sp>
        <p:nvSpPr>
          <p:cNvPr id="46" name="TextBox 45"/>
          <p:cNvSpPr txBox="1"/>
          <p:nvPr/>
        </p:nvSpPr>
        <p:spPr>
          <a:xfrm>
            <a:off x="6796735" y="3364992"/>
            <a:ext cx="4389120" cy="1124712"/>
          </a:xfrm>
          <a:prstGeom prst="rect">
            <a:avLst/>
          </a:prstGeom>
          <a:noFill/>
        </p:spPr>
        <p:txBody>
          <a:bodyPr wrap="square" anchor="t" lIns="0" rIns="0" tIns="0" bIns="0">
            <a:spAutoFit/>
          </a:bodyPr>
          <a:lstStyle/>
          <a:p>
            <a:pPr algn="l">
              <a:lnSpc>
                <a:spcPct val="106000"/>
              </a:lnSpc>
              <a:spcBef>
                <a:spcPts val="0"/>
              </a:spcBef>
              <a:spcAft>
                <a:spcPts val="0"/>
              </a:spcAft>
            </a:pPr>
            <a:r>
              <a:rPr sz="1050" b="0" i="0">
                <a:solidFill>
                  <a:srgbClr val="16233B"/>
                </a:solidFill>
                <a:latin typeface="Georgia"/>
              </a:rPr>
              <a:t>A name growing below 10% can be marked down but never up. And a name the analyst rates Sell can never be lifted by the adjustment. Both caps exist because earlier versions could perversely raise the score of a name we were recommending the client exit.</a:t>
            </a:r>
          </a:p>
        </p:txBody>
      </p:sp>
      <p:sp>
        <p:nvSpPr>
          <p:cNvPr id="47" name="Rounded Rectangle 46"/>
          <p:cNvSpPr/>
          <p:nvPr/>
        </p:nvSpPr>
        <p:spPr>
          <a:xfrm>
            <a:off x="6595567" y="4352544"/>
            <a:ext cx="4754880" cy="1243584"/>
          </a:xfrm>
          <a:prstGeom prst="roundRect">
            <a:avLst>
              <a:gd name="adj" fmla="val 4000"/>
            </a:avLst>
          </a:prstGeom>
          <a:solidFill>
            <a:srgbClr val="F5F6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Rectangle 47"/>
          <p:cNvSpPr/>
          <p:nvPr/>
        </p:nvSpPr>
        <p:spPr>
          <a:xfrm>
            <a:off x="6595567" y="4352544"/>
            <a:ext cx="54864" cy="1243584"/>
          </a:xfrm>
          <a:prstGeom prst="rect">
            <a:avLst/>
          </a:prstGeom>
          <a:solidFill>
            <a:srgbClr val="1B27A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TextBox 48"/>
          <p:cNvSpPr txBox="1"/>
          <p:nvPr/>
        </p:nvSpPr>
        <p:spPr>
          <a:xfrm>
            <a:off x="6796735" y="4480559"/>
            <a:ext cx="4389120" cy="274320"/>
          </a:xfrm>
          <a:prstGeom prst="rect">
            <a:avLst/>
          </a:prstGeom>
          <a:noFill/>
        </p:spPr>
        <p:txBody>
          <a:bodyPr wrap="square" anchor="t" lIns="0" rIns="0" tIns="0" bIns="0">
            <a:spAutoFit/>
          </a:bodyPr>
          <a:lstStyle/>
          <a:p>
            <a:pPr algn="l">
              <a:spcBef>
                <a:spcPts val="0"/>
              </a:spcBef>
              <a:spcAft>
                <a:spcPts val="0"/>
              </a:spcAft>
            </a:pPr>
            <a:r>
              <a:rPr sz="950" b="1" i="0" spc="60">
                <a:solidFill>
                  <a:srgbClr val="1B27A3"/>
                </a:solidFill>
                <a:latin typeface="Bahnschrift"/>
              </a:rPr>
              <a:t>CONVICTION, PRICED</a:t>
            </a:r>
          </a:p>
        </p:txBody>
      </p:sp>
      <p:sp>
        <p:nvSpPr>
          <p:cNvPr id="50" name="TextBox 49"/>
          <p:cNvSpPr txBox="1"/>
          <p:nvPr/>
        </p:nvSpPr>
        <p:spPr>
          <a:xfrm>
            <a:off x="6796735" y="4754880"/>
            <a:ext cx="4389120" cy="786383"/>
          </a:xfrm>
          <a:prstGeom prst="rect">
            <a:avLst/>
          </a:prstGeom>
          <a:noFill/>
        </p:spPr>
        <p:txBody>
          <a:bodyPr wrap="square" anchor="t" lIns="0" rIns="0" tIns="0" bIns="0">
            <a:spAutoFit/>
          </a:bodyPr>
          <a:lstStyle/>
          <a:p>
            <a:pPr algn="l">
              <a:lnSpc>
                <a:spcPct val="106000"/>
              </a:lnSpc>
              <a:spcBef>
                <a:spcPts val="0"/>
              </a:spcBef>
              <a:spcAft>
                <a:spcPts val="0"/>
              </a:spcAft>
            </a:pPr>
            <a:r>
              <a:rPr sz="1050" b="0" i="0">
                <a:solidFill>
                  <a:srgbClr val="16233B"/>
                </a:solidFill>
                <a:latin typeface="Georgia"/>
              </a:rPr>
              <a:t>Where the analyst and the engine disagree, the disagreement itself moves the score: a rescued Sell earns a small credit, an analyst Sell a small debit. Agreement moves nothing.</a:t>
            </a:r>
          </a:p>
        </p:txBody>
      </p:sp>
      <p:sp>
        <p:nvSpPr>
          <p:cNvPr id="51" name="TextBox 50"/>
          <p:cNvSpPr txBox="1"/>
          <p:nvPr/>
        </p:nvSpPr>
        <p:spPr>
          <a:xfrm>
            <a:off x="841248" y="6089904"/>
            <a:ext cx="10509199" cy="219456"/>
          </a:xfrm>
          <a:prstGeom prst="rect">
            <a:avLst/>
          </a:prstGeom>
          <a:noFill/>
        </p:spPr>
        <p:txBody>
          <a:bodyPr wrap="square" anchor="t" lIns="0" rIns="0" tIns="0" bIns="0">
            <a:spAutoFit/>
          </a:bodyPr>
          <a:lstStyle/>
          <a:p>
            <a:pPr algn="l">
              <a:spcBef>
                <a:spcPts val="0"/>
              </a:spcBef>
              <a:spcAft>
                <a:spcPts val="0"/>
              </a:spcAft>
            </a:pPr>
            <a:r>
              <a:rPr sz="700" b="0" i="0">
                <a:solidFill>
                  <a:srgbClr val="6B7280"/>
                </a:solidFill>
                <a:latin typeface="Bahnschrift"/>
              </a:rPr>
              <a:t>Growth is the analyst's forward three-to-five-year view, explicitly not trailing growth. Parroting trailing growth into this field is a named failure mode in the analyst brief.</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logo_clean.png"/>
          <p:cNvPicPr>
            <a:picLocks noChangeAspect="1"/>
          </p:cNvPicPr>
          <p:nvPr/>
        </p:nvPicPr>
        <p:blipFill>
          <a:blip r:embed="rId2"/>
          <a:stretch>
            <a:fillRect/>
          </a:stretch>
        </p:blipFill>
        <p:spPr>
          <a:xfrm>
            <a:off x="9674809" y="365760"/>
            <a:ext cx="1629918" cy="283464"/>
          </a:xfrm>
          <a:prstGeom prst="rect">
            <a:avLst/>
          </a:prstGeom>
        </p:spPr>
      </p:pic>
      <p:sp>
        <p:nvSpPr>
          <p:cNvPr id="4" name="TextBox 3"/>
          <p:cNvSpPr txBox="1"/>
          <p:nvPr/>
        </p:nvSpPr>
        <p:spPr>
          <a:xfrm>
            <a:off x="4541367" y="128016"/>
            <a:ext cx="3108960" cy="182880"/>
          </a:xfrm>
          <a:prstGeom prst="rect">
            <a:avLst/>
          </a:prstGeom>
          <a:noFill/>
        </p:spPr>
        <p:txBody>
          <a:bodyPr wrap="square" anchor="t" lIns="0" rIns="0" tIns="0" bIns="0">
            <a:spAutoFit/>
          </a:bodyPr>
          <a:lstStyle/>
          <a:p>
            <a:pPr algn="ctr">
              <a:spcBef>
                <a:spcPts val="0"/>
              </a:spcBef>
              <a:spcAft>
                <a:spcPts val="0"/>
              </a:spcAft>
            </a:pPr>
            <a:r>
              <a:rPr sz="750" b="0" i="0">
                <a:solidFill>
                  <a:srgbClr val="6B7280"/>
                </a:solidFill>
                <a:latin typeface="Bahnschrift"/>
              </a:rPr>
              <a:t>Private &amp; Confidential</a:t>
            </a:r>
          </a:p>
        </p:txBody>
      </p:sp>
      <p:sp>
        <p:nvSpPr>
          <p:cNvPr id="5" name="TextBox 4"/>
          <p:cNvSpPr txBox="1"/>
          <p:nvPr/>
        </p:nvSpPr>
        <p:spPr>
          <a:xfrm>
            <a:off x="7863840" y="274320"/>
            <a:ext cx="1749247" cy="201168"/>
          </a:xfrm>
          <a:prstGeom prst="rect">
            <a:avLst/>
          </a:prstGeom>
          <a:noFill/>
        </p:spPr>
        <p:txBody>
          <a:bodyPr wrap="square" anchor="t" lIns="0" rIns="0" tIns="0" bIns="0">
            <a:spAutoFit/>
          </a:bodyPr>
          <a:lstStyle/>
          <a:p>
            <a:pPr algn="r">
              <a:spcBef>
                <a:spcPts val="0"/>
              </a:spcBef>
              <a:spcAft>
                <a:spcPts val="0"/>
              </a:spcAft>
            </a:pPr>
            <a:r>
              <a:rPr sz="750" b="1" i="0" spc="120">
                <a:solidFill>
                  <a:srgbClr val="8C95DE"/>
                </a:solidFill>
                <a:latin typeface="Bahnschrift"/>
              </a:rPr>
              <a:t>01 · THE MODEL</a:t>
            </a:r>
          </a:p>
        </p:txBody>
      </p:sp>
      <p:sp>
        <p:nvSpPr>
          <p:cNvPr id="6" name="Rectangle 5"/>
          <p:cNvSpPr/>
          <p:nvPr/>
        </p:nvSpPr>
        <p:spPr>
          <a:xfrm>
            <a:off x="8549640" y="512064"/>
            <a:ext cx="137160" cy="20116"/>
          </a:xfrm>
          <a:prstGeom prst="rect">
            <a:avLst/>
          </a:prstGeom>
          <a:solidFill>
            <a:srgbClr val="1B27A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8732519" y="512064"/>
            <a:ext cx="137160" cy="20116"/>
          </a:xfrm>
          <a:prstGeom prst="rect">
            <a:avLst/>
          </a:prstGeom>
          <a:solidFill>
            <a:srgbClr val="E5E7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8915400" y="512064"/>
            <a:ext cx="137160" cy="20116"/>
          </a:xfrm>
          <a:prstGeom prst="rect">
            <a:avLst/>
          </a:prstGeom>
          <a:solidFill>
            <a:srgbClr val="E5E7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9098280" y="512064"/>
            <a:ext cx="137160" cy="20116"/>
          </a:xfrm>
          <a:prstGeom prst="rect">
            <a:avLst/>
          </a:prstGeom>
          <a:solidFill>
            <a:srgbClr val="E5E7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9281160" y="512064"/>
            <a:ext cx="137160" cy="20116"/>
          </a:xfrm>
          <a:prstGeom prst="rect">
            <a:avLst/>
          </a:prstGeom>
          <a:solidFill>
            <a:srgbClr val="E5E7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41248" y="420624"/>
            <a:ext cx="6858000" cy="502920"/>
          </a:xfrm>
          <a:prstGeom prst="rect">
            <a:avLst/>
          </a:prstGeom>
          <a:noFill/>
        </p:spPr>
        <p:txBody>
          <a:bodyPr wrap="square" anchor="t" lIns="0" rIns="0" tIns="0" bIns="0">
            <a:spAutoFit/>
          </a:bodyPr>
          <a:lstStyle/>
          <a:p>
            <a:pPr algn="l">
              <a:spcBef>
                <a:spcPts val="0"/>
              </a:spcBef>
              <a:spcAft>
                <a:spcPts val="0"/>
              </a:spcAft>
            </a:pPr>
            <a:r>
              <a:rPr sz="2600" b="1" i="0">
                <a:solidFill>
                  <a:srgbClr val="1B27A3"/>
                </a:solidFill>
                <a:latin typeface="Bahnschrift"/>
              </a:rPr>
              <a:t>The fund frameworks</a:t>
            </a:r>
          </a:p>
        </p:txBody>
      </p:sp>
      <p:sp>
        <p:nvSpPr>
          <p:cNvPr id="12" name="TextBox 11"/>
          <p:cNvSpPr txBox="1"/>
          <p:nvPr/>
        </p:nvSpPr>
        <p:spPr>
          <a:xfrm>
            <a:off x="841248" y="950976"/>
            <a:ext cx="9692640" cy="411480"/>
          </a:xfrm>
          <a:prstGeom prst="rect">
            <a:avLst/>
          </a:prstGeom>
          <a:noFill/>
        </p:spPr>
        <p:txBody>
          <a:bodyPr wrap="square" anchor="t" lIns="0" rIns="0" tIns="0" bIns="0">
            <a:spAutoFit/>
          </a:bodyPr>
          <a:lstStyle/>
          <a:p>
            <a:pPr algn="l">
              <a:spcBef>
                <a:spcPts val="0"/>
              </a:spcBef>
              <a:spcAft>
                <a:spcPts val="0"/>
              </a:spcAft>
            </a:pPr>
            <a:r>
              <a:rPr sz="1750" b="1" i="0">
                <a:solidFill>
                  <a:srgbClr val="F2A93C"/>
                </a:solidFill>
                <a:latin typeface="Bahnschrift"/>
              </a:rPr>
              <a:t>Two independent engines, and a deliberately hard bar to sell a fund</a:t>
            </a:r>
          </a:p>
        </p:txBody>
      </p:sp>
      <p:sp>
        <p:nvSpPr>
          <p:cNvPr id="13" name="Rectangle 12"/>
          <p:cNvSpPr/>
          <p:nvPr/>
        </p:nvSpPr>
        <p:spPr>
          <a:xfrm>
            <a:off x="841248" y="1408176"/>
            <a:ext cx="10509199" cy="21945"/>
          </a:xfrm>
          <a:prstGeom prst="rect">
            <a:avLst/>
          </a:prstGeom>
          <a:solidFill>
            <a:srgbClr val="1B27A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9155887" y="6528816"/>
            <a:ext cx="2194560" cy="182880"/>
          </a:xfrm>
          <a:prstGeom prst="rect">
            <a:avLst/>
          </a:prstGeom>
          <a:noFill/>
        </p:spPr>
        <p:txBody>
          <a:bodyPr wrap="square" anchor="t" lIns="0" rIns="0" tIns="0" bIns="0">
            <a:spAutoFit/>
          </a:bodyPr>
          <a:lstStyle/>
          <a:p>
            <a:pPr algn="r">
              <a:spcBef>
                <a:spcPts val="0"/>
              </a:spcBef>
              <a:spcAft>
                <a:spcPts val="0"/>
              </a:spcAft>
            </a:pPr>
            <a:r>
              <a:rPr sz="750" b="0" i="0">
                <a:solidFill>
                  <a:srgbClr val="6B7280"/>
                </a:solidFill>
                <a:latin typeface="Bahnschrift"/>
              </a:rPr>
              <a:t>Portfolio Review  ·  10</a:t>
            </a:r>
          </a:p>
        </p:txBody>
      </p:sp>
      <p:sp>
        <p:nvSpPr>
          <p:cNvPr id="15" name="Rounded Rectangle 14"/>
          <p:cNvSpPr/>
          <p:nvPr/>
        </p:nvSpPr>
        <p:spPr>
          <a:xfrm>
            <a:off x="841248" y="1755648"/>
            <a:ext cx="5117439" cy="1481328"/>
          </a:xfrm>
          <a:prstGeom prst="roundRect">
            <a:avLst>
              <a:gd name="adj" fmla="val 6000"/>
            </a:avLst>
          </a:prstGeom>
          <a:solidFill>
            <a:srgbClr val="F5F6FC"/>
          </a:solidFill>
          <a:ln w="9525">
            <a:solidFill>
              <a:srgbClr val="E5E7E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841248" y="1755648"/>
            <a:ext cx="54864" cy="1481328"/>
          </a:xfrm>
          <a:prstGeom prst="rect">
            <a:avLst/>
          </a:prstGeom>
          <a:solidFill>
            <a:srgbClr val="1B27A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1060704" y="1865376"/>
            <a:ext cx="4660239" cy="274320"/>
          </a:xfrm>
          <a:prstGeom prst="rect">
            <a:avLst/>
          </a:prstGeom>
          <a:noFill/>
        </p:spPr>
        <p:txBody>
          <a:bodyPr wrap="square" anchor="t" lIns="0" rIns="0" tIns="0" bIns="0">
            <a:spAutoFit/>
          </a:bodyPr>
          <a:lstStyle/>
          <a:p>
            <a:pPr algn="l">
              <a:spcBef>
                <a:spcPts val="0"/>
              </a:spcBef>
              <a:spcAft>
                <a:spcPts val="0"/>
              </a:spcAft>
            </a:pPr>
            <a:r>
              <a:rPr sz="900" b="1" i="0" spc="150">
                <a:solidFill>
                  <a:srgbClr val="1B27A3"/>
                </a:solidFill>
                <a:latin typeface="Bahnschrift"/>
              </a:rPr>
              <a:t>QFRA-1</a:t>
            </a:r>
            <a:r>
              <a:rPr sz="900" b="1" i="0" spc="150">
                <a:solidFill>
                  <a:srgbClr val="6B7280"/>
                </a:solidFill>
                <a:latin typeface="Bahnschrift"/>
              </a:rPr>
              <a:t>   ·   SHORT-TERM FRAMEWORK</a:t>
            </a:r>
          </a:p>
        </p:txBody>
      </p:sp>
      <p:sp>
        <p:nvSpPr>
          <p:cNvPr id="18" name="TextBox 17"/>
          <p:cNvSpPr txBox="1"/>
          <p:nvPr/>
        </p:nvSpPr>
        <p:spPr>
          <a:xfrm>
            <a:off x="1060704" y="2139696"/>
            <a:ext cx="4660239" cy="1005840"/>
          </a:xfrm>
          <a:prstGeom prst="rect">
            <a:avLst/>
          </a:prstGeom>
          <a:noFill/>
        </p:spPr>
        <p:txBody>
          <a:bodyPr wrap="square" anchor="t" lIns="0" rIns="0" tIns="0" bIns="0">
            <a:spAutoFit/>
          </a:bodyPr>
          <a:lstStyle/>
          <a:p>
            <a:pPr algn="l">
              <a:lnSpc>
                <a:spcPct val="106000"/>
              </a:lnSpc>
              <a:spcBef>
                <a:spcPts val="0"/>
              </a:spcBef>
              <a:spcAft>
                <a:spcPts val="0"/>
              </a:spcAft>
            </a:pPr>
            <a:r>
              <a:rPr sz="1050" b="0" i="0">
                <a:solidFill>
                  <a:srgbClr val="16233B"/>
                </a:solidFill>
                <a:latin typeface="Georgia"/>
              </a:rPr>
              <a:t>Ranks every fund in a category on how much of its benchmark's rise it captures versus how much of the fall, over a common six-month window, then applies a downside filter after ranking. Covers 181 funds across six categories.</a:t>
            </a:r>
          </a:p>
        </p:txBody>
      </p:sp>
      <p:sp>
        <p:nvSpPr>
          <p:cNvPr id="19" name="Rounded Rectangle 18"/>
          <p:cNvSpPr/>
          <p:nvPr/>
        </p:nvSpPr>
        <p:spPr>
          <a:xfrm>
            <a:off x="6233007" y="1755648"/>
            <a:ext cx="5117439" cy="1481328"/>
          </a:xfrm>
          <a:prstGeom prst="roundRect">
            <a:avLst>
              <a:gd name="adj" fmla="val 6000"/>
            </a:avLst>
          </a:prstGeom>
          <a:solidFill>
            <a:srgbClr val="F5F6FC"/>
          </a:solidFill>
          <a:ln w="9525">
            <a:solidFill>
              <a:srgbClr val="E5E7E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6233007" y="1755648"/>
            <a:ext cx="54864" cy="1481328"/>
          </a:xfrm>
          <a:prstGeom prst="rect">
            <a:avLst/>
          </a:prstGeom>
          <a:solidFill>
            <a:srgbClr val="F2A93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452463" y="1865376"/>
            <a:ext cx="4660239" cy="274320"/>
          </a:xfrm>
          <a:prstGeom prst="rect">
            <a:avLst/>
          </a:prstGeom>
          <a:noFill/>
        </p:spPr>
        <p:txBody>
          <a:bodyPr wrap="square" anchor="t" lIns="0" rIns="0" tIns="0" bIns="0">
            <a:spAutoFit/>
          </a:bodyPr>
          <a:lstStyle/>
          <a:p>
            <a:pPr algn="l">
              <a:spcBef>
                <a:spcPts val="0"/>
              </a:spcBef>
              <a:spcAft>
                <a:spcPts val="0"/>
              </a:spcAft>
            </a:pPr>
            <a:r>
              <a:rPr sz="900" b="1" i="0" spc="150">
                <a:solidFill>
                  <a:srgbClr val="F2A93C"/>
                </a:solidFill>
                <a:latin typeface="Bahnschrift"/>
              </a:rPr>
              <a:t>QFRA-2</a:t>
            </a:r>
            <a:r>
              <a:rPr sz="900" b="1" i="0" spc="150">
                <a:solidFill>
                  <a:srgbClr val="6B7280"/>
                </a:solidFill>
                <a:latin typeface="Bahnschrift"/>
              </a:rPr>
              <a:t>   ·   LONG-TERM FRAMEWORK</a:t>
            </a:r>
          </a:p>
        </p:txBody>
      </p:sp>
      <p:sp>
        <p:nvSpPr>
          <p:cNvPr id="22" name="TextBox 21"/>
          <p:cNvSpPr txBox="1"/>
          <p:nvPr/>
        </p:nvSpPr>
        <p:spPr>
          <a:xfrm>
            <a:off x="6452463" y="2139696"/>
            <a:ext cx="4660239" cy="1005840"/>
          </a:xfrm>
          <a:prstGeom prst="rect">
            <a:avLst/>
          </a:prstGeom>
          <a:noFill/>
        </p:spPr>
        <p:txBody>
          <a:bodyPr wrap="square" anchor="t" lIns="0" rIns="0" tIns="0" bIns="0">
            <a:spAutoFit/>
          </a:bodyPr>
          <a:lstStyle/>
          <a:p>
            <a:pPr algn="l">
              <a:lnSpc>
                <a:spcPct val="106000"/>
              </a:lnSpc>
              <a:spcBef>
                <a:spcPts val="0"/>
              </a:spcBef>
              <a:spcAft>
                <a:spcPts val="0"/>
              </a:spcAft>
            </a:pPr>
            <a:r>
              <a:rPr sz="1050" b="0" i="0">
                <a:solidFill>
                  <a:srgbClr val="16233B"/>
                </a:solidFill>
                <a:latin typeface="Georgia"/>
              </a:rPr>
              <a:t>A curated shortlist of 40 funds across eight categories, scored 0-100 with a letter grade and a conviction level, built for a multi-year holding rather than a six-month window. Its only two verdicts are Active and Index-core: it has NO sell verdict, by design.</a:t>
            </a:r>
          </a:p>
        </p:txBody>
      </p:sp>
      <p:sp>
        <p:nvSpPr>
          <p:cNvPr id="23" name="Rounded Rectangle 22"/>
          <p:cNvSpPr/>
          <p:nvPr/>
        </p:nvSpPr>
        <p:spPr>
          <a:xfrm>
            <a:off x="841248" y="3401568"/>
            <a:ext cx="10509199" cy="932688"/>
          </a:xfrm>
          <a:prstGeom prst="roundRect">
            <a:avLst>
              <a:gd name="adj" fmla="val 4000"/>
            </a:avLst>
          </a:prstGeom>
          <a:solidFill>
            <a:srgbClr val="FBEFD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841248" y="3401568"/>
            <a:ext cx="54864" cy="932688"/>
          </a:xfrm>
          <a:prstGeom prst="rect">
            <a:avLst/>
          </a:prstGeom>
          <a:solidFill>
            <a:srgbClr val="F2A93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1042416" y="3529584"/>
            <a:ext cx="10143439" cy="274320"/>
          </a:xfrm>
          <a:prstGeom prst="rect">
            <a:avLst/>
          </a:prstGeom>
          <a:noFill/>
        </p:spPr>
        <p:txBody>
          <a:bodyPr wrap="square" anchor="t" lIns="0" rIns="0" tIns="0" bIns="0">
            <a:spAutoFit/>
          </a:bodyPr>
          <a:lstStyle/>
          <a:p>
            <a:pPr algn="l">
              <a:spcBef>
                <a:spcPts val="0"/>
              </a:spcBef>
              <a:spcAft>
                <a:spcPts val="0"/>
              </a:spcAft>
            </a:pPr>
            <a:r>
              <a:rPr sz="950" b="1" i="0" spc="60">
                <a:solidFill>
                  <a:srgbClr val="92400E"/>
                </a:solidFill>
                <a:latin typeface="Bahnschrift"/>
              </a:rPr>
              <a:t>HOW A FUND ACTUALLY GETS SOLD, STATED PRECISELY</a:t>
            </a:r>
          </a:p>
        </p:txBody>
      </p:sp>
      <p:sp>
        <p:nvSpPr>
          <p:cNvPr id="26" name="TextBox 25"/>
          <p:cNvSpPr txBox="1"/>
          <p:nvPr/>
        </p:nvSpPr>
        <p:spPr>
          <a:xfrm>
            <a:off x="1042416" y="3803904"/>
            <a:ext cx="10143439" cy="475488"/>
          </a:xfrm>
          <a:prstGeom prst="rect">
            <a:avLst/>
          </a:prstGeom>
          <a:noFill/>
        </p:spPr>
        <p:txBody>
          <a:bodyPr wrap="square" anchor="t" lIns="0" rIns="0" tIns="0" bIns="0">
            <a:spAutoFit/>
          </a:bodyPr>
          <a:lstStyle/>
          <a:p>
            <a:pPr algn="l">
              <a:lnSpc>
                <a:spcPct val="106000"/>
              </a:lnSpc>
              <a:spcBef>
                <a:spcPts val="0"/>
              </a:spcBef>
              <a:spcAft>
                <a:spcPts val="0"/>
              </a:spcAft>
            </a:pPr>
            <a:r>
              <a:rPr sz="1050" b="0" i="0">
                <a:solidFill>
                  <a:srgbClr val="16233B"/>
                </a:solidFill>
                <a:latin typeface="Georgia"/>
              </a:rPr>
              <a:t>QFRA-1 is the only engine that can originate a sell, because it is the only one with a sell verdict. QFRA-2 cannot vote to sell; it can only veto one, since an Active rating is evidence against exiting. Absence from its curated forty is not a negative signal. Disagreement defaults to Hold.</a:t>
            </a:r>
          </a:p>
        </p:txBody>
      </p:sp>
      <p:sp>
        <p:nvSpPr>
          <p:cNvPr id="27" name="Rectangle 26"/>
          <p:cNvSpPr/>
          <p:nvPr/>
        </p:nvSpPr>
        <p:spPr>
          <a:xfrm>
            <a:off x="841248" y="4562856"/>
            <a:ext cx="68580" cy="68580"/>
          </a:xfrm>
          <a:prstGeom prst="rect">
            <a:avLst/>
          </a:prstGeom>
          <a:solidFill>
            <a:srgbClr val="F2A93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1060704" y="4466844"/>
            <a:ext cx="10289743" cy="475488"/>
          </a:xfrm>
          <a:prstGeom prst="rect">
            <a:avLst/>
          </a:prstGeom>
          <a:noFill/>
        </p:spPr>
        <p:txBody>
          <a:bodyPr wrap="square" anchor="t" lIns="0" rIns="0" tIns="0" bIns="0">
            <a:spAutoFit/>
          </a:bodyPr>
          <a:lstStyle/>
          <a:p>
            <a:pPr algn="l">
              <a:lnSpc>
                <a:spcPct val="106000"/>
              </a:lnSpc>
              <a:spcBef>
                <a:spcPts val="0"/>
              </a:spcBef>
              <a:spcAft>
                <a:spcPts val="0"/>
              </a:spcAft>
            </a:pPr>
            <a:r>
              <a:rPr sz="1050" b="0" i="0">
                <a:solidFill>
                  <a:srgbClr val="16233B"/>
                </a:solidFill>
                <a:latin typeface="Georgia"/>
              </a:rPr>
              <a:t>Category coverage is honest: hybrid, sectoral, index, liquid and debt funds sit outside both frameworks and are reported as No View, never given a manufactured score.</a:t>
            </a:r>
          </a:p>
        </p:txBody>
      </p:sp>
      <p:sp>
        <p:nvSpPr>
          <p:cNvPr id="29" name="Rectangle 28"/>
          <p:cNvSpPr/>
          <p:nvPr/>
        </p:nvSpPr>
        <p:spPr>
          <a:xfrm>
            <a:off x="841248" y="5111496"/>
            <a:ext cx="68580" cy="68580"/>
          </a:xfrm>
          <a:prstGeom prst="rect">
            <a:avLst/>
          </a:prstGeom>
          <a:solidFill>
            <a:srgbClr val="F2A93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1060704" y="5015483"/>
            <a:ext cx="10289743" cy="475488"/>
          </a:xfrm>
          <a:prstGeom prst="rect">
            <a:avLst/>
          </a:prstGeom>
          <a:noFill/>
        </p:spPr>
        <p:txBody>
          <a:bodyPr wrap="square" anchor="t" lIns="0" rIns="0" tIns="0" bIns="0">
            <a:spAutoFit/>
          </a:bodyPr>
          <a:lstStyle/>
          <a:p>
            <a:pPr algn="l">
              <a:lnSpc>
                <a:spcPct val="106000"/>
              </a:lnSpc>
              <a:spcBef>
                <a:spcPts val="0"/>
              </a:spcBef>
              <a:spcAft>
                <a:spcPts val="0"/>
              </a:spcAft>
            </a:pPr>
            <a:r>
              <a:rPr sz="1050" b="0" i="0">
                <a:solidFill>
                  <a:srgbClr val="16233B"/>
                </a:solidFill>
                <a:latin typeface="Georgia"/>
              </a:rPr>
              <a:t>Scheme identity is verified fund by fund, with the fund house and mandate confirmed. Name-similarity matching is prohibited after it produced real mis-matches.</a:t>
            </a:r>
          </a:p>
        </p:txBody>
      </p:sp>
      <p:sp>
        <p:nvSpPr>
          <p:cNvPr id="31" name="Rectangle 30"/>
          <p:cNvSpPr/>
          <p:nvPr/>
        </p:nvSpPr>
        <p:spPr>
          <a:xfrm>
            <a:off x="841248" y="5660136"/>
            <a:ext cx="68580" cy="68580"/>
          </a:xfrm>
          <a:prstGeom prst="rect">
            <a:avLst/>
          </a:prstGeom>
          <a:solidFill>
            <a:srgbClr val="F2A93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1060704" y="5564123"/>
            <a:ext cx="10289743" cy="274320"/>
          </a:xfrm>
          <a:prstGeom prst="rect">
            <a:avLst/>
          </a:prstGeom>
          <a:noFill/>
        </p:spPr>
        <p:txBody>
          <a:bodyPr wrap="square" anchor="t" lIns="0" rIns="0" tIns="0" bIns="0">
            <a:spAutoFit/>
          </a:bodyPr>
          <a:lstStyle/>
          <a:p>
            <a:pPr algn="l">
              <a:lnSpc>
                <a:spcPct val="106000"/>
              </a:lnSpc>
              <a:spcBef>
                <a:spcPts val="0"/>
              </a:spcBef>
              <a:spcAft>
                <a:spcPts val="0"/>
              </a:spcAft>
            </a:pPr>
            <a:r>
              <a:rPr sz="1050" b="0" i="0">
                <a:solidFill>
                  <a:srgbClr val="16233B"/>
                </a:solidFill>
                <a:latin typeface="Georgia"/>
              </a:rPr>
              <a:t>A fund with under seven months of record gets No View regardless of what the engines compute.</a:t>
            </a:r>
          </a:p>
        </p:txBody>
      </p:sp>
      <p:sp>
        <p:nvSpPr>
          <p:cNvPr id="33" name="TextBox 32"/>
          <p:cNvSpPr txBox="1"/>
          <p:nvPr/>
        </p:nvSpPr>
        <p:spPr>
          <a:xfrm>
            <a:off x="841248" y="6089904"/>
            <a:ext cx="10509199" cy="219456"/>
          </a:xfrm>
          <a:prstGeom prst="rect">
            <a:avLst/>
          </a:prstGeom>
          <a:noFill/>
        </p:spPr>
        <p:txBody>
          <a:bodyPr wrap="square" anchor="t" lIns="0" rIns="0" tIns="0" bIns="0">
            <a:spAutoFit/>
          </a:bodyPr>
          <a:lstStyle/>
          <a:p>
            <a:pPr algn="l">
              <a:spcBef>
                <a:spcPts val="0"/>
              </a:spcBef>
              <a:spcAft>
                <a:spcPts val="0"/>
              </a:spcAft>
            </a:pPr>
            <a:r>
              <a:rPr sz="700" b="0" i="0">
                <a:solidFill>
                  <a:srgbClr val="6B7280"/>
                </a:solidFill>
                <a:latin typeface="Bahnschrift"/>
              </a:rPr>
              <a:t>Fund models re-run at April-end and October-end; monthly net-asset-value history accrues in between so each run has a full window.</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logo_clean.png"/>
          <p:cNvPicPr>
            <a:picLocks noChangeAspect="1"/>
          </p:cNvPicPr>
          <p:nvPr/>
        </p:nvPicPr>
        <p:blipFill>
          <a:blip r:embed="rId2"/>
          <a:stretch>
            <a:fillRect/>
          </a:stretch>
        </p:blipFill>
        <p:spPr>
          <a:xfrm>
            <a:off x="9674809" y="365760"/>
            <a:ext cx="1629918" cy="283464"/>
          </a:xfrm>
          <a:prstGeom prst="rect">
            <a:avLst/>
          </a:prstGeom>
        </p:spPr>
      </p:pic>
      <p:sp>
        <p:nvSpPr>
          <p:cNvPr id="4" name="TextBox 3"/>
          <p:cNvSpPr txBox="1"/>
          <p:nvPr/>
        </p:nvSpPr>
        <p:spPr>
          <a:xfrm>
            <a:off x="4541367" y="128016"/>
            <a:ext cx="3108960" cy="182880"/>
          </a:xfrm>
          <a:prstGeom prst="rect">
            <a:avLst/>
          </a:prstGeom>
          <a:noFill/>
        </p:spPr>
        <p:txBody>
          <a:bodyPr wrap="square" anchor="t" lIns="0" rIns="0" tIns="0" bIns="0">
            <a:spAutoFit/>
          </a:bodyPr>
          <a:lstStyle/>
          <a:p>
            <a:pPr algn="ctr">
              <a:spcBef>
                <a:spcPts val="0"/>
              </a:spcBef>
              <a:spcAft>
                <a:spcPts val="0"/>
              </a:spcAft>
            </a:pPr>
            <a:r>
              <a:rPr sz="750" b="0" i="0">
                <a:solidFill>
                  <a:srgbClr val="6B7280"/>
                </a:solidFill>
                <a:latin typeface="Bahnschrift"/>
              </a:rPr>
              <a:t>Private &amp; Confidential</a:t>
            </a:r>
          </a:p>
        </p:txBody>
      </p:sp>
      <p:sp>
        <p:nvSpPr>
          <p:cNvPr id="5" name="TextBox 4"/>
          <p:cNvSpPr txBox="1"/>
          <p:nvPr/>
        </p:nvSpPr>
        <p:spPr>
          <a:xfrm>
            <a:off x="7863840" y="274320"/>
            <a:ext cx="1749247" cy="201168"/>
          </a:xfrm>
          <a:prstGeom prst="rect">
            <a:avLst/>
          </a:prstGeom>
          <a:noFill/>
        </p:spPr>
        <p:txBody>
          <a:bodyPr wrap="square" anchor="t" lIns="0" rIns="0" tIns="0" bIns="0">
            <a:spAutoFit/>
          </a:bodyPr>
          <a:lstStyle/>
          <a:p>
            <a:pPr algn="r">
              <a:spcBef>
                <a:spcPts val="0"/>
              </a:spcBef>
              <a:spcAft>
                <a:spcPts val="0"/>
              </a:spcAft>
            </a:pPr>
            <a:r>
              <a:rPr sz="750" b="1" i="0" spc="120">
                <a:solidFill>
                  <a:srgbClr val="8C95DE"/>
                </a:solidFill>
                <a:latin typeface="Bahnschrift"/>
              </a:rPr>
              <a:t>01 · THE MODEL</a:t>
            </a:r>
          </a:p>
        </p:txBody>
      </p:sp>
      <p:sp>
        <p:nvSpPr>
          <p:cNvPr id="6" name="Rectangle 5"/>
          <p:cNvSpPr/>
          <p:nvPr/>
        </p:nvSpPr>
        <p:spPr>
          <a:xfrm>
            <a:off x="8549640" y="512064"/>
            <a:ext cx="137160" cy="20116"/>
          </a:xfrm>
          <a:prstGeom prst="rect">
            <a:avLst/>
          </a:prstGeom>
          <a:solidFill>
            <a:srgbClr val="1B27A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8732519" y="512064"/>
            <a:ext cx="137160" cy="20116"/>
          </a:xfrm>
          <a:prstGeom prst="rect">
            <a:avLst/>
          </a:prstGeom>
          <a:solidFill>
            <a:srgbClr val="E5E7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8915400" y="512064"/>
            <a:ext cx="137160" cy="20116"/>
          </a:xfrm>
          <a:prstGeom prst="rect">
            <a:avLst/>
          </a:prstGeom>
          <a:solidFill>
            <a:srgbClr val="E5E7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9098280" y="512064"/>
            <a:ext cx="137160" cy="20116"/>
          </a:xfrm>
          <a:prstGeom prst="rect">
            <a:avLst/>
          </a:prstGeom>
          <a:solidFill>
            <a:srgbClr val="E5E7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9281160" y="512064"/>
            <a:ext cx="137160" cy="20116"/>
          </a:xfrm>
          <a:prstGeom prst="rect">
            <a:avLst/>
          </a:prstGeom>
          <a:solidFill>
            <a:srgbClr val="E5E7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41248" y="420624"/>
            <a:ext cx="6858000" cy="502920"/>
          </a:xfrm>
          <a:prstGeom prst="rect">
            <a:avLst/>
          </a:prstGeom>
          <a:noFill/>
        </p:spPr>
        <p:txBody>
          <a:bodyPr wrap="square" anchor="t" lIns="0" rIns="0" tIns="0" bIns="0">
            <a:spAutoFit/>
          </a:bodyPr>
          <a:lstStyle/>
          <a:p>
            <a:pPr algn="l">
              <a:spcBef>
                <a:spcPts val="0"/>
              </a:spcBef>
              <a:spcAft>
                <a:spcPts val="0"/>
              </a:spcAft>
            </a:pPr>
            <a:r>
              <a:rPr sz="2600" b="1" i="0">
                <a:solidFill>
                  <a:srgbClr val="1B27A3"/>
                </a:solidFill>
                <a:latin typeface="Bahnschrift"/>
              </a:rPr>
              <a:t>Coverage today</a:t>
            </a:r>
          </a:p>
        </p:txBody>
      </p:sp>
      <p:sp>
        <p:nvSpPr>
          <p:cNvPr id="12" name="TextBox 11"/>
          <p:cNvSpPr txBox="1"/>
          <p:nvPr/>
        </p:nvSpPr>
        <p:spPr>
          <a:xfrm>
            <a:off x="841248" y="950976"/>
            <a:ext cx="9692640" cy="411480"/>
          </a:xfrm>
          <a:prstGeom prst="rect">
            <a:avLst/>
          </a:prstGeom>
          <a:noFill/>
        </p:spPr>
        <p:txBody>
          <a:bodyPr wrap="square" anchor="t" lIns="0" rIns="0" tIns="0" bIns="0">
            <a:spAutoFit/>
          </a:bodyPr>
          <a:lstStyle/>
          <a:p>
            <a:pPr algn="l">
              <a:spcBef>
                <a:spcPts val="0"/>
              </a:spcBef>
              <a:spcAft>
                <a:spcPts val="0"/>
              </a:spcAft>
            </a:pPr>
            <a:r>
              <a:rPr sz="1750" b="1" i="0">
                <a:solidFill>
                  <a:srgbClr val="F2A93C"/>
                </a:solidFill>
                <a:latin typeface="Bahnschrift"/>
              </a:rPr>
              <a:t>What is actually scored, as of this review</a:t>
            </a:r>
          </a:p>
        </p:txBody>
      </p:sp>
      <p:sp>
        <p:nvSpPr>
          <p:cNvPr id="13" name="Rectangle 12"/>
          <p:cNvSpPr/>
          <p:nvPr/>
        </p:nvSpPr>
        <p:spPr>
          <a:xfrm>
            <a:off x="841248" y="1408176"/>
            <a:ext cx="10509199" cy="21945"/>
          </a:xfrm>
          <a:prstGeom prst="rect">
            <a:avLst/>
          </a:prstGeom>
          <a:solidFill>
            <a:srgbClr val="1B27A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9155887" y="6528816"/>
            <a:ext cx="2194560" cy="182880"/>
          </a:xfrm>
          <a:prstGeom prst="rect">
            <a:avLst/>
          </a:prstGeom>
          <a:noFill/>
        </p:spPr>
        <p:txBody>
          <a:bodyPr wrap="square" anchor="t" lIns="0" rIns="0" tIns="0" bIns="0">
            <a:spAutoFit/>
          </a:bodyPr>
          <a:lstStyle/>
          <a:p>
            <a:pPr algn="r">
              <a:spcBef>
                <a:spcPts val="0"/>
              </a:spcBef>
              <a:spcAft>
                <a:spcPts val="0"/>
              </a:spcAft>
            </a:pPr>
            <a:r>
              <a:rPr sz="750" b="0" i="0">
                <a:solidFill>
                  <a:srgbClr val="6B7280"/>
                </a:solidFill>
                <a:latin typeface="Bahnschrift"/>
              </a:rPr>
              <a:t>Portfolio Review  ·  11</a:t>
            </a:r>
          </a:p>
        </p:txBody>
      </p:sp>
      <p:sp>
        <p:nvSpPr>
          <p:cNvPr id="15" name="TextBox 14"/>
          <p:cNvSpPr txBox="1"/>
          <p:nvPr/>
        </p:nvSpPr>
        <p:spPr>
          <a:xfrm>
            <a:off x="841248" y="1645920"/>
            <a:ext cx="1964679" cy="457200"/>
          </a:xfrm>
          <a:prstGeom prst="rect">
            <a:avLst/>
          </a:prstGeom>
          <a:noFill/>
        </p:spPr>
        <p:txBody>
          <a:bodyPr wrap="square" anchor="t" lIns="0" rIns="0" tIns="0" bIns="0">
            <a:spAutoFit/>
          </a:bodyPr>
          <a:lstStyle/>
          <a:p>
            <a:pPr algn="l">
              <a:spcBef>
                <a:spcPts val="0"/>
              </a:spcBef>
              <a:spcAft>
                <a:spcPts val="0"/>
              </a:spcAft>
            </a:pPr>
            <a:r>
              <a:rPr sz="2700" b="0" i="0">
                <a:solidFill>
                  <a:srgbClr val="1B27A3"/>
                </a:solidFill>
                <a:latin typeface="Bahnschrift"/>
              </a:rPr>
              <a:t>751</a:t>
            </a:r>
          </a:p>
        </p:txBody>
      </p:sp>
      <p:sp>
        <p:nvSpPr>
          <p:cNvPr id="16" name="TextBox 15"/>
          <p:cNvSpPr txBox="1"/>
          <p:nvPr/>
        </p:nvSpPr>
        <p:spPr>
          <a:xfrm>
            <a:off x="841248" y="2121408"/>
            <a:ext cx="1964679" cy="173736"/>
          </a:xfrm>
          <a:prstGeom prst="rect">
            <a:avLst/>
          </a:prstGeom>
          <a:noFill/>
        </p:spPr>
        <p:txBody>
          <a:bodyPr wrap="square" anchor="t" lIns="0" rIns="0" tIns="0" bIns="0">
            <a:spAutoFit/>
          </a:bodyPr>
          <a:lstStyle/>
          <a:p>
            <a:pPr algn="l">
              <a:lnSpc>
                <a:spcPct val="100000"/>
              </a:lnSpc>
              <a:spcBef>
                <a:spcPts val="0"/>
              </a:spcBef>
              <a:spcAft>
                <a:spcPts val="0"/>
              </a:spcAft>
            </a:pPr>
            <a:r>
              <a:rPr sz="800" b="1" i="0" spc="200">
                <a:solidFill>
                  <a:srgbClr val="6B7280"/>
                </a:solidFill>
                <a:latin typeface="Bahnschrift"/>
              </a:rPr>
              <a:t>STOCKS IN THE UNIVERSE</a:t>
            </a:r>
          </a:p>
        </p:txBody>
      </p:sp>
      <p:sp>
        <p:nvSpPr>
          <p:cNvPr id="17" name="TextBox 16"/>
          <p:cNvSpPr txBox="1"/>
          <p:nvPr/>
        </p:nvSpPr>
        <p:spPr>
          <a:xfrm>
            <a:off x="841248" y="2304288"/>
            <a:ext cx="1964679" cy="182880"/>
          </a:xfrm>
          <a:prstGeom prst="rect">
            <a:avLst/>
          </a:prstGeom>
          <a:noFill/>
        </p:spPr>
        <p:txBody>
          <a:bodyPr wrap="square" anchor="t" lIns="0" rIns="0" tIns="0" bIns="0">
            <a:spAutoFit/>
          </a:bodyPr>
          <a:lstStyle/>
          <a:p>
            <a:pPr algn="l">
              <a:spcBef>
                <a:spcPts val="0"/>
              </a:spcBef>
              <a:spcAft>
                <a:spcPts val="0"/>
              </a:spcAft>
            </a:pPr>
            <a:r>
              <a:rPr sz="800" b="0" i="0">
                <a:solidFill>
                  <a:srgbClr val="8C95DE"/>
                </a:solidFill>
                <a:latin typeface="Bahnschrift"/>
              </a:rPr>
              <a:t>quant layer complete</a:t>
            </a:r>
          </a:p>
        </p:txBody>
      </p:sp>
      <p:sp>
        <p:nvSpPr>
          <p:cNvPr id="18" name="TextBox 17"/>
          <p:cNvSpPr txBox="1"/>
          <p:nvPr/>
        </p:nvSpPr>
        <p:spPr>
          <a:xfrm>
            <a:off x="2943087" y="1645920"/>
            <a:ext cx="1964679" cy="457200"/>
          </a:xfrm>
          <a:prstGeom prst="rect">
            <a:avLst/>
          </a:prstGeom>
          <a:noFill/>
        </p:spPr>
        <p:txBody>
          <a:bodyPr wrap="square" anchor="t" lIns="0" rIns="0" tIns="0" bIns="0">
            <a:spAutoFit/>
          </a:bodyPr>
          <a:lstStyle/>
          <a:p>
            <a:pPr algn="l">
              <a:spcBef>
                <a:spcPts val="0"/>
              </a:spcBef>
              <a:spcAft>
                <a:spcPts val="0"/>
              </a:spcAft>
            </a:pPr>
            <a:r>
              <a:rPr sz="2700" b="0" i="0">
                <a:solidFill>
                  <a:srgbClr val="1E9E6A"/>
                </a:solidFill>
                <a:latin typeface="Bahnschrift"/>
              </a:rPr>
              <a:t>751</a:t>
            </a:r>
          </a:p>
        </p:txBody>
      </p:sp>
      <p:sp>
        <p:nvSpPr>
          <p:cNvPr id="19" name="TextBox 18"/>
          <p:cNvSpPr txBox="1"/>
          <p:nvPr/>
        </p:nvSpPr>
        <p:spPr>
          <a:xfrm>
            <a:off x="2943087" y="2121408"/>
            <a:ext cx="1964679" cy="173736"/>
          </a:xfrm>
          <a:prstGeom prst="rect">
            <a:avLst/>
          </a:prstGeom>
          <a:noFill/>
        </p:spPr>
        <p:txBody>
          <a:bodyPr wrap="square" anchor="t" lIns="0" rIns="0" tIns="0" bIns="0">
            <a:spAutoFit/>
          </a:bodyPr>
          <a:lstStyle/>
          <a:p>
            <a:pPr algn="l">
              <a:lnSpc>
                <a:spcPct val="100000"/>
              </a:lnSpc>
              <a:spcBef>
                <a:spcPts val="0"/>
              </a:spcBef>
              <a:spcAft>
                <a:spcPts val="0"/>
              </a:spcAft>
            </a:pPr>
            <a:r>
              <a:rPr sz="800" b="1" i="0" spc="200">
                <a:solidFill>
                  <a:srgbClr val="6B7280"/>
                </a:solidFill>
                <a:latin typeface="Bahnschrift"/>
              </a:rPr>
              <a:t>WITH ANALYST RESEARCH</a:t>
            </a:r>
          </a:p>
        </p:txBody>
      </p:sp>
      <p:sp>
        <p:nvSpPr>
          <p:cNvPr id="20" name="TextBox 19"/>
          <p:cNvSpPr txBox="1"/>
          <p:nvPr/>
        </p:nvSpPr>
        <p:spPr>
          <a:xfrm>
            <a:off x="2943087" y="2304288"/>
            <a:ext cx="1964679" cy="182880"/>
          </a:xfrm>
          <a:prstGeom prst="rect">
            <a:avLst/>
          </a:prstGeom>
          <a:noFill/>
        </p:spPr>
        <p:txBody>
          <a:bodyPr wrap="square" anchor="t" lIns="0" rIns="0" tIns="0" bIns="0">
            <a:spAutoFit/>
          </a:bodyPr>
          <a:lstStyle/>
          <a:p>
            <a:pPr algn="l">
              <a:spcBef>
                <a:spcPts val="0"/>
              </a:spcBef>
              <a:spcAft>
                <a:spcPts val="0"/>
              </a:spcAft>
            </a:pPr>
            <a:r>
              <a:rPr sz="800" b="0" i="0">
                <a:solidFill>
                  <a:srgbClr val="8C95DE"/>
                </a:solidFill>
                <a:latin typeface="Bahnschrift"/>
              </a:rPr>
              <a:t>100% coverage</a:t>
            </a:r>
          </a:p>
        </p:txBody>
      </p:sp>
      <p:sp>
        <p:nvSpPr>
          <p:cNvPr id="21" name="Rectangle 20"/>
          <p:cNvSpPr/>
          <p:nvPr/>
        </p:nvSpPr>
        <p:spPr>
          <a:xfrm>
            <a:off x="2888223" y="1691640"/>
            <a:ext cx="7315" cy="566928"/>
          </a:xfrm>
          <a:prstGeom prst="rect">
            <a:avLst/>
          </a:prstGeom>
          <a:solidFill>
            <a:srgbClr val="E5E7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5044927" y="1645920"/>
            <a:ext cx="1964679" cy="457200"/>
          </a:xfrm>
          <a:prstGeom prst="rect">
            <a:avLst/>
          </a:prstGeom>
          <a:noFill/>
        </p:spPr>
        <p:txBody>
          <a:bodyPr wrap="square" anchor="t" lIns="0" rIns="0" tIns="0" bIns="0">
            <a:spAutoFit/>
          </a:bodyPr>
          <a:lstStyle/>
          <a:p>
            <a:pPr algn="l">
              <a:spcBef>
                <a:spcPts val="0"/>
              </a:spcBef>
              <a:spcAft>
                <a:spcPts val="0"/>
              </a:spcAft>
            </a:pPr>
            <a:r>
              <a:rPr sz="2700" b="0" i="0">
                <a:solidFill>
                  <a:srgbClr val="16233B"/>
                </a:solidFill>
                <a:latin typeface="Bahnschrift"/>
              </a:rPr>
              <a:t>560 / 191</a:t>
            </a:r>
          </a:p>
        </p:txBody>
      </p:sp>
      <p:sp>
        <p:nvSpPr>
          <p:cNvPr id="23" name="TextBox 22"/>
          <p:cNvSpPr txBox="1"/>
          <p:nvPr/>
        </p:nvSpPr>
        <p:spPr>
          <a:xfrm>
            <a:off x="5044927" y="2121408"/>
            <a:ext cx="1964679" cy="173736"/>
          </a:xfrm>
          <a:prstGeom prst="rect">
            <a:avLst/>
          </a:prstGeom>
          <a:noFill/>
        </p:spPr>
        <p:txBody>
          <a:bodyPr wrap="square" anchor="t" lIns="0" rIns="0" tIns="0" bIns="0">
            <a:spAutoFit/>
          </a:bodyPr>
          <a:lstStyle/>
          <a:p>
            <a:pPr algn="l">
              <a:lnSpc>
                <a:spcPct val="100000"/>
              </a:lnSpc>
              <a:spcBef>
                <a:spcPts val="0"/>
              </a:spcBef>
              <a:spcAft>
                <a:spcPts val="0"/>
              </a:spcAft>
            </a:pPr>
            <a:r>
              <a:rPr sz="800" b="1" i="0" spc="200">
                <a:solidFill>
                  <a:srgbClr val="6B7280"/>
                </a:solidFill>
                <a:latin typeface="Bahnschrift"/>
              </a:rPr>
              <a:t>HOLD / SELL</a:t>
            </a:r>
          </a:p>
        </p:txBody>
      </p:sp>
      <p:sp>
        <p:nvSpPr>
          <p:cNvPr id="24" name="TextBox 23"/>
          <p:cNvSpPr txBox="1"/>
          <p:nvPr/>
        </p:nvSpPr>
        <p:spPr>
          <a:xfrm>
            <a:off x="5044927" y="2304288"/>
            <a:ext cx="1964679" cy="182880"/>
          </a:xfrm>
          <a:prstGeom prst="rect">
            <a:avLst/>
          </a:prstGeom>
          <a:noFill/>
        </p:spPr>
        <p:txBody>
          <a:bodyPr wrap="square" anchor="t" lIns="0" rIns="0" tIns="0" bIns="0">
            <a:spAutoFit/>
          </a:bodyPr>
          <a:lstStyle/>
          <a:p>
            <a:pPr algn="l">
              <a:spcBef>
                <a:spcPts val="0"/>
              </a:spcBef>
              <a:spcAft>
                <a:spcPts val="0"/>
              </a:spcAft>
            </a:pPr>
            <a:r>
              <a:rPr sz="800" b="0" i="0">
                <a:solidFill>
                  <a:srgbClr val="8C95DE"/>
                </a:solidFill>
                <a:latin typeface="Bahnschrift"/>
              </a:rPr>
              <a:t>the current book of calls</a:t>
            </a:r>
          </a:p>
        </p:txBody>
      </p:sp>
      <p:sp>
        <p:nvSpPr>
          <p:cNvPr id="25" name="Rectangle 24"/>
          <p:cNvSpPr/>
          <p:nvPr/>
        </p:nvSpPr>
        <p:spPr>
          <a:xfrm>
            <a:off x="4990063" y="1691640"/>
            <a:ext cx="7315" cy="566928"/>
          </a:xfrm>
          <a:prstGeom prst="rect">
            <a:avLst/>
          </a:prstGeom>
          <a:solidFill>
            <a:srgbClr val="E5E7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7146767" y="1645920"/>
            <a:ext cx="1964679" cy="457200"/>
          </a:xfrm>
          <a:prstGeom prst="rect">
            <a:avLst/>
          </a:prstGeom>
          <a:noFill/>
        </p:spPr>
        <p:txBody>
          <a:bodyPr wrap="square" anchor="t" lIns="0" rIns="0" tIns="0" bIns="0">
            <a:spAutoFit/>
          </a:bodyPr>
          <a:lstStyle/>
          <a:p>
            <a:pPr algn="l">
              <a:spcBef>
                <a:spcPts val="0"/>
              </a:spcBef>
              <a:spcAft>
                <a:spcPts val="0"/>
              </a:spcAft>
            </a:pPr>
            <a:r>
              <a:rPr sz="2700" b="0" i="0">
                <a:solidFill>
                  <a:srgbClr val="92400E"/>
                </a:solidFill>
                <a:latin typeface="Bahnschrift"/>
              </a:rPr>
              <a:t>126</a:t>
            </a:r>
          </a:p>
        </p:txBody>
      </p:sp>
      <p:sp>
        <p:nvSpPr>
          <p:cNvPr id="27" name="TextBox 26"/>
          <p:cNvSpPr txBox="1"/>
          <p:nvPr/>
        </p:nvSpPr>
        <p:spPr>
          <a:xfrm>
            <a:off x="7146767" y="2121408"/>
            <a:ext cx="1964679" cy="173736"/>
          </a:xfrm>
          <a:prstGeom prst="rect">
            <a:avLst/>
          </a:prstGeom>
          <a:noFill/>
        </p:spPr>
        <p:txBody>
          <a:bodyPr wrap="square" anchor="t" lIns="0" rIns="0" tIns="0" bIns="0">
            <a:spAutoFit/>
          </a:bodyPr>
          <a:lstStyle/>
          <a:p>
            <a:pPr algn="l">
              <a:lnSpc>
                <a:spcPct val="100000"/>
              </a:lnSpc>
              <a:spcBef>
                <a:spcPts val="0"/>
              </a:spcBef>
              <a:spcAft>
                <a:spcPts val="0"/>
              </a:spcAft>
            </a:pPr>
            <a:r>
              <a:rPr sz="800" b="1" i="0" spc="200">
                <a:solidFill>
                  <a:srgbClr val="6B7280"/>
                </a:solidFill>
                <a:latin typeface="Bahnschrift"/>
              </a:rPr>
              <a:t>ESCALATIONS</a:t>
            </a:r>
          </a:p>
        </p:txBody>
      </p:sp>
      <p:sp>
        <p:nvSpPr>
          <p:cNvPr id="28" name="TextBox 27"/>
          <p:cNvSpPr txBox="1"/>
          <p:nvPr/>
        </p:nvSpPr>
        <p:spPr>
          <a:xfrm>
            <a:off x="7146767" y="2304288"/>
            <a:ext cx="1964679" cy="182880"/>
          </a:xfrm>
          <a:prstGeom prst="rect">
            <a:avLst/>
          </a:prstGeom>
          <a:noFill/>
        </p:spPr>
        <p:txBody>
          <a:bodyPr wrap="square" anchor="t" lIns="0" rIns="0" tIns="0" bIns="0">
            <a:spAutoFit/>
          </a:bodyPr>
          <a:lstStyle/>
          <a:p>
            <a:pPr algn="l">
              <a:spcBef>
                <a:spcPts val="0"/>
              </a:spcBef>
              <a:spcAft>
                <a:spcPts val="0"/>
              </a:spcAft>
            </a:pPr>
            <a:r>
              <a:rPr sz="800" b="0" i="0">
                <a:solidFill>
                  <a:srgbClr val="8C95DE"/>
                </a:solidFill>
                <a:latin typeface="Bahnschrift"/>
              </a:rPr>
              <a:t>open for desk ruling</a:t>
            </a:r>
          </a:p>
        </p:txBody>
      </p:sp>
      <p:sp>
        <p:nvSpPr>
          <p:cNvPr id="29" name="Rectangle 28"/>
          <p:cNvSpPr/>
          <p:nvPr/>
        </p:nvSpPr>
        <p:spPr>
          <a:xfrm>
            <a:off x="7091903" y="1691640"/>
            <a:ext cx="7315" cy="566928"/>
          </a:xfrm>
          <a:prstGeom prst="rect">
            <a:avLst/>
          </a:prstGeom>
          <a:solidFill>
            <a:srgbClr val="E5E7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9248607" y="1645920"/>
            <a:ext cx="1964679" cy="457200"/>
          </a:xfrm>
          <a:prstGeom prst="rect">
            <a:avLst/>
          </a:prstGeom>
          <a:noFill/>
        </p:spPr>
        <p:txBody>
          <a:bodyPr wrap="square" anchor="t" lIns="0" rIns="0" tIns="0" bIns="0">
            <a:spAutoFit/>
          </a:bodyPr>
          <a:lstStyle/>
          <a:p>
            <a:pPr algn="l">
              <a:spcBef>
                <a:spcPts val="0"/>
              </a:spcBef>
              <a:spcAft>
                <a:spcPts val="0"/>
              </a:spcAft>
            </a:pPr>
            <a:r>
              <a:rPr sz="2700" b="0" i="0">
                <a:solidFill>
                  <a:srgbClr val="1B27A3"/>
                </a:solidFill>
                <a:latin typeface="Bahnschrift"/>
              </a:rPr>
              <a:t>2</a:t>
            </a:r>
          </a:p>
        </p:txBody>
      </p:sp>
      <p:sp>
        <p:nvSpPr>
          <p:cNvPr id="31" name="TextBox 30"/>
          <p:cNvSpPr txBox="1"/>
          <p:nvPr/>
        </p:nvSpPr>
        <p:spPr>
          <a:xfrm>
            <a:off x="9248607" y="2121408"/>
            <a:ext cx="1964679" cy="173736"/>
          </a:xfrm>
          <a:prstGeom prst="rect">
            <a:avLst/>
          </a:prstGeom>
          <a:noFill/>
        </p:spPr>
        <p:txBody>
          <a:bodyPr wrap="square" anchor="t" lIns="0" rIns="0" tIns="0" bIns="0">
            <a:spAutoFit/>
          </a:bodyPr>
          <a:lstStyle/>
          <a:p>
            <a:pPr algn="l">
              <a:lnSpc>
                <a:spcPct val="100000"/>
              </a:lnSpc>
              <a:spcBef>
                <a:spcPts val="0"/>
              </a:spcBef>
              <a:spcAft>
                <a:spcPts val="0"/>
              </a:spcAft>
            </a:pPr>
            <a:r>
              <a:rPr sz="800" b="1" i="0" spc="200">
                <a:solidFill>
                  <a:srgbClr val="6B7280"/>
                </a:solidFill>
                <a:latin typeface="Bahnschrift"/>
              </a:rPr>
              <a:t>CLIENT BOOKS SHIPPED</a:t>
            </a:r>
          </a:p>
        </p:txBody>
      </p:sp>
      <p:sp>
        <p:nvSpPr>
          <p:cNvPr id="32" name="TextBox 31"/>
          <p:cNvSpPr txBox="1"/>
          <p:nvPr/>
        </p:nvSpPr>
        <p:spPr>
          <a:xfrm>
            <a:off x="9248607" y="2304288"/>
            <a:ext cx="1964679" cy="182880"/>
          </a:xfrm>
          <a:prstGeom prst="rect">
            <a:avLst/>
          </a:prstGeom>
          <a:noFill/>
        </p:spPr>
        <p:txBody>
          <a:bodyPr wrap="square" anchor="t" lIns="0" rIns="0" tIns="0" bIns="0">
            <a:spAutoFit/>
          </a:bodyPr>
          <a:lstStyle/>
          <a:p>
            <a:pPr algn="l">
              <a:spcBef>
                <a:spcPts val="0"/>
              </a:spcBef>
              <a:spcAft>
                <a:spcPts val="0"/>
              </a:spcAft>
            </a:pPr>
            <a:r>
              <a:rPr sz="800" b="0" i="0">
                <a:solidFill>
                  <a:srgbClr val="8C95DE"/>
                </a:solidFill>
                <a:latin typeface="Bahnschrift"/>
              </a:rPr>
              <a:t>end to end</a:t>
            </a:r>
          </a:p>
        </p:txBody>
      </p:sp>
      <p:sp>
        <p:nvSpPr>
          <p:cNvPr id="33" name="Rectangle 32"/>
          <p:cNvSpPr/>
          <p:nvPr/>
        </p:nvSpPr>
        <p:spPr>
          <a:xfrm>
            <a:off x="9193743" y="1691640"/>
            <a:ext cx="7315" cy="566928"/>
          </a:xfrm>
          <a:prstGeom prst="rect">
            <a:avLst/>
          </a:prstGeom>
          <a:solidFill>
            <a:srgbClr val="E5E7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Rectangle 33"/>
          <p:cNvSpPr/>
          <p:nvPr/>
        </p:nvSpPr>
        <p:spPr>
          <a:xfrm>
            <a:off x="841248" y="2898648"/>
            <a:ext cx="68580" cy="68580"/>
          </a:xfrm>
          <a:prstGeom prst="rect">
            <a:avLst/>
          </a:prstGeom>
          <a:solidFill>
            <a:srgbClr val="F2A93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1060704" y="2802636"/>
            <a:ext cx="4803343" cy="475488"/>
          </a:xfrm>
          <a:prstGeom prst="rect">
            <a:avLst/>
          </a:prstGeom>
          <a:noFill/>
        </p:spPr>
        <p:txBody>
          <a:bodyPr wrap="square" anchor="t" lIns="0" rIns="0" tIns="0" bIns="0">
            <a:spAutoFit/>
          </a:bodyPr>
          <a:lstStyle/>
          <a:p>
            <a:pPr algn="l">
              <a:lnSpc>
                <a:spcPct val="106000"/>
              </a:lnSpc>
              <a:spcBef>
                <a:spcPts val="0"/>
              </a:spcBef>
              <a:spcAft>
                <a:spcPts val="0"/>
              </a:spcAft>
            </a:pPr>
            <a:r>
              <a:rPr sz="1050" b="0" i="0">
                <a:solidFill>
                  <a:srgbClr val="16233B"/>
                </a:solidFill>
                <a:latin typeface="Georgia"/>
              </a:rPr>
              <a:t>Full analyst coverage was reached on 3 August 2026: all 751 names carry an engine score and a written human case.</a:t>
            </a:r>
          </a:p>
        </p:txBody>
      </p:sp>
      <p:sp>
        <p:nvSpPr>
          <p:cNvPr id="36" name="Rectangle 35"/>
          <p:cNvSpPr/>
          <p:nvPr/>
        </p:nvSpPr>
        <p:spPr>
          <a:xfrm>
            <a:off x="841248" y="3483864"/>
            <a:ext cx="68580" cy="68580"/>
          </a:xfrm>
          <a:prstGeom prst="rect">
            <a:avLst/>
          </a:prstGeom>
          <a:solidFill>
            <a:srgbClr val="F2A93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1060704" y="3387852"/>
            <a:ext cx="4803343" cy="475488"/>
          </a:xfrm>
          <a:prstGeom prst="rect">
            <a:avLst/>
          </a:prstGeom>
          <a:noFill/>
        </p:spPr>
        <p:txBody>
          <a:bodyPr wrap="square" anchor="t" lIns="0" rIns="0" tIns="0" bIns="0">
            <a:spAutoFit/>
          </a:bodyPr>
          <a:lstStyle/>
          <a:p>
            <a:pPr algn="l">
              <a:lnSpc>
                <a:spcPct val="106000"/>
              </a:lnSpc>
              <a:spcBef>
                <a:spcPts val="0"/>
              </a:spcBef>
              <a:spcAft>
                <a:spcPts val="0"/>
              </a:spcAft>
            </a:pPr>
            <a:r>
              <a:rPr sz="1050" b="0" i="0">
                <a:solidFill>
                  <a:srgbClr val="16233B"/>
                </a:solidFill>
                <a:latin typeface="Georgia"/>
              </a:rPr>
              <a:t>191 Sells against 560 Holds is about a quarter of the universe, in line with the engine's historical rate. Far below that would suggest override leakage.</a:t>
            </a:r>
          </a:p>
        </p:txBody>
      </p:sp>
      <p:sp>
        <p:nvSpPr>
          <p:cNvPr id="38" name="Rectangle 37"/>
          <p:cNvSpPr/>
          <p:nvPr/>
        </p:nvSpPr>
        <p:spPr>
          <a:xfrm>
            <a:off x="841248" y="4069080"/>
            <a:ext cx="68580" cy="68580"/>
          </a:xfrm>
          <a:prstGeom prst="rect">
            <a:avLst/>
          </a:prstGeom>
          <a:solidFill>
            <a:srgbClr val="F2A93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1060704" y="3973068"/>
            <a:ext cx="4803343" cy="475488"/>
          </a:xfrm>
          <a:prstGeom prst="rect">
            <a:avLst/>
          </a:prstGeom>
          <a:noFill/>
        </p:spPr>
        <p:txBody>
          <a:bodyPr wrap="square" anchor="t" lIns="0" rIns="0" tIns="0" bIns="0">
            <a:spAutoFit/>
          </a:bodyPr>
          <a:lstStyle/>
          <a:p>
            <a:pPr algn="l">
              <a:lnSpc>
                <a:spcPct val="106000"/>
              </a:lnSpc>
              <a:spcBef>
                <a:spcPts val="0"/>
              </a:spcBef>
              <a:spcAft>
                <a:spcPts val="0"/>
              </a:spcAft>
            </a:pPr>
            <a:r>
              <a:rPr sz="1050" b="0" i="0">
                <a:solidFill>
                  <a:srgbClr val="16233B"/>
                </a:solidFill>
                <a:latin typeface="Georgia"/>
              </a:rPr>
              <a:t>The 126 escalations are a feature, not a backlog: cases where an analyst thinks a passing score is wrong and is barred from forcing the change.</a:t>
            </a:r>
          </a:p>
        </p:txBody>
      </p:sp>
      <p:sp>
        <p:nvSpPr>
          <p:cNvPr id="40" name="Rectangle 39"/>
          <p:cNvSpPr/>
          <p:nvPr/>
        </p:nvSpPr>
        <p:spPr>
          <a:xfrm>
            <a:off x="841248" y="4654296"/>
            <a:ext cx="68580" cy="68580"/>
          </a:xfrm>
          <a:prstGeom prst="rect">
            <a:avLst/>
          </a:prstGeom>
          <a:solidFill>
            <a:srgbClr val="F2A93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1060704" y="4558283"/>
            <a:ext cx="4803343" cy="274320"/>
          </a:xfrm>
          <a:prstGeom prst="rect">
            <a:avLst/>
          </a:prstGeom>
          <a:noFill/>
        </p:spPr>
        <p:txBody>
          <a:bodyPr wrap="square" anchor="t" lIns="0" rIns="0" tIns="0" bIns="0">
            <a:spAutoFit/>
          </a:bodyPr>
          <a:lstStyle/>
          <a:p>
            <a:pPr algn="l">
              <a:lnSpc>
                <a:spcPct val="106000"/>
              </a:lnSpc>
              <a:spcBef>
                <a:spcPts val="0"/>
              </a:spcBef>
              <a:spcAft>
                <a:spcPts val="0"/>
              </a:spcAft>
            </a:pPr>
            <a:r>
              <a:rPr sz="1050" b="0" i="0">
                <a:solidFill>
                  <a:srgbClr val="16233B"/>
                </a:solidFill>
                <a:latin typeface="Georgia"/>
              </a:rPr>
              <a:t>Two real client books already run on this exact process.</a:t>
            </a:r>
          </a:p>
        </p:txBody>
      </p:sp>
      <p:sp>
        <p:nvSpPr>
          <p:cNvPr id="42" name="Rounded Rectangle 41"/>
          <p:cNvSpPr/>
          <p:nvPr/>
        </p:nvSpPr>
        <p:spPr>
          <a:xfrm>
            <a:off x="6138367" y="2834640"/>
            <a:ext cx="5212080" cy="1243584"/>
          </a:xfrm>
          <a:prstGeom prst="roundRect">
            <a:avLst>
              <a:gd name="adj" fmla="val 4000"/>
            </a:avLst>
          </a:prstGeom>
          <a:solidFill>
            <a:srgbClr val="F5F6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Rectangle 42"/>
          <p:cNvSpPr/>
          <p:nvPr/>
        </p:nvSpPr>
        <p:spPr>
          <a:xfrm>
            <a:off x="6138367" y="2834640"/>
            <a:ext cx="54864" cy="1243584"/>
          </a:xfrm>
          <a:prstGeom prst="rect">
            <a:avLst/>
          </a:prstGeom>
          <a:solidFill>
            <a:srgbClr val="1B27A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TextBox 43"/>
          <p:cNvSpPr txBox="1"/>
          <p:nvPr/>
        </p:nvSpPr>
        <p:spPr>
          <a:xfrm>
            <a:off x="6339535" y="2962656"/>
            <a:ext cx="4846320" cy="274320"/>
          </a:xfrm>
          <a:prstGeom prst="rect">
            <a:avLst/>
          </a:prstGeom>
          <a:noFill/>
        </p:spPr>
        <p:txBody>
          <a:bodyPr wrap="square" anchor="t" lIns="0" rIns="0" tIns="0" bIns="0">
            <a:spAutoFit/>
          </a:bodyPr>
          <a:lstStyle/>
          <a:p>
            <a:pPr algn="l">
              <a:spcBef>
                <a:spcPts val="0"/>
              </a:spcBef>
              <a:spcAft>
                <a:spcPts val="0"/>
              </a:spcAft>
            </a:pPr>
            <a:r>
              <a:rPr sz="950" b="1" i="0" spc="60">
                <a:solidFill>
                  <a:srgbClr val="1B27A3"/>
                </a:solidFill>
                <a:latin typeface="Bahnschrift"/>
              </a:rPr>
              <a:t>REFRESH, NOT REBUILD</a:t>
            </a:r>
          </a:p>
        </p:txBody>
      </p:sp>
      <p:sp>
        <p:nvSpPr>
          <p:cNvPr id="45" name="TextBox 44"/>
          <p:cNvSpPr txBox="1"/>
          <p:nvPr/>
        </p:nvSpPr>
        <p:spPr>
          <a:xfrm>
            <a:off x="6339535" y="3236976"/>
            <a:ext cx="4846320" cy="786383"/>
          </a:xfrm>
          <a:prstGeom prst="rect">
            <a:avLst/>
          </a:prstGeom>
          <a:noFill/>
        </p:spPr>
        <p:txBody>
          <a:bodyPr wrap="square" anchor="t" lIns="0" rIns="0" tIns="0" bIns="0">
            <a:spAutoFit/>
          </a:bodyPr>
          <a:lstStyle/>
          <a:p>
            <a:pPr algn="l">
              <a:lnSpc>
                <a:spcPct val="106000"/>
              </a:lnSpc>
              <a:spcBef>
                <a:spcPts val="0"/>
              </a:spcBef>
              <a:spcAft>
                <a:spcPts val="0"/>
              </a:spcAft>
            </a:pPr>
            <a:r>
              <a:rPr sz="1050" b="0" i="0">
                <a:solidFill>
                  <a:srgbClr val="16233B"/>
                </a:solidFill>
                <a:latin typeface="Georgia"/>
              </a:rPr>
              <a:t>Coverage is maintained weekly by an incremental router, not a full re-run: names that reported get fresh research, news-only names get a cheap delta look, the rest carry forward.</a:t>
            </a:r>
          </a:p>
        </p:txBody>
      </p:sp>
      <p:sp>
        <p:nvSpPr>
          <p:cNvPr id="46" name="Rounded Rectangle 45"/>
          <p:cNvSpPr/>
          <p:nvPr/>
        </p:nvSpPr>
        <p:spPr>
          <a:xfrm>
            <a:off x="6138367" y="4242816"/>
            <a:ext cx="5212080" cy="1097280"/>
          </a:xfrm>
          <a:prstGeom prst="roundRect">
            <a:avLst>
              <a:gd name="adj" fmla="val 4000"/>
            </a:avLst>
          </a:prstGeom>
          <a:solidFill>
            <a:srgbClr val="FBE3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Rectangle 46"/>
          <p:cNvSpPr/>
          <p:nvPr/>
        </p:nvSpPr>
        <p:spPr>
          <a:xfrm>
            <a:off x="6138367" y="4242816"/>
            <a:ext cx="54864" cy="1097280"/>
          </a:xfrm>
          <a:prstGeom prst="rect">
            <a:avLst/>
          </a:prstGeom>
          <a:solidFill>
            <a:srgbClr val="E0402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TextBox 47"/>
          <p:cNvSpPr txBox="1"/>
          <p:nvPr/>
        </p:nvSpPr>
        <p:spPr>
          <a:xfrm>
            <a:off x="6339535" y="4370831"/>
            <a:ext cx="4846320" cy="274320"/>
          </a:xfrm>
          <a:prstGeom prst="rect">
            <a:avLst/>
          </a:prstGeom>
          <a:noFill/>
        </p:spPr>
        <p:txBody>
          <a:bodyPr wrap="square" anchor="t" lIns="0" rIns="0" tIns="0" bIns="0">
            <a:spAutoFit/>
          </a:bodyPr>
          <a:lstStyle/>
          <a:p>
            <a:pPr algn="l">
              <a:spcBef>
                <a:spcPts val="0"/>
              </a:spcBef>
              <a:spcAft>
                <a:spcPts val="0"/>
              </a:spcAft>
            </a:pPr>
            <a:r>
              <a:rPr sz="950" b="1" i="0" spc="60">
                <a:solidFill>
                  <a:srgbClr val="E0402F"/>
                </a:solidFill>
                <a:latin typeface="Bahnschrift"/>
              </a:rPr>
              <a:t>WHAT IS NOT CLAIMED</a:t>
            </a:r>
          </a:p>
        </p:txBody>
      </p:sp>
      <p:sp>
        <p:nvSpPr>
          <p:cNvPr id="49" name="TextBox 48"/>
          <p:cNvSpPr txBox="1"/>
          <p:nvPr/>
        </p:nvSpPr>
        <p:spPr>
          <a:xfrm>
            <a:off x="6339535" y="4645152"/>
            <a:ext cx="4846320" cy="640080"/>
          </a:xfrm>
          <a:prstGeom prst="rect">
            <a:avLst/>
          </a:prstGeom>
          <a:noFill/>
        </p:spPr>
        <p:txBody>
          <a:bodyPr wrap="square" anchor="t" lIns="0" rIns="0" tIns="0" bIns="0">
            <a:spAutoFit/>
          </a:bodyPr>
          <a:lstStyle/>
          <a:p>
            <a:pPr algn="l">
              <a:lnSpc>
                <a:spcPct val="106000"/>
              </a:lnSpc>
              <a:spcBef>
                <a:spcPts val="0"/>
              </a:spcBef>
              <a:spcAft>
                <a:spcPts val="0"/>
              </a:spcAft>
            </a:pPr>
            <a:r>
              <a:rPr sz="1050" b="0" i="0">
                <a:solidFill>
                  <a:srgbClr val="16233B"/>
                </a:solidFill>
                <a:latin typeface="Georgia"/>
              </a:rPr>
              <a:t>Coverage is not a track record. These are point-in-time reviews, and the engine has not yet run through a full market cycle under this operating model.</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logo_clean.png"/>
          <p:cNvPicPr>
            <a:picLocks noChangeAspect="1"/>
          </p:cNvPicPr>
          <p:nvPr/>
        </p:nvPicPr>
        <p:blipFill>
          <a:blip r:embed="rId2"/>
          <a:stretch>
            <a:fillRect/>
          </a:stretch>
        </p:blipFill>
        <p:spPr>
          <a:xfrm>
            <a:off x="9674809" y="365760"/>
            <a:ext cx="1629918" cy="283464"/>
          </a:xfrm>
          <a:prstGeom prst="rect">
            <a:avLst/>
          </a:prstGeom>
        </p:spPr>
      </p:pic>
      <p:sp>
        <p:nvSpPr>
          <p:cNvPr id="4" name="TextBox 3"/>
          <p:cNvSpPr txBox="1"/>
          <p:nvPr/>
        </p:nvSpPr>
        <p:spPr>
          <a:xfrm>
            <a:off x="4541367" y="128016"/>
            <a:ext cx="3108960" cy="182880"/>
          </a:xfrm>
          <a:prstGeom prst="rect">
            <a:avLst/>
          </a:prstGeom>
          <a:noFill/>
        </p:spPr>
        <p:txBody>
          <a:bodyPr wrap="square" anchor="t" lIns="0" rIns="0" tIns="0" bIns="0">
            <a:spAutoFit/>
          </a:bodyPr>
          <a:lstStyle/>
          <a:p>
            <a:pPr algn="ctr">
              <a:spcBef>
                <a:spcPts val="0"/>
              </a:spcBef>
              <a:spcAft>
                <a:spcPts val="0"/>
              </a:spcAft>
            </a:pPr>
            <a:r>
              <a:rPr sz="750" b="0" i="0">
                <a:solidFill>
                  <a:srgbClr val="6B7280"/>
                </a:solidFill>
                <a:latin typeface="Bahnschrift"/>
              </a:rPr>
              <a:t>Private &amp; Confidential</a:t>
            </a:r>
          </a:p>
        </p:txBody>
      </p:sp>
      <p:sp>
        <p:nvSpPr>
          <p:cNvPr id="5" name="TextBox 4"/>
          <p:cNvSpPr txBox="1"/>
          <p:nvPr/>
        </p:nvSpPr>
        <p:spPr>
          <a:xfrm>
            <a:off x="7863840" y="274320"/>
            <a:ext cx="1749247" cy="201168"/>
          </a:xfrm>
          <a:prstGeom prst="rect">
            <a:avLst/>
          </a:prstGeom>
          <a:noFill/>
        </p:spPr>
        <p:txBody>
          <a:bodyPr wrap="square" anchor="t" lIns="0" rIns="0" tIns="0" bIns="0">
            <a:spAutoFit/>
          </a:bodyPr>
          <a:lstStyle/>
          <a:p>
            <a:pPr algn="r">
              <a:spcBef>
                <a:spcPts val="0"/>
              </a:spcBef>
              <a:spcAft>
                <a:spcPts val="0"/>
              </a:spcAft>
            </a:pPr>
            <a:r>
              <a:rPr sz="750" b="1" i="0" spc="120">
                <a:solidFill>
                  <a:srgbClr val="8C95DE"/>
                </a:solidFill>
                <a:latin typeface="Bahnschrift"/>
              </a:rPr>
              <a:t>01 · THE MODEL</a:t>
            </a:r>
          </a:p>
        </p:txBody>
      </p:sp>
      <p:sp>
        <p:nvSpPr>
          <p:cNvPr id="6" name="Rectangle 5"/>
          <p:cNvSpPr/>
          <p:nvPr/>
        </p:nvSpPr>
        <p:spPr>
          <a:xfrm>
            <a:off x="8549640" y="512064"/>
            <a:ext cx="137160" cy="20116"/>
          </a:xfrm>
          <a:prstGeom prst="rect">
            <a:avLst/>
          </a:prstGeom>
          <a:solidFill>
            <a:srgbClr val="1B27A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8732519" y="512064"/>
            <a:ext cx="137160" cy="20116"/>
          </a:xfrm>
          <a:prstGeom prst="rect">
            <a:avLst/>
          </a:prstGeom>
          <a:solidFill>
            <a:srgbClr val="E5E7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8915400" y="512064"/>
            <a:ext cx="137160" cy="20116"/>
          </a:xfrm>
          <a:prstGeom prst="rect">
            <a:avLst/>
          </a:prstGeom>
          <a:solidFill>
            <a:srgbClr val="E5E7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9098280" y="512064"/>
            <a:ext cx="137160" cy="20116"/>
          </a:xfrm>
          <a:prstGeom prst="rect">
            <a:avLst/>
          </a:prstGeom>
          <a:solidFill>
            <a:srgbClr val="E5E7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9281160" y="512064"/>
            <a:ext cx="137160" cy="20116"/>
          </a:xfrm>
          <a:prstGeom prst="rect">
            <a:avLst/>
          </a:prstGeom>
          <a:solidFill>
            <a:srgbClr val="E5E7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41248" y="420624"/>
            <a:ext cx="6858000" cy="502920"/>
          </a:xfrm>
          <a:prstGeom prst="rect">
            <a:avLst/>
          </a:prstGeom>
          <a:noFill/>
        </p:spPr>
        <p:txBody>
          <a:bodyPr wrap="square" anchor="t" lIns="0" rIns="0" tIns="0" bIns="0">
            <a:spAutoFit/>
          </a:bodyPr>
          <a:lstStyle/>
          <a:p>
            <a:pPr algn="l">
              <a:spcBef>
                <a:spcPts val="0"/>
              </a:spcBef>
              <a:spcAft>
                <a:spcPts val="0"/>
              </a:spcAft>
            </a:pPr>
            <a:r>
              <a:rPr sz="2600" b="1" i="0">
                <a:solidFill>
                  <a:srgbClr val="1B27A3"/>
                </a:solidFill>
                <a:latin typeface="Bahnschrift"/>
              </a:rPr>
              <a:t>Does it work</a:t>
            </a:r>
          </a:p>
        </p:txBody>
      </p:sp>
      <p:sp>
        <p:nvSpPr>
          <p:cNvPr id="12" name="TextBox 11"/>
          <p:cNvSpPr txBox="1"/>
          <p:nvPr/>
        </p:nvSpPr>
        <p:spPr>
          <a:xfrm>
            <a:off x="841248" y="950976"/>
            <a:ext cx="9692640" cy="411480"/>
          </a:xfrm>
          <a:prstGeom prst="rect">
            <a:avLst/>
          </a:prstGeom>
          <a:noFill/>
        </p:spPr>
        <p:txBody>
          <a:bodyPr wrap="square" anchor="t" lIns="0" rIns="0" tIns="0" bIns="0">
            <a:spAutoFit/>
          </a:bodyPr>
          <a:lstStyle/>
          <a:p>
            <a:pPr algn="l">
              <a:spcBef>
                <a:spcPts val="0"/>
              </a:spcBef>
              <a:spcAft>
                <a:spcPts val="0"/>
              </a:spcAft>
            </a:pPr>
            <a:r>
              <a:rPr sz="1750" b="1" i="0">
                <a:solidFill>
                  <a:srgbClr val="F2A93C"/>
                </a:solidFill>
                <a:latin typeface="Bahnschrift"/>
              </a:rPr>
              <a:t>What the point-in-time test shows, and what it does not</a:t>
            </a:r>
          </a:p>
        </p:txBody>
      </p:sp>
      <p:sp>
        <p:nvSpPr>
          <p:cNvPr id="13" name="Rectangle 12"/>
          <p:cNvSpPr/>
          <p:nvPr/>
        </p:nvSpPr>
        <p:spPr>
          <a:xfrm>
            <a:off x="841248" y="1408176"/>
            <a:ext cx="10509199" cy="21945"/>
          </a:xfrm>
          <a:prstGeom prst="rect">
            <a:avLst/>
          </a:prstGeom>
          <a:solidFill>
            <a:srgbClr val="1B27A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9155887" y="6528816"/>
            <a:ext cx="2194560" cy="182880"/>
          </a:xfrm>
          <a:prstGeom prst="rect">
            <a:avLst/>
          </a:prstGeom>
          <a:noFill/>
        </p:spPr>
        <p:txBody>
          <a:bodyPr wrap="square" anchor="t" lIns="0" rIns="0" tIns="0" bIns="0">
            <a:spAutoFit/>
          </a:bodyPr>
          <a:lstStyle/>
          <a:p>
            <a:pPr algn="r">
              <a:spcBef>
                <a:spcPts val="0"/>
              </a:spcBef>
              <a:spcAft>
                <a:spcPts val="0"/>
              </a:spcAft>
            </a:pPr>
            <a:r>
              <a:rPr sz="750" b="0" i="0">
                <a:solidFill>
                  <a:srgbClr val="6B7280"/>
                </a:solidFill>
                <a:latin typeface="Bahnschrift"/>
              </a:rPr>
              <a:t>Portfolio Review  ·  12</a:t>
            </a:r>
          </a:p>
        </p:txBody>
      </p:sp>
      <p:sp>
        <p:nvSpPr>
          <p:cNvPr id="15" name="TextBox 14"/>
          <p:cNvSpPr txBox="1"/>
          <p:nvPr/>
        </p:nvSpPr>
        <p:spPr>
          <a:xfrm>
            <a:off x="914400" y="1755648"/>
            <a:ext cx="4477743" cy="219456"/>
          </a:xfrm>
          <a:prstGeom prst="rect">
            <a:avLst/>
          </a:prstGeom>
          <a:noFill/>
        </p:spPr>
        <p:txBody>
          <a:bodyPr wrap="square" anchor="ctr" lIns="0" rIns="0" tIns="0" bIns="0">
            <a:spAutoFit/>
          </a:bodyPr>
          <a:lstStyle/>
          <a:p>
            <a:pPr algn="l">
              <a:spcBef>
                <a:spcPts val="0"/>
              </a:spcBef>
              <a:spcAft>
                <a:spcPts val="0"/>
              </a:spcAft>
            </a:pPr>
            <a:r>
              <a:rPr sz="800" b="1" i="0" spc="200">
                <a:solidFill>
                  <a:srgbClr val="6B7280"/>
                </a:solidFill>
                <a:latin typeface="Bahnschrift"/>
              </a:rPr>
              <a:t>BASKET, EQUAL-WEIGHT, QUARTERLY REBALANCE</a:t>
            </a:r>
          </a:p>
        </p:txBody>
      </p:sp>
      <p:sp>
        <p:nvSpPr>
          <p:cNvPr id="16" name="TextBox 15"/>
          <p:cNvSpPr txBox="1"/>
          <p:nvPr/>
        </p:nvSpPr>
        <p:spPr>
          <a:xfrm>
            <a:off x="5538447" y="1755648"/>
            <a:ext cx="1745351" cy="219456"/>
          </a:xfrm>
          <a:prstGeom prst="rect">
            <a:avLst/>
          </a:prstGeom>
          <a:noFill/>
        </p:spPr>
        <p:txBody>
          <a:bodyPr wrap="square" anchor="ctr" lIns="0" rIns="0" tIns="0" bIns="0">
            <a:spAutoFit/>
          </a:bodyPr>
          <a:lstStyle/>
          <a:p>
            <a:pPr algn="r">
              <a:spcBef>
                <a:spcPts val="0"/>
              </a:spcBef>
              <a:spcAft>
                <a:spcPts val="0"/>
              </a:spcAft>
            </a:pPr>
            <a:r>
              <a:rPr sz="800" b="1" i="0" spc="200">
                <a:solidFill>
                  <a:srgbClr val="6B7280"/>
                </a:solidFill>
                <a:latin typeface="Bahnschrift"/>
              </a:rPr>
              <a:t>CAGR</a:t>
            </a:r>
          </a:p>
        </p:txBody>
      </p:sp>
      <p:sp>
        <p:nvSpPr>
          <p:cNvPr id="17" name="TextBox 16"/>
          <p:cNvSpPr txBox="1"/>
          <p:nvPr/>
        </p:nvSpPr>
        <p:spPr>
          <a:xfrm>
            <a:off x="7430103" y="1755648"/>
            <a:ext cx="1745351" cy="219456"/>
          </a:xfrm>
          <a:prstGeom prst="rect">
            <a:avLst/>
          </a:prstGeom>
          <a:noFill/>
        </p:spPr>
        <p:txBody>
          <a:bodyPr wrap="square" anchor="ctr" lIns="0" rIns="0" tIns="0" bIns="0">
            <a:spAutoFit/>
          </a:bodyPr>
          <a:lstStyle/>
          <a:p>
            <a:pPr algn="r">
              <a:spcBef>
                <a:spcPts val="0"/>
              </a:spcBef>
              <a:spcAft>
                <a:spcPts val="0"/>
              </a:spcAft>
            </a:pPr>
            <a:r>
              <a:rPr sz="800" b="1" i="0" spc="200">
                <a:solidFill>
                  <a:srgbClr val="6B7280"/>
                </a:solidFill>
                <a:latin typeface="Bahnschrift"/>
              </a:rPr>
              <a:t>SHARPE</a:t>
            </a:r>
          </a:p>
        </p:txBody>
      </p:sp>
      <p:sp>
        <p:nvSpPr>
          <p:cNvPr id="18" name="TextBox 17"/>
          <p:cNvSpPr txBox="1"/>
          <p:nvPr/>
        </p:nvSpPr>
        <p:spPr>
          <a:xfrm>
            <a:off x="9321759" y="1755648"/>
            <a:ext cx="1955535" cy="219456"/>
          </a:xfrm>
          <a:prstGeom prst="rect">
            <a:avLst/>
          </a:prstGeom>
          <a:noFill/>
        </p:spPr>
        <p:txBody>
          <a:bodyPr wrap="square" anchor="ctr" lIns="0" rIns="0" tIns="0" bIns="0">
            <a:spAutoFit/>
          </a:bodyPr>
          <a:lstStyle/>
          <a:p>
            <a:pPr algn="r">
              <a:spcBef>
                <a:spcPts val="0"/>
              </a:spcBef>
              <a:spcAft>
                <a:spcPts val="0"/>
              </a:spcAft>
            </a:pPr>
            <a:r>
              <a:rPr sz="800" b="1" i="0" spc="200">
                <a:solidFill>
                  <a:srgbClr val="6B7280"/>
                </a:solidFill>
                <a:latin typeface="Bahnschrift"/>
              </a:rPr>
              <a:t>MAX DRAWDOWN</a:t>
            </a:r>
          </a:p>
        </p:txBody>
      </p:sp>
      <p:sp>
        <p:nvSpPr>
          <p:cNvPr id="19" name="Rectangle 18"/>
          <p:cNvSpPr/>
          <p:nvPr/>
        </p:nvSpPr>
        <p:spPr>
          <a:xfrm>
            <a:off x="841248" y="2011680"/>
            <a:ext cx="10509199" cy="13716"/>
          </a:xfrm>
          <a:prstGeom prst="rect">
            <a:avLst/>
          </a:prstGeom>
          <a:solidFill>
            <a:srgbClr val="1B27A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914400" y="2057400"/>
            <a:ext cx="4477743" cy="365760"/>
          </a:xfrm>
          <a:prstGeom prst="rect">
            <a:avLst/>
          </a:prstGeom>
          <a:noFill/>
        </p:spPr>
        <p:txBody>
          <a:bodyPr wrap="square" anchor="ctr" lIns="0" rIns="0" tIns="0" bIns="0">
            <a:spAutoFit/>
          </a:bodyPr>
          <a:lstStyle/>
          <a:p>
            <a:pPr algn="l">
              <a:spcBef>
                <a:spcPts val="0"/>
              </a:spcBef>
              <a:spcAft>
                <a:spcPts val="0"/>
              </a:spcAft>
            </a:pPr>
            <a:r>
              <a:rPr sz="1000" b="1" i="0">
                <a:solidFill>
                  <a:srgbClr val="16233B"/>
                </a:solidFill>
                <a:latin typeface="Bahnschrift"/>
              </a:rPr>
              <a:t>Top 10 by score</a:t>
            </a:r>
          </a:p>
        </p:txBody>
      </p:sp>
      <p:sp>
        <p:nvSpPr>
          <p:cNvPr id="21" name="TextBox 20"/>
          <p:cNvSpPr txBox="1"/>
          <p:nvPr/>
        </p:nvSpPr>
        <p:spPr>
          <a:xfrm>
            <a:off x="5538447" y="2057400"/>
            <a:ext cx="1745351" cy="365760"/>
          </a:xfrm>
          <a:prstGeom prst="rect">
            <a:avLst/>
          </a:prstGeom>
          <a:noFill/>
        </p:spPr>
        <p:txBody>
          <a:bodyPr wrap="square" anchor="ctr" lIns="0" rIns="0" tIns="0" bIns="0">
            <a:spAutoFit/>
          </a:bodyPr>
          <a:lstStyle/>
          <a:p>
            <a:pPr algn="r">
              <a:spcBef>
                <a:spcPts val="0"/>
              </a:spcBef>
              <a:spcAft>
                <a:spcPts val="0"/>
              </a:spcAft>
            </a:pPr>
            <a:r>
              <a:rPr sz="1000" b="1" i="0">
                <a:solidFill>
                  <a:srgbClr val="1E9E6A"/>
                </a:solidFill>
                <a:latin typeface="Bahnschrift"/>
              </a:rPr>
              <a:t>41.3%</a:t>
            </a:r>
          </a:p>
        </p:txBody>
      </p:sp>
      <p:sp>
        <p:nvSpPr>
          <p:cNvPr id="22" name="TextBox 21"/>
          <p:cNvSpPr txBox="1"/>
          <p:nvPr/>
        </p:nvSpPr>
        <p:spPr>
          <a:xfrm>
            <a:off x="7430103" y="2057400"/>
            <a:ext cx="1745351" cy="365760"/>
          </a:xfrm>
          <a:prstGeom prst="rect">
            <a:avLst/>
          </a:prstGeom>
          <a:noFill/>
        </p:spPr>
        <p:txBody>
          <a:bodyPr wrap="square" anchor="ctr" lIns="0" rIns="0" tIns="0" bIns="0">
            <a:spAutoFit/>
          </a:bodyPr>
          <a:lstStyle/>
          <a:p>
            <a:pPr algn="r">
              <a:spcBef>
                <a:spcPts val="0"/>
              </a:spcBef>
              <a:spcAft>
                <a:spcPts val="0"/>
              </a:spcAft>
            </a:pPr>
            <a:r>
              <a:rPr sz="1000" b="0" i="0">
                <a:solidFill>
                  <a:srgbClr val="16233B"/>
                </a:solidFill>
                <a:latin typeface="Georgia"/>
              </a:rPr>
              <a:t>1.28</a:t>
            </a:r>
          </a:p>
        </p:txBody>
      </p:sp>
      <p:sp>
        <p:nvSpPr>
          <p:cNvPr id="23" name="TextBox 22"/>
          <p:cNvSpPr txBox="1"/>
          <p:nvPr/>
        </p:nvSpPr>
        <p:spPr>
          <a:xfrm>
            <a:off x="9321759" y="2057400"/>
            <a:ext cx="1955535" cy="365760"/>
          </a:xfrm>
          <a:prstGeom prst="rect">
            <a:avLst/>
          </a:prstGeom>
          <a:noFill/>
        </p:spPr>
        <p:txBody>
          <a:bodyPr wrap="square" anchor="ctr" lIns="0" rIns="0" tIns="0" bIns="0">
            <a:spAutoFit/>
          </a:bodyPr>
          <a:lstStyle/>
          <a:p>
            <a:pPr algn="r">
              <a:spcBef>
                <a:spcPts val="0"/>
              </a:spcBef>
              <a:spcAft>
                <a:spcPts val="0"/>
              </a:spcAft>
            </a:pPr>
            <a:r>
              <a:rPr sz="1000" b="1" i="0">
                <a:solidFill>
                  <a:srgbClr val="1E9E6A"/>
                </a:solidFill>
                <a:latin typeface="Bahnschrift"/>
              </a:rPr>
              <a:t>-2.3%</a:t>
            </a:r>
          </a:p>
        </p:txBody>
      </p:sp>
      <p:sp>
        <p:nvSpPr>
          <p:cNvPr id="24" name="Rectangle 23"/>
          <p:cNvSpPr/>
          <p:nvPr/>
        </p:nvSpPr>
        <p:spPr>
          <a:xfrm>
            <a:off x="841248" y="2404872"/>
            <a:ext cx="10509199" cy="365760"/>
          </a:xfrm>
          <a:prstGeom prst="rect">
            <a:avLst/>
          </a:prstGeom>
          <a:solidFill>
            <a:srgbClr val="F5F6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914400" y="2423160"/>
            <a:ext cx="4477743" cy="365760"/>
          </a:xfrm>
          <a:prstGeom prst="rect">
            <a:avLst/>
          </a:prstGeom>
          <a:noFill/>
        </p:spPr>
        <p:txBody>
          <a:bodyPr wrap="square" anchor="ctr" lIns="0" rIns="0" tIns="0" bIns="0">
            <a:spAutoFit/>
          </a:bodyPr>
          <a:lstStyle/>
          <a:p>
            <a:pPr algn="l">
              <a:spcBef>
                <a:spcPts val="0"/>
              </a:spcBef>
              <a:spcAft>
                <a:spcPts val="0"/>
              </a:spcAft>
            </a:pPr>
            <a:r>
              <a:rPr sz="1000" b="1" i="0">
                <a:solidFill>
                  <a:srgbClr val="16233B"/>
                </a:solidFill>
                <a:latin typeface="Bahnschrift"/>
              </a:rPr>
              <a:t>Bottom 10 by score</a:t>
            </a:r>
          </a:p>
        </p:txBody>
      </p:sp>
      <p:sp>
        <p:nvSpPr>
          <p:cNvPr id="26" name="TextBox 25"/>
          <p:cNvSpPr txBox="1"/>
          <p:nvPr/>
        </p:nvSpPr>
        <p:spPr>
          <a:xfrm>
            <a:off x="5538447" y="2423160"/>
            <a:ext cx="1745351" cy="365760"/>
          </a:xfrm>
          <a:prstGeom prst="rect">
            <a:avLst/>
          </a:prstGeom>
          <a:noFill/>
        </p:spPr>
        <p:txBody>
          <a:bodyPr wrap="square" anchor="ctr" lIns="0" rIns="0" tIns="0" bIns="0">
            <a:spAutoFit/>
          </a:bodyPr>
          <a:lstStyle/>
          <a:p>
            <a:pPr algn="r">
              <a:spcBef>
                <a:spcPts val="0"/>
              </a:spcBef>
              <a:spcAft>
                <a:spcPts val="0"/>
              </a:spcAft>
            </a:pPr>
            <a:r>
              <a:rPr sz="1000" b="0" i="0">
                <a:solidFill>
                  <a:srgbClr val="16233B"/>
                </a:solidFill>
                <a:latin typeface="Georgia"/>
              </a:rPr>
              <a:t>32.4%</a:t>
            </a:r>
          </a:p>
        </p:txBody>
      </p:sp>
      <p:sp>
        <p:nvSpPr>
          <p:cNvPr id="27" name="TextBox 26"/>
          <p:cNvSpPr txBox="1"/>
          <p:nvPr/>
        </p:nvSpPr>
        <p:spPr>
          <a:xfrm>
            <a:off x="7430103" y="2423160"/>
            <a:ext cx="1745351" cy="365760"/>
          </a:xfrm>
          <a:prstGeom prst="rect">
            <a:avLst/>
          </a:prstGeom>
          <a:noFill/>
        </p:spPr>
        <p:txBody>
          <a:bodyPr wrap="square" anchor="ctr" lIns="0" rIns="0" tIns="0" bIns="0">
            <a:spAutoFit/>
          </a:bodyPr>
          <a:lstStyle/>
          <a:p>
            <a:pPr algn="r">
              <a:spcBef>
                <a:spcPts val="0"/>
              </a:spcBef>
              <a:spcAft>
                <a:spcPts val="0"/>
              </a:spcAft>
            </a:pPr>
            <a:r>
              <a:rPr sz="1000" b="0" i="0">
                <a:solidFill>
                  <a:srgbClr val="16233B"/>
                </a:solidFill>
                <a:latin typeface="Georgia"/>
              </a:rPr>
              <a:t>0.89</a:t>
            </a:r>
          </a:p>
        </p:txBody>
      </p:sp>
      <p:sp>
        <p:nvSpPr>
          <p:cNvPr id="28" name="TextBox 27"/>
          <p:cNvSpPr txBox="1"/>
          <p:nvPr/>
        </p:nvSpPr>
        <p:spPr>
          <a:xfrm>
            <a:off x="9321759" y="2423160"/>
            <a:ext cx="1955535" cy="365760"/>
          </a:xfrm>
          <a:prstGeom prst="rect">
            <a:avLst/>
          </a:prstGeom>
          <a:noFill/>
        </p:spPr>
        <p:txBody>
          <a:bodyPr wrap="square" anchor="ctr" lIns="0" rIns="0" tIns="0" bIns="0">
            <a:spAutoFit/>
          </a:bodyPr>
          <a:lstStyle/>
          <a:p>
            <a:pPr algn="r">
              <a:spcBef>
                <a:spcPts val="0"/>
              </a:spcBef>
              <a:spcAft>
                <a:spcPts val="0"/>
              </a:spcAft>
            </a:pPr>
            <a:r>
              <a:rPr sz="1000" b="0" i="0">
                <a:solidFill>
                  <a:srgbClr val="E0402F"/>
                </a:solidFill>
                <a:latin typeface="Bahnschrift"/>
              </a:rPr>
              <a:t>-12.6%</a:t>
            </a:r>
          </a:p>
        </p:txBody>
      </p:sp>
      <p:sp>
        <p:nvSpPr>
          <p:cNvPr id="29" name="TextBox 28"/>
          <p:cNvSpPr txBox="1"/>
          <p:nvPr/>
        </p:nvSpPr>
        <p:spPr>
          <a:xfrm>
            <a:off x="914400" y="2788920"/>
            <a:ext cx="4477743" cy="365760"/>
          </a:xfrm>
          <a:prstGeom prst="rect">
            <a:avLst/>
          </a:prstGeom>
          <a:noFill/>
        </p:spPr>
        <p:txBody>
          <a:bodyPr wrap="square" anchor="ctr" lIns="0" rIns="0" tIns="0" bIns="0">
            <a:spAutoFit/>
          </a:bodyPr>
          <a:lstStyle/>
          <a:p>
            <a:pPr algn="l">
              <a:spcBef>
                <a:spcPts val="0"/>
              </a:spcBef>
              <a:spcAft>
                <a:spcPts val="0"/>
              </a:spcAft>
            </a:pPr>
            <a:r>
              <a:rPr sz="1000" b="1" i="0">
                <a:solidFill>
                  <a:srgbClr val="16233B"/>
                </a:solidFill>
                <a:latin typeface="Bahnschrift"/>
              </a:rPr>
              <a:t>Nifty 500, cap-weighted total return</a:t>
            </a:r>
          </a:p>
        </p:txBody>
      </p:sp>
      <p:sp>
        <p:nvSpPr>
          <p:cNvPr id="30" name="TextBox 29"/>
          <p:cNvSpPr txBox="1"/>
          <p:nvPr/>
        </p:nvSpPr>
        <p:spPr>
          <a:xfrm>
            <a:off x="5538447" y="2788920"/>
            <a:ext cx="1745351" cy="365760"/>
          </a:xfrm>
          <a:prstGeom prst="rect">
            <a:avLst/>
          </a:prstGeom>
          <a:noFill/>
        </p:spPr>
        <p:txBody>
          <a:bodyPr wrap="square" anchor="ctr" lIns="0" rIns="0" tIns="0" bIns="0">
            <a:spAutoFit/>
          </a:bodyPr>
          <a:lstStyle/>
          <a:p>
            <a:pPr algn="r">
              <a:spcBef>
                <a:spcPts val="0"/>
              </a:spcBef>
              <a:spcAft>
                <a:spcPts val="0"/>
              </a:spcAft>
            </a:pPr>
            <a:r>
              <a:rPr sz="1000" b="0" i="0">
                <a:solidFill>
                  <a:srgbClr val="16233B"/>
                </a:solidFill>
                <a:latin typeface="Georgia"/>
              </a:rPr>
              <a:t>30.3%</a:t>
            </a:r>
          </a:p>
        </p:txBody>
      </p:sp>
      <p:sp>
        <p:nvSpPr>
          <p:cNvPr id="31" name="TextBox 30"/>
          <p:cNvSpPr txBox="1"/>
          <p:nvPr/>
        </p:nvSpPr>
        <p:spPr>
          <a:xfrm>
            <a:off x="7430103" y="2788920"/>
            <a:ext cx="1745351" cy="365760"/>
          </a:xfrm>
          <a:prstGeom prst="rect">
            <a:avLst/>
          </a:prstGeom>
          <a:noFill/>
        </p:spPr>
        <p:txBody>
          <a:bodyPr wrap="square" anchor="ctr" lIns="0" rIns="0" tIns="0" bIns="0">
            <a:spAutoFit/>
          </a:bodyPr>
          <a:lstStyle/>
          <a:p>
            <a:pPr algn="r">
              <a:spcBef>
                <a:spcPts val="0"/>
              </a:spcBef>
              <a:spcAft>
                <a:spcPts val="0"/>
              </a:spcAft>
            </a:pPr>
            <a:r>
              <a:rPr sz="1000" b="0" i="0">
                <a:solidFill>
                  <a:srgbClr val="16233B"/>
                </a:solidFill>
                <a:latin typeface="Georgia"/>
              </a:rPr>
              <a:t>1.75</a:t>
            </a:r>
          </a:p>
        </p:txBody>
      </p:sp>
      <p:sp>
        <p:nvSpPr>
          <p:cNvPr id="32" name="TextBox 31"/>
          <p:cNvSpPr txBox="1"/>
          <p:nvPr/>
        </p:nvSpPr>
        <p:spPr>
          <a:xfrm>
            <a:off x="9321759" y="2788920"/>
            <a:ext cx="1955535" cy="365760"/>
          </a:xfrm>
          <a:prstGeom prst="rect">
            <a:avLst/>
          </a:prstGeom>
          <a:noFill/>
        </p:spPr>
        <p:txBody>
          <a:bodyPr wrap="square" anchor="ctr" lIns="0" rIns="0" tIns="0" bIns="0">
            <a:spAutoFit/>
          </a:bodyPr>
          <a:lstStyle/>
          <a:p>
            <a:pPr algn="r">
              <a:spcBef>
                <a:spcPts val="0"/>
              </a:spcBef>
              <a:spcAft>
                <a:spcPts val="0"/>
              </a:spcAft>
            </a:pPr>
            <a:r>
              <a:rPr sz="1000" b="0" i="0">
                <a:solidFill>
                  <a:srgbClr val="16233B"/>
                </a:solidFill>
                <a:latin typeface="Georgia"/>
              </a:rPr>
              <a:t>-5.6%</a:t>
            </a:r>
          </a:p>
        </p:txBody>
      </p:sp>
      <p:sp>
        <p:nvSpPr>
          <p:cNvPr id="33" name="Rectangle 32"/>
          <p:cNvSpPr/>
          <p:nvPr/>
        </p:nvSpPr>
        <p:spPr>
          <a:xfrm>
            <a:off x="841248" y="3136391"/>
            <a:ext cx="10509199" cy="365760"/>
          </a:xfrm>
          <a:prstGeom prst="rect">
            <a:avLst/>
          </a:prstGeom>
          <a:solidFill>
            <a:srgbClr val="F5F6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914400" y="3154679"/>
            <a:ext cx="4477743" cy="365760"/>
          </a:xfrm>
          <a:prstGeom prst="rect">
            <a:avLst/>
          </a:prstGeom>
          <a:noFill/>
        </p:spPr>
        <p:txBody>
          <a:bodyPr wrap="square" anchor="ctr" lIns="0" rIns="0" tIns="0" bIns="0">
            <a:spAutoFit/>
          </a:bodyPr>
          <a:lstStyle/>
          <a:p>
            <a:pPr algn="l">
              <a:spcBef>
                <a:spcPts val="0"/>
              </a:spcBef>
              <a:spcAft>
                <a:spcPts val="0"/>
              </a:spcAft>
            </a:pPr>
            <a:r>
              <a:rPr sz="1000" b="1" i="0">
                <a:solidFill>
                  <a:srgbClr val="16233B"/>
                </a:solidFill>
                <a:latin typeface="Bahnschrift"/>
              </a:rPr>
              <a:t>Eligible universe, equal-weighted</a:t>
            </a:r>
          </a:p>
        </p:txBody>
      </p:sp>
      <p:sp>
        <p:nvSpPr>
          <p:cNvPr id="35" name="TextBox 34"/>
          <p:cNvSpPr txBox="1"/>
          <p:nvPr/>
        </p:nvSpPr>
        <p:spPr>
          <a:xfrm>
            <a:off x="5538447" y="3154679"/>
            <a:ext cx="1745351" cy="365760"/>
          </a:xfrm>
          <a:prstGeom prst="rect">
            <a:avLst/>
          </a:prstGeom>
          <a:noFill/>
        </p:spPr>
        <p:txBody>
          <a:bodyPr wrap="square" anchor="ctr" lIns="0" rIns="0" tIns="0" bIns="0">
            <a:spAutoFit/>
          </a:bodyPr>
          <a:lstStyle/>
          <a:p>
            <a:pPr algn="r">
              <a:spcBef>
                <a:spcPts val="0"/>
              </a:spcBef>
              <a:spcAft>
                <a:spcPts val="0"/>
              </a:spcAft>
            </a:pPr>
            <a:r>
              <a:rPr sz="1000" b="0" i="0">
                <a:solidFill>
                  <a:srgbClr val="92400E"/>
                </a:solidFill>
                <a:latin typeface="Bahnschrift"/>
              </a:rPr>
              <a:t>44.3%</a:t>
            </a:r>
          </a:p>
        </p:txBody>
      </p:sp>
      <p:sp>
        <p:nvSpPr>
          <p:cNvPr id="36" name="TextBox 35"/>
          <p:cNvSpPr txBox="1"/>
          <p:nvPr/>
        </p:nvSpPr>
        <p:spPr>
          <a:xfrm>
            <a:off x="7430103" y="3154679"/>
            <a:ext cx="1745351" cy="365760"/>
          </a:xfrm>
          <a:prstGeom prst="rect">
            <a:avLst/>
          </a:prstGeom>
          <a:noFill/>
        </p:spPr>
        <p:txBody>
          <a:bodyPr wrap="square" anchor="ctr" lIns="0" rIns="0" tIns="0" bIns="0">
            <a:spAutoFit/>
          </a:bodyPr>
          <a:lstStyle/>
          <a:p>
            <a:pPr algn="r">
              <a:spcBef>
                <a:spcPts val="0"/>
              </a:spcBef>
              <a:spcAft>
                <a:spcPts val="0"/>
              </a:spcAft>
            </a:pPr>
            <a:r>
              <a:rPr sz="1000" b="0" i="0">
                <a:solidFill>
                  <a:srgbClr val="16233B"/>
                </a:solidFill>
                <a:latin typeface="Georgia"/>
              </a:rPr>
              <a:t>2.00</a:t>
            </a:r>
          </a:p>
        </p:txBody>
      </p:sp>
      <p:sp>
        <p:nvSpPr>
          <p:cNvPr id="37" name="TextBox 36"/>
          <p:cNvSpPr txBox="1"/>
          <p:nvPr/>
        </p:nvSpPr>
        <p:spPr>
          <a:xfrm>
            <a:off x="9321759" y="3154679"/>
            <a:ext cx="1955535" cy="365760"/>
          </a:xfrm>
          <a:prstGeom prst="rect">
            <a:avLst/>
          </a:prstGeom>
          <a:noFill/>
        </p:spPr>
        <p:txBody>
          <a:bodyPr wrap="square" anchor="ctr" lIns="0" rIns="0" tIns="0" bIns="0">
            <a:spAutoFit/>
          </a:bodyPr>
          <a:lstStyle/>
          <a:p>
            <a:pPr algn="r">
              <a:spcBef>
                <a:spcPts val="0"/>
              </a:spcBef>
              <a:spcAft>
                <a:spcPts val="0"/>
              </a:spcAft>
            </a:pPr>
            <a:r>
              <a:rPr sz="1000" b="0" i="0">
                <a:solidFill>
                  <a:srgbClr val="16233B"/>
                </a:solidFill>
                <a:latin typeface="Georgia"/>
              </a:rPr>
              <a:t>-6.2%</a:t>
            </a:r>
          </a:p>
        </p:txBody>
      </p:sp>
      <p:sp>
        <p:nvSpPr>
          <p:cNvPr id="38" name="TextBox 37"/>
          <p:cNvSpPr txBox="1"/>
          <p:nvPr/>
        </p:nvSpPr>
        <p:spPr>
          <a:xfrm>
            <a:off x="841248" y="3584448"/>
            <a:ext cx="10509199" cy="219456"/>
          </a:xfrm>
          <a:prstGeom prst="rect">
            <a:avLst/>
          </a:prstGeom>
          <a:noFill/>
        </p:spPr>
        <p:txBody>
          <a:bodyPr wrap="square" anchor="t" lIns="0" rIns="0" tIns="0" bIns="0">
            <a:spAutoFit/>
          </a:bodyPr>
          <a:lstStyle/>
          <a:p>
            <a:pPr algn="l">
              <a:spcBef>
                <a:spcPts val="0"/>
              </a:spcBef>
              <a:spcAft>
                <a:spcPts val="0"/>
              </a:spcAft>
            </a:pPr>
            <a:r>
              <a:rPr sz="950" b="0" i="1">
                <a:solidFill>
                  <a:srgbClr val="6B7280"/>
                </a:solidFill>
                <a:latin typeface="Georgia"/>
              </a:rPr>
              <a:t>December 2021 to September 2024, 8 quarterly rebalances. Survivorship-safe universe, fundamentals lagged 90 days, entry lagged one session, regime tilt switched off.</a:t>
            </a:r>
          </a:p>
        </p:txBody>
      </p:sp>
      <p:sp>
        <p:nvSpPr>
          <p:cNvPr id="39" name="Rounded Rectangle 38"/>
          <p:cNvSpPr/>
          <p:nvPr/>
        </p:nvSpPr>
        <p:spPr>
          <a:xfrm>
            <a:off x="841248" y="3877056"/>
            <a:ext cx="5117439" cy="1225296"/>
          </a:xfrm>
          <a:prstGeom prst="roundRect">
            <a:avLst>
              <a:gd name="adj" fmla="val 4000"/>
            </a:avLst>
          </a:prstGeom>
          <a:solidFill>
            <a:srgbClr val="E0F2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Rectangle 39"/>
          <p:cNvSpPr/>
          <p:nvPr/>
        </p:nvSpPr>
        <p:spPr>
          <a:xfrm>
            <a:off x="841248" y="3877056"/>
            <a:ext cx="54864" cy="1225296"/>
          </a:xfrm>
          <a:prstGeom prst="rect">
            <a:avLst/>
          </a:prstGeom>
          <a:solidFill>
            <a:srgbClr val="1E9E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1042416" y="4005072"/>
            <a:ext cx="4751679" cy="274320"/>
          </a:xfrm>
          <a:prstGeom prst="rect">
            <a:avLst/>
          </a:prstGeom>
          <a:noFill/>
        </p:spPr>
        <p:txBody>
          <a:bodyPr wrap="square" anchor="t" lIns="0" rIns="0" tIns="0" bIns="0">
            <a:spAutoFit/>
          </a:bodyPr>
          <a:lstStyle/>
          <a:p>
            <a:pPr algn="l">
              <a:spcBef>
                <a:spcPts val="0"/>
              </a:spcBef>
              <a:spcAft>
                <a:spcPts val="0"/>
              </a:spcAft>
            </a:pPr>
            <a:r>
              <a:rPr sz="950" b="1" i="0" spc="60">
                <a:solidFill>
                  <a:srgbClr val="1E9E6A"/>
                </a:solidFill>
                <a:latin typeface="Bahnschrift"/>
              </a:rPr>
              <a:t>WHAT THE TEST DOES SUPPORT</a:t>
            </a:r>
          </a:p>
        </p:txBody>
      </p:sp>
      <p:sp>
        <p:nvSpPr>
          <p:cNvPr id="42" name="TextBox 41"/>
          <p:cNvSpPr txBox="1"/>
          <p:nvPr/>
        </p:nvSpPr>
        <p:spPr>
          <a:xfrm>
            <a:off x="1042416" y="4279392"/>
            <a:ext cx="4751679" cy="768096"/>
          </a:xfrm>
          <a:prstGeom prst="rect">
            <a:avLst/>
          </a:prstGeom>
          <a:noFill/>
        </p:spPr>
        <p:txBody>
          <a:bodyPr wrap="square" anchor="t" lIns="0" rIns="0" tIns="0" bIns="0">
            <a:spAutoFit/>
          </a:bodyPr>
          <a:lstStyle/>
          <a:p>
            <a:pPr algn="l">
              <a:lnSpc>
                <a:spcPct val="106000"/>
              </a:lnSpc>
              <a:spcBef>
                <a:spcPts val="0"/>
              </a:spcBef>
              <a:spcAft>
                <a:spcPts val="0"/>
              </a:spcAft>
            </a:pPr>
            <a:r>
              <a:rPr sz="1050" b="0" i="0">
                <a:solidFill>
                  <a:srgbClr val="16233B"/>
                </a:solidFill>
                <a:latin typeface="Georgia"/>
              </a:rPr>
              <a:t>The top decile beat the bottom by 9 points of CAGR and the index by 11, at a fraction of the drawdown: 2.3% against 12.6% and 5.6%. That gap is what we defend, because it follows from what the gates screen out.</a:t>
            </a:r>
          </a:p>
        </p:txBody>
      </p:sp>
      <p:sp>
        <p:nvSpPr>
          <p:cNvPr id="43" name="Rounded Rectangle 42"/>
          <p:cNvSpPr/>
          <p:nvPr/>
        </p:nvSpPr>
        <p:spPr>
          <a:xfrm>
            <a:off x="6233007" y="3877056"/>
            <a:ext cx="5117439" cy="1225296"/>
          </a:xfrm>
          <a:prstGeom prst="roundRect">
            <a:avLst>
              <a:gd name="adj" fmla="val 4000"/>
            </a:avLst>
          </a:prstGeom>
          <a:solidFill>
            <a:srgbClr val="FBE3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Rectangle 43"/>
          <p:cNvSpPr/>
          <p:nvPr/>
        </p:nvSpPr>
        <p:spPr>
          <a:xfrm>
            <a:off x="6233007" y="3877056"/>
            <a:ext cx="54864" cy="1225296"/>
          </a:xfrm>
          <a:prstGeom prst="rect">
            <a:avLst/>
          </a:prstGeom>
          <a:solidFill>
            <a:srgbClr val="E0402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TextBox 44"/>
          <p:cNvSpPr txBox="1"/>
          <p:nvPr/>
        </p:nvSpPr>
        <p:spPr>
          <a:xfrm>
            <a:off x="6434175" y="4005072"/>
            <a:ext cx="4751679" cy="274320"/>
          </a:xfrm>
          <a:prstGeom prst="rect">
            <a:avLst/>
          </a:prstGeom>
          <a:noFill/>
        </p:spPr>
        <p:txBody>
          <a:bodyPr wrap="square" anchor="t" lIns="0" rIns="0" tIns="0" bIns="0">
            <a:spAutoFit/>
          </a:bodyPr>
          <a:lstStyle/>
          <a:p>
            <a:pPr algn="l">
              <a:spcBef>
                <a:spcPts val="0"/>
              </a:spcBef>
              <a:spcAft>
                <a:spcPts val="0"/>
              </a:spcAft>
            </a:pPr>
            <a:r>
              <a:rPr sz="950" b="1" i="0" spc="60">
                <a:solidFill>
                  <a:srgbClr val="E0402F"/>
                </a:solidFill>
                <a:latin typeface="Bahnschrift"/>
              </a:rPr>
              <a:t>WHAT IT DOES NOT SUPPORT</a:t>
            </a:r>
          </a:p>
        </p:txBody>
      </p:sp>
      <p:sp>
        <p:nvSpPr>
          <p:cNvPr id="46" name="TextBox 45"/>
          <p:cNvSpPr txBox="1"/>
          <p:nvPr/>
        </p:nvSpPr>
        <p:spPr>
          <a:xfrm>
            <a:off x="6434175" y="4279392"/>
            <a:ext cx="4751679" cy="768096"/>
          </a:xfrm>
          <a:prstGeom prst="rect">
            <a:avLst/>
          </a:prstGeom>
          <a:noFill/>
        </p:spPr>
        <p:txBody>
          <a:bodyPr wrap="square" anchor="t" lIns="0" rIns="0" tIns="0" bIns="0">
            <a:spAutoFit/>
          </a:bodyPr>
          <a:lstStyle/>
          <a:p>
            <a:pPr algn="l">
              <a:lnSpc>
                <a:spcPct val="106000"/>
              </a:lnSpc>
              <a:spcBef>
                <a:spcPts val="0"/>
              </a:spcBef>
              <a:spcAft>
                <a:spcPts val="0"/>
              </a:spcAft>
            </a:pPr>
            <a:r>
              <a:rPr sz="1050" b="0" i="0">
                <a:solidFill>
                  <a:srgbClr val="16233B"/>
                </a:solidFill>
                <a:latin typeface="Georgia"/>
              </a:rPr>
              <a:t>It is not a return edge. Against 2,000 random ten-name baskets the top decile sat at the 44th percentile, long-short Sharpe was about zero, and it trailed an equal-weighted universe by 2.8 points a year. Eight quarters is underpowered.</a:t>
            </a:r>
          </a:p>
        </p:txBody>
      </p:sp>
      <p:sp>
        <p:nvSpPr>
          <p:cNvPr id="47" name="Rounded Rectangle 46"/>
          <p:cNvSpPr/>
          <p:nvPr/>
        </p:nvSpPr>
        <p:spPr>
          <a:xfrm>
            <a:off x="841248" y="5230368"/>
            <a:ext cx="10509199" cy="585216"/>
          </a:xfrm>
          <a:prstGeom prst="roundRect">
            <a:avLst>
              <a:gd name="adj" fmla="val 4000"/>
            </a:avLst>
          </a:prstGeom>
          <a:solidFill>
            <a:srgbClr val="FBEFD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Rectangle 47"/>
          <p:cNvSpPr/>
          <p:nvPr/>
        </p:nvSpPr>
        <p:spPr>
          <a:xfrm>
            <a:off x="841248" y="5230368"/>
            <a:ext cx="54864" cy="585216"/>
          </a:xfrm>
          <a:prstGeom prst="rect">
            <a:avLst/>
          </a:prstGeom>
          <a:solidFill>
            <a:srgbClr val="F2A93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TextBox 48"/>
          <p:cNvSpPr txBox="1"/>
          <p:nvPr/>
        </p:nvSpPr>
        <p:spPr>
          <a:xfrm>
            <a:off x="1042416" y="5358383"/>
            <a:ext cx="10143439" cy="274320"/>
          </a:xfrm>
          <a:prstGeom prst="rect">
            <a:avLst/>
          </a:prstGeom>
          <a:noFill/>
        </p:spPr>
        <p:txBody>
          <a:bodyPr wrap="square" anchor="t" lIns="0" rIns="0" tIns="0" bIns="0">
            <a:spAutoFit/>
          </a:bodyPr>
          <a:lstStyle/>
          <a:p>
            <a:pPr algn="l">
              <a:spcBef>
                <a:spcPts val="0"/>
              </a:spcBef>
              <a:spcAft>
                <a:spcPts val="0"/>
              </a:spcAft>
            </a:pPr>
            <a:r>
              <a:rPr sz="950" b="1" i="0" spc="60">
                <a:solidFill>
                  <a:srgbClr val="92400E"/>
                </a:solidFill>
                <a:latin typeface="Bahnschrift"/>
              </a:rPr>
              <a:t>THE LINE WE WILL ACTUALLY SAY</a:t>
            </a:r>
          </a:p>
        </p:txBody>
      </p:sp>
      <p:sp>
        <p:nvSpPr>
          <p:cNvPr id="50" name="TextBox 49"/>
          <p:cNvSpPr txBox="1"/>
          <p:nvPr/>
        </p:nvSpPr>
        <p:spPr>
          <a:xfrm>
            <a:off x="1042416" y="5632704"/>
            <a:ext cx="10143439" cy="128016"/>
          </a:xfrm>
          <a:prstGeom prst="rect">
            <a:avLst/>
          </a:prstGeom>
          <a:noFill/>
        </p:spPr>
        <p:txBody>
          <a:bodyPr wrap="square" anchor="t" lIns="0" rIns="0" tIns="0" bIns="0">
            <a:spAutoFit/>
          </a:bodyPr>
          <a:lstStyle/>
          <a:p>
            <a:pPr algn="l">
              <a:lnSpc>
                <a:spcPct val="106000"/>
              </a:lnSpc>
              <a:spcBef>
                <a:spcPts val="0"/>
              </a:spcBef>
              <a:spcAft>
                <a:spcPts val="0"/>
              </a:spcAft>
            </a:pPr>
            <a:r>
              <a:rPr sz="1050" b="0" i="0">
                <a:solidFill>
                  <a:srgbClr val="16233B"/>
                </a:solidFill>
                <a:latin typeface="Georgia"/>
              </a:rPr>
              <a:t>A downside-protection tilt, but no statistically significant return selection. The analyst overlay is the real product, and it is only testable forward.</a:t>
            </a:r>
          </a:p>
        </p:txBody>
      </p:sp>
      <p:sp>
        <p:nvSpPr>
          <p:cNvPr id="51" name="TextBox 50"/>
          <p:cNvSpPr txBox="1"/>
          <p:nvPr/>
        </p:nvSpPr>
        <p:spPr>
          <a:xfrm>
            <a:off x="841248" y="6089904"/>
            <a:ext cx="10509199" cy="219456"/>
          </a:xfrm>
          <a:prstGeom prst="rect">
            <a:avLst/>
          </a:prstGeom>
          <a:noFill/>
        </p:spPr>
        <p:txBody>
          <a:bodyPr wrap="square" anchor="t" lIns="0" rIns="0" tIns="0" bIns="0">
            <a:spAutoFit/>
          </a:bodyPr>
          <a:lstStyle/>
          <a:p>
            <a:pPr algn="l">
              <a:spcBef>
                <a:spcPts val="0"/>
              </a:spcBef>
              <a:spcAft>
                <a:spcPts val="0"/>
              </a:spcAft>
            </a:pPr>
            <a:r>
              <a:rPr sz="700" b="0" i="0">
                <a:solidFill>
                  <a:srgbClr val="6B7280"/>
                </a:solidFill>
                <a:latin typeface="Bahnschrift"/>
              </a:rPr>
              <a:t>Quant core only: the analyst layer is present-day judgment and cannot be rebuilt point-in-time, so it is excluded from every figure above. Red-teamed; an earlier version of this test was invalid and was corrected.</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logo_clean.png"/>
          <p:cNvPicPr>
            <a:picLocks noChangeAspect="1"/>
          </p:cNvPicPr>
          <p:nvPr/>
        </p:nvPicPr>
        <p:blipFill>
          <a:blip r:embed="rId2"/>
          <a:stretch>
            <a:fillRect/>
          </a:stretch>
        </p:blipFill>
        <p:spPr>
          <a:xfrm>
            <a:off x="9674809" y="365760"/>
            <a:ext cx="1629918" cy="283464"/>
          </a:xfrm>
          <a:prstGeom prst="rect">
            <a:avLst/>
          </a:prstGeom>
        </p:spPr>
      </p:pic>
      <p:sp>
        <p:nvSpPr>
          <p:cNvPr id="4" name="TextBox 3"/>
          <p:cNvSpPr txBox="1"/>
          <p:nvPr/>
        </p:nvSpPr>
        <p:spPr>
          <a:xfrm>
            <a:off x="4541367" y="128016"/>
            <a:ext cx="3108960" cy="182880"/>
          </a:xfrm>
          <a:prstGeom prst="rect">
            <a:avLst/>
          </a:prstGeom>
          <a:noFill/>
        </p:spPr>
        <p:txBody>
          <a:bodyPr wrap="square" anchor="t" lIns="0" rIns="0" tIns="0" bIns="0">
            <a:spAutoFit/>
          </a:bodyPr>
          <a:lstStyle/>
          <a:p>
            <a:pPr algn="ctr">
              <a:spcBef>
                <a:spcPts val="0"/>
              </a:spcBef>
              <a:spcAft>
                <a:spcPts val="0"/>
              </a:spcAft>
            </a:pPr>
            <a:r>
              <a:rPr sz="750" b="0" i="0">
                <a:solidFill>
                  <a:srgbClr val="6B7280"/>
                </a:solidFill>
                <a:latin typeface="Bahnschrift"/>
              </a:rPr>
              <a:t>Private &amp; Confidential</a:t>
            </a:r>
          </a:p>
        </p:txBody>
      </p:sp>
      <p:sp>
        <p:nvSpPr>
          <p:cNvPr id="5" name="TextBox 4"/>
          <p:cNvSpPr txBox="1"/>
          <p:nvPr/>
        </p:nvSpPr>
        <p:spPr>
          <a:xfrm>
            <a:off x="7863840" y="274320"/>
            <a:ext cx="1749247" cy="201168"/>
          </a:xfrm>
          <a:prstGeom prst="rect">
            <a:avLst/>
          </a:prstGeom>
          <a:noFill/>
        </p:spPr>
        <p:txBody>
          <a:bodyPr wrap="square" anchor="t" lIns="0" rIns="0" tIns="0" bIns="0">
            <a:spAutoFit/>
          </a:bodyPr>
          <a:lstStyle/>
          <a:p>
            <a:pPr algn="r">
              <a:spcBef>
                <a:spcPts val="0"/>
              </a:spcBef>
              <a:spcAft>
                <a:spcPts val="0"/>
              </a:spcAft>
            </a:pPr>
            <a:r>
              <a:rPr sz="750" b="1" i="0" spc="120">
                <a:solidFill>
                  <a:srgbClr val="8C95DE"/>
                </a:solidFill>
                <a:latin typeface="Bahnschrift"/>
              </a:rPr>
              <a:t>01 · THE MODEL</a:t>
            </a:r>
          </a:p>
        </p:txBody>
      </p:sp>
      <p:sp>
        <p:nvSpPr>
          <p:cNvPr id="6" name="Rectangle 5"/>
          <p:cNvSpPr/>
          <p:nvPr/>
        </p:nvSpPr>
        <p:spPr>
          <a:xfrm>
            <a:off x="8549640" y="512064"/>
            <a:ext cx="137160" cy="20116"/>
          </a:xfrm>
          <a:prstGeom prst="rect">
            <a:avLst/>
          </a:prstGeom>
          <a:solidFill>
            <a:srgbClr val="1B27A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8732519" y="512064"/>
            <a:ext cx="137160" cy="20116"/>
          </a:xfrm>
          <a:prstGeom prst="rect">
            <a:avLst/>
          </a:prstGeom>
          <a:solidFill>
            <a:srgbClr val="E5E7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8915400" y="512064"/>
            <a:ext cx="137160" cy="20116"/>
          </a:xfrm>
          <a:prstGeom prst="rect">
            <a:avLst/>
          </a:prstGeom>
          <a:solidFill>
            <a:srgbClr val="E5E7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9098280" y="512064"/>
            <a:ext cx="137160" cy="20116"/>
          </a:xfrm>
          <a:prstGeom prst="rect">
            <a:avLst/>
          </a:prstGeom>
          <a:solidFill>
            <a:srgbClr val="E5E7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9281160" y="512064"/>
            <a:ext cx="137160" cy="20116"/>
          </a:xfrm>
          <a:prstGeom prst="rect">
            <a:avLst/>
          </a:prstGeom>
          <a:solidFill>
            <a:srgbClr val="E5E7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41248" y="420624"/>
            <a:ext cx="6858000" cy="502920"/>
          </a:xfrm>
          <a:prstGeom prst="rect">
            <a:avLst/>
          </a:prstGeom>
          <a:noFill/>
        </p:spPr>
        <p:txBody>
          <a:bodyPr wrap="square" anchor="t" lIns="0" rIns="0" tIns="0" bIns="0">
            <a:spAutoFit/>
          </a:bodyPr>
          <a:lstStyle/>
          <a:p>
            <a:pPr algn="l">
              <a:spcBef>
                <a:spcPts val="0"/>
              </a:spcBef>
              <a:spcAft>
                <a:spcPts val="0"/>
              </a:spcAft>
            </a:pPr>
            <a:r>
              <a:rPr sz="2500" b="1" i="0">
                <a:solidFill>
                  <a:srgbClr val="1B27A3"/>
                </a:solidFill>
                <a:latin typeface="Bahnschrift"/>
              </a:rPr>
              <a:t>The top and bottom of the book, named</a:t>
            </a:r>
          </a:p>
        </p:txBody>
      </p:sp>
      <p:sp>
        <p:nvSpPr>
          <p:cNvPr id="12" name="TextBox 11"/>
          <p:cNvSpPr txBox="1"/>
          <p:nvPr/>
        </p:nvSpPr>
        <p:spPr>
          <a:xfrm>
            <a:off x="841248" y="950976"/>
            <a:ext cx="9692640" cy="411480"/>
          </a:xfrm>
          <a:prstGeom prst="rect">
            <a:avLst/>
          </a:prstGeom>
          <a:noFill/>
        </p:spPr>
        <p:txBody>
          <a:bodyPr wrap="square" anchor="t" lIns="0" rIns="0" tIns="0" bIns="0">
            <a:spAutoFit/>
          </a:bodyPr>
          <a:lstStyle/>
          <a:p>
            <a:pPr algn="l">
              <a:spcBef>
                <a:spcPts val="0"/>
              </a:spcBef>
              <a:spcAft>
                <a:spcPts val="0"/>
              </a:spcAft>
            </a:pPr>
            <a:r>
              <a:rPr sz="1750" b="1" i="0">
                <a:solidFill>
                  <a:srgbClr val="F2A93C"/>
                </a:solidFill>
                <a:latin typeface="Bahnschrift"/>
              </a:rPr>
              <a:t>What the score is actually saying about real holdings today</a:t>
            </a:r>
          </a:p>
        </p:txBody>
      </p:sp>
      <p:sp>
        <p:nvSpPr>
          <p:cNvPr id="13" name="Rectangle 12"/>
          <p:cNvSpPr/>
          <p:nvPr/>
        </p:nvSpPr>
        <p:spPr>
          <a:xfrm>
            <a:off x="841248" y="1408176"/>
            <a:ext cx="10509199" cy="21945"/>
          </a:xfrm>
          <a:prstGeom prst="rect">
            <a:avLst/>
          </a:prstGeom>
          <a:solidFill>
            <a:srgbClr val="1B27A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9155887" y="6528816"/>
            <a:ext cx="2194560" cy="182880"/>
          </a:xfrm>
          <a:prstGeom prst="rect">
            <a:avLst/>
          </a:prstGeom>
          <a:noFill/>
        </p:spPr>
        <p:txBody>
          <a:bodyPr wrap="square" anchor="t" lIns="0" rIns="0" tIns="0" bIns="0">
            <a:spAutoFit/>
          </a:bodyPr>
          <a:lstStyle/>
          <a:p>
            <a:pPr algn="r">
              <a:spcBef>
                <a:spcPts val="0"/>
              </a:spcBef>
              <a:spcAft>
                <a:spcPts val="0"/>
              </a:spcAft>
            </a:pPr>
            <a:r>
              <a:rPr sz="750" b="0" i="0">
                <a:solidFill>
                  <a:srgbClr val="6B7280"/>
                </a:solidFill>
                <a:latin typeface="Bahnschrift"/>
              </a:rPr>
              <a:t>Portfolio Review  ·  13</a:t>
            </a:r>
          </a:p>
        </p:txBody>
      </p:sp>
      <p:sp>
        <p:nvSpPr>
          <p:cNvPr id="15" name="TextBox 14"/>
          <p:cNvSpPr txBox="1"/>
          <p:nvPr/>
        </p:nvSpPr>
        <p:spPr>
          <a:xfrm>
            <a:off x="841248" y="1737360"/>
            <a:ext cx="5117439" cy="219456"/>
          </a:xfrm>
          <a:prstGeom prst="rect">
            <a:avLst/>
          </a:prstGeom>
          <a:noFill/>
        </p:spPr>
        <p:txBody>
          <a:bodyPr wrap="square" anchor="t" lIns="0" rIns="0" tIns="0" bIns="0">
            <a:spAutoFit/>
          </a:bodyPr>
          <a:lstStyle/>
          <a:p>
            <a:pPr algn="l">
              <a:spcBef>
                <a:spcPts val="0"/>
              </a:spcBef>
              <a:spcAft>
                <a:spcPts val="0"/>
              </a:spcAft>
            </a:pPr>
            <a:r>
              <a:rPr sz="900" b="1" i="0" spc="120">
                <a:solidFill>
                  <a:srgbClr val="1E9E6A"/>
                </a:solidFill>
                <a:latin typeface="Bahnschrift"/>
              </a:rPr>
              <a:t>TOP 5 BY BLENDED SCORE</a:t>
            </a:r>
          </a:p>
        </p:txBody>
      </p:sp>
      <p:sp>
        <p:nvSpPr>
          <p:cNvPr id="16" name="TextBox 15"/>
          <p:cNvSpPr txBox="1"/>
          <p:nvPr/>
        </p:nvSpPr>
        <p:spPr>
          <a:xfrm>
            <a:off x="914400" y="1993392"/>
            <a:ext cx="1286579" cy="219456"/>
          </a:xfrm>
          <a:prstGeom prst="rect">
            <a:avLst/>
          </a:prstGeom>
          <a:noFill/>
        </p:spPr>
        <p:txBody>
          <a:bodyPr wrap="square" anchor="ctr" lIns="0" rIns="0" tIns="0" bIns="0">
            <a:spAutoFit/>
          </a:bodyPr>
          <a:lstStyle/>
          <a:p>
            <a:pPr algn="l">
              <a:spcBef>
                <a:spcPts val="0"/>
              </a:spcBef>
              <a:spcAft>
                <a:spcPts val="0"/>
              </a:spcAft>
            </a:pPr>
            <a:r>
              <a:rPr sz="750" b="1" i="0" spc="200">
                <a:solidFill>
                  <a:srgbClr val="6B7280"/>
                </a:solidFill>
                <a:latin typeface="Bahnschrift"/>
              </a:rPr>
              <a:t>STOCK</a:t>
            </a:r>
          </a:p>
        </p:txBody>
      </p:sp>
      <p:sp>
        <p:nvSpPr>
          <p:cNvPr id="17" name="TextBox 16"/>
          <p:cNvSpPr txBox="1"/>
          <p:nvPr/>
        </p:nvSpPr>
        <p:spPr>
          <a:xfrm>
            <a:off x="2347283" y="1993392"/>
            <a:ext cx="1388927" cy="219456"/>
          </a:xfrm>
          <a:prstGeom prst="rect">
            <a:avLst/>
          </a:prstGeom>
          <a:noFill/>
        </p:spPr>
        <p:txBody>
          <a:bodyPr wrap="square" anchor="ctr" lIns="0" rIns="0" tIns="0" bIns="0">
            <a:spAutoFit/>
          </a:bodyPr>
          <a:lstStyle/>
          <a:p>
            <a:pPr algn="l">
              <a:spcBef>
                <a:spcPts val="0"/>
              </a:spcBef>
              <a:spcAft>
                <a:spcPts val="0"/>
              </a:spcAft>
            </a:pPr>
            <a:r>
              <a:rPr sz="750" b="1" i="0" spc="200">
                <a:solidFill>
                  <a:srgbClr val="6B7280"/>
                </a:solidFill>
                <a:latin typeface="Bahnschrift"/>
              </a:rPr>
              <a:t>SECTOR</a:t>
            </a:r>
          </a:p>
        </p:txBody>
      </p:sp>
      <p:sp>
        <p:nvSpPr>
          <p:cNvPr id="18" name="TextBox 17"/>
          <p:cNvSpPr txBox="1"/>
          <p:nvPr/>
        </p:nvSpPr>
        <p:spPr>
          <a:xfrm>
            <a:off x="3882514" y="1993392"/>
            <a:ext cx="467788" cy="219456"/>
          </a:xfrm>
          <a:prstGeom prst="rect">
            <a:avLst/>
          </a:prstGeom>
          <a:noFill/>
        </p:spPr>
        <p:txBody>
          <a:bodyPr wrap="square" anchor="ctr" lIns="0" rIns="0" tIns="0" bIns="0">
            <a:spAutoFit/>
          </a:bodyPr>
          <a:lstStyle/>
          <a:p>
            <a:pPr algn="r">
              <a:spcBef>
                <a:spcPts val="0"/>
              </a:spcBef>
              <a:spcAft>
                <a:spcPts val="0"/>
              </a:spcAft>
            </a:pPr>
            <a:r>
              <a:rPr sz="750" b="1" i="0" spc="200">
                <a:solidFill>
                  <a:srgbClr val="6B7280"/>
                </a:solidFill>
                <a:latin typeface="Bahnschrift"/>
              </a:rPr>
              <a:t>3Y</a:t>
            </a:r>
          </a:p>
        </p:txBody>
      </p:sp>
      <p:sp>
        <p:nvSpPr>
          <p:cNvPr id="19" name="TextBox 18"/>
          <p:cNvSpPr txBox="1"/>
          <p:nvPr/>
        </p:nvSpPr>
        <p:spPr>
          <a:xfrm>
            <a:off x="4496607" y="1993392"/>
            <a:ext cx="467788" cy="219456"/>
          </a:xfrm>
          <a:prstGeom prst="rect">
            <a:avLst/>
          </a:prstGeom>
          <a:noFill/>
        </p:spPr>
        <p:txBody>
          <a:bodyPr wrap="square" anchor="ctr" lIns="0" rIns="0" tIns="0" bIns="0">
            <a:spAutoFit/>
          </a:bodyPr>
          <a:lstStyle/>
          <a:p>
            <a:pPr algn="r">
              <a:spcBef>
                <a:spcPts val="0"/>
              </a:spcBef>
              <a:spcAft>
                <a:spcPts val="0"/>
              </a:spcAft>
            </a:pPr>
            <a:r>
              <a:rPr sz="750" b="1" i="0" spc="200">
                <a:solidFill>
                  <a:srgbClr val="6B7280"/>
                </a:solidFill>
                <a:latin typeface="Bahnschrift"/>
              </a:rPr>
              <a:t>1Y</a:t>
            </a:r>
          </a:p>
        </p:txBody>
      </p:sp>
      <p:sp>
        <p:nvSpPr>
          <p:cNvPr id="20" name="TextBox 19"/>
          <p:cNvSpPr txBox="1"/>
          <p:nvPr/>
        </p:nvSpPr>
        <p:spPr>
          <a:xfrm>
            <a:off x="5110700" y="1993392"/>
            <a:ext cx="774835" cy="219456"/>
          </a:xfrm>
          <a:prstGeom prst="rect">
            <a:avLst/>
          </a:prstGeom>
          <a:noFill/>
        </p:spPr>
        <p:txBody>
          <a:bodyPr wrap="square" anchor="ctr" lIns="0" rIns="0" tIns="0" bIns="0">
            <a:spAutoFit/>
          </a:bodyPr>
          <a:lstStyle/>
          <a:p>
            <a:pPr algn="ctr">
              <a:spcBef>
                <a:spcPts val="0"/>
              </a:spcBef>
              <a:spcAft>
                <a:spcPts val="0"/>
              </a:spcAft>
            </a:pPr>
            <a:r>
              <a:rPr sz="750" b="1" i="0" spc="200">
                <a:solidFill>
                  <a:srgbClr val="6B7280"/>
                </a:solidFill>
                <a:latin typeface="Bahnschrift"/>
              </a:rPr>
              <a:t>CALL</a:t>
            </a:r>
          </a:p>
        </p:txBody>
      </p:sp>
      <p:sp>
        <p:nvSpPr>
          <p:cNvPr id="21" name="Rectangle 20"/>
          <p:cNvSpPr/>
          <p:nvPr/>
        </p:nvSpPr>
        <p:spPr>
          <a:xfrm>
            <a:off x="841248" y="2249424"/>
            <a:ext cx="5117439" cy="13716"/>
          </a:xfrm>
          <a:prstGeom prst="rect">
            <a:avLst/>
          </a:prstGeom>
          <a:solidFill>
            <a:srgbClr val="1B27A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914400" y="2295144"/>
            <a:ext cx="1286579" cy="310896"/>
          </a:xfrm>
          <a:prstGeom prst="rect">
            <a:avLst/>
          </a:prstGeom>
          <a:noFill/>
        </p:spPr>
        <p:txBody>
          <a:bodyPr wrap="square" anchor="ctr" lIns="0" rIns="0" tIns="0" bIns="0">
            <a:spAutoFit/>
          </a:bodyPr>
          <a:lstStyle/>
          <a:p>
            <a:pPr algn="l">
              <a:spcBef>
                <a:spcPts val="0"/>
              </a:spcBef>
              <a:spcAft>
                <a:spcPts val="0"/>
              </a:spcAft>
            </a:pPr>
            <a:r>
              <a:rPr sz="900" b="1" i="0">
                <a:solidFill>
                  <a:srgbClr val="16233B"/>
                </a:solidFill>
                <a:latin typeface="Bahnschrift"/>
              </a:rPr>
              <a:t>EMMVEE  78.8</a:t>
            </a:r>
          </a:p>
        </p:txBody>
      </p:sp>
      <p:sp>
        <p:nvSpPr>
          <p:cNvPr id="23" name="TextBox 22"/>
          <p:cNvSpPr txBox="1"/>
          <p:nvPr/>
        </p:nvSpPr>
        <p:spPr>
          <a:xfrm>
            <a:off x="2347283" y="2295144"/>
            <a:ext cx="1388927" cy="310896"/>
          </a:xfrm>
          <a:prstGeom prst="rect">
            <a:avLst/>
          </a:prstGeom>
          <a:noFill/>
        </p:spPr>
        <p:txBody>
          <a:bodyPr wrap="square" anchor="ctr" lIns="0" rIns="0" tIns="0" bIns="0">
            <a:spAutoFit/>
          </a:bodyPr>
          <a:lstStyle/>
          <a:p>
            <a:pPr algn="l">
              <a:spcBef>
                <a:spcPts val="0"/>
              </a:spcBef>
              <a:spcAft>
                <a:spcPts val="0"/>
              </a:spcAft>
            </a:pPr>
            <a:r>
              <a:rPr sz="900" b="0" i="0">
                <a:solidFill>
                  <a:srgbClr val="16233B"/>
                </a:solidFill>
                <a:latin typeface="Georgia"/>
              </a:rPr>
              <a:t>Capital Goods</a:t>
            </a:r>
          </a:p>
        </p:txBody>
      </p:sp>
      <p:sp>
        <p:nvSpPr>
          <p:cNvPr id="24" name="TextBox 23"/>
          <p:cNvSpPr txBox="1"/>
          <p:nvPr/>
        </p:nvSpPr>
        <p:spPr>
          <a:xfrm>
            <a:off x="3882514" y="2295144"/>
            <a:ext cx="467788" cy="310896"/>
          </a:xfrm>
          <a:prstGeom prst="rect">
            <a:avLst/>
          </a:prstGeom>
          <a:noFill/>
        </p:spPr>
        <p:txBody>
          <a:bodyPr wrap="square" anchor="ctr" lIns="0" rIns="0" tIns="0" bIns="0">
            <a:spAutoFit/>
          </a:bodyPr>
          <a:lstStyle/>
          <a:p>
            <a:pPr algn="r">
              <a:spcBef>
                <a:spcPts val="0"/>
              </a:spcBef>
              <a:spcAft>
                <a:spcPts val="0"/>
              </a:spcAft>
            </a:pPr>
            <a:r>
              <a:rPr sz="900" b="0" i="0">
                <a:solidFill>
                  <a:srgbClr val="16233B"/>
                </a:solidFill>
                <a:latin typeface="Georgia"/>
              </a:rPr>
              <a:t>77.9</a:t>
            </a:r>
          </a:p>
        </p:txBody>
      </p:sp>
      <p:sp>
        <p:nvSpPr>
          <p:cNvPr id="25" name="TextBox 24"/>
          <p:cNvSpPr txBox="1"/>
          <p:nvPr/>
        </p:nvSpPr>
        <p:spPr>
          <a:xfrm>
            <a:off x="4496607" y="2295144"/>
            <a:ext cx="467788" cy="310896"/>
          </a:xfrm>
          <a:prstGeom prst="rect">
            <a:avLst/>
          </a:prstGeom>
          <a:noFill/>
        </p:spPr>
        <p:txBody>
          <a:bodyPr wrap="square" anchor="ctr" lIns="0" rIns="0" tIns="0" bIns="0">
            <a:spAutoFit/>
          </a:bodyPr>
          <a:lstStyle/>
          <a:p>
            <a:pPr algn="r">
              <a:spcBef>
                <a:spcPts val="0"/>
              </a:spcBef>
              <a:spcAft>
                <a:spcPts val="0"/>
              </a:spcAft>
            </a:pPr>
            <a:r>
              <a:rPr sz="900" b="0" i="0">
                <a:solidFill>
                  <a:srgbClr val="16233B"/>
                </a:solidFill>
                <a:latin typeface="Georgia"/>
              </a:rPr>
              <a:t>80.2</a:t>
            </a:r>
          </a:p>
        </p:txBody>
      </p:sp>
      <p:sp>
        <p:nvSpPr>
          <p:cNvPr id="26" name="Rounded Rectangle 25"/>
          <p:cNvSpPr/>
          <p:nvPr/>
        </p:nvSpPr>
        <p:spPr>
          <a:xfrm>
            <a:off x="5110700" y="2331720"/>
            <a:ext cx="774835" cy="219456"/>
          </a:xfrm>
          <a:prstGeom prst="roundRect">
            <a:avLst>
              <a:gd name="adj" fmla="val 50000"/>
            </a:avLst>
          </a:prstGeom>
          <a:solidFill>
            <a:srgbClr val="E0F2EA"/>
          </a:solidFill>
          <a:ln w="9525">
            <a:solidFill>
              <a:srgbClr val="1E9E6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5110700" y="2326233"/>
            <a:ext cx="774835" cy="228600"/>
          </a:xfrm>
          <a:prstGeom prst="rect">
            <a:avLst/>
          </a:prstGeom>
          <a:noFill/>
        </p:spPr>
        <p:txBody>
          <a:bodyPr wrap="square" anchor="ctr" lIns="0" rIns="0" tIns="0" bIns="0">
            <a:spAutoFit/>
          </a:bodyPr>
          <a:lstStyle/>
          <a:p>
            <a:pPr algn="ctr">
              <a:spcBef>
                <a:spcPts val="0"/>
              </a:spcBef>
              <a:spcAft>
                <a:spcPts val="0"/>
              </a:spcAft>
            </a:pPr>
            <a:r>
              <a:rPr sz="800" b="1" i="0" spc="60">
                <a:solidFill>
                  <a:srgbClr val="1E9E6A"/>
                </a:solidFill>
                <a:latin typeface="Bahnschrift"/>
              </a:rPr>
              <a:t>HOLD</a:t>
            </a:r>
          </a:p>
        </p:txBody>
      </p:sp>
      <p:sp>
        <p:nvSpPr>
          <p:cNvPr id="28" name="Rectangle 27"/>
          <p:cNvSpPr/>
          <p:nvPr/>
        </p:nvSpPr>
        <p:spPr>
          <a:xfrm>
            <a:off x="841248" y="2587752"/>
            <a:ext cx="5117439" cy="310896"/>
          </a:xfrm>
          <a:prstGeom prst="rect">
            <a:avLst/>
          </a:prstGeom>
          <a:solidFill>
            <a:srgbClr val="F5F6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914400" y="2606040"/>
            <a:ext cx="1286579" cy="310896"/>
          </a:xfrm>
          <a:prstGeom prst="rect">
            <a:avLst/>
          </a:prstGeom>
          <a:noFill/>
        </p:spPr>
        <p:txBody>
          <a:bodyPr wrap="square" anchor="ctr" lIns="0" rIns="0" tIns="0" bIns="0">
            <a:spAutoFit/>
          </a:bodyPr>
          <a:lstStyle/>
          <a:p>
            <a:pPr algn="l">
              <a:spcBef>
                <a:spcPts val="0"/>
              </a:spcBef>
              <a:spcAft>
                <a:spcPts val="0"/>
              </a:spcAft>
            </a:pPr>
            <a:r>
              <a:rPr sz="900" b="1" i="0">
                <a:solidFill>
                  <a:srgbClr val="16233B"/>
                </a:solidFill>
                <a:latin typeface="Bahnschrift"/>
              </a:rPr>
              <a:t>SKFINDUS  76.8</a:t>
            </a:r>
          </a:p>
        </p:txBody>
      </p:sp>
      <p:sp>
        <p:nvSpPr>
          <p:cNvPr id="30" name="TextBox 29"/>
          <p:cNvSpPr txBox="1"/>
          <p:nvPr/>
        </p:nvSpPr>
        <p:spPr>
          <a:xfrm>
            <a:off x="2347283" y="2606040"/>
            <a:ext cx="1388927" cy="310896"/>
          </a:xfrm>
          <a:prstGeom prst="rect">
            <a:avLst/>
          </a:prstGeom>
          <a:noFill/>
        </p:spPr>
        <p:txBody>
          <a:bodyPr wrap="square" anchor="ctr" lIns="0" rIns="0" tIns="0" bIns="0">
            <a:spAutoFit/>
          </a:bodyPr>
          <a:lstStyle/>
          <a:p>
            <a:pPr algn="l">
              <a:spcBef>
                <a:spcPts val="0"/>
              </a:spcBef>
              <a:spcAft>
                <a:spcPts val="0"/>
              </a:spcAft>
            </a:pPr>
            <a:r>
              <a:rPr sz="900" b="0" i="0">
                <a:solidFill>
                  <a:srgbClr val="16233B"/>
                </a:solidFill>
                <a:latin typeface="Georgia"/>
              </a:rPr>
              <a:t>Capital Goods</a:t>
            </a:r>
          </a:p>
        </p:txBody>
      </p:sp>
      <p:sp>
        <p:nvSpPr>
          <p:cNvPr id="31" name="TextBox 30"/>
          <p:cNvSpPr txBox="1"/>
          <p:nvPr/>
        </p:nvSpPr>
        <p:spPr>
          <a:xfrm>
            <a:off x="3882514" y="2606040"/>
            <a:ext cx="467788" cy="310896"/>
          </a:xfrm>
          <a:prstGeom prst="rect">
            <a:avLst/>
          </a:prstGeom>
          <a:noFill/>
        </p:spPr>
        <p:txBody>
          <a:bodyPr wrap="square" anchor="ctr" lIns="0" rIns="0" tIns="0" bIns="0">
            <a:spAutoFit/>
          </a:bodyPr>
          <a:lstStyle/>
          <a:p>
            <a:pPr algn="r">
              <a:spcBef>
                <a:spcPts val="0"/>
              </a:spcBef>
              <a:spcAft>
                <a:spcPts val="0"/>
              </a:spcAft>
            </a:pPr>
            <a:r>
              <a:rPr sz="900" b="0" i="0">
                <a:solidFill>
                  <a:srgbClr val="16233B"/>
                </a:solidFill>
                <a:latin typeface="Georgia"/>
              </a:rPr>
              <a:t>79.8</a:t>
            </a:r>
          </a:p>
        </p:txBody>
      </p:sp>
      <p:sp>
        <p:nvSpPr>
          <p:cNvPr id="32" name="TextBox 31"/>
          <p:cNvSpPr txBox="1"/>
          <p:nvPr/>
        </p:nvSpPr>
        <p:spPr>
          <a:xfrm>
            <a:off x="4496607" y="2606040"/>
            <a:ext cx="467788" cy="310896"/>
          </a:xfrm>
          <a:prstGeom prst="rect">
            <a:avLst/>
          </a:prstGeom>
          <a:noFill/>
        </p:spPr>
        <p:txBody>
          <a:bodyPr wrap="square" anchor="ctr" lIns="0" rIns="0" tIns="0" bIns="0">
            <a:spAutoFit/>
          </a:bodyPr>
          <a:lstStyle/>
          <a:p>
            <a:pPr algn="r">
              <a:spcBef>
                <a:spcPts val="0"/>
              </a:spcBef>
              <a:spcAft>
                <a:spcPts val="0"/>
              </a:spcAft>
            </a:pPr>
            <a:r>
              <a:rPr sz="900" b="0" i="0">
                <a:solidFill>
                  <a:srgbClr val="16233B"/>
                </a:solidFill>
                <a:latin typeface="Georgia"/>
              </a:rPr>
              <a:t>72.3</a:t>
            </a:r>
          </a:p>
        </p:txBody>
      </p:sp>
      <p:sp>
        <p:nvSpPr>
          <p:cNvPr id="33" name="Rounded Rectangle 32"/>
          <p:cNvSpPr/>
          <p:nvPr/>
        </p:nvSpPr>
        <p:spPr>
          <a:xfrm>
            <a:off x="5110700" y="2642616"/>
            <a:ext cx="774835" cy="219456"/>
          </a:xfrm>
          <a:prstGeom prst="roundRect">
            <a:avLst>
              <a:gd name="adj" fmla="val 50000"/>
            </a:avLst>
          </a:prstGeom>
          <a:solidFill>
            <a:srgbClr val="E0F2EA"/>
          </a:solidFill>
          <a:ln w="9525">
            <a:solidFill>
              <a:srgbClr val="1E9E6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5110700" y="2637129"/>
            <a:ext cx="774835" cy="228600"/>
          </a:xfrm>
          <a:prstGeom prst="rect">
            <a:avLst/>
          </a:prstGeom>
          <a:noFill/>
        </p:spPr>
        <p:txBody>
          <a:bodyPr wrap="square" anchor="ctr" lIns="0" rIns="0" tIns="0" bIns="0">
            <a:spAutoFit/>
          </a:bodyPr>
          <a:lstStyle/>
          <a:p>
            <a:pPr algn="ctr">
              <a:spcBef>
                <a:spcPts val="0"/>
              </a:spcBef>
              <a:spcAft>
                <a:spcPts val="0"/>
              </a:spcAft>
            </a:pPr>
            <a:r>
              <a:rPr sz="800" b="1" i="0" spc="60">
                <a:solidFill>
                  <a:srgbClr val="1E9E6A"/>
                </a:solidFill>
                <a:latin typeface="Bahnschrift"/>
              </a:rPr>
              <a:t>HOLD</a:t>
            </a:r>
          </a:p>
        </p:txBody>
      </p:sp>
      <p:sp>
        <p:nvSpPr>
          <p:cNvPr id="35" name="TextBox 34"/>
          <p:cNvSpPr txBox="1"/>
          <p:nvPr/>
        </p:nvSpPr>
        <p:spPr>
          <a:xfrm>
            <a:off x="914400" y="2916936"/>
            <a:ext cx="1286579" cy="310896"/>
          </a:xfrm>
          <a:prstGeom prst="rect">
            <a:avLst/>
          </a:prstGeom>
          <a:noFill/>
        </p:spPr>
        <p:txBody>
          <a:bodyPr wrap="square" anchor="ctr" lIns="0" rIns="0" tIns="0" bIns="0">
            <a:spAutoFit/>
          </a:bodyPr>
          <a:lstStyle/>
          <a:p>
            <a:pPr algn="l">
              <a:spcBef>
                <a:spcPts val="0"/>
              </a:spcBef>
              <a:spcAft>
                <a:spcPts val="0"/>
              </a:spcAft>
            </a:pPr>
            <a:r>
              <a:rPr sz="900" b="1" i="0">
                <a:solidFill>
                  <a:srgbClr val="16233B"/>
                </a:solidFill>
                <a:latin typeface="Bahnschrift"/>
              </a:rPr>
              <a:t>SAATVIKGL  76.6</a:t>
            </a:r>
          </a:p>
        </p:txBody>
      </p:sp>
      <p:sp>
        <p:nvSpPr>
          <p:cNvPr id="36" name="TextBox 35"/>
          <p:cNvSpPr txBox="1"/>
          <p:nvPr/>
        </p:nvSpPr>
        <p:spPr>
          <a:xfrm>
            <a:off x="2347283" y="2916936"/>
            <a:ext cx="1388927" cy="310896"/>
          </a:xfrm>
          <a:prstGeom prst="rect">
            <a:avLst/>
          </a:prstGeom>
          <a:noFill/>
        </p:spPr>
        <p:txBody>
          <a:bodyPr wrap="square" anchor="ctr" lIns="0" rIns="0" tIns="0" bIns="0">
            <a:spAutoFit/>
          </a:bodyPr>
          <a:lstStyle/>
          <a:p>
            <a:pPr algn="l">
              <a:spcBef>
                <a:spcPts val="0"/>
              </a:spcBef>
              <a:spcAft>
                <a:spcPts val="0"/>
              </a:spcAft>
            </a:pPr>
            <a:r>
              <a:rPr sz="900" b="0" i="0">
                <a:solidFill>
                  <a:srgbClr val="16233B"/>
                </a:solidFill>
                <a:latin typeface="Georgia"/>
              </a:rPr>
              <a:t>Capital Goods</a:t>
            </a:r>
          </a:p>
        </p:txBody>
      </p:sp>
      <p:sp>
        <p:nvSpPr>
          <p:cNvPr id="37" name="TextBox 36"/>
          <p:cNvSpPr txBox="1"/>
          <p:nvPr/>
        </p:nvSpPr>
        <p:spPr>
          <a:xfrm>
            <a:off x="3882514" y="2916936"/>
            <a:ext cx="467788" cy="310896"/>
          </a:xfrm>
          <a:prstGeom prst="rect">
            <a:avLst/>
          </a:prstGeom>
          <a:noFill/>
        </p:spPr>
        <p:txBody>
          <a:bodyPr wrap="square" anchor="ctr" lIns="0" rIns="0" tIns="0" bIns="0">
            <a:spAutoFit/>
          </a:bodyPr>
          <a:lstStyle/>
          <a:p>
            <a:pPr algn="r">
              <a:spcBef>
                <a:spcPts val="0"/>
              </a:spcBef>
              <a:spcAft>
                <a:spcPts val="0"/>
              </a:spcAft>
            </a:pPr>
            <a:r>
              <a:rPr sz="900" b="0" i="0">
                <a:solidFill>
                  <a:srgbClr val="16233B"/>
                </a:solidFill>
                <a:latin typeface="Georgia"/>
              </a:rPr>
              <a:t>79.4</a:t>
            </a:r>
          </a:p>
        </p:txBody>
      </p:sp>
      <p:sp>
        <p:nvSpPr>
          <p:cNvPr id="38" name="TextBox 37"/>
          <p:cNvSpPr txBox="1"/>
          <p:nvPr/>
        </p:nvSpPr>
        <p:spPr>
          <a:xfrm>
            <a:off x="4496607" y="2916936"/>
            <a:ext cx="467788" cy="310896"/>
          </a:xfrm>
          <a:prstGeom prst="rect">
            <a:avLst/>
          </a:prstGeom>
          <a:noFill/>
        </p:spPr>
        <p:txBody>
          <a:bodyPr wrap="square" anchor="ctr" lIns="0" rIns="0" tIns="0" bIns="0">
            <a:spAutoFit/>
          </a:bodyPr>
          <a:lstStyle/>
          <a:p>
            <a:pPr algn="r">
              <a:spcBef>
                <a:spcPts val="0"/>
              </a:spcBef>
              <a:spcAft>
                <a:spcPts val="0"/>
              </a:spcAft>
            </a:pPr>
            <a:r>
              <a:rPr sz="900" b="0" i="0">
                <a:solidFill>
                  <a:srgbClr val="16233B"/>
                </a:solidFill>
                <a:latin typeface="Georgia"/>
              </a:rPr>
              <a:t>72.4</a:t>
            </a:r>
          </a:p>
        </p:txBody>
      </p:sp>
      <p:sp>
        <p:nvSpPr>
          <p:cNvPr id="39" name="Rounded Rectangle 38"/>
          <p:cNvSpPr/>
          <p:nvPr/>
        </p:nvSpPr>
        <p:spPr>
          <a:xfrm>
            <a:off x="5110700" y="2953512"/>
            <a:ext cx="774835" cy="219456"/>
          </a:xfrm>
          <a:prstGeom prst="roundRect">
            <a:avLst>
              <a:gd name="adj" fmla="val 50000"/>
            </a:avLst>
          </a:prstGeom>
          <a:solidFill>
            <a:srgbClr val="E0F2EA"/>
          </a:solidFill>
          <a:ln w="9525">
            <a:solidFill>
              <a:srgbClr val="1E9E6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5110700" y="2948025"/>
            <a:ext cx="774835" cy="228600"/>
          </a:xfrm>
          <a:prstGeom prst="rect">
            <a:avLst/>
          </a:prstGeom>
          <a:noFill/>
        </p:spPr>
        <p:txBody>
          <a:bodyPr wrap="square" anchor="ctr" lIns="0" rIns="0" tIns="0" bIns="0">
            <a:spAutoFit/>
          </a:bodyPr>
          <a:lstStyle/>
          <a:p>
            <a:pPr algn="ctr">
              <a:spcBef>
                <a:spcPts val="0"/>
              </a:spcBef>
              <a:spcAft>
                <a:spcPts val="0"/>
              </a:spcAft>
            </a:pPr>
            <a:r>
              <a:rPr sz="800" b="1" i="0" spc="60">
                <a:solidFill>
                  <a:srgbClr val="1E9E6A"/>
                </a:solidFill>
                <a:latin typeface="Bahnschrift"/>
              </a:rPr>
              <a:t>HOLD</a:t>
            </a:r>
          </a:p>
        </p:txBody>
      </p:sp>
      <p:sp>
        <p:nvSpPr>
          <p:cNvPr id="41" name="Rectangle 40"/>
          <p:cNvSpPr/>
          <p:nvPr/>
        </p:nvSpPr>
        <p:spPr>
          <a:xfrm>
            <a:off x="841248" y="3209544"/>
            <a:ext cx="5117439" cy="310896"/>
          </a:xfrm>
          <a:prstGeom prst="rect">
            <a:avLst/>
          </a:prstGeom>
          <a:solidFill>
            <a:srgbClr val="F5F6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914400" y="3227832"/>
            <a:ext cx="1286579" cy="310896"/>
          </a:xfrm>
          <a:prstGeom prst="rect">
            <a:avLst/>
          </a:prstGeom>
          <a:noFill/>
        </p:spPr>
        <p:txBody>
          <a:bodyPr wrap="square" anchor="ctr" lIns="0" rIns="0" tIns="0" bIns="0">
            <a:spAutoFit/>
          </a:bodyPr>
          <a:lstStyle/>
          <a:p>
            <a:pPr algn="l">
              <a:spcBef>
                <a:spcPts val="0"/>
              </a:spcBef>
              <a:spcAft>
                <a:spcPts val="0"/>
              </a:spcAft>
            </a:pPr>
            <a:r>
              <a:rPr sz="900" b="1" i="0">
                <a:solidFill>
                  <a:srgbClr val="16233B"/>
                </a:solidFill>
                <a:latin typeface="Bahnschrift"/>
              </a:rPr>
              <a:t>WELCORP  74.5</a:t>
            </a:r>
          </a:p>
        </p:txBody>
      </p:sp>
      <p:sp>
        <p:nvSpPr>
          <p:cNvPr id="43" name="TextBox 42"/>
          <p:cNvSpPr txBox="1"/>
          <p:nvPr/>
        </p:nvSpPr>
        <p:spPr>
          <a:xfrm>
            <a:off x="2347283" y="3227832"/>
            <a:ext cx="1388927" cy="310896"/>
          </a:xfrm>
          <a:prstGeom prst="rect">
            <a:avLst/>
          </a:prstGeom>
          <a:noFill/>
        </p:spPr>
        <p:txBody>
          <a:bodyPr wrap="square" anchor="ctr" lIns="0" rIns="0" tIns="0" bIns="0">
            <a:spAutoFit/>
          </a:bodyPr>
          <a:lstStyle/>
          <a:p>
            <a:pPr algn="l">
              <a:spcBef>
                <a:spcPts val="0"/>
              </a:spcBef>
              <a:spcAft>
                <a:spcPts val="0"/>
              </a:spcAft>
            </a:pPr>
            <a:r>
              <a:rPr sz="900" b="0" i="0">
                <a:solidFill>
                  <a:srgbClr val="16233B"/>
                </a:solidFill>
                <a:latin typeface="Georgia"/>
              </a:rPr>
              <a:t>Capital Goods</a:t>
            </a:r>
          </a:p>
        </p:txBody>
      </p:sp>
      <p:sp>
        <p:nvSpPr>
          <p:cNvPr id="44" name="TextBox 43"/>
          <p:cNvSpPr txBox="1"/>
          <p:nvPr/>
        </p:nvSpPr>
        <p:spPr>
          <a:xfrm>
            <a:off x="3882514" y="3227832"/>
            <a:ext cx="467788" cy="310896"/>
          </a:xfrm>
          <a:prstGeom prst="rect">
            <a:avLst/>
          </a:prstGeom>
          <a:noFill/>
        </p:spPr>
        <p:txBody>
          <a:bodyPr wrap="square" anchor="ctr" lIns="0" rIns="0" tIns="0" bIns="0">
            <a:spAutoFit/>
          </a:bodyPr>
          <a:lstStyle/>
          <a:p>
            <a:pPr algn="r">
              <a:spcBef>
                <a:spcPts val="0"/>
              </a:spcBef>
              <a:spcAft>
                <a:spcPts val="0"/>
              </a:spcAft>
            </a:pPr>
            <a:r>
              <a:rPr sz="900" b="0" i="0">
                <a:solidFill>
                  <a:srgbClr val="16233B"/>
                </a:solidFill>
                <a:latin typeface="Georgia"/>
              </a:rPr>
              <a:t>73.2</a:t>
            </a:r>
          </a:p>
        </p:txBody>
      </p:sp>
      <p:sp>
        <p:nvSpPr>
          <p:cNvPr id="45" name="TextBox 44"/>
          <p:cNvSpPr txBox="1"/>
          <p:nvPr/>
        </p:nvSpPr>
        <p:spPr>
          <a:xfrm>
            <a:off x="4496607" y="3227832"/>
            <a:ext cx="467788" cy="310896"/>
          </a:xfrm>
          <a:prstGeom prst="rect">
            <a:avLst/>
          </a:prstGeom>
          <a:noFill/>
        </p:spPr>
        <p:txBody>
          <a:bodyPr wrap="square" anchor="ctr" lIns="0" rIns="0" tIns="0" bIns="0">
            <a:spAutoFit/>
          </a:bodyPr>
          <a:lstStyle/>
          <a:p>
            <a:pPr algn="r">
              <a:spcBef>
                <a:spcPts val="0"/>
              </a:spcBef>
              <a:spcAft>
                <a:spcPts val="0"/>
              </a:spcAft>
            </a:pPr>
            <a:r>
              <a:rPr sz="900" b="0" i="0">
                <a:solidFill>
                  <a:srgbClr val="16233B"/>
                </a:solidFill>
                <a:latin typeface="Georgia"/>
              </a:rPr>
              <a:t>76.5</a:t>
            </a:r>
          </a:p>
        </p:txBody>
      </p:sp>
      <p:sp>
        <p:nvSpPr>
          <p:cNvPr id="46" name="Rounded Rectangle 45"/>
          <p:cNvSpPr/>
          <p:nvPr/>
        </p:nvSpPr>
        <p:spPr>
          <a:xfrm>
            <a:off x="5110700" y="3264408"/>
            <a:ext cx="774835" cy="219456"/>
          </a:xfrm>
          <a:prstGeom prst="roundRect">
            <a:avLst>
              <a:gd name="adj" fmla="val 50000"/>
            </a:avLst>
          </a:prstGeom>
          <a:solidFill>
            <a:srgbClr val="E0F2EA"/>
          </a:solidFill>
          <a:ln w="9525">
            <a:solidFill>
              <a:srgbClr val="1E9E6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TextBox 46"/>
          <p:cNvSpPr txBox="1"/>
          <p:nvPr/>
        </p:nvSpPr>
        <p:spPr>
          <a:xfrm>
            <a:off x="5110700" y="3258921"/>
            <a:ext cx="774835" cy="228600"/>
          </a:xfrm>
          <a:prstGeom prst="rect">
            <a:avLst/>
          </a:prstGeom>
          <a:noFill/>
        </p:spPr>
        <p:txBody>
          <a:bodyPr wrap="square" anchor="ctr" lIns="0" rIns="0" tIns="0" bIns="0">
            <a:spAutoFit/>
          </a:bodyPr>
          <a:lstStyle/>
          <a:p>
            <a:pPr algn="ctr">
              <a:spcBef>
                <a:spcPts val="0"/>
              </a:spcBef>
              <a:spcAft>
                <a:spcPts val="0"/>
              </a:spcAft>
            </a:pPr>
            <a:r>
              <a:rPr sz="800" b="1" i="0" spc="60">
                <a:solidFill>
                  <a:srgbClr val="1E9E6A"/>
                </a:solidFill>
                <a:latin typeface="Bahnschrift"/>
              </a:rPr>
              <a:t>HOLD</a:t>
            </a:r>
          </a:p>
        </p:txBody>
      </p:sp>
      <p:sp>
        <p:nvSpPr>
          <p:cNvPr id="48" name="TextBox 47"/>
          <p:cNvSpPr txBox="1"/>
          <p:nvPr/>
        </p:nvSpPr>
        <p:spPr>
          <a:xfrm>
            <a:off x="914400" y="3538727"/>
            <a:ext cx="1286579" cy="310896"/>
          </a:xfrm>
          <a:prstGeom prst="rect">
            <a:avLst/>
          </a:prstGeom>
          <a:noFill/>
        </p:spPr>
        <p:txBody>
          <a:bodyPr wrap="square" anchor="ctr" lIns="0" rIns="0" tIns="0" bIns="0">
            <a:spAutoFit/>
          </a:bodyPr>
          <a:lstStyle/>
          <a:p>
            <a:pPr algn="l">
              <a:spcBef>
                <a:spcPts val="0"/>
              </a:spcBef>
              <a:spcAft>
                <a:spcPts val="0"/>
              </a:spcAft>
            </a:pPr>
            <a:r>
              <a:rPr sz="900" b="1" i="0">
                <a:solidFill>
                  <a:srgbClr val="16233B"/>
                </a:solidFill>
                <a:latin typeface="Bahnschrift"/>
              </a:rPr>
              <a:t>SUZLON  73.6</a:t>
            </a:r>
          </a:p>
        </p:txBody>
      </p:sp>
      <p:sp>
        <p:nvSpPr>
          <p:cNvPr id="49" name="TextBox 48"/>
          <p:cNvSpPr txBox="1"/>
          <p:nvPr/>
        </p:nvSpPr>
        <p:spPr>
          <a:xfrm>
            <a:off x="2347283" y="3538727"/>
            <a:ext cx="1388927" cy="310896"/>
          </a:xfrm>
          <a:prstGeom prst="rect">
            <a:avLst/>
          </a:prstGeom>
          <a:noFill/>
        </p:spPr>
        <p:txBody>
          <a:bodyPr wrap="square" anchor="ctr" lIns="0" rIns="0" tIns="0" bIns="0">
            <a:spAutoFit/>
          </a:bodyPr>
          <a:lstStyle/>
          <a:p>
            <a:pPr algn="l">
              <a:spcBef>
                <a:spcPts val="0"/>
              </a:spcBef>
              <a:spcAft>
                <a:spcPts val="0"/>
              </a:spcAft>
            </a:pPr>
            <a:r>
              <a:rPr sz="900" b="0" i="0">
                <a:solidFill>
                  <a:srgbClr val="16233B"/>
                </a:solidFill>
                <a:latin typeface="Georgia"/>
              </a:rPr>
              <a:t>Capital Goods</a:t>
            </a:r>
          </a:p>
        </p:txBody>
      </p:sp>
      <p:sp>
        <p:nvSpPr>
          <p:cNvPr id="50" name="TextBox 49"/>
          <p:cNvSpPr txBox="1"/>
          <p:nvPr/>
        </p:nvSpPr>
        <p:spPr>
          <a:xfrm>
            <a:off x="3882514" y="3538727"/>
            <a:ext cx="467788" cy="310896"/>
          </a:xfrm>
          <a:prstGeom prst="rect">
            <a:avLst/>
          </a:prstGeom>
          <a:noFill/>
        </p:spPr>
        <p:txBody>
          <a:bodyPr wrap="square" anchor="ctr" lIns="0" rIns="0" tIns="0" bIns="0">
            <a:spAutoFit/>
          </a:bodyPr>
          <a:lstStyle/>
          <a:p>
            <a:pPr algn="r">
              <a:spcBef>
                <a:spcPts val="0"/>
              </a:spcBef>
              <a:spcAft>
                <a:spcPts val="0"/>
              </a:spcAft>
            </a:pPr>
            <a:r>
              <a:rPr sz="900" b="0" i="0">
                <a:solidFill>
                  <a:srgbClr val="16233B"/>
                </a:solidFill>
                <a:latin typeface="Georgia"/>
              </a:rPr>
              <a:t>75.8</a:t>
            </a:r>
          </a:p>
        </p:txBody>
      </p:sp>
      <p:sp>
        <p:nvSpPr>
          <p:cNvPr id="51" name="TextBox 50"/>
          <p:cNvSpPr txBox="1"/>
          <p:nvPr/>
        </p:nvSpPr>
        <p:spPr>
          <a:xfrm>
            <a:off x="4496607" y="3538727"/>
            <a:ext cx="467788" cy="310896"/>
          </a:xfrm>
          <a:prstGeom prst="rect">
            <a:avLst/>
          </a:prstGeom>
          <a:noFill/>
        </p:spPr>
        <p:txBody>
          <a:bodyPr wrap="square" anchor="ctr" lIns="0" rIns="0" tIns="0" bIns="0">
            <a:spAutoFit/>
          </a:bodyPr>
          <a:lstStyle/>
          <a:p>
            <a:pPr algn="r">
              <a:spcBef>
                <a:spcPts val="0"/>
              </a:spcBef>
              <a:spcAft>
                <a:spcPts val="0"/>
              </a:spcAft>
            </a:pPr>
            <a:r>
              <a:rPr sz="900" b="0" i="0">
                <a:solidFill>
                  <a:srgbClr val="16233B"/>
                </a:solidFill>
                <a:latin typeface="Georgia"/>
              </a:rPr>
              <a:t>70.3</a:t>
            </a:r>
          </a:p>
        </p:txBody>
      </p:sp>
      <p:sp>
        <p:nvSpPr>
          <p:cNvPr id="52" name="Rounded Rectangle 51"/>
          <p:cNvSpPr/>
          <p:nvPr/>
        </p:nvSpPr>
        <p:spPr>
          <a:xfrm>
            <a:off x="5110700" y="3575304"/>
            <a:ext cx="774835" cy="219456"/>
          </a:xfrm>
          <a:prstGeom prst="roundRect">
            <a:avLst>
              <a:gd name="adj" fmla="val 50000"/>
            </a:avLst>
          </a:prstGeom>
          <a:solidFill>
            <a:srgbClr val="E0F2EA"/>
          </a:solidFill>
          <a:ln w="9525">
            <a:solidFill>
              <a:srgbClr val="1E9E6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 name="TextBox 52"/>
          <p:cNvSpPr txBox="1"/>
          <p:nvPr/>
        </p:nvSpPr>
        <p:spPr>
          <a:xfrm>
            <a:off x="5110700" y="3569817"/>
            <a:ext cx="774835" cy="228600"/>
          </a:xfrm>
          <a:prstGeom prst="rect">
            <a:avLst/>
          </a:prstGeom>
          <a:noFill/>
        </p:spPr>
        <p:txBody>
          <a:bodyPr wrap="square" anchor="ctr" lIns="0" rIns="0" tIns="0" bIns="0">
            <a:spAutoFit/>
          </a:bodyPr>
          <a:lstStyle/>
          <a:p>
            <a:pPr algn="ctr">
              <a:spcBef>
                <a:spcPts val="0"/>
              </a:spcBef>
              <a:spcAft>
                <a:spcPts val="0"/>
              </a:spcAft>
            </a:pPr>
            <a:r>
              <a:rPr sz="800" b="1" i="0" spc="60">
                <a:solidFill>
                  <a:srgbClr val="1E9E6A"/>
                </a:solidFill>
                <a:latin typeface="Bahnschrift"/>
              </a:rPr>
              <a:t>HOLD</a:t>
            </a:r>
          </a:p>
        </p:txBody>
      </p:sp>
      <p:sp>
        <p:nvSpPr>
          <p:cNvPr id="54" name="TextBox 53"/>
          <p:cNvSpPr txBox="1"/>
          <p:nvPr/>
        </p:nvSpPr>
        <p:spPr>
          <a:xfrm>
            <a:off x="6233007" y="1737360"/>
            <a:ext cx="5117439" cy="219456"/>
          </a:xfrm>
          <a:prstGeom prst="rect">
            <a:avLst/>
          </a:prstGeom>
          <a:noFill/>
        </p:spPr>
        <p:txBody>
          <a:bodyPr wrap="square" anchor="t" lIns="0" rIns="0" tIns="0" bIns="0">
            <a:spAutoFit/>
          </a:bodyPr>
          <a:lstStyle/>
          <a:p>
            <a:pPr algn="l">
              <a:spcBef>
                <a:spcPts val="0"/>
              </a:spcBef>
              <a:spcAft>
                <a:spcPts val="0"/>
              </a:spcAft>
            </a:pPr>
            <a:r>
              <a:rPr sz="900" b="1" i="0" spc="120">
                <a:solidFill>
                  <a:srgbClr val="E0402F"/>
                </a:solidFill>
                <a:latin typeface="Bahnschrift"/>
              </a:rPr>
              <a:t>BOTTOM 5 BY BLENDED SCORE</a:t>
            </a:r>
          </a:p>
        </p:txBody>
      </p:sp>
      <p:sp>
        <p:nvSpPr>
          <p:cNvPr id="55" name="TextBox 54"/>
          <p:cNvSpPr txBox="1"/>
          <p:nvPr/>
        </p:nvSpPr>
        <p:spPr>
          <a:xfrm>
            <a:off x="6306159" y="1993392"/>
            <a:ext cx="1286579" cy="219456"/>
          </a:xfrm>
          <a:prstGeom prst="rect">
            <a:avLst/>
          </a:prstGeom>
          <a:noFill/>
        </p:spPr>
        <p:txBody>
          <a:bodyPr wrap="square" anchor="ctr" lIns="0" rIns="0" tIns="0" bIns="0">
            <a:spAutoFit/>
          </a:bodyPr>
          <a:lstStyle/>
          <a:p>
            <a:pPr algn="l">
              <a:spcBef>
                <a:spcPts val="0"/>
              </a:spcBef>
              <a:spcAft>
                <a:spcPts val="0"/>
              </a:spcAft>
            </a:pPr>
            <a:r>
              <a:rPr sz="750" b="1" i="0" spc="200">
                <a:solidFill>
                  <a:srgbClr val="6B7280"/>
                </a:solidFill>
                <a:latin typeface="Bahnschrift"/>
              </a:rPr>
              <a:t>STOCK</a:t>
            </a:r>
          </a:p>
        </p:txBody>
      </p:sp>
      <p:sp>
        <p:nvSpPr>
          <p:cNvPr id="56" name="TextBox 55"/>
          <p:cNvSpPr txBox="1"/>
          <p:nvPr/>
        </p:nvSpPr>
        <p:spPr>
          <a:xfrm>
            <a:off x="7739042" y="1993392"/>
            <a:ext cx="1388927" cy="219456"/>
          </a:xfrm>
          <a:prstGeom prst="rect">
            <a:avLst/>
          </a:prstGeom>
          <a:noFill/>
        </p:spPr>
        <p:txBody>
          <a:bodyPr wrap="square" anchor="ctr" lIns="0" rIns="0" tIns="0" bIns="0">
            <a:spAutoFit/>
          </a:bodyPr>
          <a:lstStyle/>
          <a:p>
            <a:pPr algn="l">
              <a:spcBef>
                <a:spcPts val="0"/>
              </a:spcBef>
              <a:spcAft>
                <a:spcPts val="0"/>
              </a:spcAft>
            </a:pPr>
            <a:r>
              <a:rPr sz="750" b="1" i="0" spc="200">
                <a:solidFill>
                  <a:srgbClr val="6B7280"/>
                </a:solidFill>
                <a:latin typeface="Bahnschrift"/>
              </a:rPr>
              <a:t>SECTOR</a:t>
            </a:r>
          </a:p>
        </p:txBody>
      </p:sp>
      <p:sp>
        <p:nvSpPr>
          <p:cNvPr id="57" name="TextBox 56"/>
          <p:cNvSpPr txBox="1"/>
          <p:nvPr/>
        </p:nvSpPr>
        <p:spPr>
          <a:xfrm>
            <a:off x="9274274" y="1993392"/>
            <a:ext cx="467788" cy="219456"/>
          </a:xfrm>
          <a:prstGeom prst="rect">
            <a:avLst/>
          </a:prstGeom>
          <a:noFill/>
        </p:spPr>
        <p:txBody>
          <a:bodyPr wrap="square" anchor="ctr" lIns="0" rIns="0" tIns="0" bIns="0">
            <a:spAutoFit/>
          </a:bodyPr>
          <a:lstStyle/>
          <a:p>
            <a:pPr algn="r">
              <a:spcBef>
                <a:spcPts val="0"/>
              </a:spcBef>
              <a:spcAft>
                <a:spcPts val="0"/>
              </a:spcAft>
            </a:pPr>
            <a:r>
              <a:rPr sz="750" b="1" i="0" spc="200">
                <a:solidFill>
                  <a:srgbClr val="6B7280"/>
                </a:solidFill>
                <a:latin typeface="Bahnschrift"/>
              </a:rPr>
              <a:t>3Y</a:t>
            </a:r>
          </a:p>
        </p:txBody>
      </p:sp>
      <p:sp>
        <p:nvSpPr>
          <p:cNvPr id="58" name="TextBox 57"/>
          <p:cNvSpPr txBox="1"/>
          <p:nvPr/>
        </p:nvSpPr>
        <p:spPr>
          <a:xfrm>
            <a:off x="9888367" y="1993392"/>
            <a:ext cx="467788" cy="219456"/>
          </a:xfrm>
          <a:prstGeom prst="rect">
            <a:avLst/>
          </a:prstGeom>
          <a:noFill/>
        </p:spPr>
        <p:txBody>
          <a:bodyPr wrap="square" anchor="ctr" lIns="0" rIns="0" tIns="0" bIns="0">
            <a:spAutoFit/>
          </a:bodyPr>
          <a:lstStyle/>
          <a:p>
            <a:pPr algn="r">
              <a:spcBef>
                <a:spcPts val="0"/>
              </a:spcBef>
              <a:spcAft>
                <a:spcPts val="0"/>
              </a:spcAft>
            </a:pPr>
            <a:r>
              <a:rPr sz="750" b="1" i="0" spc="200">
                <a:solidFill>
                  <a:srgbClr val="6B7280"/>
                </a:solidFill>
                <a:latin typeface="Bahnschrift"/>
              </a:rPr>
              <a:t>1Y</a:t>
            </a:r>
          </a:p>
        </p:txBody>
      </p:sp>
      <p:sp>
        <p:nvSpPr>
          <p:cNvPr id="59" name="TextBox 58"/>
          <p:cNvSpPr txBox="1"/>
          <p:nvPr/>
        </p:nvSpPr>
        <p:spPr>
          <a:xfrm>
            <a:off x="10502460" y="1993392"/>
            <a:ext cx="774835" cy="219456"/>
          </a:xfrm>
          <a:prstGeom prst="rect">
            <a:avLst/>
          </a:prstGeom>
          <a:noFill/>
        </p:spPr>
        <p:txBody>
          <a:bodyPr wrap="square" anchor="ctr" lIns="0" rIns="0" tIns="0" bIns="0">
            <a:spAutoFit/>
          </a:bodyPr>
          <a:lstStyle/>
          <a:p>
            <a:pPr algn="ctr">
              <a:spcBef>
                <a:spcPts val="0"/>
              </a:spcBef>
              <a:spcAft>
                <a:spcPts val="0"/>
              </a:spcAft>
            </a:pPr>
            <a:r>
              <a:rPr sz="750" b="1" i="0" spc="200">
                <a:solidFill>
                  <a:srgbClr val="6B7280"/>
                </a:solidFill>
                <a:latin typeface="Bahnschrift"/>
              </a:rPr>
              <a:t>CALL</a:t>
            </a:r>
          </a:p>
        </p:txBody>
      </p:sp>
      <p:sp>
        <p:nvSpPr>
          <p:cNvPr id="60" name="Rectangle 59"/>
          <p:cNvSpPr/>
          <p:nvPr/>
        </p:nvSpPr>
        <p:spPr>
          <a:xfrm>
            <a:off x="6233007" y="2249424"/>
            <a:ext cx="5117439" cy="13716"/>
          </a:xfrm>
          <a:prstGeom prst="rect">
            <a:avLst/>
          </a:prstGeom>
          <a:solidFill>
            <a:srgbClr val="1B27A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1" name="TextBox 60"/>
          <p:cNvSpPr txBox="1"/>
          <p:nvPr/>
        </p:nvSpPr>
        <p:spPr>
          <a:xfrm>
            <a:off x="6306159" y="2295144"/>
            <a:ext cx="1286579" cy="310896"/>
          </a:xfrm>
          <a:prstGeom prst="rect">
            <a:avLst/>
          </a:prstGeom>
          <a:noFill/>
        </p:spPr>
        <p:txBody>
          <a:bodyPr wrap="square" anchor="ctr" lIns="0" rIns="0" tIns="0" bIns="0">
            <a:spAutoFit/>
          </a:bodyPr>
          <a:lstStyle/>
          <a:p>
            <a:pPr algn="l">
              <a:spcBef>
                <a:spcPts val="0"/>
              </a:spcBef>
              <a:spcAft>
                <a:spcPts val="0"/>
              </a:spcAft>
            </a:pPr>
            <a:r>
              <a:rPr sz="900" b="1" i="0">
                <a:solidFill>
                  <a:srgbClr val="16233B"/>
                </a:solidFill>
                <a:latin typeface="Bahnschrift"/>
              </a:rPr>
              <a:t>RVNL  15.1</a:t>
            </a:r>
          </a:p>
        </p:txBody>
      </p:sp>
      <p:sp>
        <p:nvSpPr>
          <p:cNvPr id="62" name="TextBox 61"/>
          <p:cNvSpPr txBox="1"/>
          <p:nvPr/>
        </p:nvSpPr>
        <p:spPr>
          <a:xfrm>
            <a:off x="7739042" y="2295144"/>
            <a:ext cx="1388927" cy="310896"/>
          </a:xfrm>
          <a:prstGeom prst="rect">
            <a:avLst/>
          </a:prstGeom>
          <a:noFill/>
        </p:spPr>
        <p:txBody>
          <a:bodyPr wrap="square" anchor="ctr" lIns="0" rIns="0" tIns="0" bIns="0">
            <a:spAutoFit/>
          </a:bodyPr>
          <a:lstStyle/>
          <a:p>
            <a:pPr algn="l">
              <a:spcBef>
                <a:spcPts val="0"/>
              </a:spcBef>
              <a:spcAft>
                <a:spcPts val="0"/>
              </a:spcAft>
            </a:pPr>
            <a:r>
              <a:rPr sz="900" b="0" i="0">
                <a:solidFill>
                  <a:srgbClr val="16233B"/>
                </a:solidFill>
                <a:latin typeface="Georgia"/>
              </a:rPr>
              <a:t>Construction</a:t>
            </a:r>
          </a:p>
        </p:txBody>
      </p:sp>
      <p:sp>
        <p:nvSpPr>
          <p:cNvPr id="63" name="TextBox 62"/>
          <p:cNvSpPr txBox="1"/>
          <p:nvPr/>
        </p:nvSpPr>
        <p:spPr>
          <a:xfrm>
            <a:off x="9274274" y="2295144"/>
            <a:ext cx="467788" cy="310896"/>
          </a:xfrm>
          <a:prstGeom prst="rect">
            <a:avLst/>
          </a:prstGeom>
          <a:noFill/>
        </p:spPr>
        <p:txBody>
          <a:bodyPr wrap="square" anchor="ctr" lIns="0" rIns="0" tIns="0" bIns="0">
            <a:spAutoFit/>
          </a:bodyPr>
          <a:lstStyle/>
          <a:p>
            <a:pPr algn="r">
              <a:spcBef>
                <a:spcPts val="0"/>
              </a:spcBef>
              <a:spcAft>
                <a:spcPts val="0"/>
              </a:spcAft>
            </a:pPr>
            <a:r>
              <a:rPr sz="900" b="0" i="0">
                <a:solidFill>
                  <a:srgbClr val="16233B"/>
                </a:solidFill>
                <a:latin typeface="Georgia"/>
              </a:rPr>
              <a:t>14.2</a:t>
            </a:r>
          </a:p>
        </p:txBody>
      </p:sp>
      <p:sp>
        <p:nvSpPr>
          <p:cNvPr id="64" name="TextBox 63"/>
          <p:cNvSpPr txBox="1"/>
          <p:nvPr/>
        </p:nvSpPr>
        <p:spPr>
          <a:xfrm>
            <a:off x="9888367" y="2295144"/>
            <a:ext cx="467788" cy="310896"/>
          </a:xfrm>
          <a:prstGeom prst="rect">
            <a:avLst/>
          </a:prstGeom>
          <a:noFill/>
        </p:spPr>
        <p:txBody>
          <a:bodyPr wrap="square" anchor="ctr" lIns="0" rIns="0" tIns="0" bIns="0">
            <a:spAutoFit/>
          </a:bodyPr>
          <a:lstStyle/>
          <a:p>
            <a:pPr algn="r">
              <a:spcBef>
                <a:spcPts val="0"/>
              </a:spcBef>
              <a:spcAft>
                <a:spcPts val="0"/>
              </a:spcAft>
            </a:pPr>
            <a:r>
              <a:rPr sz="900" b="0" i="0">
                <a:solidFill>
                  <a:srgbClr val="16233B"/>
                </a:solidFill>
                <a:latin typeface="Georgia"/>
              </a:rPr>
              <a:t>16.4</a:t>
            </a:r>
          </a:p>
        </p:txBody>
      </p:sp>
      <p:sp>
        <p:nvSpPr>
          <p:cNvPr id="65" name="Rounded Rectangle 64"/>
          <p:cNvSpPr/>
          <p:nvPr/>
        </p:nvSpPr>
        <p:spPr>
          <a:xfrm>
            <a:off x="10502460" y="2331720"/>
            <a:ext cx="774835" cy="219456"/>
          </a:xfrm>
          <a:prstGeom prst="roundRect">
            <a:avLst>
              <a:gd name="adj" fmla="val 50000"/>
            </a:avLst>
          </a:prstGeom>
          <a:solidFill>
            <a:srgbClr val="FBE3E0"/>
          </a:solidFill>
          <a:ln w="9525">
            <a:solidFill>
              <a:srgbClr val="E0402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6" name="TextBox 65"/>
          <p:cNvSpPr txBox="1"/>
          <p:nvPr/>
        </p:nvSpPr>
        <p:spPr>
          <a:xfrm>
            <a:off x="10502460" y="2326233"/>
            <a:ext cx="774835" cy="228600"/>
          </a:xfrm>
          <a:prstGeom prst="rect">
            <a:avLst/>
          </a:prstGeom>
          <a:noFill/>
        </p:spPr>
        <p:txBody>
          <a:bodyPr wrap="square" anchor="ctr" lIns="0" rIns="0" tIns="0" bIns="0">
            <a:spAutoFit/>
          </a:bodyPr>
          <a:lstStyle/>
          <a:p>
            <a:pPr algn="ctr">
              <a:spcBef>
                <a:spcPts val="0"/>
              </a:spcBef>
              <a:spcAft>
                <a:spcPts val="0"/>
              </a:spcAft>
            </a:pPr>
            <a:r>
              <a:rPr sz="800" b="1" i="0" spc="60">
                <a:solidFill>
                  <a:srgbClr val="E0402F"/>
                </a:solidFill>
                <a:latin typeface="Bahnschrift"/>
              </a:rPr>
              <a:t>SELL</a:t>
            </a:r>
          </a:p>
        </p:txBody>
      </p:sp>
      <p:sp>
        <p:nvSpPr>
          <p:cNvPr id="67" name="Rectangle 66"/>
          <p:cNvSpPr/>
          <p:nvPr/>
        </p:nvSpPr>
        <p:spPr>
          <a:xfrm>
            <a:off x="6233007" y="2587752"/>
            <a:ext cx="5117439" cy="310896"/>
          </a:xfrm>
          <a:prstGeom prst="rect">
            <a:avLst/>
          </a:prstGeom>
          <a:solidFill>
            <a:srgbClr val="F5F6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8" name="TextBox 67"/>
          <p:cNvSpPr txBox="1"/>
          <p:nvPr/>
        </p:nvSpPr>
        <p:spPr>
          <a:xfrm>
            <a:off x="6306159" y="2606040"/>
            <a:ext cx="1286579" cy="310896"/>
          </a:xfrm>
          <a:prstGeom prst="rect">
            <a:avLst/>
          </a:prstGeom>
          <a:noFill/>
        </p:spPr>
        <p:txBody>
          <a:bodyPr wrap="square" anchor="ctr" lIns="0" rIns="0" tIns="0" bIns="0">
            <a:spAutoFit/>
          </a:bodyPr>
          <a:lstStyle/>
          <a:p>
            <a:pPr algn="l">
              <a:spcBef>
                <a:spcPts val="0"/>
              </a:spcBef>
              <a:spcAft>
                <a:spcPts val="0"/>
              </a:spcAft>
            </a:pPr>
            <a:r>
              <a:rPr sz="900" b="1" i="0">
                <a:solidFill>
                  <a:srgbClr val="16233B"/>
                </a:solidFill>
                <a:latin typeface="Bahnschrift"/>
              </a:rPr>
              <a:t>VIPIND  17.9</a:t>
            </a:r>
          </a:p>
        </p:txBody>
      </p:sp>
      <p:sp>
        <p:nvSpPr>
          <p:cNvPr id="69" name="TextBox 68"/>
          <p:cNvSpPr txBox="1"/>
          <p:nvPr/>
        </p:nvSpPr>
        <p:spPr>
          <a:xfrm>
            <a:off x="7739042" y="2606040"/>
            <a:ext cx="1388927" cy="310896"/>
          </a:xfrm>
          <a:prstGeom prst="rect">
            <a:avLst/>
          </a:prstGeom>
          <a:noFill/>
        </p:spPr>
        <p:txBody>
          <a:bodyPr wrap="square" anchor="ctr" lIns="0" rIns="0" tIns="0" bIns="0">
            <a:spAutoFit/>
          </a:bodyPr>
          <a:lstStyle/>
          <a:p>
            <a:pPr algn="l">
              <a:spcBef>
                <a:spcPts val="0"/>
              </a:spcBef>
              <a:spcAft>
                <a:spcPts val="0"/>
              </a:spcAft>
            </a:pPr>
            <a:r>
              <a:rPr sz="900" b="0" i="0">
                <a:solidFill>
                  <a:srgbClr val="16233B"/>
                </a:solidFill>
                <a:latin typeface="Georgia"/>
              </a:rPr>
              <a:t>Consumer Durables</a:t>
            </a:r>
          </a:p>
        </p:txBody>
      </p:sp>
      <p:sp>
        <p:nvSpPr>
          <p:cNvPr id="70" name="TextBox 69"/>
          <p:cNvSpPr txBox="1"/>
          <p:nvPr/>
        </p:nvSpPr>
        <p:spPr>
          <a:xfrm>
            <a:off x="9274274" y="2606040"/>
            <a:ext cx="467788" cy="310896"/>
          </a:xfrm>
          <a:prstGeom prst="rect">
            <a:avLst/>
          </a:prstGeom>
          <a:noFill/>
        </p:spPr>
        <p:txBody>
          <a:bodyPr wrap="square" anchor="ctr" lIns="0" rIns="0" tIns="0" bIns="0">
            <a:spAutoFit/>
          </a:bodyPr>
          <a:lstStyle/>
          <a:p>
            <a:pPr algn="r">
              <a:spcBef>
                <a:spcPts val="0"/>
              </a:spcBef>
              <a:spcAft>
                <a:spcPts val="0"/>
              </a:spcAft>
            </a:pPr>
            <a:r>
              <a:rPr sz="900" b="0" i="0">
                <a:solidFill>
                  <a:srgbClr val="16233B"/>
                </a:solidFill>
                <a:latin typeface="Georgia"/>
              </a:rPr>
              <a:t>17.4</a:t>
            </a:r>
          </a:p>
        </p:txBody>
      </p:sp>
      <p:sp>
        <p:nvSpPr>
          <p:cNvPr id="71" name="TextBox 70"/>
          <p:cNvSpPr txBox="1"/>
          <p:nvPr/>
        </p:nvSpPr>
        <p:spPr>
          <a:xfrm>
            <a:off x="9888367" y="2606040"/>
            <a:ext cx="467788" cy="310896"/>
          </a:xfrm>
          <a:prstGeom prst="rect">
            <a:avLst/>
          </a:prstGeom>
          <a:noFill/>
        </p:spPr>
        <p:txBody>
          <a:bodyPr wrap="square" anchor="ctr" lIns="0" rIns="0" tIns="0" bIns="0">
            <a:spAutoFit/>
          </a:bodyPr>
          <a:lstStyle/>
          <a:p>
            <a:pPr algn="r">
              <a:spcBef>
                <a:spcPts val="0"/>
              </a:spcBef>
              <a:spcAft>
                <a:spcPts val="0"/>
              </a:spcAft>
            </a:pPr>
            <a:r>
              <a:rPr sz="900" b="0" i="0">
                <a:solidFill>
                  <a:srgbClr val="16233B"/>
                </a:solidFill>
                <a:latin typeface="Georgia"/>
              </a:rPr>
              <a:t>18.7</a:t>
            </a:r>
          </a:p>
        </p:txBody>
      </p:sp>
      <p:sp>
        <p:nvSpPr>
          <p:cNvPr id="72" name="Rounded Rectangle 71"/>
          <p:cNvSpPr/>
          <p:nvPr/>
        </p:nvSpPr>
        <p:spPr>
          <a:xfrm>
            <a:off x="10502460" y="2642616"/>
            <a:ext cx="774835" cy="219456"/>
          </a:xfrm>
          <a:prstGeom prst="roundRect">
            <a:avLst>
              <a:gd name="adj" fmla="val 50000"/>
            </a:avLst>
          </a:prstGeom>
          <a:solidFill>
            <a:srgbClr val="FBE3E0"/>
          </a:solidFill>
          <a:ln w="9525">
            <a:solidFill>
              <a:srgbClr val="E0402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3" name="TextBox 72"/>
          <p:cNvSpPr txBox="1"/>
          <p:nvPr/>
        </p:nvSpPr>
        <p:spPr>
          <a:xfrm>
            <a:off x="10502460" y="2637129"/>
            <a:ext cx="774835" cy="228600"/>
          </a:xfrm>
          <a:prstGeom prst="rect">
            <a:avLst/>
          </a:prstGeom>
          <a:noFill/>
        </p:spPr>
        <p:txBody>
          <a:bodyPr wrap="square" anchor="ctr" lIns="0" rIns="0" tIns="0" bIns="0">
            <a:spAutoFit/>
          </a:bodyPr>
          <a:lstStyle/>
          <a:p>
            <a:pPr algn="ctr">
              <a:spcBef>
                <a:spcPts val="0"/>
              </a:spcBef>
              <a:spcAft>
                <a:spcPts val="0"/>
              </a:spcAft>
            </a:pPr>
            <a:r>
              <a:rPr sz="800" b="1" i="0" spc="60">
                <a:solidFill>
                  <a:srgbClr val="E0402F"/>
                </a:solidFill>
                <a:latin typeface="Bahnschrift"/>
              </a:rPr>
              <a:t>SELL</a:t>
            </a:r>
          </a:p>
        </p:txBody>
      </p:sp>
      <p:sp>
        <p:nvSpPr>
          <p:cNvPr id="74" name="TextBox 73"/>
          <p:cNvSpPr txBox="1"/>
          <p:nvPr/>
        </p:nvSpPr>
        <p:spPr>
          <a:xfrm>
            <a:off x="6306159" y="2916936"/>
            <a:ext cx="1286579" cy="310896"/>
          </a:xfrm>
          <a:prstGeom prst="rect">
            <a:avLst/>
          </a:prstGeom>
          <a:noFill/>
        </p:spPr>
        <p:txBody>
          <a:bodyPr wrap="square" anchor="ctr" lIns="0" rIns="0" tIns="0" bIns="0">
            <a:spAutoFit/>
          </a:bodyPr>
          <a:lstStyle/>
          <a:p>
            <a:pPr algn="l">
              <a:spcBef>
                <a:spcPts val="0"/>
              </a:spcBef>
              <a:spcAft>
                <a:spcPts val="0"/>
              </a:spcAft>
            </a:pPr>
            <a:r>
              <a:rPr sz="900" b="1" i="0">
                <a:solidFill>
                  <a:srgbClr val="16233B"/>
                </a:solidFill>
                <a:latin typeface="Bahnschrift"/>
              </a:rPr>
              <a:t>DBL  19.3</a:t>
            </a:r>
          </a:p>
        </p:txBody>
      </p:sp>
      <p:sp>
        <p:nvSpPr>
          <p:cNvPr id="75" name="TextBox 74"/>
          <p:cNvSpPr txBox="1"/>
          <p:nvPr/>
        </p:nvSpPr>
        <p:spPr>
          <a:xfrm>
            <a:off x="7739042" y="2916936"/>
            <a:ext cx="1388927" cy="310896"/>
          </a:xfrm>
          <a:prstGeom prst="rect">
            <a:avLst/>
          </a:prstGeom>
          <a:noFill/>
        </p:spPr>
        <p:txBody>
          <a:bodyPr wrap="square" anchor="ctr" lIns="0" rIns="0" tIns="0" bIns="0">
            <a:spAutoFit/>
          </a:bodyPr>
          <a:lstStyle/>
          <a:p>
            <a:pPr algn="l">
              <a:spcBef>
                <a:spcPts val="0"/>
              </a:spcBef>
              <a:spcAft>
                <a:spcPts val="0"/>
              </a:spcAft>
            </a:pPr>
            <a:r>
              <a:rPr sz="900" b="0" i="0">
                <a:solidFill>
                  <a:srgbClr val="16233B"/>
                </a:solidFill>
                <a:latin typeface="Georgia"/>
              </a:rPr>
              <a:t>Construction</a:t>
            </a:r>
          </a:p>
        </p:txBody>
      </p:sp>
      <p:sp>
        <p:nvSpPr>
          <p:cNvPr id="76" name="TextBox 75"/>
          <p:cNvSpPr txBox="1"/>
          <p:nvPr/>
        </p:nvSpPr>
        <p:spPr>
          <a:xfrm>
            <a:off x="9274274" y="2916936"/>
            <a:ext cx="467788" cy="310896"/>
          </a:xfrm>
          <a:prstGeom prst="rect">
            <a:avLst/>
          </a:prstGeom>
          <a:noFill/>
        </p:spPr>
        <p:txBody>
          <a:bodyPr wrap="square" anchor="ctr" lIns="0" rIns="0" tIns="0" bIns="0">
            <a:spAutoFit/>
          </a:bodyPr>
          <a:lstStyle/>
          <a:p>
            <a:pPr algn="r">
              <a:spcBef>
                <a:spcPts val="0"/>
              </a:spcBef>
              <a:spcAft>
                <a:spcPts val="0"/>
              </a:spcAft>
            </a:pPr>
            <a:r>
              <a:rPr sz="900" b="0" i="0">
                <a:solidFill>
                  <a:srgbClr val="16233B"/>
                </a:solidFill>
                <a:latin typeface="Georgia"/>
              </a:rPr>
              <a:t>19.6</a:t>
            </a:r>
          </a:p>
        </p:txBody>
      </p:sp>
      <p:sp>
        <p:nvSpPr>
          <p:cNvPr id="77" name="TextBox 76"/>
          <p:cNvSpPr txBox="1"/>
          <p:nvPr/>
        </p:nvSpPr>
        <p:spPr>
          <a:xfrm>
            <a:off x="9888367" y="2916936"/>
            <a:ext cx="467788" cy="310896"/>
          </a:xfrm>
          <a:prstGeom prst="rect">
            <a:avLst/>
          </a:prstGeom>
          <a:noFill/>
        </p:spPr>
        <p:txBody>
          <a:bodyPr wrap="square" anchor="ctr" lIns="0" rIns="0" tIns="0" bIns="0">
            <a:spAutoFit/>
          </a:bodyPr>
          <a:lstStyle/>
          <a:p>
            <a:pPr algn="r">
              <a:spcBef>
                <a:spcPts val="0"/>
              </a:spcBef>
              <a:spcAft>
                <a:spcPts val="0"/>
              </a:spcAft>
            </a:pPr>
            <a:r>
              <a:rPr sz="900" b="0" i="0">
                <a:solidFill>
                  <a:srgbClr val="16233B"/>
                </a:solidFill>
                <a:latin typeface="Georgia"/>
              </a:rPr>
              <a:t>18.8</a:t>
            </a:r>
          </a:p>
        </p:txBody>
      </p:sp>
      <p:sp>
        <p:nvSpPr>
          <p:cNvPr id="78" name="Rounded Rectangle 77"/>
          <p:cNvSpPr/>
          <p:nvPr/>
        </p:nvSpPr>
        <p:spPr>
          <a:xfrm>
            <a:off x="10502460" y="2953512"/>
            <a:ext cx="774835" cy="219456"/>
          </a:xfrm>
          <a:prstGeom prst="roundRect">
            <a:avLst>
              <a:gd name="adj" fmla="val 50000"/>
            </a:avLst>
          </a:prstGeom>
          <a:solidFill>
            <a:srgbClr val="FBE3E0"/>
          </a:solidFill>
          <a:ln w="9525">
            <a:solidFill>
              <a:srgbClr val="E0402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9" name="TextBox 78"/>
          <p:cNvSpPr txBox="1"/>
          <p:nvPr/>
        </p:nvSpPr>
        <p:spPr>
          <a:xfrm>
            <a:off x="10502460" y="2948025"/>
            <a:ext cx="774835" cy="228600"/>
          </a:xfrm>
          <a:prstGeom prst="rect">
            <a:avLst/>
          </a:prstGeom>
          <a:noFill/>
        </p:spPr>
        <p:txBody>
          <a:bodyPr wrap="square" anchor="ctr" lIns="0" rIns="0" tIns="0" bIns="0">
            <a:spAutoFit/>
          </a:bodyPr>
          <a:lstStyle/>
          <a:p>
            <a:pPr algn="ctr">
              <a:spcBef>
                <a:spcPts val="0"/>
              </a:spcBef>
              <a:spcAft>
                <a:spcPts val="0"/>
              </a:spcAft>
            </a:pPr>
            <a:r>
              <a:rPr sz="800" b="1" i="0" spc="60">
                <a:solidFill>
                  <a:srgbClr val="E0402F"/>
                </a:solidFill>
                <a:latin typeface="Bahnschrift"/>
              </a:rPr>
              <a:t>SELL</a:t>
            </a:r>
          </a:p>
        </p:txBody>
      </p:sp>
      <p:sp>
        <p:nvSpPr>
          <p:cNvPr id="80" name="Rectangle 79"/>
          <p:cNvSpPr/>
          <p:nvPr/>
        </p:nvSpPr>
        <p:spPr>
          <a:xfrm>
            <a:off x="6233007" y="3209544"/>
            <a:ext cx="5117439" cy="310896"/>
          </a:xfrm>
          <a:prstGeom prst="rect">
            <a:avLst/>
          </a:prstGeom>
          <a:solidFill>
            <a:srgbClr val="F5F6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1" name="TextBox 80"/>
          <p:cNvSpPr txBox="1"/>
          <p:nvPr/>
        </p:nvSpPr>
        <p:spPr>
          <a:xfrm>
            <a:off x="6306159" y="3227832"/>
            <a:ext cx="1286579" cy="310896"/>
          </a:xfrm>
          <a:prstGeom prst="rect">
            <a:avLst/>
          </a:prstGeom>
          <a:noFill/>
        </p:spPr>
        <p:txBody>
          <a:bodyPr wrap="square" anchor="ctr" lIns="0" rIns="0" tIns="0" bIns="0">
            <a:spAutoFit/>
          </a:bodyPr>
          <a:lstStyle/>
          <a:p>
            <a:pPr algn="l">
              <a:spcBef>
                <a:spcPts val="0"/>
              </a:spcBef>
              <a:spcAft>
                <a:spcPts val="0"/>
              </a:spcAft>
            </a:pPr>
            <a:r>
              <a:rPr sz="900" b="1" i="0">
                <a:solidFill>
                  <a:srgbClr val="16233B"/>
                </a:solidFill>
                <a:latin typeface="Bahnschrift"/>
              </a:rPr>
              <a:t>NETWORK18  21.5</a:t>
            </a:r>
          </a:p>
        </p:txBody>
      </p:sp>
      <p:sp>
        <p:nvSpPr>
          <p:cNvPr id="82" name="TextBox 81"/>
          <p:cNvSpPr txBox="1"/>
          <p:nvPr/>
        </p:nvSpPr>
        <p:spPr>
          <a:xfrm>
            <a:off x="7739042" y="3227832"/>
            <a:ext cx="1388927" cy="310896"/>
          </a:xfrm>
          <a:prstGeom prst="rect">
            <a:avLst/>
          </a:prstGeom>
          <a:noFill/>
        </p:spPr>
        <p:txBody>
          <a:bodyPr wrap="square" anchor="ctr" lIns="0" rIns="0" tIns="0" bIns="0">
            <a:spAutoFit/>
          </a:bodyPr>
          <a:lstStyle/>
          <a:p>
            <a:pPr algn="l">
              <a:spcBef>
                <a:spcPts val="0"/>
              </a:spcBef>
              <a:spcAft>
                <a:spcPts val="0"/>
              </a:spcAft>
            </a:pPr>
            <a:r>
              <a:rPr sz="900" b="0" i="0">
                <a:solidFill>
                  <a:srgbClr val="16233B"/>
                </a:solidFill>
                <a:latin typeface="Georgia"/>
              </a:rPr>
              <a:t>Media</a:t>
            </a:r>
          </a:p>
        </p:txBody>
      </p:sp>
      <p:sp>
        <p:nvSpPr>
          <p:cNvPr id="83" name="TextBox 82"/>
          <p:cNvSpPr txBox="1"/>
          <p:nvPr/>
        </p:nvSpPr>
        <p:spPr>
          <a:xfrm>
            <a:off x="9274274" y="3227832"/>
            <a:ext cx="467788" cy="310896"/>
          </a:xfrm>
          <a:prstGeom prst="rect">
            <a:avLst/>
          </a:prstGeom>
          <a:noFill/>
        </p:spPr>
        <p:txBody>
          <a:bodyPr wrap="square" anchor="ctr" lIns="0" rIns="0" tIns="0" bIns="0">
            <a:spAutoFit/>
          </a:bodyPr>
          <a:lstStyle/>
          <a:p>
            <a:pPr algn="r">
              <a:spcBef>
                <a:spcPts val="0"/>
              </a:spcBef>
              <a:spcAft>
                <a:spcPts val="0"/>
              </a:spcAft>
            </a:pPr>
            <a:r>
              <a:rPr sz="900" b="0" i="0">
                <a:solidFill>
                  <a:srgbClr val="16233B"/>
                </a:solidFill>
                <a:latin typeface="Georgia"/>
              </a:rPr>
              <a:t>22.0</a:t>
            </a:r>
          </a:p>
        </p:txBody>
      </p:sp>
      <p:sp>
        <p:nvSpPr>
          <p:cNvPr id="84" name="TextBox 83"/>
          <p:cNvSpPr txBox="1"/>
          <p:nvPr/>
        </p:nvSpPr>
        <p:spPr>
          <a:xfrm>
            <a:off x="9888367" y="3227832"/>
            <a:ext cx="467788" cy="310896"/>
          </a:xfrm>
          <a:prstGeom prst="rect">
            <a:avLst/>
          </a:prstGeom>
          <a:noFill/>
        </p:spPr>
        <p:txBody>
          <a:bodyPr wrap="square" anchor="ctr" lIns="0" rIns="0" tIns="0" bIns="0">
            <a:spAutoFit/>
          </a:bodyPr>
          <a:lstStyle/>
          <a:p>
            <a:pPr algn="r">
              <a:spcBef>
                <a:spcPts val="0"/>
              </a:spcBef>
              <a:spcAft>
                <a:spcPts val="0"/>
              </a:spcAft>
            </a:pPr>
            <a:r>
              <a:rPr sz="900" b="0" i="0">
                <a:solidFill>
                  <a:srgbClr val="16233B"/>
                </a:solidFill>
                <a:latin typeface="Georgia"/>
              </a:rPr>
              <a:t>20.7</a:t>
            </a:r>
          </a:p>
        </p:txBody>
      </p:sp>
      <p:sp>
        <p:nvSpPr>
          <p:cNvPr id="85" name="Rounded Rectangle 84"/>
          <p:cNvSpPr/>
          <p:nvPr/>
        </p:nvSpPr>
        <p:spPr>
          <a:xfrm>
            <a:off x="10502460" y="3264408"/>
            <a:ext cx="774835" cy="219456"/>
          </a:xfrm>
          <a:prstGeom prst="roundRect">
            <a:avLst>
              <a:gd name="adj" fmla="val 50000"/>
            </a:avLst>
          </a:prstGeom>
          <a:solidFill>
            <a:srgbClr val="FBE3E0"/>
          </a:solidFill>
          <a:ln w="9525">
            <a:solidFill>
              <a:srgbClr val="E0402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6" name="TextBox 85"/>
          <p:cNvSpPr txBox="1"/>
          <p:nvPr/>
        </p:nvSpPr>
        <p:spPr>
          <a:xfrm>
            <a:off x="10502460" y="3258921"/>
            <a:ext cx="774835" cy="228600"/>
          </a:xfrm>
          <a:prstGeom prst="rect">
            <a:avLst/>
          </a:prstGeom>
          <a:noFill/>
        </p:spPr>
        <p:txBody>
          <a:bodyPr wrap="square" anchor="ctr" lIns="0" rIns="0" tIns="0" bIns="0">
            <a:spAutoFit/>
          </a:bodyPr>
          <a:lstStyle/>
          <a:p>
            <a:pPr algn="ctr">
              <a:spcBef>
                <a:spcPts val="0"/>
              </a:spcBef>
              <a:spcAft>
                <a:spcPts val="0"/>
              </a:spcAft>
            </a:pPr>
            <a:r>
              <a:rPr sz="800" b="1" i="0" spc="60">
                <a:solidFill>
                  <a:srgbClr val="E0402F"/>
                </a:solidFill>
                <a:latin typeface="Bahnschrift"/>
              </a:rPr>
              <a:t>SELL</a:t>
            </a:r>
          </a:p>
        </p:txBody>
      </p:sp>
      <p:sp>
        <p:nvSpPr>
          <p:cNvPr id="87" name="TextBox 86"/>
          <p:cNvSpPr txBox="1"/>
          <p:nvPr/>
        </p:nvSpPr>
        <p:spPr>
          <a:xfrm>
            <a:off x="6306159" y="3538727"/>
            <a:ext cx="1286579" cy="310896"/>
          </a:xfrm>
          <a:prstGeom prst="rect">
            <a:avLst/>
          </a:prstGeom>
          <a:noFill/>
        </p:spPr>
        <p:txBody>
          <a:bodyPr wrap="square" anchor="ctr" lIns="0" rIns="0" tIns="0" bIns="0">
            <a:spAutoFit/>
          </a:bodyPr>
          <a:lstStyle/>
          <a:p>
            <a:pPr algn="l">
              <a:spcBef>
                <a:spcPts val="0"/>
              </a:spcBef>
              <a:spcAft>
                <a:spcPts val="0"/>
              </a:spcAft>
            </a:pPr>
            <a:r>
              <a:rPr sz="900" b="1" i="0">
                <a:solidFill>
                  <a:srgbClr val="16233B"/>
                </a:solidFill>
                <a:latin typeface="Bahnschrift"/>
              </a:rPr>
              <a:t>ICICIPRULI  22.0</a:t>
            </a:r>
          </a:p>
        </p:txBody>
      </p:sp>
      <p:sp>
        <p:nvSpPr>
          <p:cNvPr id="88" name="TextBox 87"/>
          <p:cNvSpPr txBox="1"/>
          <p:nvPr/>
        </p:nvSpPr>
        <p:spPr>
          <a:xfrm>
            <a:off x="7739042" y="3538727"/>
            <a:ext cx="1388927" cy="310896"/>
          </a:xfrm>
          <a:prstGeom prst="rect">
            <a:avLst/>
          </a:prstGeom>
          <a:noFill/>
        </p:spPr>
        <p:txBody>
          <a:bodyPr wrap="square" anchor="ctr" lIns="0" rIns="0" tIns="0" bIns="0">
            <a:spAutoFit/>
          </a:bodyPr>
          <a:lstStyle/>
          <a:p>
            <a:pPr algn="l">
              <a:spcBef>
                <a:spcPts val="0"/>
              </a:spcBef>
              <a:spcAft>
                <a:spcPts val="0"/>
              </a:spcAft>
            </a:pPr>
            <a:r>
              <a:rPr sz="900" b="0" i="0">
                <a:solidFill>
                  <a:srgbClr val="16233B"/>
                </a:solidFill>
                <a:latin typeface="Georgia"/>
              </a:rPr>
              <a:t>Financial Services</a:t>
            </a:r>
          </a:p>
        </p:txBody>
      </p:sp>
      <p:sp>
        <p:nvSpPr>
          <p:cNvPr id="89" name="TextBox 88"/>
          <p:cNvSpPr txBox="1"/>
          <p:nvPr/>
        </p:nvSpPr>
        <p:spPr>
          <a:xfrm>
            <a:off x="9274274" y="3538727"/>
            <a:ext cx="467788" cy="310896"/>
          </a:xfrm>
          <a:prstGeom prst="rect">
            <a:avLst/>
          </a:prstGeom>
          <a:noFill/>
        </p:spPr>
        <p:txBody>
          <a:bodyPr wrap="square" anchor="ctr" lIns="0" rIns="0" tIns="0" bIns="0">
            <a:spAutoFit/>
          </a:bodyPr>
          <a:lstStyle/>
          <a:p>
            <a:pPr algn="r">
              <a:spcBef>
                <a:spcPts val="0"/>
              </a:spcBef>
              <a:spcAft>
                <a:spcPts val="0"/>
              </a:spcAft>
            </a:pPr>
            <a:r>
              <a:rPr sz="900" b="0" i="0">
                <a:solidFill>
                  <a:srgbClr val="16233B"/>
                </a:solidFill>
                <a:latin typeface="Georgia"/>
              </a:rPr>
              <a:t>25.9</a:t>
            </a:r>
          </a:p>
        </p:txBody>
      </p:sp>
      <p:sp>
        <p:nvSpPr>
          <p:cNvPr id="90" name="TextBox 89"/>
          <p:cNvSpPr txBox="1"/>
          <p:nvPr/>
        </p:nvSpPr>
        <p:spPr>
          <a:xfrm>
            <a:off x="9888367" y="3538727"/>
            <a:ext cx="467788" cy="310896"/>
          </a:xfrm>
          <a:prstGeom prst="rect">
            <a:avLst/>
          </a:prstGeom>
          <a:noFill/>
        </p:spPr>
        <p:txBody>
          <a:bodyPr wrap="square" anchor="ctr" lIns="0" rIns="0" tIns="0" bIns="0">
            <a:spAutoFit/>
          </a:bodyPr>
          <a:lstStyle/>
          <a:p>
            <a:pPr algn="r">
              <a:spcBef>
                <a:spcPts val="0"/>
              </a:spcBef>
              <a:spcAft>
                <a:spcPts val="0"/>
              </a:spcAft>
            </a:pPr>
            <a:r>
              <a:rPr sz="900" b="0" i="0">
                <a:solidFill>
                  <a:srgbClr val="16233B"/>
                </a:solidFill>
                <a:latin typeface="Georgia"/>
              </a:rPr>
              <a:t>16.1</a:t>
            </a:r>
          </a:p>
        </p:txBody>
      </p:sp>
      <p:sp>
        <p:nvSpPr>
          <p:cNvPr id="91" name="Rounded Rectangle 90"/>
          <p:cNvSpPr/>
          <p:nvPr/>
        </p:nvSpPr>
        <p:spPr>
          <a:xfrm>
            <a:off x="10502460" y="3575304"/>
            <a:ext cx="774835" cy="219456"/>
          </a:xfrm>
          <a:prstGeom prst="roundRect">
            <a:avLst>
              <a:gd name="adj" fmla="val 50000"/>
            </a:avLst>
          </a:prstGeom>
          <a:solidFill>
            <a:srgbClr val="E0F2EA"/>
          </a:solidFill>
          <a:ln w="9525">
            <a:solidFill>
              <a:srgbClr val="1E9E6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2" name="TextBox 91"/>
          <p:cNvSpPr txBox="1"/>
          <p:nvPr/>
        </p:nvSpPr>
        <p:spPr>
          <a:xfrm>
            <a:off x="10502460" y="3569817"/>
            <a:ext cx="774835" cy="228600"/>
          </a:xfrm>
          <a:prstGeom prst="rect">
            <a:avLst/>
          </a:prstGeom>
          <a:noFill/>
        </p:spPr>
        <p:txBody>
          <a:bodyPr wrap="square" anchor="ctr" lIns="0" rIns="0" tIns="0" bIns="0">
            <a:spAutoFit/>
          </a:bodyPr>
          <a:lstStyle/>
          <a:p>
            <a:pPr algn="ctr">
              <a:spcBef>
                <a:spcPts val="0"/>
              </a:spcBef>
              <a:spcAft>
                <a:spcPts val="0"/>
              </a:spcAft>
            </a:pPr>
            <a:r>
              <a:rPr sz="800" b="1" i="0" spc="60">
                <a:solidFill>
                  <a:srgbClr val="1E9E6A"/>
                </a:solidFill>
                <a:latin typeface="Bahnschrift"/>
              </a:rPr>
              <a:t>HOLD</a:t>
            </a:r>
          </a:p>
        </p:txBody>
      </p:sp>
      <p:sp>
        <p:nvSpPr>
          <p:cNvPr id="93" name="Rounded Rectangle 92"/>
          <p:cNvSpPr/>
          <p:nvPr/>
        </p:nvSpPr>
        <p:spPr>
          <a:xfrm>
            <a:off x="841248" y="4023360"/>
            <a:ext cx="5117439" cy="1280160"/>
          </a:xfrm>
          <a:prstGeom prst="roundRect">
            <a:avLst>
              <a:gd name="adj" fmla="val 4000"/>
            </a:avLst>
          </a:prstGeom>
          <a:solidFill>
            <a:srgbClr val="E0F2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4" name="Rectangle 93"/>
          <p:cNvSpPr/>
          <p:nvPr/>
        </p:nvSpPr>
        <p:spPr>
          <a:xfrm>
            <a:off x="841248" y="4023360"/>
            <a:ext cx="54864" cy="1280160"/>
          </a:xfrm>
          <a:prstGeom prst="rect">
            <a:avLst/>
          </a:prstGeom>
          <a:solidFill>
            <a:srgbClr val="1E9E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5" name="TextBox 94"/>
          <p:cNvSpPr txBox="1"/>
          <p:nvPr/>
        </p:nvSpPr>
        <p:spPr>
          <a:xfrm>
            <a:off x="1042416" y="4151376"/>
            <a:ext cx="4751679" cy="274320"/>
          </a:xfrm>
          <a:prstGeom prst="rect">
            <a:avLst/>
          </a:prstGeom>
          <a:noFill/>
        </p:spPr>
        <p:txBody>
          <a:bodyPr wrap="square" anchor="t" lIns="0" rIns="0" tIns="0" bIns="0">
            <a:spAutoFit/>
          </a:bodyPr>
          <a:lstStyle/>
          <a:p>
            <a:pPr algn="l">
              <a:spcBef>
                <a:spcPts val="0"/>
              </a:spcBef>
              <a:spcAft>
                <a:spcPts val="0"/>
              </a:spcAft>
            </a:pPr>
            <a:r>
              <a:rPr sz="950" b="1" i="0" spc="60">
                <a:solidFill>
                  <a:srgbClr val="1E9E6A"/>
                </a:solidFill>
                <a:latin typeface="Bahnschrift"/>
              </a:rPr>
              <a:t>THE LAST ROW IS THE OVERRIDE, WORKING</a:t>
            </a:r>
          </a:p>
        </p:txBody>
      </p:sp>
      <p:sp>
        <p:nvSpPr>
          <p:cNvPr id="96" name="TextBox 95"/>
          <p:cNvSpPr txBox="1"/>
          <p:nvPr/>
        </p:nvSpPr>
        <p:spPr>
          <a:xfrm>
            <a:off x="1042416" y="4425696"/>
            <a:ext cx="4751679" cy="822959"/>
          </a:xfrm>
          <a:prstGeom prst="rect">
            <a:avLst/>
          </a:prstGeom>
          <a:noFill/>
        </p:spPr>
        <p:txBody>
          <a:bodyPr wrap="square" anchor="t" lIns="0" rIns="0" tIns="0" bIns="0">
            <a:spAutoFit/>
          </a:bodyPr>
          <a:lstStyle/>
          <a:p>
            <a:pPr algn="l">
              <a:lnSpc>
                <a:spcPct val="106000"/>
              </a:lnSpc>
              <a:spcBef>
                <a:spcPts val="0"/>
              </a:spcBef>
              <a:spcAft>
                <a:spcPts val="0"/>
              </a:spcAft>
            </a:pPr>
            <a:r>
              <a:rPr sz="1050" b="0" i="0">
                <a:solidFill>
                  <a:srgbClr val="16233B"/>
                </a:solidFill>
                <a:latin typeface="Georgia"/>
              </a:rPr>
              <a:t>ICICIPRULI scores 22 and the analyst still says Hold, on sector-aware reasoning about an insurer that the score cannot see. That rescue is written down against the name, and it is the only direction an analyst is allowed to move a call.</a:t>
            </a:r>
          </a:p>
        </p:txBody>
      </p:sp>
      <p:sp>
        <p:nvSpPr>
          <p:cNvPr id="97" name="Rounded Rectangle 96"/>
          <p:cNvSpPr/>
          <p:nvPr/>
        </p:nvSpPr>
        <p:spPr>
          <a:xfrm>
            <a:off x="6233007" y="4023360"/>
            <a:ext cx="5117439" cy="1280160"/>
          </a:xfrm>
          <a:prstGeom prst="roundRect">
            <a:avLst>
              <a:gd name="adj" fmla="val 4000"/>
            </a:avLst>
          </a:prstGeom>
          <a:solidFill>
            <a:srgbClr val="FBE3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8" name="Rectangle 97"/>
          <p:cNvSpPr/>
          <p:nvPr/>
        </p:nvSpPr>
        <p:spPr>
          <a:xfrm>
            <a:off x="6233007" y="4023360"/>
            <a:ext cx="54864" cy="1280160"/>
          </a:xfrm>
          <a:prstGeom prst="rect">
            <a:avLst/>
          </a:prstGeom>
          <a:solidFill>
            <a:srgbClr val="E0402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9" name="TextBox 98"/>
          <p:cNvSpPr txBox="1"/>
          <p:nvPr/>
        </p:nvSpPr>
        <p:spPr>
          <a:xfrm>
            <a:off x="6434175" y="4151376"/>
            <a:ext cx="4751679" cy="274320"/>
          </a:xfrm>
          <a:prstGeom prst="rect">
            <a:avLst/>
          </a:prstGeom>
          <a:noFill/>
        </p:spPr>
        <p:txBody>
          <a:bodyPr wrap="square" anchor="t" lIns="0" rIns="0" tIns="0" bIns="0">
            <a:spAutoFit/>
          </a:bodyPr>
          <a:lstStyle/>
          <a:p>
            <a:pPr algn="l">
              <a:spcBef>
                <a:spcPts val="0"/>
              </a:spcBef>
              <a:spcAft>
                <a:spcPts val="0"/>
              </a:spcAft>
            </a:pPr>
            <a:r>
              <a:rPr sz="950" b="1" i="0" spc="60">
                <a:solidFill>
                  <a:srgbClr val="E0402F"/>
                </a:solidFill>
                <a:latin typeface="Bahnschrift"/>
              </a:rPr>
              <a:t>AND A CONCENTRATION WE SHOULD OWN</a:t>
            </a:r>
          </a:p>
        </p:txBody>
      </p:sp>
      <p:sp>
        <p:nvSpPr>
          <p:cNvPr id="100" name="TextBox 99"/>
          <p:cNvSpPr txBox="1"/>
          <p:nvPr/>
        </p:nvSpPr>
        <p:spPr>
          <a:xfrm>
            <a:off x="6434175" y="4425696"/>
            <a:ext cx="4751679" cy="822959"/>
          </a:xfrm>
          <a:prstGeom prst="rect">
            <a:avLst/>
          </a:prstGeom>
          <a:noFill/>
        </p:spPr>
        <p:txBody>
          <a:bodyPr wrap="square" anchor="t" lIns="0" rIns="0" tIns="0" bIns="0">
            <a:spAutoFit/>
          </a:bodyPr>
          <a:lstStyle/>
          <a:p>
            <a:pPr algn="l">
              <a:lnSpc>
                <a:spcPct val="106000"/>
              </a:lnSpc>
              <a:spcBef>
                <a:spcPts val="0"/>
              </a:spcBef>
              <a:spcAft>
                <a:spcPts val="0"/>
              </a:spcAft>
            </a:pPr>
            <a:r>
              <a:rPr sz="1050" b="0" i="0">
                <a:solidFill>
                  <a:srgbClr val="16233B"/>
                </a:solidFill>
                <a:latin typeface="Georgia"/>
              </a:rPr>
              <a:t>All five top names are Capital Goods. That is the regime tilt and the trend pillars pulling in the same direction, and it is exactly why the score flags candidates for review rather than being used to build a portfolio.</a:t>
            </a:r>
          </a:p>
        </p:txBody>
      </p:sp>
      <p:sp>
        <p:nvSpPr>
          <p:cNvPr id="101" name="TextBox 100"/>
          <p:cNvSpPr txBox="1"/>
          <p:nvPr/>
        </p:nvSpPr>
        <p:spPr>
          <a:xfrm>
            <a:off x="841248" y="6089904"/>
            <a:ext cx="10509199" cy="219456"/>
          </a:xfrm>
          <a:prstGeom prst="rect">
            <a:avLst/>
          </a:prstGeom>
          <a:noFill/>
        </p:spPr>
        <p:txBody>
          <a:bodyPr wrap="square" anchor="t" lIns="0" rIns="0" tIns="0" bIns="0">
            <a:spAutoFit/>
          </a:bodyPr>
          <a:lstStyle/>
          <a:p>
            <a:pPr algn="l">
              <a:spcBef>
                <a:spcPts val="0"/>
              </a:spcBef>
              <a:spcAft>
                <a:spcPts val="0"/>
              </a:spcAft>
            </a:pPr>
            <a:r>
              <a:rPr sz="700" b="0" i="0">
                <a:solidFill>
                  <a:srgbClr val="6B7280"/>
                </a:solidFill>
                <a:latin typeface="Bahnschrift"/>
              </a:rPr>
              <a:t>Blended = 0.60 x three-year plus 0.40 x one-year, before the analyst forward adjustment. Scored universe of 751 names, full range 15.1 to 78.8. Internal page: these are live calls on real names.</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019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div_art_2.png"/>
          <p:cNvPicPr>
            <a:picLocks noChangeAspect="1"/>
          </p:cNvPicPr>
          <p:nvPr/>
        </p:nvPicPr>
        <p:blipFill>
          <a:blip r:embed="rId2"/>
          <a:stretch>
            <a:fillRect/>
          </a:stretch>
        </p:blipFill>
        <p:spPr>
          <a:xfrm>
            <a:off x="6339535" y="0"/>
            <a:ext cx="5852160" cy="6858000"/>
          </a:xfrm>
          <a:prstGeom prst="rect">
            <a:avLst/>
          </a:prstGeom>
        </p:spPr>
      </p:pic>
      <p:sp>
        <p:nvSpPr>
          <p:cNvPr id="4" name="TextBox 3"/>
          <p:cNvSpPr txBox="1"/>
          <p:nvPr/>
        </p:nvSpPr>
        <p:spPr>
          <a:xfrm>
            <a:off x="4541367" y="128016"/>
            <a:ext cx="3108960" cy="182880"/>
          </a:xfrm>
          <a:prstGeom prst="rect">
            <a:avLst/>
          </a:prstGeom>
          <a:noFill/>
        </p:spPr>
        <p:txBody>
          <a:bodyPr wrap="square" anchor="t" lIns="0" rIns="0" tIns="0" bIns="0">
            <a:spAutoFit/>
          </a:bodyPr>
          <a:lstStyle/>
          <a:p>
            <a:pPr algn="ctr">
              <a:spcBef>
                <a:spcPts val="0"/>
              </a:spcBef>
              <a:spcAft>
                <a:spcPts val="0"/>
              </a:spcAft>
            </a:pPr>
            <a:r>
              <a:rPr sz="750" b="0" i="0">
                <a:solidFill>
                  <a:srgbClr val="8C95DE"/>
                </a:solidFill>
                <a:latin typeface="Bahnschrift"/>
              </a:rPr>
              <a:t>Private &amp; Confidential</a:t>
            </a:r>
          </a:p>
        </p:txBody>
      </p:sp>
      <p:sp>
        <p:nvSpPr>
          <p:cNvPr id="5" name="TextBox 4"/>
          <p:cNvSpPr txBox="1"/>
          <p:nvPr/>
        </p:nvSpPr>
        <p:spPr>
          <a:xfrm>
            <a:off x="6766560" y="868680"/>
            <a:ext cx="4583887" cy="2377440"/>
          </a:xfrm>
          <a:prstGeom prst="rect">
            <a:avLst/>
          </a:prstGeom>
          <a:noFill/>
        </p:spPr>
        <p:txBody>
          <a:bodyPr wrap="square" anchor="t" lIns="0" rIns="0" tIns="0" bIns="0">
            <a:spAutoFit/>
          </a:bodyPr>
          <a:lstStyle/>
          <a:p>
            <a:pPr algn="r">
              <a:spcBef>
                <a:spcPts val="0"/>
              </a:spcBef>
              <a:spcAft>
                <a:spcPts val="0"/>
              </a:spcAft>
            </a:pPr>
            <a:r>
              <a:rPr sz="17000" b="1" i="0">
                <a:solidFill>
                  <a:srgbClr val="242F8E"/>
                </a:solidFill>
                <a:latin typeface="Georgia"/>
              </a:rPr>
              <a:t>02</a:t>
            </a:r>
          </a:p>
        </p:txBody>
      </p:sp>
      <p:sp>
        <p:nvSpPr>
          <p:cNvPr id="6" name="TextBox 5"/>
          <p:cNvSpPr txBox="1"/>
          <p:nvPr/>
        </p:nvSpPr>
        <p:spPr>
          <a:xfrm>
            <a:off x="841248" y="2359152"/>
            <a:ext cx="5943600" cy="274320"/>
          </a:xfrm>
          <a:prstGeom prst="rect">
            <a:avLst/>
          </a:prstGeom>
          <a:noFill/>
        </p:spPr>
        <p:txBody>
          <a:bodyPr wrap="square" anchor="t" lIns="0" rIns="0" tIns="0" bIns="0">
            <a:spAutoFit/>
          </a:bodyPr>
          <a:lstStyle/>
          <a:p>
            <a:pPr algn="l">
              <a:spcBef>
                <a:spcPts val="0"/>
              </a:spcBef>
              <a:spcAft>
                <a:spcPts val="0"/>
              </a:spcAft>
            </a:pPr>
            <a:r>
              <a:rPr sz="1000" b="1" i="0" spc="250">
                <a:solidFill>
                  <a:srgbClr val="F2A93C"/>
                </a:solidFill>
                <a:latin typeface="Bahnschrift"/>
              </a:rPr>
              <a:t>SECTION 02</a:t>
            </a:r>
          </a:p>
        </p:txBody>
      </p:sp>
      <p:sp>
        <p:nvSpPr>
          <p:cNvPr id="7" name="TextBox 6"/>
          <p:cNvSpPr txBox="1"/>
          <p:nvPr/>
        </p:nvSpPr>
        <p:spPr>
          <a:xfrm>
            <a:off x="841248" y="2706624"/>
            <a:ext cx="7863840" cy="685800"/>
          </a:xfrm>
          <a:prstGeom prst="rect">
            <a:avLst/>
          </a:prstGeom>
          <a:noFill/>
        </p:spPr>
        <p:txBody>
          <a:bodyPr wrap="square" anchor="t" lIns="0" rIns="0" tIns="0" bIns="0">
            <a:spAutoFit/>
          </a:bodyPr>
          <a:lstStyle/>
          <a:p>
            <a:pPr algn="l">
              <a:spcBef>
                <a:spcPts val="0"/>
              </a:spcBef>
              <a:spcAft>
                <a:spcPts val="0"/>
              </a:spcAft>
            </a:pPr>
            <a:r>
              <a:rPr sz="3000" b="1" i="0">
                <a:solidFill>
                  <a:srgbClr val="FFFFFF"/>
                </a:solidFill>
                <a:latin typeface="Georgia"/>
              </a:rPr>
              <a:t>The workflow</a:t>
            </a:r>
          </a:p>
        </p:txBody>
      </p:sp>
      <p:sp>
        <p:nvSpPr>
          <p:cNvPr id="8" name="Rectangle 7"/>
          <p:cNvSpPr/>
          <p:nvPr/>
        </p:nvSpPr>
        <p:spPr>
          <a:xfrm>
            <a:off x="841248" y="3419856"/>
            <a:ext cx="2011680" cy="25603"/>
          </a:xfrm>
          <a:prstGeom prst="rect">
            <a:avLst/>
          </a:prstGeom>
          <a:solidFill>
            <a:srgbClr val="F2A93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41248" y="3639312"/>
            <a:ext cx="7863840" cy="548640"/>
          </a:xfrm>
          <a:prstGeom prst="rect">
            <a:avLst/>
          </a:prstGeom>
          <a:noFill/>
        </p:spPr>
        <p:txBody>
          <a:bodyPr wrap="square" anchor="t" lIns="0" rIns="0" tIns="0" bIns="0">
            <a:spAutoFit/>
          </a:bodyPr>
          <a:lstStyle/>
          <a:p>
            <a:pPr algn="l">
              <a:spcBef>
                <a:spcPts val="0"/>
              </a:spcBef>
              <a:spcAft>
                <a:spcPts val="0"/>
              </a:spcAft>
            </a:pPr>
            <a:r>
              <a:rPr sz="1300" b="0" i="1">
                <a:solidFill>
                  <a:srgbClr val="C9CEF0"/>
                </a:solidFill>
                <a:latin typeface="Georgia"/>
              </a:rPr>
              <a:t>What runs when, and who owns each step</a:t>
            </a:r>
          </a:p>
        </p:txBody>
      </p:sp>
      <p:sp>
        <p:nvSpPr>
          <p:cNvPr id="10" name="TextBox 9"/>
          <p:cNvSpPr txBox="1"/>
          <p:nvPr/>
        </p:nvSpPr>
        <p:spPr>
          <a:xfrm>
            <a:off x="841248" y="4983480"/>
            <a:ext cx="7315200" cy="219456"/>
          </a:xfrm>
          <a:prstGeom prst="rect">
            <a:avLst/>
          </a:prstGeom>
          <a:noFill/>
        </p:spPr>
        <p:txBody>
          <a:bodyPr wrap="square" anchor="t" lIns="0" rIns="0" tIns="0" bIns="0">
            <a:spAutoFit/>
          </a:bodyPr>
          <a:lstStyle/>
          <a:p>
            <a:pPr algn="l">
              <a:spcBef>
                <a:spcPts val="0"/>
              </a:spcBef>
              <a:spcAft>
                <a:spcPts val="0"/>
              </a:spcAft>
            </a:pPr>
            <a:r>
              <a:rPr sz="950" b="0" i="0" spc="40">
                <a:solidFill>
                  <a:srgbClr val="C9CEF0"/>
                </a:solidFill>
                <a:latin typeface="Bahnschrift"/>
              </a:rPr>
              <a:t>Cadence and ownership</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logo_clean.png"/>
          <p:cNvPicPr>
            <a:picLocks noChangeAspect="1"/>
          </p:cNvPicPr>
          <p:nvPr/>
        </p:nvPicPr>
        <p:blipFill>
          <a:blip r:embed="rId2"/>
          <a:stretch>
            <a:fillRect/>
          </a:stretch>
        </p:blipFill>
        <p:spPr>
          <a:xfrm>
            <a:off x="9674809" y="365760"/>
            <a:ext cx="1629918" cy="283464"/>
          </a:xfrm>
          <a:prstGeom prst="rect">
            <a:avLst/>
          </a:prstGeom>
        </p:spPr>
      </p:pic>
      <p:sp>
        <p:nvSpPr>
          <p:cNvPr id="4" name="TextBox 3"/>
          <p:cNvSpPr txBox="1"/>
          <p:nvPr/>
        </p:nvSpPr>
        <p:spPr>
          <a:xfrm>
            <a:off x="4541367" y="128016"/>
            <a:ext cx="3108960" cy="182880"/>
          </a:xfrm>
          <a:prstGeom prst="rect">
            <a:avLst/>
          </a:prstGeom>
          <a:noFill/>
        </p:spPr>
        <p:txBody>
          <a:bodyPr wrap="square" anchor="t" lIns="0" rIns="0" tIns="0" bIns="0">
            <a:spAutoFit/>
          </a:bodyPr>
          <a:lstStyle/>
          <a:p>
            <a:pPr algn="ctr">
              <a:spcBef>
                <a:spcPts val="0"/>
              </a:spcBef>
              <a:spcAft>
                <a:spcPts val="0"/>
              </a:spcAft>
            </a:pPr>
            <a:r>
              <a:rPr sz="750" b="0" i="0">
                <a:solidFill>
                  <a:srgbClr val="6B7280"/>
                </a:solidFill>
                <a:latin typeface="Bahnschrift"/>
              </a:rPr>
              <a:t>Private &amp; Confidential</a:t>
            </a:r>
          </a:p>
        </p:txBody>
      </p:sp>
      <p:sp>
        <p:nvSpPr>
          <p:cNvPr id="5" name="TextBox 4"/>
          <p:cNvSpPr txBox="1"/>
          <p:nvPr/>
        </p:nvSpPr>
        <p:spPr>
          <a:xfrm>
            <a:off x="7863840" y="274320"/>
            <a:ext cx="1749247" cy="201168"/>
          </a:xfrm>
          <a:prstGeom prst="rect">
            <a:avLst/>
          </a:prstGeom>
          <a:noFill/>
        </p:spPr>
        <p:txBody>
          <a:bodyPr wrap="square" anchor="t" lIns="0" rIns="0" tIns="0" bIns="0">
            <a:spAutoFit/>
          </a:bodyPr>
          <a:lstStyle/>
          <a:p>
            <a:pPr algn="r">
              <a:spcBef>
                <a:spcPts val="0"/>
              </a:spcBef>
              <a:spcAft>
                <a:spcPts val="0"/>
              </a:spcAft>
            </a:pPr>
            <a:r>
              <a:rPr sz="750" b="1" i="0" spc="120">
                <a:solidFill>
                  <a:srgbClr val="8C95DE"/>
                </a:solidFill>
                <a:latin typeface="Bahnschrift"/>
              </a:rPr>
              <a:t>02 · THE WORKFLOW</a:t>
            </a:r>
          </a:p>
        </p:txBody>
      </p:sp>
      <p:sp>
        <p:nvSpPr>
          <p:cNvPr id="6" name="Rectangle 5"/>
          <p:cNvSpPr/>
          <p:nvPr/>
        </p:nvSpPr>
        <p:spPr>
          <a:xfrm>
            <a:off x="8549640" y="512064"/>
            <a:ext cx="137160" cy="20116"/>
          </a:xfrm>
          <a:prstGeom prst="rect">
            <a:avLst/>
          </a:prstGeom>
          <a:solidFill>
            <a:srgbClr val="E5E7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8732519" y="512064"/>
            <a:ext cx="137160" cy="20116"/>
          </a:xfrm>
          <a:prstGeom prst="rect">
            <a:avLst/>
          </a:prstGeom>
          <a:solidFill>
            <a:srgbClr val="1B27A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8915400" y="512064"/>
            <a:ext cx="137160" cy="20116"/>
          </a:xfrm>
          <a:prstGeom prst="rect">
            <a:avLst/>
          </a:prstGeom>
          <a:solidFill>
            <a:srgbClr val="E5E7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9098280" y="512064"/>
            <a:ext cx="137160" cy="20116"/>
          </a:xfrm>
          <a:prstGeom prst="rect">
            <a:avLst/>
          </a:prstGeom>
          <a:solidFill>
            <a:srgbClr val="E5E7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9281160" y="512064"/>
            <a:ext cx="137160" cy="20116"/>
          </a:xfrm>
          <a:prstGeom prst="rect">
            <a:avLst/>
          </a:prstGeom>
          <a:solidFill>
            <a:srgbClr val="E5E7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41248" y="420624"/>
            <a:ext cx="6858000" cy="502920"/>
          </a:xfrm>
          <a:prstGeom prst="rect">
            <a:avLst/>
          </a:prstGeom>
          <a:noFill/>
        </p:spPr>
        <p:txBody>
          <a:bodyPr wrap="square" anchor="t" lIns="0" rIns="0" tIns="0" bIns="0">
            <a:spAutoFit/>
          </a:bodyPr>
          <a:lstStyle/>
          <a:p>
            <a:pPr algn="l">
              <a:spcBef>
                <a:spcPts val="0"/>
              </a:spcBef>
              <a:spcAft>
                <a:spcPts val="0"/>
              </a:spcAft>
            </a:pPr>
            <a:r>
              <a:rPr sz="2600" b="1" i="0">
                <a:solidFill>
                  <a:srgbClr val="1B27A3"/>
                </a:solidFill>
                <a:latin typeface="Bahnschrift"/>
              </a:rPr>
              <a:t>Cadence and ownership</a:t>
            </a:r>
          </a:p>
        </p:txBody>
      </p:sp>
      <p:sp>
        <p:nvSpPr>
          <p:cNvPr id="12" name="TextBox 11"/>
          <p:cNvSpPr txBox="1"/>
          <p:nvPr/>
        </p:nvSpPr>
        <p:spPr>
          <a:xfrm>
            <a:off x="841248" y="950976"/>
            <a:ext cx="9692640" cy="411480"/>
          </a:xfrm>
          <a:prstGeom prst="rect">
            <a:avLst/>
          </a:prstGeom>
          <a:noFill/>
        </p:spPr>
        <p:txBody>
          <a:bodyPr wrap="square" anchor="t" lIns="0" rIns="0" tIns="0" bIns="0">
            <a:spAutoFit/>
          </a:bodyPr>
          <a:lstStyle/>
          <a:p>
            <a:pPr algn="l">
              <a:spcBef>
                <a:spcPts val="0"/>
              </a:spcBef>
              <a:spcAft>
                <a:spcPts val="0"/>
              </a:spcAft>
            </a:pPr>
            <a:r>
              <a:rPr sz="1750" b="1" i="0">
                <a:solidFill>
                  <a:srgbClr val="F2A93C"/>
                </a:solidFill>
                <a:latin typeface="Bahnschrift"/>
              </a:rPr>
              <a:t>What runs when, and who owns it</a:t>
            </a:r>
          </a:p>
        </p:txBody>
      </p:sp>
      <p:sp>
        <p:nvSpPr>
          <p:cNvPr id="13" name="Rectangle 12"/>
          <p:cNvSpPr/>
          <p:nvPr/>
        </p:nvSpPr>
        <p:spPr>
          <a:xfrm>
            <a:off x="841248" y="1408176"/>
            <a:ext cx="10509199" cy="21945"/>
          </a:xfrm>
          <a:prstGeom prst="rect">
            <a:avLst/>
          </a:prstGeom>
          <a:solidFill>
            <a:srgbClr val="1B27A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9155887" y="6528816"/>
            <a:ext cx="2194560" cy="182880"/>
          </a:xfrm>
          <a:prstGeom prst="rect">
            <a:avLst/>
          </a:prstGeom>
          <a:noFill/>
        </p:spPr>
        <p:txBody>
          <a:bodyPr wrap="square" anchor="t" lIns="0" rIns="0" tIns="0" bIns="0">
            <a:spAutoFit/>
          </a:bodyPr>
          <a:lstStyle/>
          <a:p>
            <a:pPr algn="r">
              <a:spcBef>
                <a:spcPts val="0"/>
              </a:spcBef>
              <a:spcAft>
                <a:spcPts val="0"/>
              </a:spcAft>
            </a:pPr>
            <a:r>
              <a:rPr sz="750" b="0" i="0">
                <a:solidFill>
                  <a:srgbClr val="6B7280"/>
                </a:solidFill>
                <a:latin typeface="Bahnschrift"/>
              </a:rPr>
              <a:t>Portfolio Review  ·  15</a:t>
            </a:r>
          </a:p>
        </p:txBody>
      </p:sp>
      <p:sp>
        <p:nvSpPr>
          <p:cNvPr id="15" name="TextBox 14"/>
          <p:cNvSpPr txBox="1"/>
          <p:nvPr/>
        </p:nvSpPr>
        <p:spPr>
          <a:xfrm>
            <a:off x="914400" y="1783080"/>
            <a:ext cx="1535167" cy="219456"/>
          </a:xfrm>
          <a:prstGeom prst="rect">
            <a:avLst/>
          </a:prstGeom>
          <a:noFill/>
        </p:spPr>
        <p:txBody>
          <a:bodyPr wrap="square" anchor="ctr" lIns="0" rIns="0" tIns="0" bIns="0">
            <a:spAutoFit/>
          </a:bodyPr>
          <a:lstStyle/>
          <a:p>
            <a:pPr algn="l">
              <a:spcBef>
                <a:spcPts val="0"/>
              </a:spcBef>
              <a:spcAft>
                <a:spcPts val="0"/>
              </a:spcAft>
            </a:pPr>
            <a:r>
              <a:rPr sz="800" b="1" i="0" spc="200">
                <a:solidFill>
                  <a:srgbClr val="6B7280"/>
                </a:solidFill>
                <a:latin typeface="Bahnschrift"/>
              </a:rPr>
              <a:t>CADENCE</a:t>
            </a:r>
          </a:p>
        </p:txBody>
      </p:sp>
      <p:sp>
        <p:nvSpPr>
          <p:cNvPr id="16" name="TextBox 15"/>
          <p:cNvSpPr txBox="1"/>
          <p:nvPr/>
        </p:nvSpPr>
        <p:spPr>
          <a:xfrm>
            <a:off x="2595871" y="1783080"/>
            <a:ext cx="4687927" cy="219456"/>
          </a:xfrm>
          <a:prstGeom prst="rect">
            <a:avLst/>
          </a:prstGeom>
          <a:noFill/>
        </p:spPr>
        <p:txBody>
          <a:bodyPr wrap="square" anchor="ctr" lIns="0" rIns="0" tIns="0" bIns="0">
            <a:spAutoFit/>
          </a:bodyPr>
          <a:lstStyle/>
          <a:p>
            <a:pPr algn="l">
              <a:spcBef>
                <a:spcPts val="0"/>
              </a:spcBef>
              <a:spcAft>
                <a:spcPts val="0"/>
              </a:spcAft>
            </a:pPr>
            <a:r>
              <a:rPr sz="800" b="1" i="0" spc="200">
                <a:solidFill>
                  <a:srgbClr val="6B7280"/>
                </a:solidFill>
                <a:latin typeface="Bahnschrift"/>
              </a:rPr>
              <a:t>WHAT RUNS</a:t>
            </a:r>
          </a:p>
        </p:txBody>
      </p:sp>
      <p:sp>
        <p:nvSpPr>
          <p:cNvPr id="17" name="TextBox 16"/>
          <p:cNvSpPr txBox="1"/>
          <p:nvPr/>
        </p:nvSpPr>
        <p:spPr>
          <a:xfrm>
            <a:off x="7430103" y="1783080"/>
            <a:ext cx="1955535" cy="219456"/>
          </a:xfrm>
          <a:prstGeom prst="rect">
            <a:avLst/>
          </a:prstGeom>
          <a:noFill/>
        </p:spPr>
        <p:txBody>
          <a:bodyPr wrap="square" anchor="ctr" lIns="0" rIns="0" tIns="0" bIns="0">
            <a:spAutoFit/>
          </a:bodyPr>
          <a:lstStyle/>
          <a:p>
            <a:pPr algn="l">
              <a:spcBef>
                <a:spcPts val="0"/>
              </a:spcBef>
              <a:spcAft>
                <a:spcPts val="0"/>
              </a:spcAft>
            </a:pPr>
            <a:r>
              <a:rPr sz="800" b="1" i="0" spc="200">
                <a:solidFill>
                  <a:srgbClr val="6B7280"/>
                </a:solidFill>
                <a:latin typeface="Bahnschrift"/>
              </a:rPr>
              <a:t>OWNER</a:t>
            </a:r>
          </a:p>
        </p:txBody>
      </p:sp>
      <p:sp>
        <p:nvSpPr>
          <p:cNvPr id="18" name="TextBox 17"/>
          <p:cNvSpPr txBox="1"/>
          <p:nvPr/>
        </p:nvSpPr>
        <p:spPr>
          <a:xfrm>
            <a:off x="9531943" y="1783080"/>
            <a:ext cx="1745351" cy="219456"/>
          </a:xfrm>
          <a:prstGeom prst="rect">
            <a:avLst/>
          </a:prstGeom>
          <a:noFill/>
        </p:spPr>
        <p:txBody>
          <a:bodyPr wrap="square" anchor="ctr" lIns="0" rIns="0" tIns="0" bIns="0">
            <a:spAutoFit/>
          </a:bodyPr>
          <a:lstStyle/>
          <a:p>
            <a:pPr algn="ctr">
              <a:spcBef>
                <a:spcPts val="0"/>
              </a:spcBef>
              <a:spcAft>
                <a:spcPts val="0"/>
              </a:spcAft>
            </a:pPr>
            <a:r>
              <a:rPr sz="800" b="1" i="0" spc="200">
                <a:solidFill>
                  <a:srgbClr val="6B7280"/>
                </a:solidFill>
                <a:latin typeface="Bahnschrift"/>
              </a:rPr>
              <a:t>AUTOMATED</a:t>
            </a:r>
          </a:p>
        </p:txBody>
      </p:sp>
      <p:sp>
        <p:nvSpPr>
          <p:cNvPr id="19" name="Rectangle 18"/>
          <p:cNvSpPr/>
          <p:nvPr/>
        </p:nvSpPr>
        <p:spPr>
          <a:xfrm>
            <a:off x="841248" y="2039112"/>
            <a:ext cx="10509199" cy="13716"/>
          </a:xfrm>
          <a:prstGeom prst="rect">
            <a:avLst/>
          </a:prstGeom>
          <a:solidFill>
            <a:srgbClr val="1B27A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914400" y="2084831"/>
            <a:ext cx="1535167" cy="384048"/>
          </a:xfrm>
          <a:prstGeom prst="rect">
            <a:avLst/>
          </a:prstGeom>
          <a:noFill/>
        </p:spPr>
        <p:txBody>
          <a:bodyPr wrap="square" anchor="ctr" lIns="0" rIns="0" tIns="0" bIns="0">
            <a:spAutoFit/>
          </a:bodyPr>
          <a:lstStyle/>
          <a:p>
            <a:pPr algn="l">
              <a:spcBef>
                <a:spcPts val="0"/>
              </a:spcBef>
              <a:spcAft>
                <a:spcPts val="0"/>
              </a:spcAft>
            </a:pPr>
            <a:r>
              <a:rPr sz="1000" b="1" i="0">
                <a:solidFill>
                  <a:srgbClr val="16233B"/>
                </a:solidFill>
                <a:latin typeface="Bahnschrift"/>
              </a:rPr>
              <a:t>Weekly</a:t>
            </a:r>
          </a:p>
        </p:txBody>
      </p:sp>
      <p:sp>
        <p:nvSpPr>
          <p:cNvPr id="21" name="TextBox 20"/>
          <p:cNvSpPr txBox="1"/>
          <p:nvPr/>
        </p:nvSpPr>
        <p:spPr>
          <a:xfrm>
            <a:off x="2595871" y="2084831"/>
            <a:ext cx="4687927" cy="384048"/>
          </a:xfrm>
          <a:prstGeom prst="rect">
            <a:avLst/>
          </a:prstGeom>
          <a:noFill/>
        </p:spPr>
        <p:txBody>
          <a:bodyPr wrap="square" anchor="ctr" lIns="0" rIns="0" tIns="0" bIns="0">
            <a:spAutoFit/>
          </a:bodyPr>
          <a:lstStyle/>
          <a:p>
            <a:pPr algn="l">
              <a:spcBef>
                <a:spcPts val="0"/>
              </a:spcBef>
              <a:spcAft>
                <a:spcPts val="0"/>
              </a:spcAft>
            </a:pPr>
            <a:r>
              <a:rPr sz="1000" b="0" i="0">
                <a:solidFill>
                  <a:srgbClr val="16233B"/>
                </a:solidFill>
                <a:latin typeface="Georgia"/>
              </a:rPr>
              <a:t>Stock re-score through the incremental router</a:t>
            </a:r>
          </a:p>
        </p:txBody>
      </p:sp>
      <p:sp>
        <p:nvSpPr>
          <p:cNvPr id="22" name="TextBox 21"/>
          <p:cNvSpPr txBox="1"/>
          <p:nvPr/>
        </p:nvSpPr>
        <p:spPr>
          <a:xfrm>
            <a:off x="7430103" y="2084831"/>
            <a:ext cx="1955535" cy="384048"/>
          </a:xfrm>
          <a:prstGeom prst="rect">
            <a:avLst/>
          </a:prstGeom>
          <a:noFill/>
        </p:spPr>
        <p:txBody>
          <a:bodyPr wrap="square" anchor="ctr" lIns="0" rIns="0" tIns="0" bIns="0">
            <a:spAutoFit/>
          </a:bodyPr>
          <a:lstStyle/>
          <a:p>
            <a:pPr algn="l">
              <a:spcBef>
                <a:spcPts val="0"/>
              </a:spcBef>
              <a:spcAft>
                <a:spcPts val="0"/>
              </a:spcAft>
            </a:pPr>
            <a:r>
              <a:rPr sz="1000" b="0" i="0">
                <a:solidFill>
                  <a:srgbClr val="16233B"/>
                </a:solidFill>
                <a:latin typeface="Georgia"/>
              </a:rPr>
              <a:t>Portfolio Review desk</a:t>
            </a:r>
          </a:p>
        </p:txBody>
      </p:sp>
      <p:sp>
        <p:nvSpPr>
          <p:cNvPr id="23" name="TextBox 22"/>
          <p:cNvSpPr txBox="1"/>
          <p:nvPr/>
        </p:nvSpPr>
        <p:spPr>
          <a:xfrm>
            <a:off x="9531943" y="2084831"/>
            <a:ext cx="1745351" cy="384048"/>
          </a:xfrm>
          <a:prstGeom prst="rect">
            <a:avLst/>
          </a:prstGeom>
          <a:noFill/>
        </p:spPr>
        <p:txBody>
          <a:bodyPr wrap="square" anchor="ctr" lIns="0" rIns="0" tIns="0" bIns="0">
            <a:spAutoFit/>
          </a:bodyPr>
          <a:lstStyle/>
          <a:p>
            <a:pPr algn="ctr">
              <a:spcBef>
                <a:spcPts val="0"/>
              </a:spcBef>
              <a:spcAft>
                <a:spcPts val="0"/>
              </a:spcAft>
            </a:pPr>
            <a:r>
              <a:rPr sz="1000" b="0" i="0">
                <a:solidFill>
                  <a:srgbClr val="1E9E6A"/>
                </a:solidFill>
                <a:latin typeface="Bahnschrift"/>
              </a:rPr>
              <a:t>Yes</a:t>
            </a:r>
          </a:p>
        </p:txBody>
      </p:sp>
      <p:sp>
        <p:nvSpPr>
          <p:cNvPr id="24" name="Rectangle 23"/>
          <p:cNvSpPr/>
          <p:nvPr/>
        </p:nvSpPr>
        <p:spPr>
          <a:xfrm>
            <a:off x="841248" y="2450591"/>
            <a:ext cx="10509199" cy="384048"/>
          </a:xfrm>
          <a:prstGeom prst="rect">
            <a:avLst/>
          </a:prstGeom>
          <a:solidFill>
            <a:srgbClr val="F5F6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914400" y="2468879"/>
            <a:ext cx="1535167" cy="384048"/>
          </a:xfrm>
          <a:prstGeom prst="rect">
            <a:avLst/>
          </a:prstGeom>
          <a:noFill/>
        </p:spPr>
        <p:txBody>
          <a:bodyPr wrap="square" anchor="ctr" lIns="0" rIns="0" tIns="0" bIns="0">
            <a:spAutoFit/>
          </a:bodyPr>
          <a:lstStyle/>
          <a:p>
            <a:pPr algn="l">
              <a:spcBef>
                <a:spcPts val="0"/>
              </a:spcBef>
              <a:spcAft>
                <a:spcPts val="0"/>
              </a:spcAft>
            </a:pPr>
            <a:r>
              <a:rPr sz="1000" b="1" i="0">
                <a:solidFill>
                  <a:srgbClr val="16233B"/>
                </a:solidFill>
                <a:latin typeface="Bahnschrift"/>
              </a:rPr>
              <a:t>Weekly</a:t>
            </a:r>
          </a:p>
        </p:txBody>
      </p:sp>
      <p:sp>
        <p:nvSpPr>
          <p:cNvPr id="26" name="TextBox 25"/>
          <p:cNvSpPr txBox="1"/>
          <p:nvPr/>
        </p:nvSpPr>
        <p:spPr>
          <a:xfrm>
            <a:off x="2595871" y="2468879"/>
            <a:ext cx="4687927" cy="384048"/>
          </a:xfrm>
          <a:prstGeom prst="rect">
            <a:avLst/>
          </a:prstGeom>
          <a:noFill/>
        </p:spPr>
        <p:txBody>
          <a:bodyPr wrap="square" anchor="ctr" lIns="0" rIns="0" tIns="0" bIns="0">
            <a:spAutoFit/>
          </a:bodyPr>
          <a:lstStyle/>
          <a:p>
            <a:pPr algn="l">
              <a:spcBef>
                <a:spcPts val="0"/>
              </a:spcBef>
              <a:spcAft>
                <a:spcPts val="0"/>
              </a:spcAft>
            </a:pPr>
            <a:r>
              <a:rPr sz="1000" b="0" i="0">
                <a:solidFill>
                  <a:srgbClr val="16233B"/>
                </a:solidFill>
                <a:latin typeface="Georgia"/>
              </a:rPr>
              <a:t>Paper reconciliation and the risk pack</a:t>
            </a:r>
          </a:p>
        </p:txBody>
      </p:sp>
      <p:sp>
        <p:nvSpPr>
          <p:cNvPr id="27" name="TextBox 26"/>
          <p:cNvSpPr txBox="1"/>
          <p:nvPr/>
        </p:nvSpPr>
        <p:spPr>
          <a:xfrm>
            <a:off x="7430103" y="2468879"/>
            <a:ext cx="1955535" cy="384048"/>
          </a:xfrm>
          <a:prstGeom prst="rect">
            <a:avLst/>
          </a:prstGeom>
          <a:noFill/>
        </p:spPr>
        <p:txBody>
          <a:bodyPr wrap="square" anchor="ctr" lIns="0" rIns="0" tIns="0" bIns="0">
            <a:spAutoFit/>
          </a:bodyPr>
          <a:lstStyle/>
          <a:p>
            <a:pPr algn="l">
              <a:spcBef>
                <a:spcPts val="0"/>
              </a:spcBef>
              <a:spcAft>
                <a:spcPts val="0"/>
              </a:spcAft>
            </a:pPr>
            <a:r>
              <a:rPr sz="1000" b="0" i="0">
                <a:solidFill>
                  <a:srgbClr val="16233B"/>
                </a:solidFill>
                <a:latin typeface="Georgia"/>
              </a:rPr>
              <a:t>Risk</a:t>
            </a:r>
          </a:p>
        </p:txBody>
      </p:sp>
      <p:sp>
        <p:nvSpPr>
          <p:cNvPr id="28" name="TextBox 27"/>
          <p:cNvSpPr txBox="1"/>
          <p:nvPr/>
        </p:nvSpPr>
        <p:spPr>
          <a:xfrm>
            <a:off x="9531943" y="2468879"/>
            <a:ext cx="1745351" cy="384048"/>
          </a:xfrm>
          <a:prstGeom prst="rect">
            <a:avLst/>
          </a:prstGeom>
          <a:noFill/>
        </p:spPr>
        <p:txBody>
          <a:bodyPr wrap="square" anchor="ctr" lIns="0" rIns="0" tIns="0" bIns="0">
            <a:spAutoFit/>
          </a:bodyPr>
          <a:lstStyle/>
          <a:p>
            <a:pPr algn="ctr">
              <a:spcBef>
                <a:spcPts val="0"/>
              </a:spcBef>
              <a:spcAft>
                <a:spcPts val="0"/>
              </a:spcAft>
            </a:pPr>
            <a:r>
              <a:rPr sz="1000" b="0" i="0">
                <a:solidFill>
                  <a:srgbClr val="1E9E6A"/>
                </a:solidFill>
                <a:latin typeface="Bahnschrift"/>
              </a:rPr>
              <a:t>Yes</a:t>
            </a:r>
          </a:p>
        </p:txBody>
      </p:sp>
      <p:sp>
        <p:nvSpPr>
          <p:cNvPr id="29" name="TextBox 28"/>
          <p:cNvSpPr txBox="1"/>
          <p:nvPr/>
        </p:nvSpPr>
        <p:spPr>
          <a:xfrm>
            <a:off x="914400" y="2852927"/>
            <a:ext cx="1535167" cy="384048"/>
          </a:xfrm>
          <a:prstGeom prst="rect">
            <a:avLst/>
          </a:prstGeom>
          <a:noFill/>
        </p:spPr>
        <p:txBody>
          <a:bodyPr wrap="square" anchor="ctr" lIns="0" rIns="0" tIns="0" bIns="0">
            <a:spAutoFit/>
          </a:bodyPr>
          <a:lstStyle/>
          <a:p>
            <a:pPr algn="l">
              <a:spcBef>
                <a:spcPts val="0"/>
              </a:spcBef>
              <a:spcAft>
                <a:spcPts val="0"/>
              </a:spcAft>
            </a:pPr>
            <a:r>
              <a:rPr sz="1000" b="1" i="0">
                <a:solidFill>
                  <a:srgbClr val="16233B"/>
                </a:solidFill>
                <a:latin typeface="Bahnschrift"/>
              </a:rPr>
              <a:t>Monthly</a:t>
            </a:r>
          </a:p>
        </p:txBody>
      </p:sp>
      <p:sp>
        <p:nvSpPr>
          <p:cNvPr id="30" name="TextBox 29"/>
          <p:cNvSpPr txBox="1"/>
          <p:nvPr/>
        </p:nvSpPr>
        <p:spPr>
          <a:xfrm>
            <a:off x="2595871" y="2852927"/>
            <a:ext cx="4687927" cy="384048"/>
          </a:xfrm>
          <a:prstGeom prst="rect">
            <a:avLst/>
          </a:prstGeom>
          <a:noFill/>
        </p:spPr>
        <p:txBody>
          <a:bodyPr wrap="square" anchor="ctr" lIns="0" rIns="0" tIns="0" bIns="0">
            <a:spAutoFit/>
          </a:bodyPr>
          <a:lstStyle/>
          <a:p>
            <a:pPr algn="l">
              <a:spcBef>
                <a:spcPts val="0"/>
              </a:spcBef>
              <a:spcAft>
                <a:spcPts val="0"/>
              </a:spcAft>
            </a:pPr>
            <a:r>
              <a:rPr sz="1000" b="0" i="0">
                <a:solidFill>
                  <a:srgbClr val="16233B"/>
                </a:solidFill>
                <a:latin typeface="Georgia"/>
              </a:rPr>
              <a:t>Fund net-asset-value history refresh</a:t>
            </a:r>
          </a:p>
        </p:txBody>
      </p:sp>
      <p:sp>
        <p:nvSpPr>
          <p:cNvPr id="31" name="TextBox 30"/>
          <p:cNvSpPr txBox="1"/>
          <p:nvPr/>
        </p:nvSpPr>
        <p:spPr>
          <a:xfrm>
            <a:off x="7430103" y="2852927"/>
            <a:ext cx="1955535" cy="384048"/>
          </a:xfrm>
          <a:prstGeom prst="rect">
            <a:avLst/>
          </a:prstGeom>
          <a:noFill/>
        </p:spPr>
        <p:txBody>
          <a:bodyPr wrap="square" anchor="ctr" lIns="0" rIns="0" tIns="0" bIns="0">
            <a:spAutoFit/>
          </a:bodyPr>
          <a:lstStyle/>
          <a:p>
            <a:pPr algn="l">
              <a:spcBef>
                <a:spcPts val="0"/>
              </a:spcBef>
              <a:spcAft>
                <a:spcPts val="0"/>
              </a:spcAft>
            </a:pPr>
            <a:r>
              <a:rPr sz="1000" b="0" i="0">
                <a:solidFill>
                  <a:srgbClr val="16233B"/>
                </a:solidFill>
                <a:latin typeface="Georgia"/>
              </a:rPr>
              <a:t>Data</a:t>
            </a:r>
          </a:p>
        </p:txBody>
      </p:sp>
      <p:sp>
        <p:nvSpPr>
          <p:cNvPr id="32" name="TextBox 31"/>
          <p:cNvSpPr txBox="1"/>
          <p:nvPr/>
        </p:nvSpPr>
        <p:spPr>
          <a:xfrm>
            <a:off x="9531943" y="2852927"/>
            <a:ext cx="1745351" cy="384048"/>
          </a:xfrm>
          <a:prstGeom prst="rect">
            <a:avLst/>
          </a:prstGeom>
          <a:noFill/>
        </p:spPr>
        <p:txBody>
          <a:bodyPr wrap="square" anchor="ctr" lIns="0" rIns="0" tIns="0" bIns="0">
            <a:spAutoFit/>
          </a:bodyPr>
          <a:lstStyle/>
          <a:p>
            <a:pPr algn="ctr">
              <a:spcBef>
                <a:spcPts val="0"/>
              </a:spcBef>
              <a:spcAft>
                <a:spcPts val="0"/>
              </a:spcAft>
            </a:pPr>
            <a:r>
              <a:rPr sz="1000" b="0" i="0">
                <a:solidFill>
                  <a:srgbClr val="1E9E6A"/>
                </a:solidFill>
                <a:latin typeface="Bahnschrift"/>
              </a:rPr>
              <a:t>Yes</a:t>
            </a:r>
          </a:p>
        </p:txBody>
      </p:sp>
      <p:sp>
        <p:nvSpPr>
          <p:cNvPr id="33" name="Rectangle 32"/>
          <p:cNvSpPr/>
          <p:nvPr/>
        </p:nvSpPr>
        <p:spPr>
          <a:xfrm>
            <a:off x="841248" y="3218687"/>
            <a:ext cx="10509199" cy="384048"/>
          </a:xfrm>
          <a:prstGeom prst="rect">
            <a:avLst/>
          </a:prstGeom>
          <a:solidFill>
            <a:srgbClr val="F5F6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914400" y="3236975"/>
            <a:ext cx="1535167" cy="384048"/>
          </a:xfrm>
          <a:prstGeom prst="rect">
            <a:avLst/>
          </a:prstGeom>
          <a:noFill/>
        </p:spPr>
        <p:txBody>
          <a:bodyPr wrap="square" anchor="ctr" lIns="0" rIns="0" tIns="0" bIns="0">
            <a:spAutoFit/>
          </a:bodyPr>
          <a:lstStyle/>
          <a:p>
            <a:pPr algn="l">
              <a:spcBef>
                <a:spcPts val="0"/>
              </a:spcBef>
              <a:spcAft>
                <a:spcPts val="0"/>
              </a:spcAft>
            </a:pPr>
            <a:r>
              <a:rPr sz="1000" b="1" i="0">
                <a:solidFill>
                  <a:srgbClr val="16233B"/>
                </a:solidFill>
                <a:latin typeface="Bahnschrift"/>
              </a:rPr>
              <a:t>Monthly</a:t>
            </a:r>
          </a:p>
        </p:txBody>
      </p:sp>
      <p:sp>
        <p:nvSpPr>
          <p:cNvPr id="35" name="TextBox 34"/>
          <p:cNvSpPr txBox="1"/>
          <p:nvPr/>
        </p:nvSpPr>
        <p:spPr>
          <a:xfrm>
            <a:off x="2595871" y="3236975"/>
            <a:ext cx="4687927" cy="384048"/>
          </a:xfrm>
          <a:prstGeom prst="rect">
            <a:avLst/>
          </a:prstGeom>
          <a:noFill/>
        </p:spPr>
        <p:txBody>
          <a:bodyPr wrap="square" anchor="ctr" lIns="0" rIns="0" tIns="0" bIns="0">
            <a:spAutoFit/>
          </a:bodyPr>
          <a:lstStyle/>
          <a:p>
            <a:pPr algn="l">
              <a:spcBef>
                <a:spcPts val="0"/>
              </a:spcBef>
              <a:spcAft>
                <a:spcPts val="0"/>
              </a:spcAft>
            </a:pPr>
            <a:r>
              <a:rPr sz="1000" b="0" i="0">
                <a:solidFill>
                  <a:srgbClr val="16233B"/>
                </a:solidFill>
                <a:latin typeface="Georgia"/>
              </a:rPr>
              <a:t>Month-end checkpoint and analytics pack</a:t>
            </a:r>
          </a:p>
        </p:txBody>
      </p:sp>
      <p:sp>
        <p:nvSpPr>
          <p:cNvPr id="36" name="TextBox 35"/>
          <p:cNvSpPr txBox="1"/>
          <p:nvPr/>
        </p:nvSpPr>
        <p:spPr>
          <a:xfrm>
            <a:off x="7430103" y="3236975"/>
            <a:ext cx="1955535" cy="384048"/>
          </a:xfrm>
          <a:prstGeom prst="rect">
            <a:avLst/>
          </a:prstGeom>
          <a:noFill/>
        </p:spPr>
        <p:txBody>
          <a:bodyPr wrap="square" anchor="ctr" lIns="0" rIns="0" tIns="0" bIns="0">
            <a:spAutoFit/>
          </a:bodyPr>
          <a:lstStyle/>
          <a:p>
            <a:pPr algn="l">
              <a:spcBef>
                <a:spcPts val="0"/>
              </a:spcBef>
              <a:spcAft>
                <a:spcPts val="0"/>
              </a:spcAft>
            </a:pPr>
            <a:r>
              <a:rPr sz="1000" b="0" i="0">
                <a:solidFill>
                  <a:srgbClr val="16233B"/>
                </a:solidFill>
                <a:latin typeface="Georgia"/>
              </a:rPr>
              <a:t>CEO office</a:t>
            </a:r>
          </a:p>
        </p:txBody>
      </p:sp>
      <p:sp>
        <p:nvSpPr>
          <p:cNvPr id="37" name="TextBox 36"/>
          <p:cNvSpPr txBox="1"/>
          <p:nvPr/>
        </p:nvSpPr>
        <p:spPr>
          <a:xfrm>
            <a:off x="9531943" y="3236975"/>
            <a:ext cx="1745351" cy="384048"/>
          </a:xfrm>
          <a:prstGeom prst="rect">
            <a:avLst/>
          </a:prstGeom>
          <a:noFill/>
        </p:spPr>
        <p:txBody>
          <a:bodyPr wrap="square" anchor="ctr" lIns="0" rIns="0" tIns="0" bIns="0">
            <a:spAutoFit/>
          </a:bodyPr>
          <a:lstStyle/>
          <a:p>
            <a:pPr algn="ctr">
              <a:spcBef>
                <a:spcPts val="0"/>
              </a:spcBef>
              <a:spcAft>
                <a:spcPts val="0"/>
              </a:spcAft>
            </a:pPr>
            <a:r>
              <a:rPr sz="1000" b="0" i="0">
                <a:solidFill>
                  <a:srgbClr val="1E9E6A"/>
                </a:solidFill>
                <a:latin typeface="Bahnschrift"/>
              </a:rPr>
              <a:t>Yes</a:t>
            </a:r>
          </a:p>
        </p:txBody>
      </p:sp>
      <p:sp>
        <p:nvSpPr>
          <p:cNvPr id="38" name="TextBox 37"/>
          <p:cNvSpPr txBox="1"/>
          <p:nvPr/>
        </p:nvSpPr>
        <p:spPr>
          <a:xfrm>
            <a:off x="914400" y="3621023"/>
            <a:ext cx="1535167" cy="384048"/>
          </a:xfrm>
          <a:prstGeom prst="rect">
            <a:avLst/>
          </a:prstGeom>
          <a:noFill/>
        </p:spPr>
        <p:txBody>
          <a:bodyPr wrap="square" anchor="ctr" lIns="0" rIns="0" tIns="0" bIns="0">
            <a:spAutoFit/>
          </a:bodyPr>
          <a:lstStyle/>
          <a:p>
            <a:pPr algn="l">
              <a:spcBef>
                <a:spcPts val="0"/>
              </a:spcBef>
              <a:spcAft>
                <a:spcPts val="0"/>
              </a:spcAft>
            </a:pPr>
            <a:r>
              <a:rPr sz="1000" b="1" i="0">
                <a:solidFill>
                  <a:srgbClr val="16233B"/>
                </a:solidFill>
                <a:latin typeface="Bahnschrift"/>
              </a:rPr>
              <a:t>Apr / Oct</a:t>
            </a:r>
          </a:p>
        </p:txBody>
      </p:sp>
      <p:sp>
        <p:nvSpPr>
          <p:cNvPr id="39" name="TextBox 38"/>
          <p:cNvSpPr txBox="1"/>
          <p:nvPr/>
        </p:nvSpPr>
        <p:spPr>
          <a:xfrm>
            <a:off x="2595871" y="3621023"/>
            <a:ext cx="4687927" cy="384048"/>
          </a:xfrm>
          <a:prstGeom prst="rect">
            <a:avLst/>
          </a:prstGeom>
          <a:noFill/>
        </p:spPr>
        <p:txBody>
          <a:bodyPr wrap="square" anchor="ctr" lIns="0" rIns="0" tIns="0" bIns="0">
            <a:spAutoFit/>
          </a:bodyPr>
          <a:lstStyle/>
          <a:p>
            <a:pPr algn="l">
              <a:spcBef>
                <a:spcPts val="0"/>
              </a:spcBef>
              <a:spcAft>
                <a:spcPts val="0"/>
              </a:spcAft>
            </a:pPr>
            <a:r>
              <a:rPr sz="1000" b="0" i="0">
                <a:solidFill>
                  <a:srgbClr val="16233B"/>
                </a:solidFill>
                <a:latin typeface="Georgia"/>
              </a:rPr>
              <a:t>Full fund-model re-run and reconciliation</a:t>
            </a:r>
          </a:p>
        </p:txBody>
      </p:sp>
      <p:sp>
        <p:nvSpPr>
          <p:cNvPr id="40" name="TextBox 39"/>
          <p:cNvSpPr txBox="1"/>
          <p:nvPr/>
        </p:nvSpPr>
        <p:spPr>
          <a:xfrm>
            <a:off x="7430103" y="3621023"/>
            <a:ext cx="1955535" cy="384048"/>
          </a:xfrm>
          <a:prstGeom prst="rect">
            <a:avLst/>
          </a:prstGeom>
          <a:noFill/>
        </p:spPr>
        <p:txBody>
          <a:bodyPr wrap="square" anchor="ctr" lIns="0" rIns="0" tIns="0" bIns="0">
            <a:spAutoFit/>
          </a:bodyPr>
          <a:lstStyle/>
          <a:p>
            <a:pPr algn="l">
              <a:spcBef>
                <a:spcPts val="0"/>
              </a:spcBef>
              <a:spcAft>
                <a:spcPts val="0"/>
              </a:spcAft>
            </a:pPr>
            <a:r>
              <a:rPr sz="1000" b="0" i="0">
                <a:solidFill>
                  <a:srgbClr val="16233B"/>
                </a:solidFill>
                <a:latin typeface="Georgia"/>
              </a:rPr>
              <a:t>Fund desk</a:t>
            </a:r>
          </a:p>
        </p:txBody>
      </p:sp>
      <p:sp>
        <p:nvSpPr>
          <p:cNvPr id="41" name="TextBox 40"/>
          <p:cNvSpPr txBox="1"/>
          <p:nvPr/>
        </p:nvSpPr>
        <p:spPr>
          <a:xfrm>
            <a:off x="9531943" y="3621023"/>
            <a:ext cx="1745351" cy="384048"/>
          </a:xfrm>
          <a:prstGeom prst="rect">
            <a:avLst/>
          </a:prstGeom>
          <a:noFill/>
        </p:spPr>
        <p:txBody>
          <a:bodyPr wrap="square" anchor="ctr" lIns="0" rIns="0" tIns="0" bIns="0">
            <a:spAutoFit/>
          </a:bodyPr>
          <a:lstStyle/>
          <a:p>
            <a:pPr algn="ctr">
              <a:spcBef>
                <a:spcPts val="0"/>
              </a:spcBef>
              <a:spcAft>
                <a:spcPts val="0"/>
              </a:spcAft>
            </a:pPr>
            <a:r>
              <a:rPr sz="1000" b="0" i="0">
                <a:solidFill>
                  <a:srgbClr val="1E9E6A"/>
                </a:solidFill>
                <a:latin typeface="Bahnschrift"/>
              </a:rPr>
              <a:t>Yes</a:t>
            </a:r>
          </a:p>
        </p:txBody>
      </p:sp>
      <p:sp>
        <p:nvSpPr>
          <p:cNvPr id="42" name="Rectangle 41"/>
          <p:cNvSpPr/>
          <p:nvPr/>
        </p:nvSpPr>
        <p:spPr>
          <a:xfrm>
            <a:off x="841248" y="3986784"/>
            <a:ext cx="10509199" cy="384048"/>
          </a:xfrm>
          <a:prstGeom prst="rect">
            <a:avLst/>
          </a:prstGeom>
          <a:solidFill>
            <a:srgbClr val="F5F6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914400" y="4005072"/>
            <a:ext cx="1535167" cy="384048"/>
          </a:xfrm>
          <a:prstGeom prst="rect">
            <a:avLst/>
          </a:prstGeom>
          <a:noFill/>
        </p:spPr>
        <p:txBody>
          <a:bodyPr wrap="square" anchor="ctr" lIns="0" rIns="0" tIns="0" bIns="0">
            <a:spAutoFit/>
          </a:bodyPr>
          <a:lstStyle/>
          <a:p>
            <a:pPr algn="l">
              <a:spcBef>
                <a:spcPts val="0"/>
              </a:spcBef>
              <a:spcAft>
                <a:spcPts val="0"/>
              </a:spcAft>
            </a:pPr>
            <a:r>
              <a:rPr sz="1000" b="1" i="0">
                <a:solidFill>
                  <a:srgbClr val="16233B"/>
                </a:solidFill>
                <a:latin typeface="Bahnschrift"/>
              </a:rPr>
              <a:t>Apr / Oct</a:t>
            </a:r>
          </a:p>
        </p:txBody>
      </p:sp>
      <p:sp>
        <p:nvSpPr>
          <p:cNvPr id="44" name="TextBox 43"/>
          <p:cNvSpPr txBox="1"/>
          <p:nvPr/>
        </p:nvSpPr>
        <p:spPr>
          <a:xfrm>
            <a:off x="2595871" y="4005072"/>
            <a:ext cx="4687927" cy="384048"/>
          </a:xfrm>
          <a:prstGeom prst="rect">
            <a:avLst/>
          </a:prstGeom>
          <a:noFill/>
        </p:spPr>
        <p:txBody>
          <a:bodyPr wrap="square" anchor="ctr" lIns="0" rIns="0" tIns="0" bIns="0">
            <a:spAutoFit/>
          </a:bodyPr>
          <a:lstStyle/>
          <a:p>
            <a:pPr algn="l">
              <a:spcBef>
                <a:spcPts val="0"/>
              </a:spcBef>
              <a:spcAft>
                <a:spcPts val="0"/>
              </a:spcAft>
            </a:pPr>
            <a:r>
              <a:rPr sz="1000" b="0" i="0">
                <a:solidFill>
                  <a:srgbClr val="16233B"/>
                </a:solidFill>
                <a:latin typeface="Georgia"/>
              </a:rPr>
              <a:t>Client deck rebuild for every active mandate</a:t>
            </a:r>
          </a:p>
        </p:txBody>
      </p:sp>
      <p:sp>
        <p:nvSpPr>
          <p:cNvPr id="45" name="TextBox 44"/>
          <p:cNvSpPr txBox="1"/>
          <p:nvPr/>
        </p:nvSpPr>
        <p:spPr>
          <a:xfrm>
            <a:off x="7430103" y="4005072"/>
            <a:ext cx="1955535" cy="384048"/>
          </a:xfrm>
          <a:prstGeom prst="rect">
            <a:avLst/>
          </a:prstGeom>
          <a:noFill/>
        </p:spPr>
        <p:txBody>
          <a:bodyPr wrap="square" anchor="ctr" lIns="0" rIns="0" tIns="0" bIns="0">
            <a:spAutoFit/>
          </a:bodyPr>
          <a:lstStyle/>
          <a:p>
            <a:pPr algn="l">
              <a:spcBef>
                <a:spcPts val="0"/>
              </a:spcBef>
              <a:spcAft>
                <a:spcPts val="0"/>
              </a:spcAft>
            </a:pPr>
            <a:r>
              <a:rPr sz="1000" b="0" i="0">
                <a:solidFill>
                  <a:srgbClr val="16233B"/>
                </a:solidFill>
                <a:latin typeface="Georgia"/>
              </a:rPr>
              <a:t>Portfolio Review desk</a:t>
            </a:r>
          </a:p>
        </p:txBody>
      </p:sp>
      <p:sp>
        <p:nvSpPr>
          <p:cNvPr id="46" name="TextBox 45"/>
          <p:cNvSpPr txBox="1"/>
          <p:nvPr/>
        </p:nvSpPr>
        <p:spPr>
          <a:xfrm>
            <a:off x="9531943" y="4005072"/>
            <a:ext cx="1745351" cy="384048"/>
          </a:xfrm>
          <a:prstGeom prst="rect">
            <a:avLst/>
          </a:prstGeom>
          <a:noFill/>
        </p:spPr>
        <p:txBody>
          <a:bodyPr wrap="square" anchor="ctr" lIns="0" rIns="0" tIns="0" bIns="0">
            <a:spAutoFit/>
          </a:bodyPr>
          <a:lstStyle/>
          <a:p>
            <a:pPr algn="ctr">
              <a:spcBef>
                <a:spcPts val="0"/>
              </a:spcBef>
              <a:spcAft>
                <a:spcPts val="0"/>
              </a:spcAft>
            </a:pPr>
            <a:r>
              <a:rPr sz="1000" b="0" i="0">
                <a:solidFill>
                  <a:srgbClr val="92400E"/>
                </a:solidFill>
                <a:latin typeface="Bahnschrift"/>
              </a:rPr>
              <a:t>Draft only</a:t>
            </a:r>
          </a:p>
        </p:txBody>
      </p:sp>
      <p:sp>
        <p:nvSpPr>
          <p:cNvPr id="47" name="TextBox 46"/>
          <p:cNvSpPr txBox="1"/>
          <p:nvPr/>
        </p:nvSpPr>
        <p:spPr>
          <a:xfrm>
            <a:off x="914400" y="4389120"/>
            <a:ext cx="1535167" cy="384048"/>
          </a:xfrm>
          <a:prstGeom prst="rect">
            <a:avLst/>
          </a:prstGeom>
          <a:noFill/>
        </p:spPr>
        <p:txBody>
          <a:bodyPr wrap="square" anchor="ctr" lIns="0" rIns="0" tIns="0" bIns="0">
            <a:spAutoFit/>
          </a:bodyPr>
          <a:lstStyle/>
          <a:p>
            <a:pPr algn="l">
              <a:spcBef>
                <a:spcPts val="0"/>
              </a:spcBef>
              <a:spcAft>
                <a:spcPts val="0"/>
              </a:spcAft>
            </a:pPr>
            <a:r>
              <a:rPr sz="1000" b="1" i="0">
                <a:solidFill>
                  <a:srgbClr val="16233B"/>
                </a:solidFill>
                <a:latin typeface="Bahnschrift"/>
              </a:rPr>
              <a:t>Per client</a:t>
            </a:r>
          </a:p>
        </p:txBody>
      </p:sp>
      <p:sp>
        <p:nvSpPr>
          <p:cNvPr id="48" name="TextBox 47"/>
          <p:cNvSpPr txBox="1"/>
          <p:nvPr/>
        </p:nvSpPr>
        <p:spPr>
          <a:xfrm>
            <a:off x="2595871" y="4389120"/>
            <a:ext cx="4687927" cy="384048"/>
          </a:xfrm>
          <a:prstGeom prst="rect">
            <a:avLst/>
          </a:prstGeom>
          <a:noFill/>
        </p:spPr>
        <p:txBody>
          <a:bodyPr wrap="square" anchor="ctr" lIns="0" rIns="0" tIns="0" bIns="0">
            <a:spAutoFit/>
          </a:bodyPr>
          <a:lstStyle/>
          <a:p>
            <a:pPr algn="l">
              <a:spcBef>
                <a:spcPts val="0"/>
              </a:spcBef>
              <a:spcAft>
                <a:spcPts val="0"/>
              </a:spcAft>
            </a:pPr>
            <a:r>
              <a:rPr sz="1000" b="0" i="0">
                <a:solidFill>
                  <a:srgbClr val="16233B"/>
                </a:solidFill>
                <a:latin typeface="Georgia"/>
              </a:rPr>
              <a:t>Onboarding review on a new statement</a:t>
            </a:r>
          </a:p>
        </p:txBody>
      </p:sp>
      <p:sp>
        <p:nvSpPr>
          <p:cNvPr id="49" name="TextBox 48"/>
          <p:cNvSpPr txBox="1"/>
          <p:nvPr/>
        </p:nvSpPr>
        <p:spPr>
          <a:xfrm>
            <a:off x="7430103" y="4389120"/>
            <a:ext cx="1955535" cy="384048"/>
          </a:xfrm>
          <a:prstGeom prst="rect">
            <a:avLst/>
          </a:prstGeom>
          <a:noFill/>
        </p:spPr>
        <p:txBody>
          <a:bodyPr wrap="square" anchor="ctr" lIns="0" rIns="0" tIns="0" bIns="0">
            <a:spAutoFit/>
          </a:bodyPr>
          <a:lstStyle/>
          <a:p>
            <a:pPr algn="l">
              <a:spcBef>
                <a:spcPts val="0"/>
              </a:spcBef>
              <a:spcAft>
                <a:spcPts val="0"/>
              </a:spcAft>
            </a:pPr>
            <a:r>
              <a:rPr sz="1000" b="0" i="0">
                <a:solidFill>
                  <a:srgbClr val="16233B"/>
                </a:solidFill>
                <a:latin typeface="Georgia"/>
              </a:rPr>
              <a:t>Relationship manager</a:t>
            </a:r>
          </a:p>
        </p:txBody>
      </p:sp>
      <p:sp>
        <p:nvSpPr>
          <p:cNvPr id="50" name="TextBox 49"/>
          <p:cNvSpPr txBox="1"/>
          <p:nvPr/>
        </p:nvSpPr>
        <p:spPr>
          <a:xfrm>
            <a:off x="9531943" y="4389120"/>
            <a:ext cx="1745351" cy="384048"/>
          </a:xfrm>
          <a:prstGeom prst="rect">
            <a:avLst/>
          </a:prstGeom>
          <a:noFill/>
        </p:spPr>
        <p:txBody>
          <a:bodyPr wrap="square" anchor="ctr" lIns="0" rIns="0" tIns="0" bIns="0">
            <a:spAutoFit/>
          </a:bodyPr>
          <a:lstStyle/>
          <a:p>
            <a:pPr algn="ctr">
              <a:spcBef>
                <a:spcPts val="0"/>
              </a:spcBef>
              <a:spcAft>
                <a:spcPts val="0"/>
              </a:spcAft>
            </a:pPr>
            <a:r>
              <a:rPr sz="1000" b="0" i="0">
                <a:solidFill>
                  <a:srgbClr val="6B7280"/>
                </a:solidFill>
                <a:latin typeface="Bahnschrift"/>
              </a:rPr>
              <a:t>On demand</a:t>
            </a:r>
          </a:p>
        </p:txBody>
      </p:sp>
      <p:sp>
        <p:nvSpPr>
          <p:cNvPr id="51" name="Rounded Rectangle 50"/>
          <p:cNvSpPr/>
          <p:nvPr/>
        </p:nvSpPr>
        <p:spPr>
          <a:xfrm>
            <a:off x="841248" y="4645152"/>
            <a:ext cx="10509199" cy="1074419"/>
          </a:xfrm>
          <a:prstGeom prst="roundRect">
            <a:avLst>
              <a:gd name="adj" fmla="val 4000"/>
            </a:avLst>
          </a:prstGeom>
          <a:solidFill>
            <a:srgbClr val="FBEFD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 name="Rectangle 51"/>
          <p:cNvSpPr/>
          <p:nvPr/>
        </p:nvSpPr>
        <p:spPr>
          <a:xfrm>
            <a:off x="841248" y="4645152"/>
            <a:ext cx="54864" cy="1074419"/>
          </a:xfrm>
          <a:prstGeom prst="rect">
            <a:avLst/>
          </a:prstGeom>
          <a:solidFill>
            <a:srgbClr val="F2A93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 name="TextBox 52"/>
          <p:cNvSpPr txBox="1"/>
          <p:nvPr/>
        </p:nvSpPr>
        <p:spPr>
          <a:xfrm>
            <a:off x="1042416" y="4773168"/>
            <a:ext cx="10143439" cy="274320"/>
          </a:xfrm>
          <a:prstGeom prst="rect">
            <a:avLst/>
          </a:prstGeom>
          <a:noFill/>
        </p:spPr>
        <p:txBody>
          <a:bodyPr wrap="square" anchor="t" lIns="0" rIns="0" tIns="0" bIns="0">
            <a:spAutoFit/>
          </a:bodyPr>
          <a:lstStyle/>
          <a:p>
            <a:pPr algn="l">
              <a:spcBef>
                <a:spcPts val="0"/>
              </a:spcBef>
              <a:spcAft>
                <a:spcPts val="0"/>
              </a:spcAft>
            </a:pPr>
            <a:r>
              <a:rPr sz="950" b="1" i="0" spc="60">
                <a:solidFill>
                  <a:srgbClr val="92400E"/>
                </a:solidFill>
                <a:latin typeface="Bahnschrift"/>
              </a:rPr>
              <a:t>THE ONE DELIBERATE MANUAL GATE</a:t>
            </a:r>
          </a:p>
        </p:txBody>
      </p:sp>
      <p:sp>
        <p:nvSpPr>
          <p:cNvPr id="54" name="TextBox 53"/>
          <p:cNvSpPr txBox="1"/>
          <p:nvPr/>
        </p:nvSpPr>
        <p:spPr>
          <a:xfrm>
            <a:off x="1042416" y="5047488"/>
            <a:ext cx="10143439" cy="617219"/>
          </a:xfrm>
          <a:prstGeom prst="rect">
            <a:avLst/>
          </a:prstGeom>
          <a:noFill/>
        </p:spPr>
        <p:txBody>
          <a:bodyPr wrap="square" anchor="t" lIns="0" rIns="0" tIns="0" bIns="0">
            <a:spAutoFit/>
          </a:bodyPr>
          <a:lstStyle/>
          <a:p>
            <a:pPr algn="l">
              <a:lnSpc>
                <a:spcPct val="106000"/>
              </a:lnSpc>
              <a:spcBef>
                <a:spcPts val="0"/>
              </a:spcBef>
              <a:spcAft>
                <a:spcPts val="0"/>
              </a:spcAft>
            </a:pPr>
            <a:r>
              <a:rPr sz="1050" b="0" i="0">
                <a:solidFill>
                  <a:srgbClr val="16233B"/>
                </a:solidFill>
                <a:latin typeface="Georgia"/>
              </a:rPr>
              <a:t>Deck rebuilds are automated only as far as a marked draft. A client copy requires a human countersignature every single time. That gate is not an efficiency gap left to close later; it is the control that keeps an automated pipeline from ever speaking to a client on its own.</a:t>
            </a:r>
          </a:p>
        </p:txBody>
      </p:sp>
      <p:sp>
        <p:nvSpPr>
          <p:cNvPr id="55" name="TextBox 54"/>
          <p:cNvSpPr txBox="1"/>
          <p:nvPr/>
        </p:nvSpPr>
        <p:spPr>
          <a:xfrm>
            <a:off x="841248" y="6089904"/>
            <a:ext cx="10509199" cy="219456"/>
          </a:xfrm>
          <a:prstGeom prst="rect">
            <a:avLst/>
          </a:prstGeom>
          <a:noFill/>
        </p:spPr>
        <p:txBody>
          <a:bodyPr wrap="square" anchor="t" lIns="0" rIns="0" tIns="0" bIns="0">
            <a:spAutoFit/>
          </a:bodyPr>
          <a:lstStyle/>
          <a:p>
            <a:pPr algn="l">
              <a:spcBef>
                <a:spcPts val="0"/>
              </a:spcBef>
              <a:spcAft>
                <a:spcPts val="0"/>
              </a:spcAft>
            </a:pPr>
            <a:r>
              <a:rPr sz="700" b="0" i="0">
                <a:solidFill>
                  <a:srgbClr val="6B7280"/>
                </a:solidFill>
                <a:latin typeface="Bahnschrift"/>
              </a:rPr>
              <a:t>Scheduled jobs are re-armed each working session from the operating calendar, which is the source of truth if the two ever disagree.</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019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div_art_3.png"/>
          <p:cNvPicPr>
            <a:picLocks noChangeAspect="1"/>
          </p:cNvPicPr>
          <p:nvPr/>
        </p:nvPicPr>
        <p:blipFill>
          <a:blip r:embed="rId2"/>
          <a:stretch>
            <a:fillRect/>
          </a:stretch>
        </p:blipFill>
        <p:spPr>
          <a:xfrm>
            <a:off x="6339535" y="0"/>
            <a:ext cx="5852160" cy="6858000"/>
          </a:xfrm>
          <a:prstGeom prst="rect">
            <a:avLst/>
          </a:prstGeom>
        </p:spPr>
      </p:pic>
      <p:sp>
        <p:nvSpPr>
          <p:cNvPr id="4" name="TextBox 3"/>
          <p:cNvSpPr txBox="1"/>
          <p:nvPr/>
        </p:nvSpPr>
        <p:spPr>
          <a:xfrm>
            <a:off x="4541367" y="128016"/>
            <a:ext cx="3108960" cy="182880"/>
          </a:xfrm>
          <a:prstGeom prst="rect">
            <a:avLst/>
          </a:prstGeom>
          <a:noFill/>
        </p:spPr>
        <p:txBody>
          <a:bodyPr wrap="square" anchor="t" lIns="0" rIns="0" tIns="0" bIns="0">
            <a:spAutoFit/>
          </a:bodyPr>
          <a:lstStyle/>
          <a:p>
            <a:pPr algn="ctr">
              <a:spcBef>
                <a:spcPts val="0"/>
              </a:spcBef>
              <a:spcAft>
                <a:spcPts val="0"/>
              </a:spcAft>
            </a:pPr>
            <a:r>
              <a:rPr sz="750" b="0" i="0">
                <a:solidFill>
                  <a:srgbClr val="8C95DE"/>
                </a:solidFill>
                <a:latin typeface="Bahnschrift"/>
              </a:rPr>
              <a:t>Private &amp; Confidential</a:t>
            </a:r>
          </a:p>
        </p:txBody>
      </p:sp>
      <p:sp>
        <p:nvSpPr>
          <p:cNvPr id="5" name="TextBox 4"/>
          <p:cNvSpPr txBox="1"/>
          <p:nvPr/>
        </p:nvSpPr>
        <p:spPr>
          <a:xfrm>
            <a:off x="6766560" y="868680"/>
            <a:ext cx="4583887" cy="2377440"/>
          </a:xfrm>
          <a:prstGeom prst="rect">
            <a:avLst/>
          </a:prstGeom>
          <a:noFill/>
        </p:spPr>
        <p:txBody>
          <a:bodyPr wrap="square" anchor="t" lIns="0" rIns="0" tIns="0" bIns="0">
            <a:spAutoFit/>
          </a:bodyPr>
          <a:lstStyle/>
          <a:p>
            <a:pPr algn="r">
              <a:spcBef>
                <a:spcPts val="0"/>
              </a:spcBef>
              <a:spcAft>
                <a:spcPts val="0"/>
              </a:spcAft>
            </a:pPr>
            <a:r>
              <a:rPr sz="17000" b="1" i="0">
                <a:solidFill>
                  <a:srgbClr val="242F8E"/>
                </a:solidFill>
                <a:latin typeface="Georgia"/>
              </a:rPr>
              <a:t>03</a:t>
            </a:r>
          </a:p>
        </p:txBody>
      </p:sp>
      <p:sp>
        <p:nvSpPr>
          <p:cNvPr id="6" name="TextBox 5"/>
          <p:cNvSpPr txBox="1"/>
          <p:nvPr/>
        </p:nvSpPr>
        <p:spPr>
          <a:xfrm>
            <a:off x="841248" y="2359152"/>
            <a:ext cx="5943600" cy="274320"/>
          </a:xfrm>
          <a:prstGeom prst="rect">
            <a:avLst/>
          </a:prstGeom>
          <a:noFill/>
        </p:spPr>
        <p:txBody>
          <a:bodyPr wrap="square" anchor="t" lIns="0" rIns="0" tIns="0" bIns="0">
            <a:spAutoFit/>
          </a:bodyPr>
          <a:lstStyle/>
          <a:p>
            <a:pPr algn="l">
              <a:spcBef>
                <a:spcPts val="0"/>
              </a:spcBef>
              <a:spcAft>
                <a:spcPts val="0"/>
              </a:spcAft>
            </a:pPr>
            <a:r>
              <a:rPr sz="1000" b="1" i="0" spc="250">
                <a:solidFill>
                  <a:srgbClr val="F2A93C"/>
                </a:solidFill>
                <a:latin typeface="Bahnschrift"/>
              </a:rPr>
              <a:t>SECTION 03</a:t>
            </a:r>
          </a:p>
        </p:txBody>
      </p:sp>
      <p:sp>
        <p:nvSpPr>
          <p:cNvPr id="7" name="TextBox 6"/>
          <p:cNvSpPr txBox="1"/>
          <p:nvPr/>
        </p:nvSpPr>
        <p:spPr>
          <a:xfrm>
            <a:off x="841248" y="2706624"/>
            <a:ext cx="7863840" cy="685800"/>
          </a:xfrm>
          <a:prstGeom prst="rect">
            <a:avLst/>
          </a:prstGeom>
          <a:noFill/>
        </p:spPr>
        <p:txBody>
          <a:bodyPr wrap="square" anchor="t" lIns="0" rIns="0" tIns="0" bIns="0">
            <a:spAutoFit/>
          </a:bodyPr>
          <a:lstStyle/>
          <a:p>
            <a:pPr algn="l">
              <a:spcBef>
                <a:spcPts val="0"/>
              </a:spcBef>
              <a:spcAft>
                <a:spcPts val="0"/>
              </a:spcAft>
            </a:pPr>
            <a:r>
              <a:rPr sz="3000" b="1" i="0">
                <a:solidFill>
                  <a:srgbClr val="FFFFFF"/>
                </a:solidFill>
                <a:latin typeface="Georgia"/>
              </a:rPr>
              <a:t>Quality control</a:t>
            </a:r>
          </a:p>
        </p:txBody>
      </p:sp>
      <p:sp>
        <p:nvSpPr>
          <p:cNvPr id="8" name="Rectangle 7"/>
          <p:cNvSpPr/>
          <p:nvPr/>
        </p:nvSpPr>
        <p:spPr>
          <a:xfrm>
            <a:off x="841248" y="3419856"/>
            <a:ext cx="2011680" cy="25603"/>
          </a:xfrm>
          <a:prstGeom prst="rect">
            <a:avLst/>
          </a:prstGeom>
          <a:solidFill>
            <a:srgbClr val="F2A93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41248" y="3639312"/>
            <a:ext cx="7863840" cy="548640"/>
          </a:xfrm>
          <a:prstGeom prst="rect">
            <a:avLst/>
          </a:prstGeom>
          <a:noFill/>
        </p:spPr>
        <p:txBody>
          <a:bodyPr wrap="square" anchor="t" lIns="0" rIns="0" tIns="0" bIns="0">
            <a:spAutoFit/>
          </a:bodyPr>
          <a:lstStyle/>
          <a:p>
            <a:pPr algn="l">
              <a:spcBef>
                <a:spcPts val="0"/>
              </a:spcBef>
              <a:spcAft>
                <a:spcPts val="0"/>
              </a:spcAft>
            </a:pPr>
            <a:r>
              <a:rPr sz="1300" b="0" i="1">
                <a:solidFill>
                  <a:srgbClr val="C9CEF0"/>
                </a:solidFill>
                <a:latin typeface="Georgia"/>
              </a:rPr>
              <a:t>What stops a wrong page reaching a client</a:t>
            </a:r>
          </a:p>
        </p:txBody>
      </p:sp>
      <p:sp>
        <p:nvSpPr>
          <p:cNvPr id="10" name="TextBox 9"/>
          <p:cNvSpPr txBox="1"/>
          <p:nvPr/>
        </p:nvSpPr>
        <p:spPr>
          <a:xfrm>
            <a:off x="841248" y="4983480"/>
            <a:ext cx="7315200" cy="219456"/>
          </a:xfrm>
          <a:prstGeom prst="rect">
            <a:avLst/>
          </a:prstGeom>
          <a:noFill/>
        </p:spPr>
        <p:txBody>
          <a:bodyPr wrap="square" anchor="t" lIns="0" rIns="0" tIns="0" bIns="0">
            <a:spAutoFit/>
          </a:bodyPr>
          <a:lstStyle/>
          <a:p>
            <a:pPr algn="l">
              <a:spcBef>
                <a:spcPts val="0"/>
              </a:spcBef>
              <a:spcAft>
                <a:spcPts val="0"/>
              </a:spcAft>
            </a:pPr>
            <a:r>
              <a:rPr sz="950" b="0" i="0" spc="40">
                <a:solidFill>
                  <a:srgbClr val="C9CEF0"/>
                </a:solidFill>
                <a:latin typeface="Bahnschrift"/>
              </a:rPr>
              <a:t>The gate stack</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logo_clean.png"/>
          <p:cNvPicPr>
            <a:picLocks noChangeAspect="1"/>
          </p:cNvPicPr>
          <p:nvPr/>
        </p:nvPicPr>
        <p:blipFill>
          <a:blip r:embed="rId2"/>
          <a:stretch>
            <a:fillRect/>
          </a:stretch>
        </p:blipFill>
        <p:spPr>
          <a:xfrm>
            <a:off x="9674809" y="365760"/>
            <a:ext cx="1629918" cy="283464"/>
          </a:xfrm>
          <a:prstGeom prst="rect">
            <a:avLst/>
          </a:prstGeom>
        </p:spPr>
      </p:pic>
      <p:sp>
        <p:nvSpPr>
          <p:cNvPr id="4" name="TextBox 3"/>
          <p:cNvSpPr txBox="1"/>
          <p:nvPr/>
        </p:nvSpPr>
        <p:spPr>
          <a:xfrm>
            <a:off x="4541367" y="128016"/>
            <a:ext cx="3108960" cy="182880"/>
          </a:xfrm>
          <a:prstGeom prst="rect">
            <a:avLst/>
          </a:prstGeom>
          <a:noFill/>
        </p:spPr>
        <p:txBody>
          <a:bodyPr wrap="square" anchor="t" lIns="0" rIns="0" tIns="0" bIns="0">
            <a:spAutoFit/>
          </a:bodyPr>
          <a:lstStyle/>
          <a:p>
            <a:pPr algn="ctr">
              <a:spcBef>
                <a:spcPts val="0"/>
              </a:spcBef>
              <a:spcAft>
                <a:spcPts val="0"/>
              </a:spcAft>
            </a:pPr>
            <a:r>
              <a:rPr sz="750" b="0" i="0">
                <a:solidFill>
                  <a:srgbClr val="6B7280"/>
                </a:solidFill>
                <a:latin typeface="Bahnschrift"/>
              </a:rPr>
              <a:t>Private &amp; Confidential</a:t>
            </a:r>
          </a:p>
        </p:txBody>
      </p:sp>
      <p:sp>
        <p:nvSpPr>
          <p:cNvPr id="5" name="TextBox 4"/>
          <p:cNvSpPr txBox="1"/>
          <p:nvPr/>
        </p:nvSpPr>
        <p:spPr>
          <a:xfrm>
            <a:off x="7863840" y="274320"/>
            <a:ext cx="1749247" cy="201168"/>
          </a:xfrm>
          <a:prstGeom prst="rect">
            <a:avLst/>
          </a:prstGeom>
          <a:noFill/>
        </p:spPr>
        <p:txBody>
          <a:bodyPr wrap="square" anchor="t" lIns="0" rIns="0" tIns="0" bIns="0">
            <a:spAutoFit/>
          </a:bodyPr>
          <a:lstStyle/>
          <a:p>
            <a:pPr algn="r">
              <a:spcBef>
                <a:spcPts val="0"/>
              </a:spcBef>
              <a:spcAft>
                <a:spcPts val="0"/>
              </a:spcAft>
            </a:pPr>
            <a:r>
              <a:rPr sz="750" b="1" i="0" spc="120">
                <a:solidFill>
                  <a:srgbClr val="8C95DE"/>
                </a:solidFill>
                <a:latin typeface="Bahnschrift"/>
              </a:rPr>
              <a:t>03 · QUALITY CONTROL</a:t>
            </a:r>
          </a:p>
        </p:txBody>
      </p:sp>
      <p:sp>
        <p:nvSpPr>
          <p:cNvPr id="6" name="Rectangle 5"/>
          <p:cNvSpPr/>
          <p:nvPr/>
        </p:nvSpPr>
        <p:spPr>
          <a:xfrm>
            <a:off x="8549640" y="512064"/>
            <a:ext cx="137160" cy="20116"/>
          </a:xfrm>
          <a:prstGeom prst="rect">
            <a:avLst/>
          </a:prstGeom>
          <a:solidFill>
            <a:srgbClr val="E5E7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8732519" y="512064"/>
            <a:ext cx="137160" cy="20116"/>
          </a:xfrm>
          <a:prstGeom prst="rect">
            <a:avLst/>
          </a:prstGeom>
          <a:solidFill>
            <a:srgbClr val="E5E7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8915400" y="512064"/>
            <a:ext cx="137160" cy="20116"/>
          </a:xfrm>
          <a:prstGeom prst="rect">
            <a:avLst/>
          </a:prstGeom>
          <a:solidFill>
            <a:srgbClr val="1B27A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9098280" y="512064"/>
            <a:ext cx="137160" cy="20116"/>
          </a:xfrm>
          <a:prstGeom prst="rect">
            <a:avLst/>
          </a:prstGeom>
          <a:solidFill>
            <a:srgbClr val="E5E7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9281160" y="512064"/>
            <a:ext cx="137160" cy="20116"/>
          </a:xfrm>
          <a:prstGeom prst="rect">
            <a:avLst/>
          </a:prstGeom>
          <a:solidFill>
            <a:srgbClr val="E5E7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41248" y="420624"/>
            <a:ext cx="6858000" cy="502920"/>
          </a:xfrm>
          <a:prstGeom prst="rect">
            <a:avLst/>
          </a:prstGeom>
          <a:noFill/>
        </p:spPr>
        <p:txBody>
          <a:bodyPr wrap="square" anchor="t" lIns="0" rIns="0" tIns="0" bIns="0">
            <a:spAutoFit/>
          </a:bodyPr>
          <a:lstStyle/>
          <a:p>
            <a:pPr algn="l">
              <a:spcBef>
                <a:spcPts val="0"/>
              </a:spcBef>
              <a:spcAft>
                <a:spcPts val="0"/>
              </a:spcAft>
            </a:pPr>
            <a:r>
              <a:rPr sz="2600" b="1" i="0">
                <a:solidFill>
                  <a:srgbClr val="1B27A3"/>
                </a:solidFill>
                <a:latin typeface="Bahnschrift"/>
              </a:rPr>
              <a:t>The gate stack</a:t>
            </a:r>
          </a:p>
        </p:txBody>
      </p:sp>
      <p:sp>
        <p:nvSpPr>
          <p:cNvPr id="12" name="TextBox 11"/>
          <p:cNvSpPr txBox="1"/>
          <p:nvPr/>
        </p:nvSpPr>
        <p:spPr>
          <a:xfrm>
            <a:off x="841248" y="950976"/>
            <a:ext cx="9692640" cy="411480"/>
          </a:xfrm>
          <a:prstGeom prst="rect">
            <a:avLst/>
          </a:prstGeom>
          <a:noFill/>
        </p:spPr>
        <p:txBody>
          <a:bodyPr wrap="square" anchor="t" lIns="0" rIns="0" tIns="0" bIns="0">
            <a:spAutoFit/>
          </a:bodyPr>
          <a:lstStyle/>
          <a:p>
            <a:pPr algn="l">
              <a:spcBef>
                <a:spcPts val="0"/>
              </a:spcBef>
              <a:spcAft>
                <a:spcPts val="0"/>
              </a:spcAft>
            </a:pPr>
            <a:r>
              <a:rPr sz="1750" b="1" i="0">
                <a:solidFill>
                  <a:srgbClr val="F2A93C"/>
                </a:solidFill>
                <a:latin typeface="Bahnschrift"/>
              </a:rPr>
              <a:t>Four layers, each catching what the others cannot</a:t>
            </a:r>
          </a:p>
        </p:txBody>
      </p:sp>
      <p:sp>
        <p:nvSpPr>
          <p:cNvPr id="13" name="Rectangle 12"/>
          <p:cNvSpPr/>
          <p:nvPr/>
        </p:nvSpPr>
        <p:spPr>
          <a:xfrm>
            <a:off x="841248" y="1408176"/>
            <a:ext cx="10509199" cy="21945"/>
          </a:xfrm>
          <a:prstGeom prst="rect">
            <a:avLst/>
          </a:prstGeom>
          <a:solidFill>
            <a:srgbClr val="1B27A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9155887" y="6528816"/>
            <a:ext cx="2194560" cy="182880"/>
          </a:xfrm>
          <a:prstGeom prst="rect">
            <a:avLst/>
          </a:prstGeom>
          <a:noFill/>
        </p:spPr>
        <p:txBody>
          <a:bodyPr wrap="square" anchor="t" lIns="0" rIns="0" tIns="0" bIns="0">
            <a:spAutoFit/>
          </a:bodyPr>
          <a:lstStyle/>
          <a:p>
            <a:pPr algn="r">
              <a:spcBef>
                <a:spcPts val="0"/>
              </a:spcBef>
              <a:spcAft>
                <a:spcPts val="0"/>
              </a:spcAft>
            </a:pPr>
            <a:r>
              <a:rPr sz="750" b="0" i="0">
                <a:solidFill>
                  <a:srgbClr val="6B7280"/>
                </a:solidFill>
                <a:latin typeface="Bahnschrift"/>
              </a:rPr>
              <a:t>Portfolio Review  ·  17</a:t>
            </a:r>
          </a:p>
        </p:txBody>
      </p:sp>
      <p:sp>
        <p:nvSpPr>
          <p:cNvPr id="15" name="Oval 14"/>
          <p:cNvSpPr/>
          <p:nvPr/>
        </p:nvSpPr>
        <p:spPr>
          <a:xfrm>
            <a:off x="841248" y="1828800"/>
            <a:ext cx="365760" cy="365760"/>
          </a:xfrm>
          <a:prstGeom prst="ellipse">
            <a:avLst/>
          </a:prstGeom>
          <a:solidFill>
            <a:srgbClr val="1B27A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841248" y="1828800"/>
            <a:ext cx="365760" cy="365760"/>
          </a:xfrm>
          <a:prstGeom prst="rect">
            <a:avLst/>
          </a:prstGeom>
          <a:noFill/>
        </p:spPr>
        <p:txBody>
          <a:bodyPr wrap="square" anchor="ctr" lIns="0" rIns="0" tIns="0" bIns="0">
            <a:spAutoFit/>
          </a:bodyPr>
          <a:lstStyle/>
          <a:p>
            <a:pPr algn="ctr">
              <a:spcBef>
                <a:spcPts val="0"/>
              </a:spcBef>
              <a:spcAft>
                <a:spcPts val="0"/>
              </a:spcAft>
            </a:pPr>
            <a:r>
              <a:rPr sz="1300" b="1" i="0">
                <a:solidFill>
                  <a:srgbClr val="FFFFFF"/>
                </a:solidFill>
                <a:latin typeface="Bahnschrift"/>
              </a:rPr>
              <a:t>1</a:t>
            </a:r>
          </a:p>
        </p:txBody>
      </p:sp>
      <p:sp>
        <p:nvSpPr>
          <p:cNvPr id="17" name="TextBox 16"/>
          <p:cNvSpPr txBox="1"/>
          <p:nvPr/>
        </p:nvSpPr>
        <p:spPr>
          <a:xfrm>
            <a:off x="1371600" y="1783080"/>
            <a:ext cx="3200400" cy="256032"/>
          </a:xfrm>
          <a:prstGeom prst="rect">
            <a:avLst/>
          </a:prstGeom>
          <a:noFill/>
        </p:spPr>
        <p:txBody>
          <a:bodyPr wrap="square" anchor="t" lIns="0" rIns="0" tIns="0" bIns="0">
            <a:spAutoFit/>
          </a:bodyPr>
          <a:lstStyle/>
          <a:p>
            <a:pPr algn="l">
              <a:spcBef>
                <a:spcPts val="0"/>
              </a:spcBef>
              <a:spcAft>
                <a:spcPts val="0"/>
              </a:spcAft>
            </a:pPr>
            <a:r>
              <a:rPr sz="1200" b="1" i="0">
                <a:solidFill>
                  <a:srgbClr val="16233B"/>
                </a:solidFill>
                <a:latin typeface="Bahnschrift"/>
              </a:rPr>
              <a:t>Geometry</a:t>
            </a:r>
          </a:p>
        </p:txBody>
      </p:sp>
      <p:sp>
        <p:nvSpPr>
          <p:cNvPr id="18" name="TextBox 17"/>
          <p:cNvSpPr txBox="1"/>
          <p:nvPr/>
        </p:nvSpPr>
        <p:spPr>
          <a:xfrm>
            <a:off x="4681728" y="1773936"/>
            <a:ext cx="6668719" cy="512064"/>
          </a:xfrm>
          <a:prstGeom prst="rect">
            <a:avLst/>
          </a:prstGeom>
          <a:noFill/>
        </p:spPr>
        <p:txBody>
          <a:bodyPr wrap="square" anchor="t" lIns="0" rIns="0" tIns="0" bIns="0">
            <a:spAutoFit/>
          </a:bodyPr>
          <a:lstStyle/>
          <a:p>
            <a:pPr algn="l">
              <a:lnSpc>
                <a:spcPct val="105000"/>
              </a:lnSpc>
              <a:spcBef>
                <a:spcPts val="0"/>
              </a:spcBef>
              <a:spcAft>
                <a:spcPts val="0"/>
              </a:spcAft>
            </a:pPr>
            <a:r>
              <a:rPr sz="1050" b="0" i="0">
                <a:solidFill>
                  <a:srgbClr val="6B7280"/>
                </a:solidFill>
                <a:latin typeface="Georgia"/>
              </a:rPr>
              <a:t>Two independent checks for text overflowing its box, elements overlapping, and content spilling past the page frame. Machine-checkable, run on every build.</a:t>
            </a:r>
          </a:p>
        </p:txBody>
      </p:sp>
      <p:sp>
        <p:nvSpPr>
          <p:cNvPr id="19" name="Rectangle 18"/>
          <p:cNvSpPr/>
          <p:nvPr/>
        </p:nvSpPr>
        <p:spPr>
          <a:xfrm>
            <a:off x="841248" y="2532888"/>
            <a:ext cx="10509199" cy="5486"/>
          </a:xfrm>
          <a:prstGeom prst="rect">
            <a:avLst/>
          </a:prstGeom>
          <a:solidFill>
            <a:srgbClr val="E5E7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Oval 19"/>
          <p:cNvSpPr/>
          <p:nvPr/>
        </p:nvSpPr>
        <p:spPr>
          <a:xfrm>
            <a:off x="841248" y="2670048"/>
            <a:ext cx="365760" cy="365760"/>
          </a:xfrm>
          <a:prstGeom prst="ellipse">
            <a:avLst/>
          </a:prstGeom>
          <a:solidFill>
            <a:srgbClr val="1B27A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841248" y="2670048"/>
            <a:ext cx="365760" cy="365760"/>
          </a:xfrm>
          <a:prstGeom prst="rect">
            <a:avLst/>
          </a:prstGeom>
          <a:noFill/>
        </p:spPr>
        <p:txBody>
          <a:bodyPr wrap="square" anchor="ctr" lIns="0" rIns="0" tIns="0" bIns="0">
            <a:spAutoFit/>
          </a:bodyPr>
          <a:lstStyle/>
          <a:p>
            <a:pPr algn="ctr">
              <a:spcBef>
                <a:spcPts val="0"/>
              </a:spcBef>
              <a:spcAft>
                <a:spcPts val="0"/>
              </a:spcAft>
            </a:pPr>
            <a:r>
              <a:rPr sz="1300" b="1" i="0">
                <a:solidFill>
                  <a:srgbClr val="FFFFFF"/>
                </a:solidFill>
                <a:latin typeface="Bahnschrift"/>
              </a:rPr>
              <a:t>2</a:t>
            </a:r>
          </a:p>
        </p:txBody>
      </p:sp>
      <p:sp>
        <p:nvSpPr>
          <p:cNvPr id="22" name="TextBox 21"/>
          <p:cNvSpPr txBox="1"/>
          <p:nvPr/>
        </p:nvSpPr>
        <p:spPr>
          <a:xfrm>
            <a:off x="1371600" y="2624328"/>
            <a:ext cx="3200400" cy="256032"/>
          </a:xfrm>
          <a:prstGeom prst="rect">
            <a:avLst/>
          </a:prstGeom>
          <a:noFill/>
        </p:spPr>
        <p:txBody>
          <a:bodyPr wrap="square" anchor="t" lIns="0" rIns="0" tIns="0" bIns="0">
            <a:spAutoFit/>
          </a:bodyPr>
          <a:lstStyle/>
          <a:p>
            <a:pPr algn="l">
              <a:spcBef>
                <a:spcPts val="0"/>
              </a:spcBef>
              <a:spcAft>
                <a:spcPts val="0"/>
              </a:spcAft>
            </a:pPr>
            <a:r>
              <a:rPr sz="1200" b="1" i="0">
                <a:solidFill>
                  <a:srgbClr val="16233B"/>
                </a:solidFill>
                <a:latin typeface="Bahnschrift"/>
              </a:rPr>
              <a:t>Client copy</a:t>
            </a:r>
          </a:p>
        </p:txBody>
      </p:sp>
      <p:sp>
        <p:nvSpPr>
          <p:cNvPr id="23" name="TextBox 22"/>
          <p:cNvSpPr txBox="1"/>
          <p:nvPr/>
        </p:nvSpPr>
        <p:spPr>
          <a:xfrm>
            <a:off x="4681728" y="2615184"/>
            <a:ext cx="6668719" cy="512064"/>
          </a:xfrm>
          <a:prstGeom prst="rect">
            <a:avLst/>
          </a:prstGeom>
          <a:noFill/>
        </p:spPr>
        <p:txBody>
          <a:bodyPr wrap="square" anchor="t" lIns="0" rIns="0" tIns="0" bIns="0">
            <a:spAutoFit/>
          </a:bodyPr>
          <a:lstStyle/>
          <a:p>
            <a:pPr algn="l">
              <a:lnSpc>
                <a:spcPct val="105000"/>
              </a:lnSpc>
              <a:spcBef>
                <a:spcPts val="0"/>
              </a:spcBef>
              <a:spcAft>
                <a:spcPts val="0"/>
              </a:spcAft>
            </a:pPr>
            <a:r>
              <a:rPr sz="1050" b="0" i="0">
                <a:solidFill>
                  <a:srgbClr val="6B7280"/>
                </a:solidFill>
                <a:latin typeface="Georgia"/>
              </a:rPr>
              <a:t>A scan for internal vocabulary, engine codenames, source citations, recommendation language we do not use, and unrenderable characters. Also run against the data file, because a scrub at render time cannot rescue a whole sentence of internal audit trail.</a:t>
            </a:r>
          </a:p>
        </p:txBody>
      </p:sp>
      <p:sp>
        <p:nvSpPr>
          <p:cNvPr id="24" name="Rectangle 23"/>
          <p:cNvSpPr/>
          <p:nvPr/>
        </p:nvSpPr>
        <p:spPr>
          <a:xfrm>
            <a:off x="841248" y="3374136"/>
            <a:ext cx="10509199" cy="5486"/>
          </a:xfrm>
          <a:prstGeom prst="rect">
            <a:avLst/>
          </a:prstGeom>
          <a:solidFill>
            <a:srgbClr val="E5E7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Oval 24"/>
          <p:cNvSpPr/>
          <p:nvPr/>
        </p:nvSpPr>
        <p:spPr>
          <a:xfrm>
            <a:off x="841248" y="3511296"/>
            <a:ext cx="365760" cy="365760"/>
          </a:xfrm>
          <a:prstGeom prst="ellipse">
            <a:avLst/>
          </a:prstGeom>
          <a:solidFill>
            <a:srgbClr val="1B27A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841248" y="3511296"/>
            <a:ext cx="365760" cy="365760"/>
          </a:xfrm>
          <a:prstGeom prst="rect">
            <a:avLst/>
          </a:prstGeom>
          <a:noFill/>
        </p:spPr>
        <p:txBody>
          <a:bodyPr wrap="square" anchor="ctr" lIns="0" rIns="0" tIns="0" bIns="0">
            <a:spAutoFit/>
          </a:bodyPr>
          <a:lstStyle/>
          <a:p>
            <a:pPr algn="ctr">
              <a:spcBef>
                <a:spcPts val="0"/>
              </a:spcBef>
              <a:spcAft>
                <a:spcPts val="0"/>
              </a:spcAft>
            </a:pPr>
            <a:r>
              <a:rPr sz="1300" b="1" i="0">
                <a:solidFill>
                  <a:srgbClr val="FFFFFF"/>
                </a:solidFill>
                <a:latin typeface="Bahnschrift"/>
              </a:rPr>
              <a:t>3</a:t>
            </a:r>
          </a:p>
        </p:txBody>
      </p:sp>
      <p:sp>
        <p:nvSpPr>
          <p:cNvPr id="27" name="TextBox 26"/>
          <p:cNvSpPr txBox="1"/>
          <p:nvPr/>
        </p:nvSpPr>
        <p:spPr>
          <a:xfrm>
            <a:off x="1371600" y="3465576"/>
            <a:ext cx="3200400" cy="256032"/>
          </a:xfrm>
          <a:prstGeom prst="rect">
            <a:avLst/>
          </a:prstGeom>
          <a:noFill/>
        </p:spPr>
        <p:txBody>
          <a:bodyPr wrap="square" anchor="t" lIns="0" rIns="0" tIns="0" bIns="0">
            <a:spAutoFit/>
          </a:bodyPr>
          <a:lstStyle/>
          <a:p>
            <a:pPr algn="l">
              <a:spcBef>
                <a:spcPts val="0"/>
              </a:spcBef>
              <a:spcAft>
                <a:spcPts val="0"/>
              </a:spcAft>
            </a:pPr>
            <a:r>
              <a:rPr sz="1200" b="1" i="0">
                <a:solidFill>
                  <a:srgbClr val="16233B"/>
                </a:solidFill>
                <a:latin typeface="Bahnschrift"/>
              </a:rPr>
              <a:t>Visual read</a:t>
            </a:r>
          </a:p>
        </p:txBody>
      </p:sp>
      <p:sp>
        <p:nvSpPr>
          <p:cNvPr id="28" name="TextBox 27"/>
          <p:cNvSpPr txBox="1"/>
          <p:nvPr/>
        </p:nvSpPr>
        <p:spPr>
          <a:xfrm>
            <a:off x="4681728" y="3456432"/>
            <a:ext cx="6668719" cy="512064"/>
          </a:xfrm>
          <a:prstGeom prst="rect">
            <a:avLst/>
          </a:prstGeom>
          <a:noFill/>
        </p:spPr>
        <p:txBody>
          <a:bodyPr wrap="square" anchor="t" lIns="0" rIns="0" tIns="0" bIns="0">
            <a:spAutoFit/>
          </a:bodyPr>
          <a:lstStyle/>
          <a:p>
            <a:pPr algn="l">
              <a:lnSpc>
                <a:spcPct val="105000"/>
              </a:lnSpc>
              <a:spcBef>
                <a:spcPts val="0"/>
              </a:spcBef>
              <a:spcAft>
                <a:spcPts val="0"/>
              </a:spcAft>
            </a:pPr>
            <a:r>
              <a:rPr sz="1050" b="0" i="0">
                <a:solidFill>
                  <a:srgbClr val="6B7280"/>
                </a:solidFill>
                <a:latin typeface="Georgia"/>
              </a:rPr>
              <a:t>The deck is converted to PDF and pages are actually looked at. This layer exists because the geometry checks inspect declared shape positions, not rendered pixels, and a real clipped table survived both of them.</a:t>
            </a:r>
          </a:p>
        </p:txBody>
      </p:sp>
      <p:sp>
        <p:nvSpPr>
          <p:cNvPr id="29" name="Rectangle 28"/>
          <p:cNvSpPr/>
          <p:nvPr/>
        </p:nvSpPr>
        <p:spPr>
          <a:xfrm>
            <a:off x="841248" y="4215384"/>
            <a:ext cx="10509199" cy="5486"/>
          </a:xfrm>
          <a:prstGeom prst="rect">
            <a:avLst/>
          </a:prstGeom>
          <a:solidFill>
            <a:srgbClr val="E5E7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Oval 29"/>
          <p:cNvSpPr/>
          <p:nvPr/>
        </p:nvSpPr>
        <p:spPr>
          <a:xfrm>
            <a:off x="841248" y="4352544"/>
            <a:ext cx="365760" cy="365760"/>
          </a:xfrm>
          <a:prstGeom prst="ellipse">
            <a:avLst/>
          </a:prstGeom>
          <a:solidFill>
            <a:srgbClr val="1B27A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841248" y="4352544"/>
            <a:ext cx="365760" cy="365760"/>
          </a:xfrm>
          <a:prstGeom prst="rect">
            <a:avLst/>
          </a:prstGeom>
          <a:noFill/>
        </p:spPr>
        <p:txBody>
          <a:bodyPr wrap="square" anchor="ctr" lIns="0" rIns="0" tIns="0" bIns="0">
            <a:spAutoFit/>
          </a:bodyPr>
          <a:lstStyle/>
          <a:p>
            <a:pPr algn="ctr">
              <a:spcBef>
                <a:spcPts val="0"/>
              </a:spcBef>
              <a:spcAft>
                <a:spcPts val="0"/>
              </a:spcAft>
            </a:pPr>
            <a:r>
              <a:rPr sz="1300" b="1" i="0">
                <a:solidFill>
                  <a:srgbClr val="FFFFFF"/>
                </a:solidFill>
                <a:latin typeface="Bahnschrift"/>
              </a:rPr>
              <a:t>4</a:t>
            </a:r>
          </a:p>
        </p:txBody>
      </p:sp>
      <p:sp>
        <p:nvSpPr>
          <p:cNvPr id="32" name="TextBox 31"/>
          <p:cNvSpPr txBox="1"/>
          <p:nvPr/>
        </p:nvSpPr>
        <p:spPr>
          <a:xfrm>
            <a:off x="1371600" y="4306824"/>
            <a:ext cx="3200400" cy="256032"/>
          </a:xfrm>
          <a:prstGeom prst="rect">
            <a:avLst/>
          </a:prstGeom>
          <a:noFill/>
        </p:spPr>
        <p:txBody>
          <a:bodyPr wrap="square" anchor="t" lIns="0" rIns="0" tIns="0" bIns="0">
            <a:spAutoFit/>
          </a:bodyPr>
          <a:lstStyle/>
          <a:p>
            <a:pPr algn="l">
              <a:spcBef>
                <a:spcPts val="0"/>
              </a:spcBef>
              <a:spcAft>
                <a:spcPts val="0"/>
              </a:spcAft>
            </a:pPr>
            <a:r>
              <a:rPr sz="1200" b="1" i="0">
                <a:solidFill>
                  <a:srgbClr val="16233B"/>
                </a:solidFill>
                <a:latin typeface="Bahnschrift"/>
              </a:rPr>
              <a:t>Reconciliation</a:t>
            </a:r>
          </a:p>
        </p:txBody>
      </p:sp>
      <p:sp>
        <p:nvSpPr>
          <p:cNvPr id="33" name="TextBox 32"/>
          <p:cNvSpPr txBox="1"/>
          <p:nvPr/>
        </p:nvSpPr>
        <p:spPr>
          <a:xfrm>
            <a:off x="4681728" y="4297680"/>
            <a:ext cx="6668719" cy="512064"/>
          </a:xfrm>
          <a:prstGeom prst="rect">
            <a:avLst/>
          </a:prstGeom>
          <a:noFill/>
        </p:spPr>
        <p:txBody>
          <a:bodyPr wrap="square" anchor="t" lIns="0" rIns="0" tIns="0" bIns="0">
            <a:spAutoFit/>
          </a:bodyPr>
          <a:lstStyle/>
          <a:p>
            <a:pPr algn="l">
              <a:lnSpc>
                <a:spcPct val="105000"/>
              </a:lnSpc>
              <a:spcBef>
                <a:spcPts val="0"/>
              </a:spcBef>
              <a:spcAft>
                <a:spcPts val="0"/>
              </a:spcAft>
            </a:pPr>
            <a:r>
              <a:rPr sz="1050" b="0" i="0">
                <a:solidFill>
                  <a:srgbClr val="6B7280"/>
                </a:solidFill>
                <a:latin typeface="Georgia"/>
              </a:rPr>
              <a:t>Any figure appearing on two pages must reconcile or be explicitly scoped. Counts on a summary page are computed from the same source as the detail pages, never retyped.</a:t>
            </a:r>
          </a:p>
        </p:txBody>
      </p:sp>
      <p:sp>
        <p:nvSpPr>
          <p:cNvPr id="34" name="Rectangle 33"/>
          <p:cNvSpPr/>
          <p:nvPr/>
        </p:nvSpPr>
        <p:spPr>
          <a:xfrm>
            <a:off x="841248" y="5056632"/>
            <a:ext cx="10509199" cy="5486"/>
          </a:xfrm>
          <a:prstGeom prst="rect">
            <a:avLst/>
          </a:prstGeom>
          <a:solidFill>
            <a:srgbClr val="E5E7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Rounded Rectangle 34"/>
          <p:cNvSpPr/>
          <p:nvPr/>
        </p:nvSpPr>
        <p:spPr>
          <a:xfrm>
            <a:off x="841248" y="5321808"/>
            <a:ext cx="10509199" cy="905256"/>
          </a:xfrm>
          <a:prstGeom prst="roundRect">
            <a:avLst>
              <a:gd name="adj" fmla="val 4000"/>
            </a:avLst>
          </a:prstGeom>
          <a:solidFill>
            <a:srgbClr val="FBEFD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Rectangle 35"/>
          <p:cNvSpPr/>
          <p:nvPr/>
        </p:nvSpPr>
        <p:spPr>
          <a:xfrm>
            <a:off x="841248" y="5321808"/>
            <a:ext cx="54864" cy="905256"/>
          </a:xfrm>
          <a:prstGeom prst="rect">
            <a:avLst/>
          </a:prstGeom>
          <a:solidFill>
            <a:srgbClr val="F2A93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1042416" y="5449824"/>
            <a:ext cx="10143439" cy="274320"/>
          </a:xfrm>
          <a:prstGeom prst="rect">
            <a:avLst/>
          </a:prstGeom>
          <a:noFill/>
        </p:spPr>
        <p:txBody>
          <a:bodyPr wrap="square" anchor="t" lIns="0" rIns="0" tIns="0" bIns="0">
            <a:spAutoFit/>
          </a:bodyPr>
          <a:lstStyle/>
          <a:p>
            <a:pPr algn="l">
              <a:spcBef>
                <a:spcPts val="0"/>
              </a:spcBef>
              <a:spcAft>
                <a:spcPts val="0"/>
              </a:spcAft>
            </a:pPr>
            <a:r>
              <a:rPr sz="950" b="1" i="0" spc="60">
                <a:solidFill>
                  <a:srgbClr val="92400E"/>
                </a:solidFill>
                <a:latin typeface="Bahnschrift"/>
              </a:rPr>
              <a:t>THEN, AND ONLY THEN, A PERSON</a:t>
            </a:r>
          </a:p>
        </p:txBody>
      </p:sp>
      <p:sp>
        <p:nvSpPr>
          <p:cNvPr id="38" name="TextBox 37"/>
          <p:cNvSpPr txBox="1"/>
          <p:nvPr/>
        </p:nvSpPr>
        <p:spPr>
          <a:xfrm>
            <a:off x="1042416" y="5724144"/>
            <a:ext cx="10143439" cy="448056"/>
          </a:xfrm>
          <a:prstGeom prst="rect">
            <a:avLst/>
          </a:prstGeom>
          <a:noFill/>
        </p:spPr>
        <p:txBody>
          <a:bodyPr wrap="square" anchor="t" lIns="0" rIns="0" tIns="0" bIns="0">
            <a:spAutoFit/>
          </a:bodyPr>
          <a:lstStyle/>
          <a:p>
            <a:pPr algn="l">
              <a:lnSpc>
                <a:spcPct val="106000"/>
              </a:lnSpc>
              <a:spcBef>
                <a:spcPts val="0"/>
              </a:spcBef>
              <a:spcAft>
                <a:spcPts val="0"/>
              </a:spcAft>
            </a:pPr>
            <a:r>
              <a:rPr sz="1050" b="0" i="0">
                <a:solidFill>
                  <a:srgbClr val="16233B"/>
                </a:solidFill>
                <a:latin typeface="Georgia"/>
              </a:rPr>
              <a:t>Passing all four gates makes a deck eligible for review, not approved. The Principal or CEO countersignature is the fifth layer, and it is the one that actually authorises a client copy.</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019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div_art_4.png"/>
          <p:cNvPicPr>
            <a:picLocks noChangeAspect="1"/>
          </p:cNvPicPr>
          <p:nvPr/>
        </p:nvPicPr>
        <p:blipFill>
          <a:blip r:embed="rId2"/>
          <a:stretch>
            <a:fillRect/>
          </a:stretch>
        </p:blipFill>
        <p:spPr>
          <a:xfrm>
            <a:off x="6339535" y="0"/>
            <a:ext cx="5852160" cy="6858000"/>
          </a:xfrm>
          <a:prstGeom prst="rect">
            <a:avLst/>
          </a:prstGeom>
        </p:spPr>
      </p:pic>
      <p:sp>
        <p:nvSpPr>
          <p:cNvPr id="4" name="TextBox 3"/>
          <p:cNvSpPr txBox="1"/>
          <p:nvPr/>
        </p:nvSpPr>
        <p:spPr>
          <a:xfrm>
            <a:off x="4541367" y="128016"/>
            <a:ext cx="3108960" cy="182880"/>
          </a:xfrm>
          <a:prstGeom prst="rect">
            <a:avLst/>
          </a:prstGeom>
          <a:noFill/>
        </p:spPr>
        <p:txBody>
          <a:bodyPr wrap="square" anchor="t" lIns="0" rIns="0" tIns="0" bIns="0">
            <a:spAutoFit/>
          </a:bodyPr>
          <a:lstStyle/>
          <a:p>
            <a:pPr algn="ctr">
              <a:spcBef>
                <a:spcPts val="0"/>
              </a:spcBef>
              <a:spcAft>
                <a:spcPts val="0"/>
              </a:spcAft>
            </a:pPr>
            <a:r>
              <a:rPr sz="750" b="0" i="0">
                <a:solidFill>
                  <a:srgbClr val="8C95DE"/>
                </a:solidFill>
                <a:latin typeface="Bahnschrift"/>
              </a:rPr>
              <a:t>Private &amp; Confidential</a:t>
            </a:r>
          </a:p>
        </p:txBody>
      </p:sp>
      <p:sp>
        <p:nvSpPr>
          <p:cNvPr id="5" name="TextBox 4"/>
          <p:cNvSpPr txBox="1"/>
          <p:nvPr/>
        </p:nvSpPr>
        <p:spPr>
          <a:xfrm>
            <a:off x="6766560" y="868680"/>
            <a:ext cx="4583887" cy="2377440"/>
          </a:xfrm>
          <a:prstGeom prst="rect">
            <a:avLst/>
          </a:prstGeom>
          <a:noFill/>
        </p:spPr>
        <p:txBody>
          <a:bodyPr wrap="square" anchor="t" lIns="0" rIns="0" tIns="0" bIns="0">
            <a:spAutoFit/>
          </a:bodyPr>
          <a:lstStyle/>
          <a:p>
            <a:pPr algn="r">
              <a:spcBef>
                <a:spcPts val="0"/>
              </a:spcBef>
              <a:spcAft>
                <a:spcPts val="0"/>
              </a:spcAft>
            </a:pPr>
            <a:r>
              <a:rPr sz="17000" b="1" i="0">
                <a:solidFill>
                  <a:srgbClr val="242F8E"/>
                </a:solidFill>
                <a:latin typeface="Georgia"/>
              </a:rPr>
              <a:t>04</a:t>
            </a:r>
          </a:p>
        </p:txBody>
      </p:sp>
      <p:sp>
        <p:nvSpPr>
          <p:cNvPr id="6" name="TextBox 5"/>
          <p:cNvSpPr txBox="1"/>
          <p:nvPr/>
        </p:nvSpPr>
        <p:spPr>
          <a:xfrm>
            <a:off x="841248" y="2359152"/>
            <a:ext cx="5943600" cy="274320"/>
          </a:xfrm>
          <a:prstGeom prst="rect">
            <a:avLst/>
          </a:prstGeom>
          <a:noFill/>
        </p:spPr>
        <p:txBody>
          <a:bodyPr wrap="square" anchor="t" lIns="0" rIns="0" tIns="0" bIns="0">
            <a:spAutoFit/>
          </a:bodyPr>
          <a:lstStyle/>
          <a:p>
            <a:pPr algn="l">
              <a:spcBef>
                <a:spcPts val="0"/>
              </a:spcBef>
              <a:spcAft>
                <a:spcPts val="0"/>
              </a:spcAft>
            </a:pPr>
            <a:r>
              <a:rPr sz="1000" b="1" i="0" spc="250">
                <a:solidFill>
                  <a:srgbClr val="F2A93C"/>
                </a:solidFill>
                <a:latin typeface="Bahnschrift"/>
              </a:rPr>
              <a:t>SECTION 04</a:t>
            </a:r>
          </a:p>
        </p:txBody>
      </p:sp>
      <p:sp>
        <p:nvSpPr>
          <p:cNvPr id="7" name="TextBox 6"/>
          <p:cNvSpPr txBox="1"/>
          <p:nvPr/>
        </p:nvSpPr>
        <p:spPr>
          <a:xfrm>
            <a:off x="841248" y="2706624"/>
            <a:ext cx="7863840" cy="685800"/>
          </a:xfrm>
          <a:prstGeom prst="rect">
            <a:avLst/>
          </a:prstGeom>
          <a:noFill/>
        </p:spPr>
        <p:txBody>
          <a:bodyPr wrap="square" anchor="t" lIns="0" rIns="0" tIns="0" bIns="0">
            <a:spAutoFit/>
          </a:bodyPr>
          <a:lstStyle/>
          <a:p>
            <a:pPr algn="l">
              <a:spcBef>
                <a:spcPts val="0"/>
              </a:spcBef>
              <a:spcAft>
                <a:spcPts val="0"/>
              </a:spcAft>
            </a:pPr>
            <a:r>
              <a:rPr sz="3000" b="1" i="0">
                <a:solidFill>
                  <a:srgbClr val="FFFFFF"/>
                </a:solidFill>
                <a:latin typeface="Georgia"/>
              </a:rPr>
              <a:t>The deliverable</a:t>
            </a:r>
          </a:p>
        </p:txBody>
      </p:sp>
      <p:sp>
        <p:nvSpPr>
          <p:cNvPr id="8" name="Rectangle 7"/>
          <p:cNvSpPr/>
          <p:nvPr/>
        </p:nvSpPr>
        <p:spPr>
          <a:xfrm>
            <a:off x="841248" y="3419856"/>
            <a:ext cx="2011680" cy="25603"/>
          </a:xfrm>
          <a:prstGeom prst="rect">
            <a:avLst/>
          </a:prstGeom>
          <a:solidFill>
            <a:srgbClr val="F2A93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41248" y="3639312"/>
            <a:ext cx="7863840" cy="548640"/>
          </a:xfrm>
          <a:prstGeom prst="rect">
            <a:avLst/>
          </a:prstGeom>
          <a:noFill/>
        </p:spPr>
        <p:txBody>
          <a:bodyPr wrap="square" anchor="t" lIns="0" rIns="0" tIns="0" bIns="0">
            <a:spAutoFit/>
          </a:bodyPr>
          <a:lstStyle/>
          <a:p>
            <a:pPr algn="l">
              <a:spcBef>
                <a:spcPts val="0"/>
              </a:spcBef>
              <a:spcAft>
                <a:spcPts val="0"/>
              </a:spcAft>
            </a:pPr>
            <a:r>
              <a:rPr sz="1300" b="0" i="1">
                <a:solidFill>
                  <a:srgbClr val="C9CEF0"/>
                </a:solidFill>
                <a:latin typeface="Georgia"/>
              </a:rPr>
              <a:t>Real rendered pages from the review deck</a:t>
            </a:r>
          </a:p>
        </p:txBody>
      </p:sp>
      <p:sp>
        <p:nvSpPr>
          <p:cNvPr id="10" name="TextBox 9"/>
          <p:cNvSpPr txBox="1"/>
          <p:nvPr/>
        </p:nvSpPr>
        <p:spPr>
          <a:xfrm>
            <a:off x="841248" y="4983480"/>
            <a:ext cx="7315200" cy="219456"/>
          </a:xfrm>
          <a:prstGeom prst="rect">
            <a:avLst/>
          </a:prstGeom>
          <a:noFill/>
        </p:spPr>
        <p:txBody>
          <a:bodyPr wrap="square" anchor="t" lIns="0" rIns="0" tIns="0" bIns="0">
            <a:spAutoFit/>
          </a:bodyPr>
          <a:lstStyle/>
          <a:p>
            <a:pPr algn="l">
              <a:spcBef>
                <a:spcPts val="0"/>
              </a:spcBef>
              <a:spcAft>
                <a:spcPts val="0"/>
              </a:spcAft>
            </a:pPr>
            <a:r>
              <a:rPr sz="950" b="0" i="0" spc="40">
                <a:solidFill>
                  <a:srgbClr val="C9CEF0"/>
                </a:solidFill>
                <a:latin typeface="Bahnschrift"/>
              </a:rPr>
              <a:t>Understanding the mandate</a:t>
            </a:r>
          </a:p>
        </p:txBody>
      </p:sp>
      <p:sp>
        <p:nvSpPr>
          <p:cNvPr id="11" name="TextBox 10"/>
          <p:cNvSpPr txBox="1"/>
          <p:nvPr/>
        </p:nvSpPr>
        <p:spPr>
          <a:xfrm>
            <a:off x="841248" y="5257800"/>
            <a:ext cx="7315200" cy="219456"/>
          </a:xfrm>
          <a:prstGeom prst="rect">
            <a:avLst/>
          </a:prstGeom>
          <a:noFill/>
        </p:spPr>
        <p:txBody>
          <a:bodyPr wrap="square" anchor="t" lIns="0" rIns="0" tIns="0" bIns="0">
            <a:spAutoFit/>
          </a:bodyPr>
          <a:lstStyle/>
          <a:p>
            <a:pPr algn="l">
              <a:spcBef>
                <a:spcPts val="0"/>
              </a:spcBef>
              <a:spcAft>
                <a:spcPts val="0"/>
              </a:spcAft>
            </a:pPr>
            <a:r>
              <a:rPr sz="950" b="0" i="0" spc="40">
                <a:solidFill>
                  <a:srgbClr val="C9CEF0"/>
                </a:solidFill>
                <a:latin typeface="Bahnschrift"/>
              </a:rPr>
              <a:t>The portfolio x-ray</a:t>
            </a:r>
          </a:p>
        </p:txBody>
      </p:sp>
      <p:sp>
        <p:nvSpPr>
          <p:cNvPr id="12" name="TextBox 11"/>
          <p:cNvSpPr txBox="1"/>
          <p:nvPr/>
        </p:nvSpPr>
        <p:spPr>
          <a:xfrm>
            <a:off x="841248" y="5532120"/>
            <a:ext cx="7315200" cy="219456"/>
          </a:xfrm>
          <a:prstGeom prst="rect">
            <a:avLst/>
          </a:prstGeom>
          <a:noFill/>
        </p:spPr>
        <p:txBody>
          <a:bodyPr wrap="square" anchor="t" lIns="0" rIns="0" tIns="0" bIns="0">
            <a:spAutoFit/>
          </a:bodyPr>
          <a:lstStyle/>
          <a:p>
            <a:pPr algn="l">
              <a:spcBef>
                <a:spcPts val="0"/>
              </a:spcBef>
              <a:spcAft>
                <a:spcPts val="0"/>
              </a:spcAft>
            </a:pPr>
            <a:r>
              <a:rPr sz="950" b="0" i="0" spc="40">
                <a:solidFill>
                  <a:srgbClr val="C9CEF0"/>
                </a:solidFill>
                <a:latin typeface="Bahnschrift"/>
              </a:rPr>
              <a:t>The equity book</a:t>
            </a:r>
          </a:p>
        </p:txBody>
      </p:sp>
      <p:sp>
        <p:nvSpPr>
          <p:cNvPr id="13" name="TextBox 12"/>
          <p:cNvSpPr txBox="1"/>
          <p:nvPr/>
        </p:nvSpPr>
        <p:spPr>
          <a:xfrm>
            <a:off x="841248" y="5806440"/>
            <a:ext cx="7315200" cy="219456"/>
          </a:xfrm>
          <a:prstGeom prst="rect">
            <a:avLst/>
          </a:prstGeom>
          <a:noFill/>
        </p:spPr>
        <p:txBody>
          <a:bodyPr wrap="square" anchor="t" lIns="0" rIns="0" tIns="0" bIns="0">
            <a:spAutoFit/>
          </a:bodyPr>
          <a:lstStyle/>
          <a:p>
            <a:pPr algn="l">
              <a:spcBef>
                <a:spcPts val="0"/>
              </a:spcBef>
              <a:spcAft>
                <a:spcPts val="0"/>
              </a:spcAft>
            </a:pPr>
            <a:r>
              <a:rPr sz="950" b="0" i="0" spc="40">
                <a:solidFill>
                  <a:srgbClr val="C9CEF0"/>
                </a:solidFill>
                <a:latin typeface="Bahnschrift"/>
              </a:rPr>
              <a:t>The fund book</a:t>
            </a:r>
          </a:p>
        </p:txBody>
      </p:sp>
      <p:sp>
        <p:nvSpPr>
          <p:cNvPr id="14" name="TextBox 13"/>
          <p:cNvSpPr txBox="1"/>
          <p:nvPr/>
        </p:nvSpPr>
        <p:spPr>
          <a:xfrm>
            <a:off x="841248" y="6080759"/>
            <a:ext cx="7315200" cy="219456"/>
          </a:xfrm>
          <a:prstGeom prst="rect">
            <a:avLst/>
          </a:prstGeom>
          <a:noFill/>
        </p:spPr>
        <p:txBody>
          <a:bodyPr wrap="square" anchor="t" lIns="0" rIns="0" tIns="0" bIns="0">
            <a:spAutoFit/>
          </a:bodyPr>
          <a:lstStyle/>
          <a:p>
            <a:pPr algn="l">
              <a:spcBef>
                <a:spcPts val="0"/>
              </a:spcBef>
              <a:spcAft>
                <a:spcPts val="0"/>
              </a:spcAft>
            </a:pPr>
            <a:r>
              <a:rPr sz="950" b="0" i="0" spc="40">
                <a:solidFill>
                  <a:srgbClr val="C9CEF0"/>
                </a:solidFill>
                <a:latin typeface="Bahnschrift"/>
              </a:rPr>
              <a:t>Recommendations</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logo_clean.png"/>
          <p:cNvPicPr>
            <a:picLocks noChangeAspect="1"/>
          </p:cNvPicPr>
          <p:nvPr/>
        </p:nvPicPr>
        <p:blipFill>
          <a:blip r:embed="rId2"/>
          <a:stretch>
            <a:fillRect/>
          </a:stretch>
        </p:blipFill>
        <p:spPr>
          <a:xfrm>
            <a:off x="9674809" y="365760"/>
            <a:ext cx="1629918" cy="283464"/>
          </a:xfrm>
          <a:prstGeom prst="rect">
            <a:avLst/>
          </a:prstGeom>
        </p:spPr>
      </p:pic>
      <p:sp>
        <p:nvSpPr>
          <p:cNvPr id="4" name="TextBox 3"/>
          <p:cNvSpPr txBox="1"/>
          <p:nvPr/>
        </p:nvSpPr>
        <p:spPr>
          <a:xfrm>
            <a:off x="4541367" y="128016"/>
            <a:ext cx="3108960" cy="182880"/>
          </a:xfrm>
          <a:prstGeom prst="rect">
            <a:avLst/>
          </a:prstGeom>
          <a:noFill/>
        </p:spPr>
        <p:txBody>
          <a:bodyPr wrap="square" anchor="t" lIns="0" rIns="0" tIns="0" bIns="0">
            <a:spAutoFit/>
          </a:bodyPr>
          <a:lstStyle/>
          <a:p>
            <a:pPr algn="ctr">
              <a:spcBef>
                <a:spcPts val="0"/>
              </a:spcBef>
              <a:spcAft>
                <a:spcPts val="0"/>
              </a:spcAft>
            </a:pPr>
            <a:r>
              <a:rPr sz="750" b="0" i="0">
                <a:solidFill>
                  <a:srgbClr val="6B7280"/>
                </a:solidFill>
                <a:latin typeface="Bahnschrift"/>
              </a:rPr>
              <a:t>Private &amp; Confidential</a:t>
            </a:r>
          </a:p>
        </p:txBody>
      </p:sp>
      <p:sp>
        <p:nvSpPr>
          <p:cNvPr id="5" name="TextBox 4"/>
          <p:cNvSpPr txBox="1"/>
          <p:nvPr/>
        </p:nvSpPr>
        <p:spPr>
          <a:xfrm>
            <a:off x="7863840" y="274320"/>
            <a:ext cx="1749247" cy="201168"/>
          </a:xfrm>
          <a:prstGeom prst="rect">
            <a:avLst/>
          </a:prstGeom>
          <a:noFill/>
        </p:spPr>
        <p:txBody>
          <a:bodyPr wrap="square" anchor="t" lIns="0" rIns="0" tIns="0" bIns="0">
            <a:spAutoFit/>
          </a:bodyPr>
          <a:lstStyle/>
          <a:p>
            <a:pPr algn="r">
              <a:spcBef>
                <a:spcPts val="0"/>
              </a:spcBef>
              <a:spcAft>
                <a:spcPts val="0"/>
              </a:spcAft>
            </a:pPr>
            <a:r>
              <a:rPr sz="750" b="1" i="0" spc="120">
                <a:solidFill>
                  <a:srgbClr val="8C95DE"/>
                </a:solidFill>
                <a:latin typeface="Bahnschrift"/>
              </a:rPr>
              <a:t>04 · THE DELIVERABLE</a:t>
            </a:r>
          </a:p>
        </p:txBody>
      </p:sp>
      <p:sp>
        <p:nvSpPr>
          <p:cNvPr id="6" name="Rectangle 5"/>
          <p:cNvSpPr/>
          <p:nvPr/>
        </p:nvSpPr>
        <p:spPr>
          <a:xfrm>
            <a:off x="8549640" y="512064"/>
            <a:ext cx="137160" cy="20116"/>
          </a:xfrm>
          <a:prstGeom prst="rect">
            <a:avLst/>
          </a:prstGeom>
          <a:solidFill>
            <a:srgbClr val="E5E7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8732519" y="512064"/>
            <a:ext cx="137160" cy="20116"/>
          </a:xfrm>
          <a:prstGeom prst="rect">
            <a:avLst/>
          </a:prstGeom>
          <a:solidFill>
            <a:srgbClr val="E5E7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8915400" y="512064"/>
            <a:ext cx="137160" cy="20116"/>
          </a:xfrm>
          <a:prstGeom prst="rect">
            <a:avLst/>
          </a:prstGeom>
          <a:solidFill>
            <a:srgbClr val="E5E7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9098280" y="512064"/>
            <a:ext cx="137160" cy="20116"/>
          </a:xfrm>
          <a:prstGeom prst="rect">
            <a:avLst/>
          </a:prstGeom>
          <a:solidFill>
            <a:srgbClr val="1B27A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9281160" y="512064"/>
            <a:ext cx="137160" cy="20116"/>
          </a:xfrm>
          <a:prstGeom prst="rect">
            <a:avLst/>
          </a:prstGeom>
          <a:solidFill>
            <a:srgbClr val="E5E7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41248" y="420624"/>
            <a:ext cx="6858000" cy="502920"/>
          </a:xfrm>
          <a:prstGeom prst="rect">
            <a:avLst/>
          </a:prstGeom>
          <a:noFill/>
        </p:spPr>
        <p:txBody>
          <a:bodyPr wrap="square" anchor="t" lIns="0" rIns="0" tIns="0" bIns="0">
            <a:spAutoFit/>
          </a:bodyPr>
          <a:lstStyle/>
          <a:p>
            <a:pPr algn="l">
              <a:spcBef>
                <a:spcPts val="0"/>
              </a:spcBef>
              <a:spcAft>
                <a:spcPts val="0"/>
              </a:spcAft>
            </a:pPr>
            <a:r>
              <a:rPr sz="2600" b="1" i="0">
                <a:solidFill>
                  <a:srgbClr val="1B27A3"/>
                </a:solidFill>
                <a:latin typeface="Bahnschrift"/>
              </a:rPr>
              <a:t>Sample pages</a:t>
            </a:r>
          </a:p>
        </p:txBody>
      </p:sp>
      <p:sp>
        <p:nvSpPr>
          <p:cNvPr id="12" name="TextBox 11"/>
          <p:cNvSpPr txBox="1"/>
          <p:nvPr/>
        </p:nvSpPr>
        <p:spPr>
          <a:xfrm>
            <a:off x="841248" y="950976"/>
            <a:ext cx="9692640" cy="411480"/>
          </a:xfrm>
          <a:prstGeom prst="rect">
            <a:avLst/>
          </a:prstGeom>
          <a:noFill/>
        </p:spPr>
        <p:txBody>
          <a:bodyPr wrap="square" anchor="t" lIns="0" rIns="0" tIns="0" bIns="0">
            <a:spAutoFit/>
          </a:bodyPr>
          <a:lstStyle/>
          <a:p>
            <a:pPr algn="l">
              <a:spcBef>
                <a:spcPts val="0"/>
              </a:spcBef>
              <a:spcAft>
                <a:spcPts val="0"/>
              </a:spcAft>
            </a:pPr>
            <a:r>
              <a:rPr sz="1750" b="1" i="0">
                <a:solidFill>
                  <a:srgbClr val="F2A93C"/>
                </a:solidFill>
                <a:latin typeface="Bahnschrift"/>
              </a:rPr>
              <a:t>How it looks in the client's hands  (1 of 7)</a:t>
            </a:r>
          </a:p>
        </p:txBody>
      </p:sp>
      <p:sp>
        <p:nvSpPr>
          <p:cNvPr id="13" name="Rectangle 12"/>
          <p:cNvSpPr/>
          <p:nvPr/>
        </p:nvSpPr>
        <p:spPr>
          <a:xfrm>
            <a:off x="841248" y="1408176"/>
            <a:ext cx="10509199" cy="21945"/>
          </a:xfrm>
          <a:prstGeom prst="rect">
            <a:avLst/>
          </a:prstGeom>
          <a:solidFill>
            <a:srgbClr val="1B27A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9155887" y="6528816"/>
            <a:ext cx="2194560" cy="182880"/>
          </a:xfrm>
          <a:prstGeom prst="rect">
            <a:avLst/>
          </a:prstGeom>
          <a:noFill/>
        </p:spPr>
        <p:txBody>
          <a:bodyPr wrap="square" anchor="t" lIns="0" rIns="0" tIns="0" bIns="0">
            <a:spAutoFit/>
          </a:bodyPr>
          <a:lstStyle/>
          <a:p>
            <a:pPr algn="r">
              <a:spcBef>
                <a:spcPts val="0"/>
              </a:spcBef>
              <a:spcAft>
                <a:spcPts val="0"/>
              </a:spcAft>
            </a:pPr>
            <a:r>
              <a:rPr sz="750" b="0" i="0">
                <a:solidFill>
                  <a:srgbClr val="6B7280"/>
                </a:solidFill>
                <a:latin typeface="Bahnschrift"/>
              </a:rPr>
              <a:t>Portfolio Review  ·  19</a:t>
            </a:r>
          </a:p>
        </p:txBody>
      </p:sp>
      <p:sp>
        <p:nvSpPr>
          <p:cNvPr id="15" name="Rectangle 14"/>
          <p:cNvSpPr/>
          <p:nvPr/>
        </p:nvSpPr>
        <p:spPr>
          <a:xfrm>
            <a:off x="841248" y="1773936"/>
            <a:ext cx="5071719" cy="2889418"/>
          </a:xfrm>
          <a:prstGeom prst="rect">
            <a:avLst/>
          </a:prstGeom>
          <a:solidFill>
            <a:srgbClr val="F5F6FC"/>
          </a:solidFill>
          <a:ln w="9525">
            <a:solidFill>
              <a:srgbClr val="E5E7E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6" name="Picture 15" descr="snap_00_p001.png"/>
          <p:cNvPicPr>
            <a:picLocks noChangeAspect="1"/>
          </p:cNvPicPr>
          <p:nvPr/>
        </p:nvPicPr>
        <p:blipFill>
          <a:blip r:embed="rId3"/>
          <a:stretch>
            <a:fillRect/>
          </a:stretch>
        </p:blipFill>
        <p:spPr>
          <a:xfrm>
            <a:off x="859536" y="1802511"/>
            <a:ext cx="5035143" cy="2832268"/>
          </a:xfrm>
          <a:prstGeom prst="rect">
            <a:avLst/>
          </a:prstGeom>
        </p:spPr>
      </p:pic>
      <p:sp>
        <p:nvSpPr>
          <p:cNvPr id="17" name="TextBox 16"/>
          <p:cNvSpPr txBox="1"/>
          <p:nvPr/>
        </p:nvSpPr>
        <p:spPr>
          <a:xfrm>
            <a:off x="841248" y="4773082"/>
            <a:ext cx="5071719" cy="219456"/>
          </a:xfrm>
          <a:prstGeom prst="rect">
            <a:avLst/>
          </a:prstGeom>
          <a:noFill/>
        </p:spPr>
        <p:txBody>
          <a:bodyPr wrap="square" anchor="t" lIns="0" rIns="0" tIns="0" bIns="0">
            <a:spAutoFit/>
          </a:bodyPr>
          <a:lstStyle/>
          <a:p>
            <a:pPr algn="l">
              <a:spcBef>
                <a:spcPts val="0"/>
              </a:spcBef>
              <a:spcAft>
                <a:spcPts val="0"/>
              </a:spcAft>
            </a:pPr>
            <a:r>
              <a:rPr sz="800" b="1" i="0" spc="200">
                <a:solidFill>
                  <a:srgbClr val="F2A93C"/>
                </a:solidFill>
                <a:latin typeface="Bahnschrift"/>
              </a:rPr>
              <a:t>PAGE 1</a:t>
            </a:r>
          </a:p>
        </p:txBody>
      </p:sp>
      <p:sp>
        <p:nvSpPr>
          <p:cNvPr id="18" name="TextBox 17"/>
          <p:cNvSpPr txBox="1"/>
          <p:nvPr/>
        </p:nvSpPr>
        <p:spPr>
          <a:xfrm>
            <a:off x="841248" y="4992538"/>
            <a:ext cx="5071719" cy="777240"/>
          </a:xfrm>
          <a:prstGeom prst="rect">
            <a:avLst/>
          </a:prstGeom>
          <a:noFill/>
        </p:spPr>
        <p:txBody>
          <a:bodyPr wrap="square" anchor="t" lIns="0" rIns="0" tIns="0" bIns="0">
            <a:spAutoFit/>
          </a:bodyPr>
          <a:lstStyle/>
          <a:p>
            <a:pPr algn="l">
              <a:lnSpc>
                <a:spcPct val="106000"/>
              </a:lnSpc>
              <a:spcBef>
                <a:spcPts val="0"/>
              </a:spcBef>
              <a:spcAft>
                <a:spcPts val="0"/>
              </a:spcAft>
            </a:pPr>
            <a:r>
              <a:rPr sz="1000" b="0" i="0">
                <a:solidFill>
                  <a:srgbClr val="16233B"/>
                </a:solidFill>
                <a:latin typeface="Georgia"/>
              </a:rPr>
              <a:t>Cover. Client, mandate and as-of date, with the synthetic-book label printed on the page.</a:t>
            </a:r>
          </a:p>
        </p:txBody>
      </p:sp>
      <p:sp>
        <p:nvSpPr>
          <p:cNvPr id="19" name="Rectangle 18"/>
          <p:cNvSpPr/>
          <p:nvPr/>
        </p:nvSpPr>
        <p:spPr>
          <a:xfrm>
            <a:off x="6278727" y="1773936"/>
            <a:ext cx="5071719" cy="2889418"/>
          </a:xfrm>
          <a:prstGeom prst="rect">
            <a:avLst/>
          </a:prstGeom>
          <a:solidFill>
            <a:srgbClr val="F5F6FC"/>
          </a:solidFill>
          <a:ln w="9525">
            <a:solidFill>
              <a:srgbClr val="E5E7E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0" name="Picture 19" descr="snap_01_p003.png"/>
          <p:cNvPicPr>
            <a:picLocks noChangeAspect="1"/>
          </p:cNvPicPr>
          <p:nvPr/>
        </p:nvPicPr>
        <p:blipFill>
          <a:blip r:embed="rId4"/>
          <a:stretch>
            <a:fillRect/>
          </a:stretch>
        </p:blipFill>
        <p:spPr>
          <a:xfrm>
            <a:off x="6297015" y="1802511"/>
            <a:ext cx="5035143" cy="2832268"/>
          </a:xfrm>
          <a:prstGeom prst="rect">
            <a:avLst/>
          </a:prstGeom>
        </p:spPr>
      </p:pic>
      <p:sp>
        <p:nvSpPr>
          <p:cNvPr id="21" name="TextBox 20"/>
          <p:cNvSpPr txBox="1"/>
          <p:nvPr/>
        </p:nvSpPr>
        <p:spPr>
          <a:xfrm>
            <a:off x="6278727" y="4773082"/>
            <a:ext cx="5071719" cy="219456"/>
          </a:xfrm>
          <a:prstGeom prst="rect">
            <a:avLst/>
          </a:prstGeom>
          <a:noFill/>
        </p:spPr>
        <p:txBody>
          <a:bodyPr wrap="square" anchor="t" lIns="0" rIns="0" tIns="0" bIns="0">
            <a:spAutoFit/>
          </a:bodyPr>
          <a:lstStyle/>
          <a:p>
            <a:pPr algn="l">
              <a:spcBef>
                <a:spcPts val="0"/>
              </a:spcBef>
              <a:spcAft>
                <a:spcPts val="0"/>
              </a:spcAft>
            </a:pPr>
            <a:r>
              <a:rPr sz="800" b="1" i="0" spc="200">
                <a:solidFill>
                  <a:srgbClr val="F2A93C"/>
                </a:solidFill>
                <a:latin typeface="Bahnschrift"/>
              </a:rPr>
              <a:t>PAGE 3</a:t>
            </a:r>
          </a:p>
        </p:txBody>
      </p:sp>
      <p:sp>
        <p:nvSpPr>
          <p:cNvPr id="22" name="TextBox 21"/>
          <p:cNvSpPr txBox="1"/>
          <p:nvPr/>
        </p:nvSpPr>
        <p:spPr>
          <a:xfrm>
            <a:off x="6278727" y="4992538"/>
            <a:ext cx="5071719" cy="777240"/>
          </a:xfrm>
          <a:prstGeom prst="rect">
            <a:avLst/>
          </a:prstGeom>
          <a:noFill/>
        </p:spPr>
        <p:txBody>
          <a:bodyPr wrap="square" anchor="t" lIns="0" rIns="0" tIns="0" bIns="0">
            <a:spAutoFit/>
          </a:bodyPr>
          <a:lstStyle/>
          <a:p>
            <a:pPr algn="l">
              <a:lnSpc>
                <a:spcPct val="106000"/>
              </a:lnSpc>
              <a:spcBef>
                <a:spcPts val="0"/>
              </a:spcBef>
              <a:spcAft>
                <a:spcPts val="0"/>
              </a:spcAft>
            </a:pPr>
            <a:r>
              <a:rPr sz="1000" b="0" i="0">
                <a:solidFill>
                  <a:srgbClr val="16233B"/>
                </a:solidFill>
                <a:latin typeface="Georgia"/>
              </a:rPr>
              <a:t>The mandate page. Every parameter's Current column is computed live from the holdings, never typed.</a:t>
            </a:r>
          </a:p>
        </p:txBody>
      </p:sp>
      <p:sp>
        <p:nvSpPr>
          <p:cNvPr id="23" name="TextBox 22"/>
          <p:cNvSpPr txBox="1"/>
          <p:nvPr/>
        </p:nvSpPr>
        <p:spPr>
          <a:xfrm>
            <a:off x="841248" y="6089904"/>
            <a:ext cx="10509199" cy="219456"/>
          </a:xfrm>
          <a:prstGeom prst="rect">
            <a:avLst/>
          </a:prstGeom>
          <a:noFill/>
        </p:spPr>
        <p:txBody>
          <a:bodyPr wrap="square" anchor="t" lIns="0" rIns="0" tIns="0" bIns="0">
            <a:spAutoFit/>
          </a:bodyPr>
          <a:lstStyle/>
          <a:p>
            <a:pPr algn="l">
              <a:spcBef>
                <a:spcPts val="0"/>
              </a:spcBef>
              <a:spcAft>
                <a:spcPts val="0"/>
              </a:spcAft>
            </a:pPr>
            <a:r>
              <a:rPr sz="700" b="0" i="0">
                <a:solidFill>
                  <a:srgbClr val="6B7280"/>
                </a:solidFill>
                <a:latin typeface="Bahnschrift"/>
              </a:rPr>
              <a:t>Rendered from the house demo book on an aggressive mandate. Synthetic holdings, real engine, real template.</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logo_clean.png"/>
          <p:cNvPicPr>
            <a:picLocks noChangeAspect="1"/>
          </p:cNvPicPr>
          <p:nvPr/>
        </p:nvPicPr>
        <p:blipFill>
          <a:blip r:embed="rId2"/>
          <a:stretch>
            <a:fillRect/>
          </a:stretch>
        </p:blipFill>
        <p:spPr>
          <a:xfrm>
            <a:off x="9674809" y="365760"/>
            <a:ext cx="1629918" cy="283464"/>
          </a:xfrm>
          <a:prstGeom prst="rect">
            <a:avLst/>
          </a:prstGeom>
        </p:spPr>
      </p:pic>
      <p:sp>
        <p:nvSpPr>
          <p:cNvPr id="4" name="TextBox 3"/>
          <p:cNvSpPr txBox="1"/>
          <p:nvPr/>
        </p:nvSpPr>
        <p:spPr>
          <a:xfrm>
            <a:off x="4541367" y="128016"/>
            <a:ext cx="3108960" cy="182880"/>
          </a:xfrm>
          <a:prstGeom prst="rect">
            <a:avLst/>
          </a:prstGeom>
          <a:noFill/>
        </p:spPr>
        <p:txBody>
          <a:bodyPr wrap="square" anchor="t" lIns="0" rIns="0" tIns="0" bIns="0">
            <a:spAutoFit/>
          </a:bodyPr>
          <a:lstStyle/>
          <a:p>
            <a:pPr algn="ctr">
              <a:spcBef>
                <a:spcPts val="0"/>
              </a:spcBef>
              <a:spcAft>
                <a:spcPts val="0"/>
              </a:spcAft>
            </a:pPr>
            <a:r>
              <a:rPr sz="750" b="0" i="0">
                <a:solidFill>
                  <a:srgbClr val="6B7280"/>
                </a:solidFill>
                <a:latin typeface="Bahnschrift"/>
              </a:rPr>
              <a:t>Private &amp; Confidential</a:t>
            </a:r>
          </a:p>
        </p:txBody>
      </p:sp>
      <p:sp>
        <p:nvSpPr>
          <p:cNvPr id="5" name="TextBox 4"/>
          <p:cNvSpPr txBox="1"/>
          <p:nvPr/>
        </p:nvSpPr>
        <p:spPr>
          <a:xfrm>
            <a:off x="7863840" y="274320"/>
            <a:ext cx="1749247" cy="201168"/>
          </a:xfrm>
          <a:prstGeom prst="rect">
            <a:avLst/>
          </a:prstGeom>
          <a:noFill/>
        </p:spPr>
        <p:txBody>
          <a:bodyPr wrap="square" anchor="t" lIns="0" rIns="0" tIns="0" bIns="0">
            <a:spAutoFit/>
          </a:bodyPr>
          <a:lstStyle/>
          <a:p>
            <a:pPr algn="r">
              <a:spcBef>
                <a:spcPts val="0"/>
              </a:spcBef>
              <a:spcAft>
                <a:spcPts val="0"/>
              </a:spcAft>
            </a:pPr>
            <a:r>
              <a:rPr sz="750" b="1" i="0" spc="120">
                <a:solidFill>
                  <a:srgbClr val="8C95DE"/>
                </a:solidFill>
                <a:latin typeface="Bahnschrift"/>
              </a:rPr>
              <a:t>04 · THE DELIVERABLE</a:t>
            </a:r>
          </a:p>
        </p:txBody>
      </p:sp>
      <p:sp>
        <p:nvSpPr>
          <p:cNvPr id="6" name="Rectangle 5"/>
          <p:cNvSpPr/>
          <p:nvPr/>
        </p:nvSpPr>
        <p:spPr>
          <a:xfrm>
            <a:off x="8549640" y="512064"/>
            <a:ext cx="137160" cy="20116"/>
          </a:xfrm>
          <a:prstGeom prst="rect">
            <a:avLst/>
          </a:prstGeom>
          <a:solidFill>
            <a:srgbClr val="E5E7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8732519" y="512064"/>
            <a:ext cx="137160" cy="20116"/>
          </a:xfrm>
          <a:prstGeom prst="rect">
            <a:avLst/>
          </a:prstGeom>
          <a:solidFill>
            <a:srgbClr val="E5E7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8915400" y="512064"/>
            <a:ext cx="137160" cy="20116"/>
          </a:xfrm>
          <a:prstGeom prst="rect">
            <a:avLst/>
          </a:prstGeom>
          <a:solidFill>
            <a:srgbClr val="E5E7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9098280" y="512064"/>
            <a:ext cx="137160" cy="20116"/>
          </a:xfrm>
          <a:prstGeom prst="rect">
            <a:avLst/>
          </a:prstGeom>
          <a:solidFill>
            <a:srgbClr val="1B27A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9281160" y="512064"/>
            <a:ext cx="137160" cy="20116"/>
          </a:xfrm>
          <a:prstGeom prst="rect">
            <a:avLst/>
          </a:prstGeom>
          <a:solidFill>
            <a:srgbClr val="E5E7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41248" y="420624"/>
            <a:ext cx="6858000" cy="502920"/>
          </a:xfrm>
          <a:prstGeom prst="rect">
            <a:avLst/>
          </a:prstGeom>
          <a:noFill/>
        </p:spPr>
        <p:txBody>
          <a:bodyPr wrap="square" anchor="t" lIns="0" rIns="0" tIns="0" bIns="0">
            <a:spAutoFit/>
          </a:bodyPr>
          <a:lstStyle/>
          <a:p>
            <a:pPr algn="l">
              <a:spcBef>
                <a:spcPts val="0"/>
              </a:spcBef>
              <a:spcAft>
                <a:spcPts val="0"/>
              </a:spcAft>
            </a:pPr>
            <a:r>
              <a:rPr sz="2600" b="1" i="0">
                <a:solidFill>
                  <a:srgbClr val="1B27A3"/>
                </a:solidFill>
                <a:latin typeface="Bahnschrift"/>
              </a:rPr>
              <a:t>Sample pages</a:t>
            </a:r>
          </a:p>
        </p:txBody>
      </p:sp>
      <p:sp>
        <p:nvSpPr>
          <p:cNvPr id="12" name="TextBox 11"/>
          <p:cNvSpPr txBox="1"/>
          <p:nvPr/>
        </p:nvSpPr>
        <p:spPr>
          <a:xfrm>
            <a:off x="841248" y="950976"/>
            <a:ext cx="9692640" cy="411480"/>
          </a:xfrm>
          <a:prstGeom prst="rect">
            <a:avLst/>
          </a:prstGeom>
          <a:noFill/>
        </p:spPr>
        <p:txBody>
          <a:bodyPr wrap="square" anchor="t" lIns="0" rIns="0" tIns="0" bIns="0">
            <a:spAutoFit/>
          </a:bodyPr>
          <a:lstStyle/>
          <a:p>
            <a:pPr algn="l">
              <a:spcBef>
                <a:spcPts val="0"/>
              </a:spcBef>
              <a:spcAft>
                <a:spcPts val="0"/>
              </a:spcAft>
            </a:pPr>
            <a:r>
              <a:rPr sz="1750" b="1" i="0">
                <a:solidFill>
                  <a:srgbClr val="F2A93C"/>
                </a:solidFill>
                <a:latin typeface="Bahnschrift"/>
              </a:rPr>
              <a:t>How it looks in the client's hands  (2 of 7)</a:t>
            </a:r>
          </a:p>
        </p:txBody>
      </p:sp>
      <p:sp>
        <p:nvSpPr>
          <p:cNvPr id="13" name="Rectangle 12"/>
          <p:cNvSpPr/>
          <p:nvPr/>
        </p:nvSpPr>
        <p:spPr>
          <a:xfrm>
            <a:off x="841248" y="1408176"/>
            <a:ext cx="10509199" cy="21945"/>
          </a:xfrm>
          <a:prstGeom prst="rect">
            <a:avLst/>
          </a:prstGeom>
          <a:solidFill>
            <a:srgbClr val="1B27A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9155887" y="6528816"/>
            <a:ext cx="2194560" cy="182880"/>
          </a:xfrm>
          <a:prstGeom prst="rect">
            <a:avLst/>
          </a:prstGeom>
          <a:noFill/>
        </p:spPr>
        <p:txBody>
          <a:bodyPr wrap="square" anchor="t" lIns="0" rIns="0" tIns="0" bIns="0">
            <a:spAutoFit/>
          </a:bodyPr>
          <a:lstStyle/>
          <a:p>
            <a:pPr algn="r">
              <a:spcBef>
                <a:spcPts val="0"/>
              </a:spcBef>
              <a:spcAft>
                <a:spcPts val="0"/>
              </a:spcAft>
            </a:pPr>
            <a:r>
              <a:rPr sz="750" b="0" i="0">
                <a:solidFill>
                  <a:srgbClr val="6B7280"/>
                </a:solidFill>
                <a:latin typeface="Bahnschrift"/>
              </a:rPr>
              <a:t>Portfolio Review  ·  20</a:t>
            </a:r>
          </a:p>
        </p:txBody>
      </p:sp>
      <p:sp>
        <p:nvSpPr>
          <p:cNvPr id="15" name="Rectangle 14"/>
          <p:cNvSpPr/>
          <p:nvPr/>
        </p:nvSpPr>
        <p:spPr>
          <a:xfrm>
            <a:off x="841248" y="1773936"/>
            <a:ext cx="5071719" cy="2889418"/>
          </a:xfrm>
          <a:prstGeom prst="rect">
            <a:avLst/>
          </a:prstGeom>
          <a:solidFill>
            <a:srgbClr val="F5F6FC"/>
          </a:solidFill>
          <a:ln w="9525">
            <a:solidFill>
              <a:srgbClr val="E5E7E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6" name="Picture 15" descr="snap_02_p005.png"/>
          <p:cNvPicPr>
            <a:picLocks noChangeAspect="1"/>
          </p:cNvPicPr>
          <p:nvPr/>
        </p:nvPicPr>
        <p:blipFill>
          <a:blip r:embed="rId3"/>
          <a:stretch>
            <a:fillRect/>
          </a:stretch>
        </p:blipFill>
        <p:spPr>
          <a:xfrm>
            <a:off x="859536" y="1802511"/>
            <a:ext cx="5035143" cy="2832268"/>
          </a:xfrm>
          <a:prstGeom prst="rect">
            <a:avLst/>
          </a:prstGeom>
        </p:spPr>
      </p:pic>
      <p:sp>
        <p:nvSpPr>
          <p:cNvPr id="17" name="TextBox 16"/>
          <p:cNvSpPr txBox="1"/>
          <p:nvPr/>
        </p:nvSpPr>
        <p:spPr>
          <a:xfrm>
            <a:off x="841248" y="4773082"/>
            <a:ext cx="5071719" cy="219456"/>
          </a:xfrm>
          <a:prstGeom prst="rect">
            <a:avLst/>
          </a:prstGeom>
          <a:noFill/>
        </p:spPr>
        <p:txBody>
          <a:bodyPr wrap="square" anchor="t" lIns="0" rIns="0" tIns="0" bIns="0">
            <a:spAutoFit/>
          </a:bodyPr>
          <a:lstStyle/>
          <a:p>
            <a:pPr algn="l">
              <a:spcBef>
                <a:spcPts val="0"/>
              </a:spcBef>
              <a:spcAft>
                <a:spcPts val="0"/>
              </a:spcAft>
            </a:pPr>
            <a:r>
              <a:rPr sz="800" b="1" i="0" spc="200">
                <a:solidFill>
                  <a:srgbClr val="F2A93C"/>
                </a:solidFill>
                <a:latin typeface="Bahnschrift"/>
              </a:rPr>
              <a:t>PAGE 5</a:t>
            </a:r>
          </a:p>
        </p:txBody>
      </p:sp>
      <p:sp>
        <p:nvSpPr>
          <p:cNvPr id="18" name="TextBox 17"/>
          <p:cNvSpPr txBox="1"/>
          <p:nvPr/>
        </p:nvSpPr>
        <p:spPr>
          <a:xfrm>
            <a:off x="841248" y="4992538"/>
            <a:ext cx="5071719" cy="777240"/>
          </a:xfrm>
          <a:prstGeom prst="rect">
            <a:avLst/>
          </a:prstGeom>
          <a:noFill/>
        </p:spPr>
        <p:txBody>
          <a:bodyPr wrap="square" anchor="t" lIns="0" rIns="0" tIns="0" bIns="0">
            <a:spAutoFit/>
          </a:bodyPr>
          <a:lstStyle/>
          <a:p>
            <a:pPr algn="l">
              <a:lnSpc>
                <a:spcPct val="106000"/>
              </a:lnSpc>
              <a:spcBef>
                <a:spcPts val="0"/>
              </a:spcBef>
              <a:spcAft>
                <a:spcPts val="0"/>
              </a:spcAft>
            </a:pPr>
            <a:r>
              <a:rPr sz="1000" b="0" i="0">
                <a:solidFill>
                  <a:srgbClr val="16233B"/>
                </a:solidFill>
                <a:latin typeface="Georgia"/>
              </a:rPr>
              <a:t>Executive summary. Five gaps, each with one action and a pointer to the page that proves it.</a:t>
            </a:r>
          </a:p>
        </p:txBody>
      </p:sp>
      <p:sp>
        <p:nvSpPr>
          <p:cNvPr id="19" name="Rectangle 18"/>
          <p:cNvSpPr/>
          <p:nvPr/>
        </p:nvSpPr>
        <p:spPr>
          <a:xfrm>
            <a:off x="6278727" y="1773936"/>
            <a:ext cx="5071719" cy="2889418"/>
          </a:xfrm>
          <a:prstGeom prst="rect">
            <a:avLst/>
          </a:prstGeom>
          <a:solidFill>
            <a:srgbClr val="F5F6FC"/>
          </a:solidFill>
          <a:ln w="9525">
            <a:solidFill>
              <a:srgbClr val="E5E7E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0" name="Picture 19" descr="snap_03_p008.png"/>
          <p:cNvPicPr>
            <a:picLocks noChangeAspect="1"/>
          </p:cNvPicPr>
          <p:nvPr/>
        </p:nvPicPr>
        <p:blipFill>
          <a:blip r:embed="rId4"/>
          <a:stretch>
            <a:fillRect/>
          </a:stretch>
        </p:blipFill>
        <p:spPr>
          <a:xfrm>
            <a:off x="6297015" y="1802511"/>
            <a:ext cx="5035143" cy="2832268"/>
          </a:xfrm>
          <a:prstGeom prst="rect">
            <a:avLst/>
          </a:prstGeom>
        </p:spPr>
      </p:pic>
      <p:sp>
        <p:nvSpPr>
          <p:cNvPr id="21" name="TextBox 20"/>
          <p:cNvSpPr txBox="1"/>
          <p:nvPr/>
        </p:nvSpPr>
        <p:spPr>
          <a:xfrm>
            <a:off x="6278727" y="4773082"/>
            <a:ext cx="5071719" cy="219456"/>
          </a:xfrm>
          <a:prstGeom prst="rect">
            <a:avLst/>
          </a:prstGeom>
          <a:noFill/>
        </p:spPr>
        <p:txBody>
          <a:bodyPr wrap="square" anchor="t" lIns="0" rIns="0" tIns="0" bIns="0">
            <a:spAutoFit/>
          </a:bodyPr>
          <a:lstStyle/>
          <a:p>
            <a:pPr algn="l">
              <a:spcBef>
                <a:spcPts val="0"/>
              </a:spcBef>
              <a:spcAft>
                <a:spcPts val="0"/>
              </a:spcAft>
            </a:pPr>
            <a:r>
              <a:rPr sz="800" b="1" i="0" spc="200">
                <a:solidFill>
                  <a:srgbClr val="F2A93C"/>
                </a:solidFill>
                <a:latin typeface="Bahnschrift"/>
              </a:rPr>
              <a:t>PAGE 8</a:t>
            </a:r>
          </a:p>
        </p:txBody>
      </p:sp>
      <p:sp>
        <p:nvSpPr>
          <p:cNvPr id="22" name="TextBox 21"/>
          <p:cNvSpPr txBox="1"/>
          <p:nvPr/>
        </p:nvSpPr>
        <p:spPr>
          <a:xfrm>
            <a:off x="6278727" y="4992538"/>
            <a:ext cx="5071719" cy="777240"/>
          </a:xfrm>
          <a:prstGeom prst="rect">
            <a:avLst/>
          </a:prstGeom>
          <a:noFill/>
        </p:spPr>
        <p:txBody>
          <a:bodyPr wrap="square" anchor="t" lIns="0" rIns="0" tIns="0" bIns="0">
            <a:spAutoFit/>
          </a:bodyPr>
          <a:lstStyle/>
          <a:p>
            <a:pPr algn="l">
              <a:lnSpc>
                <a:spcPct val="106000"/>
              </a:lnSpc>
              <a:spcBef>
                <a:spcPts val="0"/>
              </a:spcBef>
              <a:spcAft>
                <a:spcPts val="0"/>
              </a:spcAft>
            </a:pPr>
            <a:r>
              <a:rPr sz="1000" b="0" i="0">
                <a:solidFill>
                  <a:srgbClr val="16233B"/>
                </a:solidFill>
                <a:latin typeface="Georgia"/>
              </a:rPr>
              <a:t>Snapshot. Composition, and an explicit statement of what is in scope versus out.</a:t>
            </a:r>
          </a:p>
        </p:txBody>
      </p:sp>
      <p:sp>
        <p:nvSpPr>
          <p:cNvPr id="23" name="TextBox 22"/>
          <p:cNvSpPr txBox="1"/>
          <p:nvPr/>
        </p:nvSpPr>
        <p:spPr>
          <a:xfrm>
            <a:off x="841248" y="6089904"/>
            <a:ext cx="10509199" cy="219456"/>
          </a:xfrm>
          <a:prstGeom prst="rect">
            <a:avLst/>
          </a:prstGeom>
          <a:noFill/>
        </p:spPr>
        <p:txBody>
          <a:bodyPr wrap="square" anchor="t" lIns="0" rIns="0" tIns="0" bIns="0">
            <a:spAutoFit/>
          </a:bodyPr>
          <a:lstStyle/>
          <a:p>
            <a:pPr algn="l">
              <a:spcBef>
                <a:spcPts val="0"/>
              </a:spcBef>
              <a:spcAft>
                <a:spcPts val="0"/>
              </a:spcAft>
            </a:pPr>
            <a:r>
              <a:rPr sz="700" b="0" i="0">
                <a:solidFill>
                  <a:srgbClr val="6B7280"/>
                </a:solidFill>
                <a:latin typeface="Bahnschrift"/>
              </a:rPr>
              <a:t>Rendered from the house demo book on an aggressive mandate. Synthetic holdings, real engine, real template.</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logo_clean.png"/>
          <p:cNvPicPr>
            <a:picLocks noChangeAspect="1"/>
          </p:cNvPicPr>
          <p:nvPr/>
        </p:nvPicPr>
        <p:blipFill>
          <a:blip r:embed="rId2"/>
          <a:stretch>
            <a:fillRect/>
          </a:stretch>
        </p:blipFill>
        <p:spPr>
          <a:xfrm>
            <a:off x="9674809" y="365760"/>
            <a:ext cx="1629918" cy="283464"/>
          </a:xfrm>
          <a:prstGeom prst="rect">
            <a:avLst/>
          </a:prstGeom>
        </p:spPr>
      </p:pic>
      <p:sp>
        <p:nvSpPr>
          <p:cNvPr id="4" name="TextBox 3"/>
          <p:cNvSpPr txBox="1"/>
          <p:nvPr/>
        </p:nvSpPr>
        <p:spPr>
          <a:xfrm>
            <a:off x="4541367" y="128016"/>
            <a:ext cx="3108960" cy="182880"/>
          </a:xfrm>
          <a:prstGeom prst="rect">
            <a:avLst/>
          </a:prstGeom>
          <a:noFill/>
        </p:spPr>
        <p:txBody>
          <a:bodyPr wrap="square" anchor="t" lIns="0" rIns="0" tIns="0" bIns="0">
            <a:spAutoFit/>
          </a:bodyPr>
          <a:lstStyle/>
          <a:p>
            <a:pPr algn="ctr">
              <a:spcBef>
                <a:spcPts val="0"/>
              </a:spcBef>
              <a:spcAft>
                <a:spcPts val="0"/>
              </a:spcAft>
            </a:pPr>
            <a:r>
              <a:rPr sz="750" b="0" i="0">
                <a:solidFill>
                  <a:srgbClr val="6B7280"/>
                </a:solidFill>
                <a:latin typeface="Bahnschrift"/>
              </a:rPr>
              <a:t>Private &amp; Confidential</a:t>
            </a:r>
          </a:p>
        </p:txBody>
      </p:sp>
      <p:sp>
        <p:nvSpPr>
          <p:cNvPr id="5" name="TextBox 4"/>
          <p:cNvSpPr txBox="1"/>
          <p:nvPr/>
        </p:nvSpPr>
        <p:spPr>
          <a:xfrm>
            <a:off x="7863840" y="274320"/>
            <a:ext cx="1749247" cy="201168"/>
          </a:xfrm>
          <a:prstGeom prst="rect">
            <a:avLst/>
          </a:prstGeom>
          <a:noFill/>
        </p:spPr>
        <p:txBody>
          <a:bodyPr wrap="square" anchor="t" lIns="0" rIns="0" tIns="0" bIns="0">
            <a:spAutoFit/>
          </a:bodyPr>
          <a:lstStyle/>
          <a:p>
            <a:pPr algn="r">
              <a:spcBef>
                <a:spcPts val="0"/>
              </a:spcBef>
              <a:spcAft>
                <a:spcPts val="0"/>
              </a:spcAft>
            </a:pPr>
            <a:r>
              <a:rPr sz="750" b="1" i="0" spc="120">
                <a:solidFill>
                  <a:srgbClr val="8C95DE"/>
                </a:solidFill>
                <a:latin typeface="Bahnschrift"/>
              </a:rPr>
              <a:t>04 · THE DELIVERABLE</a:t>
            </a:r>
          </a:p>
        </p:txBody>
      </p:sp>
      <p:sp>
        <p:nvSpPr>
          <p:cNvPr id="6" name="Rectangle 5"/>
          <p:cNvSpPr/>
          <p:nvPr/>
        </p:nvSpPr>
        <p:spPr>
          <a:xfrm>
            <a:off x="8549640" y="512064"/>
            <a:ext cx="137160" cy="20116"/>
          </a:xfrm>
          <a:prstGeom prst="rect">
            <a:avLst/>
          </a:prstGeom>
          <a:solidFill>
            <a:srgbClr val="E5E7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8732519" y="512064"/>
            <a:ext cx="137160" cy="20116"/>
          </a:xfrm>
          <a:prstGeom prst="rect">
            <a:avLst/>
          </a:prstGeom>
          <a:solidFill>
            <a:srgbClr val="E5E7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8915400" y="512064"/>
            <a:ext cx="137160" cy="20116"/>
          </a:xfrm>
          <a:prstGeom prst="rect">
            <a:avLst/>
          </a:prstGeom>
          <a:solidFill>
            <a:srgbClr val="E5E7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9098280" y="512064"/>
            <a:ext cx="137160" cy="20116"/>
          </a:xfrm>
          <a:prstGeom prst="rect">
            <a:avLst/>
          </a:prstGeom>
          <a:solidFill>
            <a:srgbClr val="1B27A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9281160" y="512064"/>
            <a:ext cx="137160" cy="20116"/>
          </a:xfrm>
          <a:prstGeom prst="rect">
            <a:avLst/>
          </a:prstGeom>
          <a:solidFill>
            <a:srgbClr val="E5E7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41248" y="420624"/>
            <a:ext cx="6858000" cy="502920"/>
          </a:xfrm>
          <a:prstGeom prst="rect">
            <a:avLst/>
          </a:prstGeom>
          <a:noFill/>
        </p:spPr>
        <p:txBody>
          <a:bodyPr wrap="square" anchor="t" lIns="0" rIns="0" tIns="0" bIns="0">
            <a:spAutoFit/>
          </a:bodyPr>
          <a:lstStyle/>
          <a:p>
            <a:pPr algn="l">
              <a:spcBef>
                <a:spcPts val="0"/>
              </a:spcBef>
              <a:spcAft>
                <a:spcPts val="0"/>
              </a:spcAft>
            </a:pPr>
            <a:r>
              <a:rPr sz="2600" b="1" i="0">
                <a:solidFill>
                  <a:srgbClr val="1B27A3"/>
                </a:solidFill>
                <a:latin typeface="Bahnschrift"/>
              </a:rPr>
              <a:t>Sample pages</a:t>
            </a:r>
          </a:p>
        </p:txBody>
      </p:sp>
      <p:sp>
        <p:nvSpPr>
          <p:cNvPr id="12" name="TextBox 11"/>
          <p:cNvSpPr txBox="1"/>
          <p:nvPr/>
        </p:nvSpPr>
        <p:spPr>
          <a:xfrm>
            <a:off x="841248" y="950976"/>
            <a:ext cx="9692640" cy="411480"/>
          </a:xfrm>
          <a:prstGeom prst="rect">
            <a:avLst/>
          </a:prstGeom>
          <a:noFill/>
        </p:spPr>
        <p:txBody>
          <a:bodyPr wrap="square" anchor="t" lIns="0" rIns="0" tIns="0" bIns="0">
            <a:spAutoFit/>
          </a:bodyPr>
          <a:lstStyle/>
          <a:p>
            <a:pPr algn="l">
              <a:spcBef>
                <a:spcPts val="0"/>
              </a:spcBef>
              <a:spcAft>
                <a:spcPts val="0"/>
              </a:spcAft>
            </a:pPr>
            <a:r>
              <a:rPr sz="1750" b="1" i="0">
                <a:solidFill>
                  <a:srgbClr val="F2A93C"/>
                </a:solidFill>
                <a:latin typeface="Bahnschrift"/>
              </a:rPr>
              <a:t>How it looks in the client's hands  (3 of 7)</a:t>
            </a:r>
          </a:p>
        </p:txBody>
      </p:sp>
      <p:sp>
        <p:nvSpPr>
          <p:cNvPr id="13" name="Rectangle 12"/>
          <p:cNvSpPr/>
          <p:nvPr/>
        </p:nvSpPr>
        <p:spPr>
          <a:xfrm>
            <a:off x="841248" y="1408176"/>
            <a:ext cx="10509199" cy="21945"/>
          </a:xfrm>
          <a:prstGeom prst="rect">
            <a:avLst/>
          </a:prstGeom>
          <a:solidFill>
            <a:srgbClr val="1B27A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9155887" y="6528816"/>
            <a:ext cx="2194560" cy="182880"/>
          </a:xfrm>
          <a:prstGeom prst="rect">
            <a:avLst/>
          </a:prstGeom>
          <a:noFill/>
        </p:spPr>
        <p:txBody>
          <a:bodyPr wrap="square" anchor="t" lIns="0" rIns="0" tIns="0" bIns="0">
            <a:spAutoFit/>
          </a:bodyPr>
          <a:lstStyle/>
          <a:p>
            <a:pPr algn="r">
              <a:spcBef>
                <a:spcPts val="0"/>
              </a:spcBef>
              <a:spcAft>
                <a:spcPts val="0"/>
              </a:spcAft>
            </a:pPr>
            <a:r>
              <a:rPr sz="750" b="0" i="0">
                <a:solidFill>
                  <a:srgbClr val="6B7280"/>
                </a:solidFill>
                <a:latin typeface="Bahnschrift"/>
              </a:rPr>
              <a:t>Portfolio Review  ·  21</a:t>
            </a:r>
          </a:p>
        </p:txBody>
      </p:sp>
      <p:sp>
        <p:nvSpPr>
          <p:cNvPr id="15" name="Rectangle 14"/>
          <p:cNvSpPr/>
          <p:nvPr/>
        </p:nvSpPr>
        <p:spPr>
          <a:xfrm>
            <a:off x="841248" y="1773936"/>
            <a:ext cx="5071719" cy="2889418"/>
          </a:xfrm>
          <a:prstGeom prst="rect">
            <a:avLst/>
          </a:prstGeom>
          <a:solidFill>
            <a:srgbClr val="F5F6FC"/>
          </a:solidFill>
          <a:ln w="9525">
            <a:solidFill>
              <a:srgbClr val="E5E7E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6" name="Picture 15" descr="snap_04_p010.png"/>
          <p:cNvPicPr>
            <a:picLocks noChangeAspect="1"/>
          </p:cNvPicPr>
          <p:nvPr/>
        </p:nvPicPr>
        <p:blipFill>
          <a:blip r:embed="rId3"/>
          <a:stretch>
            <a:fillRect/>
          </a:stretch>
        </p:blipFill>
        <p:spPr>
          <a:xfrm>
            <a:off x="859536" y="1802511"/>
            <a:ext cx="5035143" cy="2832268"/>
          </a:xfrm>
          <a:prstGeom prst="rect">
            <a:avLst/>
          </a:prstGeom>
        </p:spPr>
      </p:pic>
      <p:sp>
        <p:nvSpPr>
          <p:cNvPr id="17" name="TextBox 16"/>
          <p:cNvSpPr txBox="1"/>
          <p:nvPr/>
        </p:nvSpPr>
        <p:spPr>
          <a:xfrm>
            <a:off x="841248" y="4773082"/>
            <a:ext cx="5071719" cy="219456"/>
          </a:xfrm>
          <a:prstGeom prst="rect">
            <a:avLst/>
          </a:prstGeom>
          <a:noFill/>
        </p:spPr>
        <p:txBody>
          <a:bodyPr wrap="square" anchor="t" lIns="0" rIns="0" tIns="0" bIns="0">
            <a:spAutoFit/>
          </a:bodyPr>
          <a:lstStyle/>
          <a:p>
            <a:pPr algn="l">
              <a:spcBef>
                <a:spcPts val="0"/>
              </a:spcBef>
              <a:spcAft>
                <a:spcPts val="0"/>
              </a:spcAft>
            </a:pPr>
            <a:r>
              <a:rPr sz="800" b="1" i="0" spc="200">
                <a:solidFill>
                  <a:srgbClr val="F2A93C"/>
                </a:solidFill>
                <a:latin typeface="Bahnschrift"/>
              </a:rPr>
              <a:t>PAGE 10</a:t>
            </a:r>
          </a:p>
        </p:txBody>
      </p:sp>
      <p:sp>
        <p:nvSpPr>
          <p:cNvPr id="18" name="TextBox 17"/>
          <p:cNvSpPr txBox="1"/>
          <p:nvPr/>
        </p:nvSpPr>
        <p:spPr>
          <a:xfrm>
            <a:off x="841248" y="4992538"/>
            <a:ext cx="5071719" cy="777240"/>
          </a:xfrm>
          <a:prstGeom prst="rect">
            <a:avLst/>
          </a:prstGeom>
          <a:noFill/>
        </p:spPr>
        <p:txBody>
          <a:bodyPr wrap="square" anchor="t" lIns="0" rIns="0" tIns="0" bIns="0">
            <a:spAutoFit/>
          </a:bodyPr>
          <a:lstStyle/>
          <a:p>
            <a:pPr algn="l">
              <a:lnSpc>
                <a:spcPct val="106000"/>
              </a:lnSpc>
              <a:spcBef>
                <a:spcPts val="0"/>
              </a:spcBef>
              <a:spcAft>
                <a:spcPts val="0"/>
              </a:spcAft>
            </a:pPr>
            <a:r>
              <a:rPr sz="1000" b="0" i="0">
                <a:solidFill>
                  <a:srgbClr val="16233B"/>
                </a:solidFill>
                <a:latin typeface="Georgia"/>
              </a:rPr>
              <a:t>Concentration, measured against this mandate's own cap rather than a generic rule.</a:t>
            </a:r>
          </a:p>
        </p:txBody>
      </p:sp>
      <p:sp>
        <p:nvSpPr>
          <p:cNvPr id="19" name="Rectangle 18"/>
          <p:cNvSpPr/>
          <p:nvPr/>
        </p:nvSpPr>
        <p:spPr>
          <a:xfrm>
            <a:off x="6278727" y="1773936"/>
            <a:ext cx="5071719" cy="2889418"/>
          </a:xfrm>
          <a:prstGeom prst="rect">
            <a:avLst/>
          </a:prstGeom>
          <a:solidFill>
            <a:srgbClr val="F5F6FC"/>
          </a:solidFill>
          <a:ln w="9525">
            <a:solidFill>
              <a:srgbClr val="E5E7E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0" name="Picture 19" descr="snap_05_p011.png"/>
          <p:cNvPicPr>
            <a:picLocks noChangeAspect="1"/>
          </p:cNvPicPr>
          <p:nvPr/>
        </p:nvPicPr>
        <p:blipFill>
          <a:blip r:embed="rId4"/>
          <a:stretch>
            <a:fillRect/>
          </a:stretch>
        </p:blipFill>
        <p:spPr>
          <a:xfrm>
            <a:off x="6297015" y="1802511"/>
            <a:ext cx="5035143" cy="2832268"/>
          </a:xfrm>
          <a:prstGeom prst="rect">
            <a:avLst/>
          </a:prstGeom>
        </p:spPr>
      </p:pic>
      <p:sp>
        <p:nvSpPr>
          <p:cNvPr id="21" name="TextBox 20"/>
          <p:cNvSpPr txBox="1"/>
          <p:nvPr/>
        </p:nvSpPr>
        <p:spPr>
          <a:xfrm>
            <a:off x="6278727" y="4773082"/>
            <a:ext cx="5071719" cy="219456"/>
          </a:xfrm>
          <a:prstGeom prst="rect">
            <a:avLst/>
          </a:prstGeom>
          <a:noFill/>
        </p:spPr>
        <p:txBody>
          <a:bodyPr wrap="square" anchor="t" lIns="0" rIns="0" tIns="0" bIns="0">
            <a:spAutoFit/>
          </a:bodyPr>
          <a:lstStyle/>
          <a:p>
            <a:pPr algn="l">
              <a:spcBef>
                <a:spcPts val="0"/>
              </a:spcBef>
              <a:spcAft>
                <a:spcPts val="0"/>
              </a:spcAft>
            </a:pPr>
            <a:r>
              <a:rPr sz="800" b="1" i="0" spc="200">
                <a:solidFill>
                  <a:srgbClr val="F2A93C"/>
                </a:solidFill>
                <a:latin typeface="Bahnschrift"/>
              </a:rPr>
              <a:t>PAGE 11</a:t>
            </a:r>
          </a:p>
        </p:txBody>
      </p:sp>
      <p:sp>
        <p:nvSpPr>
          <p:cNvPr id="22" name="TextBox 21"/>
          <p:cNvSpPr txBox="1"/>
          <p:nvPr/>
        </p:nvSpPr>
        <p:spPr>
          <a:xfrm>
            <a:off x="6278727" y="4992538"/>
            <a:ext cx="5071719" cy="777240"/>
          </a:xfrm>
          <a:prstGeom prst="rect">
            <a:avLst/>
          </a:prstGeom>
          <a:noFill/>
        </p:spPr>
        <p:txBody>
          <a:bodyPr wrap="square" anchor="t" lIns="0" rIns="0" tIns="0" bIns="0">
            <a:spAutoFit/>
          </a:bodyPr>
          <a:lstStyle/>
          <a:p>
            <a:pPr algn="l">
              <a:lnSpc>
                <a:spcPct val="106000"/>
              </a:lnSpc>
              <a:spcBef>
                <a:spcPts val="0"/>
              </a:spcBef>
              <a:spcAft>
                <a:spcPts val="0"/>
              </a:spcAft>
            </a:pPr>
            <a:r>
              <a:rPr sz="1000" b="0" i="0">
                <a:solidFill>
                  <a:srgbClr val="16233B"/>
                </a:solidFill>
                <a:latin typeface="Georgia"/>
              </a:rPr>
              <a:t>Sector weights, with a standing note that the fund sleeve is not looked through here.</a:t>
            </a:r>
          </a:p>
        </p:txBody>
      </p:sp>
      <p:sp>
        <p:nvSpPr>
          <p:cNvPr id="23" name="TextBox 22"/>
          <p:cNvSpPr txBox="1"/>
          <p:nvPr/>
        </p:nvSpPr>
        <p:spPr>
          <a:xfrm>
            <a:off x="841248" y="6089904"/>
            <a:ext cx="10509199" cy="219456"/>
          </a:xfrm>
          <a:prstGeom prst="rect">
            <a:avLst/>
          </a:prstGeom>
          <a:noFill/>
        </p:spPr>
        <p:txBody>
          <a:bodyPr wrap="square" anchor="t" lIns="0" rIns="0" tIns="0" bIns="0">
            <a:spAutoFit/>
          </a:bodyPr>
          <a:lstStyle/>
          <a:p>
            <a:pPr algn="l">
              <a:spcBef>
                <a:spcPts val="0"/>
              </a:spcBef>
              <a:spcAft>
                <a:spcPts val="0"/>
              </a:spcAft>
            </a:pPr>
            <a:r>
              <a:rPr sz="700" b="0" i="0">
                <a:solidFill>
                  <a:srgbClr val="6B7280"/>
                </a:solidFill>
                <a:latin typeface="Bahnschrift"/>
              </a:rPr>
              <a:t>Rendered from the house demo book on an aggressive mandate. Synthetic holdings, real engine, real template.</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logo_clean.png"/>
          <p:cNvPicPr>
            <a:picLocks noChangeAspect="1"/>
          </p:cNvPicPr>
          <p:nvPr/>
        </p:nvPicPr>
        <p:blipFill>
          <a:blip r:embed="rId2"/>
          <a:stretch>
            <a:fillRect/>
          </a:stretch>
        </p:blipFill>
        <p:spPr>
          <a:xfrm>
            <a:off x="9674809" y="365760"/>
            <a:ext cx="1629918" cy="283464"/>
          </a:xfrm>
          <a:prstGeom prst="rect">
            <a:avLst/>
          </a:prstGeom>
        </p:spPr>
      </p:pic>
      <p:sp>
        <p:nvSpPr>
          <p:cNvPr id="4" name="TextBox 3"/>
          <p:cNvSpPr txBox="1"/>
          <p:nvPr/>
        </p:nvSpPr>
        <p:spPr>
          <a:xfrm>
            <a:off x="4541367" y="128016"/>
            <a:ext cx="3108960" cy="182880"/>
          </a:xfrm>
          <a:prstGeom prst="rect">
            <a:avLst/>
          </a:prstGeom>
          <a:noFill/>
        </p:spPr>
        <p:txBody>
          <a:bodyPr wrap="square" anchor="t" lIns="0" rIns="0" tIns="0" bIns="0">
            <a:spAutoFit/>
          </a:bodyPr>
          <a:lstStyle/>
          <a:p>
            <a:pPr algn="ctr">
              <a:spcBef>
                <a:spcPts val="0"/>
              </a:spcBef>
              <a:spcAft>
                <a:spcPts val="0"/>
              </a:spcAft>
            </a:pPr>
            <a:r>
              <a:rPr sz="750" b="0" i="0">
                <a:solidFill>
                  <a:srgbClr val="6B7280"/>
                </a:solidFill>
                <a:latin typeface="Bahnschrift"/>
              </a:rPr>
              <a:t>Private &amp; Confidential</a:t>
            </a:r>
          </a:p>
        </p:txBody>
      </p:sp>
      <p:sp>
        <p:nvSpPr>
          <p:cNvPr id="5" name="TextBox 4"/>
          <p:cNvSpPr txBox="1"/>
          <p:nvPr/>
        </p:nvSpPr>
        <p:spPr>
          <a:xfrm>
            <a:off x="7863840" y="274320"/>
            <a:ext cx="1749247" cy="201168"/>
          </a:xfrm>
          <a:prstGeom prst="rect">
            <a:avLst/>
          </a:prstGeom>
          <a:noFill/>
        </p:spPr>
        <p:txBody>
          <a:bodyPr wrap="square" anchor="t" lIns="0" rIns="0" tIns="0" bIns="0">
            <a:spAutoFit/>
          </a:bodyPr>
          <a:lstStyle/>
          <a:p>
            <a:pPr algn="r">
              <a:spcBef>
                <a:spcPts val="0"/>
              </a:spcBef>
              <a:spcAft>
                <a:spcPts val="0"/>
              </a:spcAft>
            </a:pPr>
            <a:r>
              <a:rPr sz="750" b="1" i="0" spc="120">
                <a:solidFill>
                  <a:srgbClr val="8C95DE"/>
                </a:solidFill>
                <a:latin typeface="Bahnschrift"/>
              </a:rPr>
              <a:t>04 · THE DELIVERABLE</a:t>
            </a:r>
          </a:p>
        </p:txBody>
      </p:sp>
      <p:sp>
        <p:nvSpPr>
          <p:cNvPr id="6" name="Rectangle 5"/>
          <p:cNvSpPr/>
          <p:nvPr/>
        </p:nvSpPr>
        <p:spPr>
          <a:xfrm>
            <a:off x="8549640" y="512064"/>
            <a:ext cx="137160" cy="20116"/>
          </a:xfrm>
          <a:prstGeom prst="rect">
            <a:avLst/>
          </a:prstGeom>
          <a:solidFill>
            <a:srgbClr val="E5E7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8732519" y="512064"/>
            <a:ext cx="137160" cy="20116"/>
          </a:xfrm>
          <a:prstGeom prst="rect">
            <a:avLst/>
          </a:prstGeom>
          <a:solidFill>
            <a:srgbClr val="E5E7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8915400" y="512064"/>
            <a:ext cx="137160" cy="20116"/>
          </a:xfrm>
          <a:prstGeom prst="rect">
            <a:avLst/>
          </a:prstGeom>
          <a:solidFill>
            <a:srgbClr val="E5E7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9098280" y="512064"/>
            <a:ext cx="137160" cy="20116"/>
          </a:xfrm>
          <a:prstGeom prst="rect">
            <a:avLst/>
          </a:prstGeom>
          <a:solidFill>
            <a:srgbClr val="1B27A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9281160" y="512064"/>
            <a:ext cx="137160" cy="20116"/>
          </a:xfrm>
          <a:prstGeom prst="rect">
            <a:avLst/>
          </a:prstGeom>
          <a:solidFill>
            <a:srgbClr val="E5E7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41248" y="420624"/>
            <a:ext cx="6858000" cy="502920"/>
          </a:xfrm>
          <a:prstGeom prst="rect">
            <a:avLst/>
          </a:prstGeom>
          <a:noFill/>
        </p:spPr>
        <p:txBody>
          <a:bodyPr wrap="square" anchor="t" lIns="0" rIns="0" tIns="0" bIns="0">
            <a:spAutoFit/>
          </a:bodyPr>
          <a:lstStyle/>
          <a:p>
            <a:pPr algn="l">
              <a:spcBef>
                <a:spcPts val="0"/>
              </a:spcBef>
              <a:spcAft>
                <a:spcPts val="0"/>
              </a:spcAft>
            </a:pPr>
            <a:r>
              <a:rPr sz="2600" b="1" i="0">
                <a:solidFill>
                  <a:srgbClr val="1B27A3"/>
                </a:solidFill>
                <a:latin typeface="Bahnschrift"/>
              </a:rPr>
              <a:t>Sample pages</a:t>
            </a:r>
          </a:p>
        </p:txBody>
      </p:sp>
      <p:sp>
        <p:nvSpPr>
          <p:cNvPr id="12" name="TextBox 11"/>
          <p:cNvSpPr txBox="1"/>
          <p:nvPr/>
        </p:nvSpPr>
        <p:spPr>
          <a:xfrm>
            <a:off x="841248" y="950976"/>
            <a:ext cx="9692640" cy="411480"/>
          </a:xfrm>
          <a:prstGeom prst="rect">
            <a:avLst/>
          </a:prstGeom>
          <a:noFill/>
        </p:spPr>
        <p:txBody>
          <a:bodyPr wrap="square" anchor="t" lIns="0" rIns="0" tIns="0" bIns="0">
            <a:spAutoFit/>
          </a:bodyPr>
          <a:lstStyle/>
          <a:p>
            <a:pPr algn="l">
              <a:spcBef>
                <a:spcPts val="0"/>
              </a:spcBef>
              <a:spcAft>
                <a:spcPts val="0"/>
              </a:spcAft>
            </a:pPr>
            <a:r>
              <a:rPr sz="1750" b="1" i="0">
                <a:solidFill>
                  <a:srgbClr val="F2A93C"/>
                </a:solidFill>
                <a:latin typeface="Bahnschrift"/>
              </a:rPr>
              <a:t>How it looks in the client's hands  (4 of 7)</a:t>
            </a:r>
          </a:p>
        </p:txBody>
      </p:sp>
      <p:sp>
        <p:nvSpPr>
          <p:cNvPr id="13" name="Rectangle 12"/>
          <p:cNvSpPr/>
          <p:nvPr/>
        </p:nvSpPr>
        <p:spPr>
          <a:xfrm>
            <a:off x="841248" y="1408176"/>
            <a:ext cx="10509199" cy="21945"/>
          </a:xfrm>
          <a:prstGeom prst="rect">
            <a:avLst/>
          </a:prstGeom>
          <a:solidFill>
            <a:srgbClr val="1B27A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9155887" y="6528816"/>
            <a:ext cx="2194560" cy="182880"/>
          </a:xfrm>
          <a:prstGeom prst="rect">
            <a:avLst/>
          </a:prstGeom>
          <a:noFill/>
        </p:spPr>
        <p:txBody>
          <a:bodyPr wrap="square" anchor="t" lIns="0" rIns="0" tIns="0" bIns="0">
            <a:spAutoFit/>
          </a:bodyPr>
          <a:lstStyle/>
          <a:p>
            <a:pPr algn="r">
              <a:spcBef>
                <a:spcPts val="0"/>
              </a:spcBef>
              <a:spcAft>
                <a:spcPts val="0"/>
              </a:spcAft>
            </a:pPr>
            <a:r>
              <a:rPr sz="750" b="0" i="0">
                <a:solidFill>
                  <a:srgbClr val="6B7280"/>
                </a:solidFill>
                <a:latin typeface="Bahnschrift"/>
              </a:rPr>
              <a:t>Portfolio Review  ·  22</a:t>
            </a:r>
          </a:p>
        </p:txBody>
      </p:sp>
      <p:sp>
        <p:nvSpPr>
          <p:cNvPr id="15" name="Rectangle 14"/>
          <p:cNvSpPr/>
          <p:nvPr/>
        </p:nvSpPr>
        <p:spPr>
          <a:xfrm>
            <a:off x="841248" y="1773936"/>
            <a:ext cx="5071719" cy="2889418"/>
          </a:xfrm>
          <a:prstGeom prst="rect">
            <a:avLst/>
          </a:prstGeom>
          <a:solidFill>
            <a:srgbClr val="F5F6FC"/>
          </a:solidFill>
          <a:ln w="9525">
            <a:solidFill>
              <a:srgbClr val="E5E7E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6" name="Picture 15" descr="snap_06_p023.png"/>
          <p:cNvPicPr>
            <a:picLocks noChangeAspect="1"/>
          </p:cNvPicPr>
          <p:nvPr/>
        </p:nvPicPr>
        <p:blipFill>
          <a:blip r:embed="rId3"/>
          <a:stretch>
            <a:fillRect/>
          </a:stretch>
        </p:blipFill>
        <p:spPr>
          <a:xfrm>
            <a:off x="859536" y="1802511"/>
            <a:ext cx="5035143" cy="2832268"/>
          </a:xfrm>
          <a:prstGeom prst="rect">
            <a:avLst/>
          </a:prstGeom>
        </p:spPr>
      </p:pic>
      <p:sp>
        <p:nvSpPr>
          <p:cNvPr id="17" name="TextBox 16"/>
          <p:cNvSpPr txBox="1"/>
          <p:nvPr/>
        </p:nvSpPr>
        <p:spPr>
          <a:xfrm>
            <a:off x="841248" y="4773082"/>
            <a:ext cx="5071719" cy="219456"/>
          </a:xfrm>
          <a:prstGeom prst="rect">
            <a:avLst/>
          </a:prstGeom>
          <a:noFill/>
        </p:spPr>
        <p:txBody>
          <a:bodyPr wrap="square" anchor="t" lIns="0" rIns="0" tIns="0" bIns="0">
            <a:spAutoFit/>
          </a:bodyPr>
          <a:lstStyle/>
          <a:p>
            <a:pPr algn="l">
              <a:spcBef>
                <a:spcPts val="0"/>
              </a:spcBef>
              <a:spcAft>
                <a:spcPts val="0"/>
              </a:spcAft>
            </a:pPr>
            <a:r>
              <a:rPr sz="800" b="1" i="0" spc="200">
                <a:solidFill>
                  <a:srgbClr val="F2A93C"/>
                </a:solidFill>
                <a:latin typeface="Bahnschrift"/>
              </a:rPr>
              <a:t>PAGE 23</a:t>
            </a:r>
          </a:p>
        </p:txBody>
      </p:sp>
      <p:sp>
        <p:nvSpPr>
          <p:cNvPr id="18" name="TextBox 17"/>
          <p:cNvSpPr txBox="1"/>
          <p:nvPr/>
        </p:nvSpPr>
        <p:spPr>
          <a:xfrm>
            <a:off x="841248" y="4992538"/>
            <a:ext cx="5071719" cy="777240"/>
          </a:xfrm>
          <a:prstGeom prst="rect">
            <a:avLst/>
          </a:prstGeom>
          <a:noFill/>
        </p:spPr>
        <p:txBody>
          <a:bodyPr wrap="square" anchor="t" lIns="0" rIns="0" tIns="0" bIns="0">
            <a:spAutoFit/>
          </a:bodyPr>
          <a:lstStyle/>
          <a:p>
            <a:pPr algn="l">
              <a:lnSpc>
                <a:spcPct val="106000"/>
              </a:lnSpc>
              <a:spcBef>
                <a:spcPts val="0"/>
              </a:spcBef>
              <a:spcAft>
                <a:spcPts val="0"/>
              </a:spcAft>
            </a:pPr>
            <a:r>
              <a:rPr sz="1000" b="0" i="0">
                <a:solidFill>
                  <a:srgbClr val="16233B"/>
                </a:solidFill>
                <a:latin typeface="Georgia"/>
              </a:rPr>
              <a:t>The scoring method, explained to the client in plain language.</a:t>
            </a:r>
          </a:p>
        </p:txBody>
      </p:sp>
      <p:sp>
        <p:nvSpPr>
          <p:cNvPr id="19" name="Rectangle 18"/>
          <p:cNvSpPr/>
          <p:nvPr/>
        </p:nvSpPr>
        <p:spPr>
          <a:xfrm>
            <a:off x="6278727" y="1773936"/>
            <a:ext cx="5071719" cy="2889418"/>
          </a:xfrm>
          <a:prstGeom prst="rect">
            <a:avLst/>
          </a:prstGeom>
          <a:solidFill>
            <a:srgbClr val="F5F6FC"/>
          </a:solidFill>
          <a:ln w="9525">
            <a:solidFill>
              <a:srgbClr val="E5E7E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0" name="Picture 19" descr="snap_07_p024.png"/>
          <p:cNvPicPr>
            <a:picLocks noChangeAspect="1"/>
          </p:cNvPicPr>
          <p:nvPr/>
        </p:nvPicPr>
        <p:blipFill>
          <a:blip r:embed="rId4"/>
          <a:stretch>
            <a:fillRect/>
          </a:stretch>
        </p:blipFill>
        <p:spPr>
          <a:xfrm>
            <a:off x="6297015" y="1802511"/>
            <a:ext cx="5035143" cy="2832268"/>
          </a:xfrm>
          <a:prstGeom prst="rect">
            <a:avLst/>
          </a:prstGeom>
        </p:spPr>
      </p:pic>
      <p:sp>
        <p:nvSpPr>
          <p:cNvPr id="21" name="TextBox 20"/>
          <p:cNvSpPr txBox="1"/>
          <p:nvPr/>
        </p:nvSpPr>
        <p:spPr>
          <a:xfrm>
            <a:off x="6278727" y="4773082"/>
            <a:ext cx="5071719" cy="219456"/>
          </a:xfrm>
          <a:prstGeom prst="rect">
            <a:avLst/>
          </a:prstGeom>
          <a:noFill/>
        </p:spPr>
        <p:txBody>
          <a:bodyPr wrap="square" anchor="t" lIns="0" rIns="0" tIns="0" bIns="0">
            <a:spAutoFit/>
          </a:bodyPr>
          <a:lstStyle/>
          <a:p>
            <a:pPr algn="l">
              <a:spcBef>
                <a:spcPts val="0"/>
              </a:spcBef>
              <a:spcAft>
                <a:spcPts val="0"/>
              </a:spcAft>
            </a:pPr>
            <a:r>
              <a:rPr sz="800" b="1" i="0" spc="200">
                <a:solidFill>
                  <a:srgbClr val="F2A93C"/>
                </a:solidFill>
                <a:latin typeface="Bahnschrift"/>
              </a:rPr>
              <a:t>PAGE 24</a:t>
            </a:r>
          </a:p>
        </p:txBody>
      </p:sp>
      <p:sp>
        <p:nvSpPr>
          <p:cNvPr id="22" name="TextBox 21"/>
          <p:cNvSpPr txBox="1"/>
          <p:nvPr/>
        </p:nvSpPr>
        <p:spPr>
          <a:xfrm>
            <a:off x="6278727" y="4992538"/>
            <a:ext cx="5071719" cy="777240"/>
          </a:xfrm>
          <a:prstGeom prst="rect">
            <a:avLst/>
          </a:prstGeom>
          <a:noFill/>
        </p:spPr>
        <p:txBody>
          <a:bodyPr wrap="square" anchor="t" lIns="0" rIns="0" tIns="0" bIns="0">
            <a:spAutoFit/>
          </a:bodyPr>
          <a:lstStyle/>
          <a:p>
            <a:pPr algn="l">
              <a:lnSpc>
                <a:spcPct val="106000"/>
              </a:lnSpc>
              <a:spcBef>
                <a:spcPts val="0"/>
              </a:spcBef>
              <a:spcAft>
                <a:spcPts val="0"/>
              </a:spcAft>
            </a:pPr>
            <a:r>
              <a:rPr sz="1000" b="0" i="0">
                <a:solidFill>
                  <a:srgbClr val="16233B"/>
                </a:solidFill>
                <a:latin typeface="Georgia"/>
              </a:rPr>
              <a:t>Every holding with its score, its call, and the desk's one-line read.</a:t>
            </a:r>
          </a:p>
        </p:txBody>
      </p:sp>
      <p:sp>
        <p:nvSpPr>
          <p:cNvPr id="23" name="TextBox 22"/>
          <p:cNvSpPr txBox="1"/>
          <p:nvPr/>
        </p:nvSpPr>
        <p:spPr>
          <a:xfrm>
            <a:off x="841248" y="6089904"/>
            <a:ext cx="10509199" cy="219456"/>
          </a:xfrm>
          <a:prstGeom prst="rect">
            <a:avLst/>
          </a:prstGeom>
          <a:noFill/>
        </p:spPr>
        <p:txBody>
          <a:bodyPr wrap="square" anchor="t" lIns="0" rIns="0" tIns="0" bIns="0">
            <a:spAutoFit/>
          </a:bodyPr>
          <a:lstStyle/>
          <a:p>
            <a:pPr algn="l">
              <a:spcBef>
                <a:spcPts val="0"/>
              </a:spcBef>
              <a:spcAft>
                <a:spcPts val="0"/>
              </a:spcAft>
            </a:pPr>
            <a:r>
              <a:rPr sz="700" b="0" i="0">
                <a:solidFill>
                  <a:srgbClr val="6B7280"/>
                </a:solidFill>
                <a:latin typeface="Bahnschrift"/>
              </a:rPr>
              <a:t>Rendered from the house demo book on an aggressive mandate. Synthetic holdings, real engine, real template.</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logo_clean.png"/>
          <p:cNvPicPr>
            <a:picLocks noChangeAspect="1"/>
          </p:cNvPicPr>
          <p:nvPr/>
        </p:nvPicPr>
        <p:blipFill>
          <a:blip r:embed="rId2"/>
          <a:stretch>
            <a:fillRect/>
          </a:stretch>
        </p:blipFill>
        <p:spPr>
          <a:xfrm>
            <a:off x="9674809" y="365760"/>
            <a:ext cx="1629918" cy="283464"/>
          </a:xfrm>
          <a:prstGeom prst="rect">
            <a:avLst/>
          </a:prstGeom>
        </p:spPr>
      </p:pic>
      <p:sp>
        <p:nvSpPr>
          <p:cNvPr id="4" name="TextBox 3"/>
          <p:cNvSpPr txBox="1"/>
          <p:nvPr/>
        </p:nvSpPr>
        <p:spPr>
          <a:xfrm>
            <a:off x="4541367" y="128016"/>
            <a:ext cx="3108960" cy="182880"/>
          </a:xfrm>
          <a:prstGeom prst="rect">
            <a:avLst/>
          </a:prstGeom>
          <a:noFill/>
        </p:spPr>
        <p:txBody>
          <a:bodyPr wrap="square" anchor="t" lIns="0" rIns="0" tIns="0" bIns="0">
            <a:spAutoFit/>
          </a:bodyPr>
          <a:lstStyle/>
          <a:p>
            <a:pPr algn="ctr">
              <a:spcBef>
                <a:spcPts val="0"/>
              </a:spcBef>
              <a:spcAft>
                <a:spcPts val="0"/>
              </a:spcAft>
            </a:pPr>
            <a:r>
              <a:rPr sz="750" b="0" i="0">
                <a:solidFill>
                  <a:srgbClr val="6B7280"/>
                </a:solidFill>
                <a:latin typeface="Bahnschrift"/>
              </a:rPr>
              <a:t>Private &amp; Confidential</a:t>
            </a:r>
          </a:p>
        </p:txBody>
      </p:sp>
      <p:sp>
        <p:nvSpPr>
          <p:cNvPr id="5" name="TextBox 4"/>
          <p:cNvSpPr txBox="1"/>
          <p:nvPr/>
        </p:nvSpPr>
        <p:spPr>
          <a:xfrm>
            <a:off x="7863840" y="274320"/>
            <a:ext cx="1749247" cy="201168"/>
          </a:xfrm>
          <a:prstGeom prst="rect">
            <a:avLst/>
          </a:prstGeom>
          <a:noFill/>
        </p:spPr>
        <p:txBody>
          <a:bodyPr wrap="square" anchor="t" lIns="0" rIns="0" tIns="0" bIns="0">
            <a:spAutoFit/>
          </a:bodyPr>
          <a:lstStyle/>
          <a:p>
            <a:pPr algn="r">
              <a:spcBef>
                <a:spcPts val="0"/>
              </a:spcBef>
              <a:spcAft>
                <a:spcPts val="0"/>
              </a:spcAft>
            </a:pPr>
            <a:r>
              <a:rPr sz="750" b="1" i="0" spc="120">
                <a:solidFill>
                  <a:srgbClr val="8C95DE"/>
                </a:solidFill>
                <a:latin typeface="Bahnschrift"/>
              </a:rPr>
              <a:t>04 · THE DELIVERABLE</a:t>
            </a:r>
          </a:p>
        </p:txBody>
      </p:sp>
      <p:sp>
        <p:nvSpPr>
          <p:cNvPr id="6" name="Rectangle 5"/>
          <p:cNvSpPr/>
          <p:nvPr/>
        </p:nvSpPr>
        <p:spPr>
          <a:xfrm>
            <a:off x="8549640" y="512064"/>
            <a:ext cx="137160" cy="20116"/>
          </a:xfrm>
          <a:prstGeom prst="rect">
            <a:avLst/>
          </a:prstGeom>
          <a:solidFill>
            <a:srgbClr val="E5E7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8732519" y="512064"/>
            <a:ext cx="137160" cy="20116"/>
          </a:xfrm>
          <a:prstGeom prst="rect">
            <a:avLst/>
          </a:prstGeom>
          <a:solidFill>
            <a:srgbClr val="E5E7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8915400" y="512064"/>
            <a:ext cx="137160" cy="20116"/>
          </a:xfrm>
          <a:prstGeom prst="rect">
            <a:avLst/>
          </a:prstGeom>
          <a:solidFill>
            <a:srgbClr val="E5E7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9098280" y="512064"/>
            <a:ext cx="137160" cy="20116"/>
          </a:xfrm>
          <a:prstGeom prst="rect">
            <a:avLst/>
          </a:prstGeom>
          <a:solidFill>
            <a:srgbClr val="1B27A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9281160" y="512064"/>
            <a:ext cx="137160" cy="20116"/>
          </a:xfrm>
          <a:prstGeom prst="rect">
            <a:avLst/>
          </a:prstGeom>
          <a:solidFill>
            <a:srgbClr val="E5E7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41248" y="420624"/>
            <a:ext cx="6858000" cy="502920"/>
          </a:xfrm>
          <a:prstGeom prst="rect">
            <a:avLst/>
          </a:prstGeom>
          <a:noFill/>
        </p:spPr>
        <p:txBody>
          <a:bodyPr wrap="square" anchor="t" lIns="0" rIns="0" tIns="0" bIns="0">
            <a:spAutoFit/>
          </a:bodyPr>
          <a:lstStyle/>
          <a:p>
            <a:pPr algn="l">
              <a:spcBef>
                <a:spcPts val="0"/>
              </a:spcBef>
              <a:spcAft>
                <a:spcPts val="0"/>
              </a:spcAft>
            </a:pPr>
            <a:r>
              <a:rPr sz="2600" b="1" i="0">
                <a:solidFill>
                  <a:srgbClr val="1B27A3"/>
                </a:solidFill>
                <a:latin typeface="Bahnschrift"/>
              </a:rPr>
              <a:t>Sample pages</a:t>
            </a:r>
          </a:p>
        </p:txBody>
      </p:sp>
      <p:sp>
        <p:nvSpPr>
          <p:cNvPr id="12" name="TextBox 11"/>
          <p:cNvSpPr txBox="1"/>
          <p:nvPr/>
        </p:nvSpPr>
        <p:spPr>
          <a:xfrm>
            <a:off x="841248" y="950976"/>
            <a:ext cx="9692640" cy="411480"/>
          </a:xfrm>
          <a:prstGeom prst="rect">
            <a:avLst/>
          </a:prstGeom>
          <a:noFill/>
        </p:spPr>
        <p:txBody>
          <a:bodyPr wrap="square" anchor="t" lIns="0" rIns="0" tIns="0" bIns="0">
            <a:spAutoFit/>
          </a:bodyPr>
          <a:lstStyle/>
          <a:p>
            <a:pPr algn="l">
              <a:spcBef>
                <a:spcPts val="0"/>
              </a:spcBef>
              <a:spcAft>
                <a:spcPts val="0"/>
              </a:spcAft>
            </a:pPr>
            <a:r>
              <a:rPr sz="1750" b="1" i="0">
                <a:solidFill>
                  <a:srgbClr val="F2A93C"/>
                </a:solidFill>
                <a:latin typeface="Bahnschrift"/>
              </a:rPr>
              <a:t>How it looks in the client's hands  (5 of 7)</a:t>
            </a:r>
          </a:p>
        </p:txBody>
      </p:sp>
      <p:sp>
        <p:nvSpPr>
          <p:cNvPr id="13" name="Rectangle 12"/>
          <p:cNvSpPr/>
          <p:nvPr/>
        </p:nvSpPr>
        <p:spPr>
          <a:xfrm>
            <a:off x="841248" y="1408176"/>
            <a:ext cx="10509199" cy="21945"/>
          </a:xfrm>
          <a:prstGeom prst="rect">
            <a:avLst/>
          </a:prstGeom>
          <a:solidFill>
            <a:srgbClr val="1B27A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9155887" y="6528816"/>
            <a:ext cx="2194560" cy="182880"/>
          </a:xfrm>
          <a:prstGeom prst="rect">
            <a:avLst/>
          </a:prstGeom>
          <a:noFill/>
        </p:spPr>
        <p:txBody>
          <a:bodyPr wrap="square" anchor="t" lIns="0" rIns="0" tIns="0" bIns="0">
            <a:spAutoFit/>
          </a:bodyPr>
          <a:lstStyle/>
          <a:p>
            <a:pPr algn="r">
              <a:spcBef>
                <a:spcPts val="0"/>
              </a:spcBef>
              <a:spcAft>
                <a:spcPts val="0"/>
              </a:spcAft>
            </a:pPr>
            <a:r>
              <a:rPr sz="750" b="0" i="0">
                <a:solidFill>
                  <a:srgbClr val="6B7280"/>
                </a:solidFill>
                <a:latin typeface="Bahnschrift"/>
              </a:rPr>
              <a:t>Portfolio Review  ·  23</a:t>
            </a:r>
          </a:p>
        </p:txBody>
      </p:sp>
      <p:sp>
        <p:nvSpPr>
          <p:cNvPr id="15" name="Rectangle 14"/>
          <p:cNvSpPr/>
          <p:nvPr/>
        </p:nvSpPr>
        <p:spPr>
          <a:xfrm>
            <a:off x="841248" y="1773936"/>
            <a:ext cx="5071719" cy="2889418"/>
          </a:xfrm>
          <a:prstGeom prst="rect">
            <a:avLst/>
          </a:prstGeom>
          <a:solidFill>
            <a:srgbClr val="F5F6FC"/>
          </a:solidFill>
          <a:ln w="9525">
            <a:solidFill>
              <a:srgbClr val="E5E7E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6" name="Picture 15" descr="snap_08_p026.png"/>
          <p:cNvPicPr>
            <a:picLocks noChangeAspect="1"/>
          </p:cNvPicPr>
          <p:nvPr/>
        </p:nvPicPr>
        <p:blipFill>
          <a:blip r:embed="rId3"/>
          <a:stretch>
            <a:fillRect/>
          </a:stretch>
        </p:blipFill>
        <p:spPr>
          <a:xfrm>
            <a:off x="859536" y="1802511"/>
            <a:ext cx="5035143" cy="2832268"/>
          </a:xfrm>
          <a:prstGeom prst="rect">
            <a:avLst/>
          </a:prstGeom>
        </p:spPr>
      </p:pic>
      <p:sp>
        <p:nvSpPr>
          <p:cNvPr id="17" name="TextBox 16"/>
          <p:cNvSpPr txBox="1"/>
          <p:nvPr/>
        </p:nvSpPr>
        <p:spPr>
          <a:xfrm>
            <a:off x="841248" y="4773082"/>
            <a:ext cx="5071719" cy="219456"/>
          </a:xfrm>
          <a:prstGeom prst="rect">
            <a:avLst/>
          </a:prstGeom>
          <a:noFill/>
        </p:spPr>
        <p:txBody>
          <a:bodyPr wrap="square" anchor="t" lIns="0" rIns="0" tIns="0" bIns="0">
            <a:spAutoFit/>
          </a:bodyPr>
          <a:lstStyle/>
          <a:p>
            <a:pPr algn="l">
              <a:spcBef>
                <a:spcPts val="0"/>
              </a:spcBef>
              <a:spcAft>
                <a:spcPts val="0"/>
              </a:spcAft>
            </a:pPr>
            <a:r>
              <a:rPr sz="800" b="1" i="0" spc="200">
                <a:solidFill>
                  <a:srgbClr val="F2A93C"/>
                </a:solidFill>
                <a:latin typeface="Bahnschrift"/>
              </a:rPr>
              <a:t>PAGE 26</a:t>
            </a:r>
          </a:p>
        </p:txBody>
      </p:sp>
      <p:sp>
        <p:nvSpPr>
          <p:cNvPr id="18" name="TextBox 17"/>
          <p:cNvSpPr txBox="1"/>
          <p:nvPr/>
        </p:nvSpPr>
        <p:spPr>
          <a:xfrm>
            <a:off x="841248" y="4992538"/>
            <a:ext cx="5071719" cy="777240"/>
          </a:xfrm>
          <a:prstGeom prst="rect">
            <a:avLst/>
          </a:prstGeom>
          <a:noFill/>
        </p:spPr>
        <p:txBody>
          <a:bodyPr wrap="square" anchor="t" lIns="0" rIns="0" tIns="0" bIns="0">
            <a:spAutoFit/>
          </a:bodyPr>
          <a:lstStyle/>
          <a:p>
            <a:pPr algn="l">
              <a:lnSpc>
                <a:spcPct val="106000"/>
              </a:lnSpc>
              <a:spcBef>
                <a:spcPts val="0"/>
              </a:spcBef>
              <a:spcAft>
                <a:spcPts val="0"/>
              </a:spcAft>
            </a:pPr>
            <a:r>
              <a:rPr sz="1000" b="0" i="0">
                <a:solidFill>
                  <a:srgbClr val="16233B"/>
                </a:solidFill>
                <a:latin typeface="Georgia"/>
              </a:rPr>
              <a:t>The sell list. Confirmed sells only, each linked to its full rationale page.</a:t>
            </a:r>
          </a:p>
        </p:txBody>
      </p:sp>
      <p:sp>
        <p:nvSpPr>
          <p:cNvPr id="19" name="Rectangle 18"/>
          <p:cNvSpPr/>
          <p:nvPr/>
        </p:nvSpPr>
        <p:spPr>
          <a:xfrm>
            <a:off x="6278727" y="1773936"/>
            <a:ext cx="5071719" cy="2889418"/>
          </a:xfrm>
          <a:prstGeom prst="rect">
            <a:avLst/>
          </a:prstGeom>
          <a:solidFill>
            <a:srgbClr val="F5F6FC"/>
          </a:solidFill>
          <a:ln w="9525">
            <a:solidFill>
              <a:srgbClr val="E5E7E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0" name="Picture 19" descr="snap_09_p015.png"/>
          <p:cNvPicPr>
            <a:picLocks noChangeAspect="1"/>
          </p:cNvPicPr>
          <p:nvPr/>
        </p:nvPicPr>
        <p:blipFill>
          <a:blip r:embed="rId4"/>
          <a:stretch>
            <a:fillRect/>
          </a:stretch>
        </p:blipFill>
        <p:spPr>
          <a:xfrm>
            <a:off x="6297015" y="1802511"/>
            <a:ext cx="5035143" cy="2832268"/>
          </a:xfrm>
          <a:prstGeom prst="rect">
            <a:avLst/>
          </a:prstGeom>
        </p:spPr>
      </p:pic>
      <p:sp>
        <p:nvSpPr>
          <p:cNvPr id="21" name="TextBox 20"/>
          <p:cNvSpPr txBox="1"/>
          <p:nvPr/>
        </p:nvSpPr>
        <p:spPr>
          <a:xfrm>
            <a:off x="6278727" y="4773082"/>
            <a:ext cx="5071719" cy="219456"/>
          </a:xfrm>
          <a:prstGeom prst="rect">
            <a:avLst/>
          </a:prstGeom>
          <a:noFill/>
        </p:spPr>
        <p:txBody>
          <a:bodyPr wrap="square" anchor="t" lIns="0" rIns="0" tIns="0" bIns="0">
            <a:spAutoFit/>
          </a:bodyPr>
          <a:lstStyle/>
          <a:p>
            <a:pPr algn="l">
              <a:spcBef>
                <a:spcPts val="0"/>
              </a:spcBef>
              <a:spcAft>
                <a:spcPts val="0"/>
              </a:spcAft>
            </a:pPr>
            <a:r>
              <a:rPr sz="800" b="1" i="0" spc="200">
                <a:solidFill>
                  <a:srgbClr val="F2A93C"/>
                </a:solidFill>
                <a:latin typeface="Bahnschrift"/>
              </a:rPr>
              <a:t>PAGE 15</a:t>
            </a:r>
          </a:p>
        </p:txBody>
      </p:sp>
      <p:sp>
        <p:nvSpPr>
          <p:cNvPr id="22" name="TextBox 21"/>
          <p:cNvSpPr txBox="1"/>
          <p:nvPr/>
        </p:nvSpPr>
        <p:spPr>
          <a:xfrm>
            <a:off x="6278727" y="4992538"/>
            <a:ext cx="5071719" cy="777240"/>
          </a:xfrm>
          <a:prstGeom prst="rect">
            <a:avLst/>
          </a:prstGeom>
          <a:noFill/>
        </p:spPr>
        <p:txBody>
          <a:bodyPr wrap="square" anchor="t" lIns="0" rIns="0" tIns="0" bIns="0">
            <a:spAutoFit/>
          </a:bodyPr>
          <a:lstStyle/>
          <a:p>
            <a:pPr algn="l">
              <a:lnSpc>
                <a:spcPct val="106000"/>
              </a:lnSpc>
              <a:spcBef>
                <a:spcPts val="0"/>
              </a:spcBef>
              <a:spcAft>
                <a:spcPts val="0"/>
              </a:spcAft>
            </a:pPr>
            <a:r>
              <a:rPr sz="1000" b="0" i="0">
                <a:solidFill>
                  <a:srgbClr val="16233B"/>
                </a:solidFill>
                <a:latin typeface="Georgia"/>
              </a:rPr>
              <a:t>The fund book: a 0-100 quality score and a grade for every scheme.</a:t>
            </a:r>
          </a:p>
        </p:txBody>
      </p:sp>
      <p:sp>
        <p:nvSpPr>
          <p:cNvPr id="23" name="TextBox 22"/>
          <p:cNvSpPr txBox="1"/>
          <p:nvPr/>
        </p:nvSpPr>
        <p:spPr>
          <a:xfrm>
            <a:off x="841248" y="6089904"/>
            <a:ext cx="10509199" cy="219456"/>
          </a:xfrm>
          <a:prstGeom prst="rect">
            <a:avLst/>
          </a:prstGeom>
          <a:noFill/>
        </p:spPr>
        <p:txBody>
          <a:bodyPr wrap="square" anchor="t" lIns="0" rIns="0" tIns="0" bIns="0">
            <a:spAutoFit/>
          </a:bodyPr>
          <a:lstStyle/>
          <a:p>
            <a:pPr algn="l">
              <a:spcBef>
                <a:spcPts val="0"/>
              </a:spcBef>
              <a:spcAft>
                <a:spcPts val="0"/>
              </a:spcAft>
            </a:pPr>
            <a:r>
              <a:rPr sz="700" b="0" i="0">
                <a:solidFill>
                  <a:srgbClr val="6B7280"/>
                </a:solidFill>
                <a:latin typeface="Bahnschrift"/>
              </a:rPr>
              <a:t>Rendered from the house demo book on an aggressive mandate. Synthetic holdings, real engine, real template.</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logo_clean.png"/>
          <p:cNvPicPr>
            <a:picLocks noChangeAspect="1"/>
          </p:cNvPicPr>
          <p:nvPr/>
        </p:nvPicPr>
        <p:blipFill>
          <a:blip r:embed="rId2"/>
          <a:stretch>
            <a:fillRect/>
          </a:stretch>
        </p:blipFill>
        <p:spPr>
          <a:xfrm>
            <a:off x="9674809" y="365760"/>
            <a:ext cx="1629918" cy="283464"/>
          </a:xfrm>
          <a:prstGeom prst="rect">
            <a:avLst/>
          </a:prstGeom>
        </p:spPr>
      </p:pic>
      <p:sp>
        <p:nvSpPr>
          <p:cNvPr id="4" name="TextBox 3"/>
          <p:cNvSpPr txBox="1"/>
          <p:nvPr/>
        </p:nvSpPr>
        <p:spPr>
          <a:xfrm>
            <a:off x="4541367" y="128016"/>
            <a:ext cx="3108960" cy="182880"/>
          </a:xfrm>
          <a:prstGeom prst="rect">
            <a:avLst/>
          </a:prstGeom>
          <a:noFill/>
        </p:spPr>
        <p:txBody>
          <a:bodyPr wrap="square" anchor="t" lIns="0" rIns="0" tIns="0" bIns="0">
            <a:spAutoFit/>
          </a:bodyPr>
          <a:lstStyle/>
          <a:p>
            <a:pPr algn="ctr">
              <a:spcBef>
                <a:spcPts val="0"/>
              </a:spcBef>
              <a:spcAft>
                <a:spcPts val="0"/>
              </a:spcAft>
            </a:pPr>
            <a:r>
              <a:rPr sz="750" b="0" i="0">
                <a:solidFill>
                  <a:srgbClr val="6B7280"/>
                </a:solidFill>
                <a:latin typeface="Bahnschrift"/>
              </a:rPr>
              <a:t>Private &amp; Confidential</a:t>
            </a:r>
          </a:p>
        </p:txBody>
      </p:sp>
      <p:sp>
        <p:nvSpPr>
          <p:cNvPr id="5" name="TextBox 4"/>
          <p:cNvSpPr txBox="1"/>
          <p:nvPr/>
        </p:nvSpPr>
        <p:spPr>
          <a:xfrm>
            <a:off x="7863840" y="274320"/>
            <a:ext cx="1749247" cy="201168"/>
          </a:xfrm>
          <a:prstGeom prst="rect">
            <a:avLst/>
          </a:prstGeom>
          <a:noFill/>
        </p:spPr>
        <p:txBody>
          <a:bodyPr wrap="square" anchor="t" lIns="0" rIns="0" tIns="0" bIns="0">
            <a:spAutoFit/>
          </a:bodyPr>
          <a:lstStyle/>
          <a:p>
            <a:pPr algn="r">
              <a:spcBef>
                <a:spcPts val="0"/>
              </a:spcBef>
              <a:spcAft>
                <a:spcPts val="0"/>
              </a:spcAft>
            </a:pPr>
            <a:r>
              <a:rPr sz="750" b="1" i="0" spc="120">
                <a:solidFill>
                  <a:srgbClr val="8C95DE"/>
                </a:solidFill>
                <a:latin typeface="Bahnschrift"/>
              </a:rPr>
              <a:t>04 · THE DELIVERABLE</a:t>
            </a:r>
          </a:p>
        </p:txBody>
      </p:sp>
      <p:sp>
        <p:nvSpPr>
          <p:cNvPr id="6" name="Rectangle 5"/>
          <p:cNvSpPr/>
          <p:nvPr/>
        </p:nvSpPr>
        <p:spPr>
          <a:xfrm>
            <a:off x="8549640" y="512064"/>
            <a:ext cx="137160" cy="20116"/>
          </a:xfrm>
          <a:prstGeom prst="rect">
            <a:avLst/>
          </a:prstGeom>
          <a:solidFill>
            <a:srgbClr val="E5E7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8732519" y="512064"/>
            <a:ext cx="137160" cy="20116"/>
          </a:xfrm>
          <a:prstGeom prst="rect">
            <a:avLst/>
          </a:prstGeom>
          <a:solidFill>
            <a:srgbClr val="E5E7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8915400" y="512064"/>
            <a:ext cx="137160" cy="20116"/>
          </a:xfrm>
          <a:prstGeom prst="rect">
            <a:avLst/>
          </a:prstGeom>
          <a:solidFill>
            <a:srgbClr val="E5E7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9098280" y="512064"/>
            <a:ext cx="137160" cy="20116"/>
          </a:xfrm>
          <a:prstGeom prst="rect">
            <a:avLst/>
          </a:prstGeom>
          <a:solidFill>
            <a:srgbClr val="1B27A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9281160" y="512064"/>
            <a:ext cx="137160" cy="20116"/>
          </a:xfrm>
          <a:prstGeom prst="rect">
            <a:avLst/>
          </a:prstGeom>
          <a:solidFill>
            <a:srgbClr val="E5E7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41248" y="420624"/>
            <a:ext cx="6858000" cy="502920"/>
          </a:xfrm>
          <a:prstGeom prst="rect">
            <a:avLst/>
          </a:prstGeom>
          <a:noFill/>
        </p:spPr>
        <p:txBody>
          <a:bodyPr wrap="square" anchor="t" lIns="0" rIns="0" tIns="0" bIns="0">
            <a:spAutoFit/>
          </a:bodyPr>
          <a:lstStyle/>
          <a:p>
            <a:pPr algn="l">
              <a:spcBef>
                <a:spcPts val="0"/>
              </a:spcBef>
              <a:spcAft>
                <a:spcPts val="0"/>
              </a:spcAft>
            </a:pPr>
            <a:r>
              <a:rPr sz="2600" b="1" i="0">
                <a:solidFill>
                  <a:srgbClr val="1B27A3"/>
                </a:solidFill>
                <a:latin typeface="Bahnschrift"/>
              </a:rPr>
              <a:t>Sample pages</a:t>
            </a:r>
          </a:p>
        </p:txBody>
      </p:sp>
      <p:sp>
        <p:nvSpPr>
          <p:cNvPr id="12" name="TextBox 11"/>
          <p:cNvSpPr txBox="1"/>
          <p:nvPr/>
        </p:nvSpPr>
        <p:spPr>
          <a:xfrm>
            <a:off x="841248" y="950976"/>
            <a:ext cx="9692640" cy="411480"/>
          </a:xfrm>
          <a:prstGeom prst="rect">
            <a:avLst/>
          </a:prstGeom>
          <a:noFill/>
        </p:spPr>
        <p:txBody>
          <a:bodyPr wrap="square" anchor="t" lIns="0" rIns="0" tIns="0" bIns="0">
            <a:spAutoFit/>
          </a:bodyPr>
          <a:lstStyle/>
          <a:p>
            <a:pPr algn="l">
              <a:spcBef>
                <a:spcPts val="0"/>
              </a:spcBef>
              <a:spcAft>
                <a:spcPts val="0"/>
              </a:spcAft>
            </a:pPr>
            <a:r>
              <a:rPr sz="1750" b="1" i="0">
                <a:solidFill>
                  <a:srgbClr val="F2A93C"/>
                </a:solidFill>
                <a:latin typeface="Bahnschrift"/>
              </a:rPr>
              <a:t>How it looks in the client's hands  (6 of 7)</a:t>
            </a:r>
          </a:p>
        </p:txBody>
      </p:sp>
      <p:sp>
        <p:nvSpPr>
          <p:cNvPr id="13" name="Rectangle 12"/>
          <p:cNvSpPr/>
          <p:nvPr/>
        </p:nvSpPr>
        <p:spPr>
          <a:xfrm>
            <a:off x="841248" y="1408176"/>
            <a:ext cx="10509199" cy="21945"/>
          </a:xfrm>
          <a:prstGeom prst="rect">
            <a:avLst/>
          </a:prstGeom>
          <a:solidFill>
            <a:srgbClr val="1B27A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9155887" y="6528816"/>
            <a:ext cx="2194560" cy="182880"/>
          </a:xfrm>
          <a:prstGeom prst="rect">
            <a:avLst/>
          </a:prstGeom>
          <a:noFill/>
        </p:spPr>
        <p:txBody>
          <a:bodyPr wrap="square" anchor="t" lIns="0" rIns="0" tIns="0" bIns="0">
            <a:spAutoFit/>
          </a:bodyPr>
          <a:lstStyle/>
          <a:p>
            <a:pPr algn="r">
              <a:spcBef>
                <a:spcPts val="0"/>
              </a:spcBef>
              <a:spcAft>
                <a:spcPts val="0"/>
              </a:spcAft>
            </a:pPr>
            <a:r>
              <a:rPr sz="750" b="0" i="0">
                <a:solidFill>
                  <a:srgbClr val="6B7280"/>
                </a:solidFill>
                <a:latin typeface="Bahnschrift"/>
              </a:rPr>
              <a:t>Portfolio Review  ·  24</a:t>
            </a:r>
          </a:p>
        </p:txBody>
      </p:sp>
      <p:sp>
        <p:nvSpPr>
          <p:cNvPr id="15" name="Rectangle 14"/>
          <p:cNvSpPr/>
          <p:nvPr/>
        </p:nvSpPr>
        <p:spPr>
          <a:xfrm>
            <a:off x="841248" y="1773936"/>
            <a:ext cx="5071719" cy="2889418"/>
          </a:xfrm>
          <a:prstGeom prst="rect">
            <a:avLst/>
          </a:prstGeom>
          <a:solidFill>
            <a:srgbClr val="F5F6FC"/>
          </a:solidFill>
          <a:ln w="9525">
            <a:solidFill>
              <a:srgbClr val="E5E7E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6" name="Picture 15" descr="snap_10_p031.png"/>
          <p:cNvPicPr>
            <a:picLocks noChangeAspect="1"/>
          </p:cNvPicPr>
          <p:nvPr/>
        </p:nvPicPr>
        <p:blipFill>
          <a:blip r:embed="rId3"/>
          <a:stretch>
            <a:fillRect/>
          </a:stretch>
        </p:blipFill>
        <p:spPr>
          <a:xfrm>
            <a:off x="859536" y="1802511"/>
            <a:ext cx="5035143" cy="2832268"/>
          </a:xfrm>
          <a:prstGeom prst="rect">
            <a:avLst/>
          </a:prstGeom>
        </p:spPr>
      </p:pic>
      <p:sp>
        <p:nvSpPr>
          <p:cNvPr id="17" name="TextBox 16"/>
          <p:cNvSpPr txBox="1"/>
          <p:nvPr/>
        </p:nvSpPr>
        <p:spPr>
          <a:xfrm>
            <a:off x="841248" y="4773082"/>
            <a:ext cx="5071719" cy="219456"/>
          </a:xfrm>
          <a:prstGeom prst="rect">
            <a:avLst/>
          </a:prstGeom>
          <a:noFill/>
        </p:spPr>
        <p:txBody>
          <a:bodyPr wrap="square" anchor="t" lIns="0" rIns="0" tIns="0" bIns="0">
            <a:spAutoFit/>
          </a:bodyPr>
          <a:lstStyle/>
          <a:p>
            <a:pPr algn="l">
              <a:spcBef>
                <a:spcPts val="0"/>
              </a:spcBef>
              <a:spcAft>
                <a:spcPts val="0"/>
              </a:spcAft>
            </a:pPr>
            <a:r>
              <a:rPr sz="800" b="1" i="0" spc="200">
                <a:solidFill>
                  <a:srgbClr val="F2A93C"/>
                </a:solidFill>
                <a:latin typeface="Bahnschrift"/>
              </a:rPr>
              <a:t>PAGE 31</a:t>
            </a:r>
          </a:p>
        </p:txBody>
      </p:sp>
      <p:sp>
        <p:nvSpPr>
          <p:cNvPr id="18" name="TextBox 17"/>
          <p:cNvSpPr txBox="1"/>
          <p:nvPr/>
        </p:nvSpPr>
        <p:spPr>
          <a:xfrm>
            <a:off x="841248" y="4992538"/>
            <a:ext cx="5071719" cy="777240"/>
          </a:xfrm>
          <a:prstGeom prst="rect">
            <a:avLst/>
          </a:prstGeom>
          <a:noFill/>
        </p:spPr>
        <p:txBody>
          <a:bodyPr wrap="square" anchor="t" lIns="0" rIns="0" tIns="0" bIns="0">
            <a:spAutoFit/>
          </a:bodyPr>
          <a:lstStyle/>
          <a:p>
            <a:pPr algn="l">
              <a:lnSpc>
                <a:spcPct val="106000"/>
              </a:lnSpc>
              <a:spcBef>
                <a:spcPts val="0"/>
              </a:spcBef>
              <a:spcAft>
                <a:spcPts val="0"/>
              </a:spcAft>
            </a:pPr>
            <a:r>
              <a:rPr sz="1000" b="0" i="0">
                <a:solidFill>
                  <a:srgbClr val="16233B"/>
                </a:solidFill>
                <a:latin typeface="Georgia"/>
              </a:rPr>
              <a:t>Tax. Fund actions on the left, the direct-equity plan on the right, each scope named.</a:t>
            </a:r>
          </a:p>
        </p:txBody>
      </p:sp>
      <p:sp>
        <p:nvSpPr>
          <p:cNvPr id="19" name="Rectangle 18"/>
          <p:cNvSpPr/>
          <p:nvPr/>
        </p:nvSpPr>
        <p:spPr>
          <a:xfrm>
            <a:off x="6278727" y="1773936"/>
            <a:ext cx="5071719" cy="2889418"/>
          </a:xfrm>
          <a:prstGeom prst="rect">
            <a:avLst/>
          </a:prstGeom>
          <a:solidFill>
            <a:srgbClr val="F5F6FC"/>
          </a:solidFill>
          <a:ln w="9525">
            <a:solidFill>
              <a:srgbClr val="E5E7E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0" name="Picture 19" descr="snap_11_p032.png"/>
          <p:cNvPicPr>
            <a:picLocks noChangeAspect="1"/>
          </p:cNvPicPr>
          <p:nvPr/>
        </p:nvPicPr>
        <p:blipFill>
          <a:blip r:embed="rId4"/>
          <a:stretch>
            <a:fillRect/>
          </a:stretch>
        </p:blipFill>
        <p:spPr>
          <a:xfrm>
            <a:off x="6297015" y="1802511"/>
            <a:ext cx="5035143" cy="2832268"/>
          </a:xfrm>
          <a:prstGeom prst="rect">
            <a:avLst/>
          </a:prstGeom>
        </p:spPr>
      </p:pic>
      <p:sp>
        <p:nvSpPr>
          <p:cNvPr id="21" name="TextBox 20"/>
          <p:cNvSpPr txBox="1"/>
          <p:nvPr/>
        </p:nvSpPr>
        <p:spPr>
          <a:xfrm>
            <a:off x="6278727" y="4773082"/>
            <a:ext cx="5071719" cy="219456"/>
          </a:xfrm>
          <a:prstGeom prst="rect">
            <a:avLst/>
          </a:prstGeom>
          <a:noFill/>
        </p:spPr>
        <p:txBody>
          <a:bodyPr wrap="square" anchor="t" lIns="0" rIns="0" tIns="0" bIns="0">
            <a:spAutoFit/>
          </a:bodyPr>
          <a:lstStyle/>
          <a:p>
            <a:pPr algn="l">
              <a:spcBef>
                <a:spcPts val="0"/>
              </a:spcBef>
              <a:spcAft>
                <a:spcPts val="0"/>
              </a:spcAft>
            </a:pPr>
            <a:r>
              <a:rPr sz="800" b="1" i="0" spc="200">
                <a:solidFill>
                  <a:srgbClr val="F2A93C"/>
                </a:solidFill>
                <a:latin typeface="Bahnschrift"/>
              </a:rPr>
              <a:t>PAGE 32</a:t>
            </a:r>
          </a:p>
        </p:txBody>
      </p:sp>
      <p:sp>
        <p:nvSpPr>
          <p:cNvPr id="22" name="TextBox 21"/>
          <p:cNvSpPr txBox="1"/>
          <p:nvPr/>
        </p:nvSpPr>
        <p:spPr>
          <a:xfrm>
            <a:off x="6278727" y="4992538"/>
            <a:ext cx="5071719" cy="777240"/>
          </a:xfrm>
          <a:prstGeom prst="rect">
            <a:avLst/>
          </a:prstGeom>
          <a:noFill/>
        </p:spPr>
        <p:txBody>
          <a:bodyPr wrap="square" anchor="t" lIns="0" rIns="0" tIns="0" bIns="0">
            <a:spAutoFit/>
          </a:bodyPr>
          <a:lstStyle/>
          <a:p>
            <a:pPr algn="l">
              <a:lnSpc>
                <a:spcPct val="106000"/>
              </a:lnSpc>
              <a:spcBef>
                <a:spcPts val="0"/>
              </a:spcBef>
              <a:spcAft>
                <a:spcPts val="0"/>
              </a:spcAft>
            </a:pPr>
            <a:r>
              <a:rPr sz="1000" b="0" i="0">
                <a:solidFill>
                  <a:srgbClr val="16233B"/>
                </a:solidFill>
                <a:latin typeface="Georgia"/>
              </a:rPr>
              <a:t>The action plan, in order, with amounts and an authorisation line.</a:t>
            </a:r>
          </a:p>
        </p:txBody>
      </p:sp>
      <p:sp>
        <p:nvSpPr>
          <p:cNvPr id="23" name="TextBox 22"/>
          <p:cNvSpPr txBox="1"/>
          <p:nvPr/>
        </p:nvSpPr>
        <p:spPr>
          <a:xfrm>
            <a:off x="841248" y="6089904"/>
            <a:ext cx="10509199" cy="219456"/>
          </a:xfrm>
          <a:prstGeom prst="rect">
            <a:avLst/>
          </a:prstGeom>
          <a:noFill/>
        </p:spPr>
        <p:txBody>
          <a:bodyPr wrap="square" anchor="t" lIns="0" rIns="0" tIns="0" bIns="0">
            <a:spAutoFit/>
          </a:bodyPr>
          <a:lstStyle/>
          <a:p>
            <a:pPr algn="l">
              <a:spcBef>
                <a:spcPts val="0"/>
              </a:spcBef>
              <a:spcAft>
                <a:spcPts val="0"/>
              </a:spcAft>
            </a:pPr>
            <a:r>
              <a:rPr sz="700" b="0" i="0">
                <a:solidFill>
                  <a:srgbClr val="6B7280"/>
                </a:solidFill>
                <a:latin typeface="Bahnschrift"/>
              </a:rPr>
              <a:t>Rendered from the house demo book on an aggressive mandate. Synthetic holdings, real engine, real template.</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logo_clean.png"/>
          <p:cNvPicPr>
            <a:picLocks noChangeAspect="1"/>
          </p:cNvPicPr>
          <p:nvPr/>
        </p:nvPicPr>
        <p:blipFill>
          <a:blip r:embed="rId2"/>
          <a:stretch>
            <a:fillRect/>
          </a:stretch>
        </p:blipFill>
        <p:spPr>
          <a:xfrm>
            <a:off x="9674809" y="365760"/>
            <a:ext cx="1629918" cy="283464"/>
          </a:xfrm>
          <a:prstGeom prst="rect">
            <a:avLst/>
          </a:prstGeom>
        </p:spPr>
      </p:pic>
      <p:sp>
        <p:nvSpPr>
          <p:cNvPr id="4" name="TextBox 3"/>
          <p:cNvSpPr txBox="1"/>
          <p:nvPr/>
        </p:nvSpPr>
        <p:spPr>
          <a:xfrm>
            <a:off x="4541367" y="128016"/>
            <a:ext cx="3108960" cy="182880"/>
          </a:xfrm>
          <a:prstGeom prst="rect">
            <a:avLst/>
          </a:prstGeom>
          <a:noFill/>
        </p:spPr>
        <p:txBody>
          <a:bodyPr wrap="square" anchor="t" lIns="0" rIns="0" tIns="0" bIns="0">
            <a:spAutoFit/>
          </a:bodyPr>
          <a:lstStyle/>
          <a:p>
            <a:pPr algn="ctr">
              <a:spcBef>
                <a:spcPts val="0"/>
              </a:spcBef>
              <a:spcAft>
                <a:spcPts val="0"/>
              </a:spcAft>
            </a:pPr>
            <a:r>
              <a:rPr sz="750" b="0" i="0">
                <a:solidFill>
                  <a:srgbClr val="6B7280"/>
                </a:solidFill>
                <a:latin typeface="Bahnschrift"/>
              </a:rPr>
              <a:t>Private &amp; Confidential</a:t>
            </a:r>
          </a:p>
        </p:txBody>
      </p:sp>
      <p:sp>
        <p:nvSpPr>
          <p:cNvPr id="5" name="TextBox 4"/>
          <p:cNvSpPr txBox="1"/>
          <p:nvPr/>
        </p:nvSpPr>
        <p:spPr>
          <a:xfrm>
            <a:off x="7863840" y="274320"/>
            <a:ext cx="1749247" cy="201168"/>
          </a:xfrm>
          <a:prstGeom prst="rect">
            <a:avLst/>
          </a:prstGeom>
          <a:noFill/>
        </p:spPr>
        <p:txBody>
          <a:bodyPr wrap="square" anchor="t" lIns="0" rIns="0" tIns="0" bIns="0">
            <a:spAutoFit/>
          </a:bodyPr>
          <a:lstStyle/>
          <a:p>
            <a:pPr algn="r">
              <a:spcBef>
                <a:spcPts val="0"/>
              </a:spcBef>
              <a:spcAft>
                <a:spcPts val="0"/>
              </a:spcAft>
            </a:pPr>
            <a:r>
              <a:rPr sz="750" b="1" i="0" spc="120">
                <a:solidFill>
                  <a:srgbClr val="8C95DE"/>
                </a:solidFill>
                <a:latin typeface="Bahnschrift"/>
              </a:rPr>
              <a:t>04 · THE DELIVERABLE</a:t>
            </a:r>
          </a:p>
        </p:txBody>
      </p:sp>
      <p:sp>
        <p:nvSpPr>
          <p:cNvPr id="6" name="Rectangle 5"/>
          <p:cNvSpPr/>
          <p:nvPr/>
        </p:nvSpPr>
        <p:spPr>
          <a:xfrm>
            <a:off x="8549640" y="512064"/>
            <a:ext cx="137160" cy="20116"/>
          </a:xfrm>
          <a:prstGeom prst="rect">
            <a:avLst/>
          </a:prstGeom>
          <a:solidFill>
            <a:srgbClr val="E5E7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8732519" y="512064"/>
            <a:ext cx="137160" cy="20116"/>
          </a:xfrm>
          <a:prstGeom prst="rect">
            <a:avLst/>
          </a:prstGeom>
          <a:solidFill>
            <a:srgbClr val="E5E7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8915400" y="512064"/>
            <a:ext cx="137160" cy="20116"/>
          </a:xfrm>
          <a:prstGeom prst="rect">
            <a:avLst/>
          </a:prstGeom>
          <a:solidFill>
            <a:srgbClr val="E5E7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9098280" y="512064"/>
            <a:ext cx="137160" cy="20116"/>
          </a:xfrm>
          <a:prstGeom prst="rect">
            <a:avLst/>
          </a:prstGeom>
          <a:solidFill>
            <a:srgbClr val="1B27A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9281160" y="512064"/>
            <a:ext cx="137160" cy="20116"/>
          </a:xfrm>
          <a:prstGeom prst="rect">
            <a:avLst/>
          </a:prstGeom>
          <a:solidFill>
            <a:srgbClr val="E5E7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41248" y="420624"/>
            <a:ext cx="6858000" cy="502920"/>
          </a:xfrm>
          <a:prstGeom prst="rect">
            <a:avLst/>
          </a:prstGeom>
          <a:noFill/>
        </p:spPr>
        <p:txBody>
          <a:bodyPr wrap="square" anchor="t" lIns="0" rIns="0" tIns="0" bIns="0">
            <a:spAutoFit/>
          </a:bodyPr>
          <a:lstStyle/>
          <a:p>
            <a:pPr algn="l">
              <a:spcBef>
                <a:spcPts val="0"/>
              </a:spcBef>
              <a:spcAft>
                <a:spcPts val="0"/>
              </a:spcAft>
            </a:pPr>
            <a:r>
              <a:rPr sz="2600" b="1" i="0">
                <a:solidFill>
                  <a:srgbClr val="1B27A3"/>
                </a:solidFill>
                <a:latin typeface="Bahnschrift"/>
              </a:rPr>
              <a:t>Sample pages</a:t>
            </a:r>
          </a:p>
        </p:txBody>
      </p:sp>
      <p:sp>
        <p:nvSpPr>
          <p:cNvPr id="12" name="TextBox 11"/>
          <p:cNvSpPr txBox="1"/>
          <p:nvPr/>
        </p:nvSpPr>
        <p:spPr>
          <a:xfrm>
            <a:off x="841248" y="950976"/>
            <a:ext cx="9692640" cy="411480"/>
          </a:xfrm>
          <a:prstGeom prst="rect">
            <a:avLst/>
          </a:prstGeom>
          <a:noFill/>
        </p:spPr>
        <p:txBody>
          <a:bodyPr wrap="square" anchor="t" lIns="0" rIns="0" tIns="0" bIns="0">
            <a:spAutoFit/>
          </a:bodyPr>
          <a:lstStyle/>
          <a:p>
            <a:pPr algn="l">
              <a:spcBef>
                <a:spcPts val="0"/>
              </a:spcBef>
              <a:spcAft>
                <a:spcPts val="0"/>
              </a:spcAft>
            </a:pPr>
            <a:r>
              <a:rPr sz="1750" b="1" i="0">
                <a:solidFill>
                  <a:srgbClr val="F2A93C"/>
                </a:solidFill>
                <a:latin typeface="Bahnschrift"/>
              </a:rPr>
              <a:t>How it looks in the client's hands  (7 of 7)</a:t>
            </a:r>
          </a:p>
        </p:txBody>
      </p:sp>
      <p:sp>
        <p:nvSpPr>
          <p:cNvPr id="13" name="Rectangle 12"/>
          <p:cNvSpPr/>
          <p:nvPr/>
        </p:nvSpPr>
        <p:spPr>
          <a:xfrm>
            <a:off x="841248" y="1408176"/>
            <a:ext cx="10509199" cy="21945"/>
          </a:xfrm>
          <a:prstGeom prst="rect">
            <a:avLst/>
          </a:prstGeom>
          <a:solidFill>
            <a:srgbClr val="1B27A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9155887" y="6528816"/>
            <a:ext cx="2194560" cy="182880"/>
          </a:xfrm>
          <a:prstGeom prst="rect">
            <a:avLst/>
          </a:prstGeom>
          <a:noFill/>
        </p:spPr>
        <p:txBody>
          <a:bodyPr wrap="square" anchor="t" lIns="0" rIns="0" tIns="0" bIns="0">
            <a:spAutoFit/>
          </a:bodyPr>
          <a:lstStyle/>
          <a:p>
            <a:pPr algn="r">
              <a:spcBef>
                <a:spcPts val="0"/>
              </a:spcBef>
              <a:spcAft>
                <a:spcPts val="0"/>
              </a:spcAft>
            </a:pPr>
            <a:r>
              <a:rPr sz="750" b="0" i="0">
                <a:solidFill>
                  <a:srgbClr val="6B7280"/>
                </a:solidFill>
                <a:latin typeface="Bahnschrift"/>
              </a:rPr>
              <a:t>Portfolio Review  ·  25</a:t>
            </a:r>
          </a:p>
        </p:txBody>
      </p:sp>
      <p:sp>
        <p:nvSpPr>
          <p:cNvPr id="15" name="Rectangle 14"/>
          <p:cNvSpPr/>
          <p:nvPr/>
        </p:nvSpPr>
        <p:spPr>
          <a:xfrm>
            <a:off x="841248" y="1773936"/>
            <a:ext cx="5071719" cy="2889418"/>
          </a:xfrm>
          <a:prstGeom prst="rect">
            <a:avLst/>
          </a:prstGeom>
          <a:solidFill>
            <a:srgbClr val="F5F6FC"/>
          </a:solidFill>
          <a:ln w="9525">
            <a:solidFill>
              <a:srgbClr val="E5E7E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6" name="Picture 15" descr="snap_12_p043.png"/>
          <p:cNvPicPr>
            <a:picLocks noChangeAspect="1"/>
          </p:cNvPicPr>
          <p:nvPr/>
        </p:nvPicPr>
        <p:blipFill>
          <a:blip r:embed="rId3"/>
          <a:stretch>
            <a:fillRect/>
          </a:stretch>
        </p:blipFill>
        <p:spPr>
          <a:xfrm>
            <a:off x="859536" y="1802511"/>
            <a:ext cx="5035143" cy="2832268"/>
          </a:xfrm>
          <a:prstGeom prst="rect">
            <a:avLst/>
          </a:prstGeom>
        </p:spPr>
      </p:pic>
      <p:sp>
        <p:nvSpPr>
          <p:cNvPr id="17" name="TextBox 16"/>
          <p:cNvSpPr txBox="1"/>
          <p:nvPr/>
        </p:nvSpPr>
        <p:spPr>
          <a:xfrm>
            <a:off x="841248" y="4773082"/>
            <a:ext cx="5071719" cy="219456"/>
          </a:xfrm>
          <a:prstGeom prst="rect">
            <a:avLst/>
          </a:prstGeom>
          <a:noFill/>
        </p:spPr>
        <p:txBody>
          <a:bodyPr wrap="square" anchor="t" lIns="0" rIns="0" tIns="0" bIns="0">
            <a:spAutoFit/>
          </a:bodyPr>
          <a:lstStyle/>
          <a:p>
            <a:pPr algn="l">
              <a:spcBef>
                <a:spcPts val="0"/>
              </a:spcBef>
              <a:spcAft>
                <a:spcPts val="0"/>
              </a:spcAft>
            </a:pPr>
            <a:r>
              <a:rPr sz="800" b="1" i="0" spc="200">
                <a:solidFill>
                  <a:srgbClr val="F2A93C"/>
                </a:solidFill>
                <a:latin typeface="Bahnschrift"/>
              </a:rPr>
              <a:t>PAGE 43</a:t>
            </a:r>
          </a:p>
        </p:txBody>
      </p:sp>
      <p:sp>
        <p:nvSpPr>
          <p:cNvPr id="18" name="TextBox 17"/>
          <p:cNvSpPr txBox="1"/>
          <p:nvPr/>
        </p:nvSpPr>
        <p:spPr>
          <a:xfrm>
            <a:off x="841248" y="4992538"/>
            <a:ext cx="5071719" cy="777240"/>
          </a:xfrm>
          <a:prstGeom prst="rect">
            <a:avLst/>
          </a:prstGeom>
          <a:noFill/>
        </p:spPr>
        <p:txBody>
          <a:bodyPr wrap="square" anchor="t" lIns="0" rIns="0" tIns="0" bIns="0">
            <a:spAutoFit/>
          </a:bodyPr>
          <a:lstStyle/>
          <a:p>
            <a:pPr algn="l">
              <a:lnSpc>
                <a:spcPct val="106000"/>
              </a:lnSpc>
              <a:spcBef>
                <a:spcPts val="0"/>
              </a:spcBef>
              <a:spcAft>
                <a:spcPts val="0"/>
              </a:spcAft>
            </a:pPr>
            <a:r>
              <a:rPr sz="1000" b="0" i="0">
                <a:solidFill>
                  <a:srgbClr val="16233B"/>
                </a:solidFill>
                <a:latin typeface="Georgia"/>
              </a:rPr>
              <a:t>One card per sell: the case, the bull we rejected, the reverse-DCF, and the exit test.</a:t>
            </a:r>
          </a:p>
        </p:txBody>
      </p:sp>
      <p:sp>
        <p:nvSpPr>
          <p:cNvPr id="19" name="Rectangle 18"/>
          <p:cNvSpPr/>
          <p:nvPr/>
        </p:nvSpPr>
        <p:spPr>
          <a:xfrm>
            <a:off x="6278727" y="1773936"/>
            <a:ext cx="5071719" cy="2889418"/>
          </a:xfrm>
          <a:prstGeom prst="rect">
            <a:avLst/>
          </a:prstGeom>
          <a:solidFill>
            <a:srgbClr val="F5F6FC"/>
          </a:solidFill>
          <a:ln w="9525">
            <a:solidFill>
              <a:srgbClr val="E5E7E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0" name="Picture 19" descr="snap_13_p053.png"/>
          <p:cNvPicPr>
            <a:picLocks noChangeAspect="1"/>
          </p:cNvPicPr>
          <p:nvPr/>
        </p:nvPicPr>
        <p:blipFill>
          <a:blip r:embed="rId4"/>
          <a:stretch>
            <a:fillRect/>
          </a:stretch>
        </p:blipFill>
        <p:spPr>
          <a:xfrm>
            <a:off x="6297015" y="1802511"/>
            <a:ext cx="5035143" cy="2832268"/>
          </a:xfrm>
          <a:prstGeom prst="rect">
            <a:avLst/>
          </a:prstGeom>
        </p:spPr>
      </p:pic>
      <p:sp>
        <p:nvSpPr>
          <p:cNvPr id="21" name="TextBox 20"/>
          <p:cNvSpPr txBox="1"/>
          <p:nvPr/>
        </p:nvSpPr>
        <p:spPr>
          <a:xfrm>
            <a:off x="6278727" y="4773082"/>
            <a:ext cx="5071719" cy="219456"/>
          </a:xfrm>
          <a:prstGeom prst="rect">
            <a:avLst/>
          </a:prstGeom>
          <a:noFill/>
        </p:spPr>
        <p:txBody>
          <a:bodyPr wrap="square" anchor="t" lIns="0" rIns="0" tIns="0" bIns="0">
            <a:spAutoFit/>
          </a:bodyPr>
          <a:lstStyle/>
          <a:p>
            <a:pPr algn="l">
              <a:spcBef>
                <a:spcPts val="0"/>
              </a:spcBef>
              <a:spcAft>
                <a:spcPts val="0"/>
              </a:spcAft>
            </a:pPr>
            <a:r>
              <a:rPr sz="800" b="1" i="0" spc="200">
                <a:solidFill>
                  <a:srgbClr val="F2A93C"/>
                </a:solidFill>
                <a:latin typeface="Bahnschrift"/>
              </a:rPr>
              <a:t>PAGE 53</a:t>
            </a:r>
          </a:p>
        </p:txBody>
      </p:sp>
      <p:sp>
        <p:nvSpPr>
          <p:cNvPr id="22" name="TextBox 21"/>
          <p:cNvSpPr txBox="1"/>
          <p:nvPr/>
        </p:nvSpPr>
        <p:spPr>
          <a:xfrm>
            <a:off x="6278727" y="4992538"/>
            <a:ext cx="5071719" cy="777240"/>
          </a:xfrm>
          <a:prstGeom prst="rect">
            <a:avLst/>
          </a:prstGeom>
          <a:noFill/>
        </p:spPr>
        <p:txBody>
          <a:bodyPr wrap="square" anchor="t" lIns="0" rIns="0" tIns="0" bIns="0">
            <a:spAutoFit/>
          </a:bodyPr>
          <a:lstStyle/>
          <a:p>
            <a:pPr algn="l">
              <a:lnSpc>
                <a:spcPct val="106000"/>
              </a:lnSpc>
              <a:spcBef>
                <a:spcPts val="0"/>
              </a:spcBef>
              <a:spcAft>
                <a:spcPts val="0"/>
              </a:spcAft>
            </a:pPr>
            <a:r>
              <a:rPr sz="1000" b="0" i="0">
                <a:solidFill>
                  <a:srgbClr val="16233B"/>
                </a:solidFill>
                <a:latin typeface="Georgia"/>
              </a:rPr>
              <a:t>One scorecard per fund action, showing the metric battery behind the call.</a:t>
            </a:r>
          </a:p>
        </p:txBody>
      </p:sp>
      <p:sp>
        <p:nvSpPr>
          <p:cNvPr id="23" name="TextBox 22"/>
          <p:cNvSpPr txBox="1"/>
          <p:nvPr/>
        </p:nvSpPr>
        <p:spPr>
          <a:xfrm>
            <a:off x="841248" y="6089904"/>
            <a:ext cx="10509199" cy="219456"/>
          </a:xfrm>
          <a:prstGeom prst="rect">
            <a:avLst/>
          </a:prstGeom>
          <a:noFill/>
        </p:spPr>
        <p:txBody>
          <a:bodyPr wrap="square" anchor="t" lIns="0" rIns="0" tIns="0" bIns="0">
            <a:spAutoFit/>
          </a:bodyPr>
          <a:lstStyle/>
          <a:p>
            <a:pPr algn="l">
              <a:spcBef>
                <a:spcPts val="0"/>
              </a:spcBef>
              <a:spcAft>
                <a:spcPts val="0"/>
              </a:spcAft>
            </a:pPr>
            <a:r>
              <a:rPr sz="700" b="0" i="0">
                <a:solidFill>
                  <a:srgbClr val="6B7280"/>
                </a:solidFill>
                <a:latin typeface="Bahnschrift"/>
              </a:rPr>
              <a:t>Rendered from the house demo book on an aggressive mandate. Synthetic holdings, real engine, real template.</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019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div_art_5.png"/>
          <p:cNvPicPr>
            <a:picLocks noChangeAspect="1"/>
          </p:cNvPicPr>
          <p:nvPr/>
        </p:nvPicPr>
        <p:blipFill>
          <a:blip r:embed="rId2"/>
          <a:stretch>
            <a:fillRect/>
          </a:stretch>
        </p:blipFill>
        <p:spPr>
          <a:xfrm>
            <a:off x="6339535" y="0"/>
            <a:ext cx="5852160" cy="6858000"/>
          </a:xfrm>
          <a:prstGeom prst="rect">
            <a:avLst/>
          </a:prstGeom>
        </p:spPr>
      </p:pic>
      <p:sp>
        <p:nvSpPr>
          <p:cNvPr id="4" name="TextBox 3"/>
          <p:cNvSpPr txBox="1"/>
          <p:nvPr/>
        </p:nvSpPr>
        <p:spPr>
          <a:xfrm>
            <a:off x="4541367" y="128016"/>
            <a:ext cx="3108960" cy="182880"/>
          </a:xfrm>
          <a:prstGeom prst="rect">
            <a:avLst/>
          </a:prstGeom>
          <a:noFill/>
        </p:spPr>
        <p:txBody>
          <a:bodyPr wrap="square" anchor="t" lIns="0" rIns="0" tIns="0" bIns="0">
            <a:spAutoFit/>
          </a:bodyPr>
          <a:lstStyle/>
          <a:p>
            <a:pPr algn="ctr">
              <a:spcBef>
                <a:spcPts val="0"/>
              </a:spcBef>
              <a:spcAft>
                <a:spcPts val="0"/>
              </a:spcAft>
            </a:pPr>
            <a:r>
              <a:rPr sz="750" b="0" i="0">
                <a:solidFill>
                  <a:srgbClr val="8C95DE"/>
                </a:solidFill>
                <a:latin typeface="Bahnschrift"/>
              </a:rPr>
              <a:t>Private &amp; Confidential</a:t>
            </a:r>
          </a:p>
        </p:txBody>
      </p:sp>
      <p:sp>
        <p:nvSpPr>
          <p:cNvPr id="5" name="TextBox 4"/>
          <p:cNvSpPr txBox="1"/>
          <p:nvPr/>
        </p:nvSpPr>
        <p:spPr>
          <a:xfrm>
            <a:off x="6766560" y="868680"/>
            <a:ext cx="4583887" cy="2377440"/>
          </a:xfrm>
          <a:prstGeom prst="rect">
            <a:avLst/>
          </a:prstGeom>
          <a:noFill/>
        </p:spPr>
        <p:txBody>
          <a:bodyPr wrap="square" anchor="t" lIns="0" rIns="0" tIns="0" bIns="0">
            <a:spAutoFit/>
          </a:bodyPr>
          <a:lstStyle/>
          <a:p>
            <a:pPr algn="r">
              <a:spcBef>
                <a:spcPts val="0"/>
              </a:spcBef>
              <a:spcAft>
                <a:spcPts val="0"/>
              </a:spcAft>
            </a:pPr>
            <a:r>
              <a:rPr sz="17000" b="1" i="0">
                <a:solidFill>
                  <a:srgbClr val="242F8E"/>
                </a:solidFill>
                <a:latin typeface="Georgia"/>
              </a:rPr>
              <a:t>05</a:t>
            </a:r>
          </a:p>
        </p:txBody>
      </p:sp>
      <p:sp>
        <p:nvSpPr>
          <p:cNvPr id="6" name="TextBox 5"/>
          <p:cNvSpPr txBox="1"/>
          <p:nvPr/>
        </p:nvSpPr>
        <p:spPr>
          <a:xfrm>
            <a:off x="841248" y="2359152"/>
            <a:ext cx="5943600" cy="274320"/>
          </a:xfrm>
          <a:prstGeom prst="rect">
            <a:avLst/>
          </a:prstGeom>
          <a:noFill/>
        </p:spPr>
        <p:txBody>
          <a:bodyPr wrap="square" anchor="t" lIns="0" rIns="0" tIns="0" bIns="0">
            <a:spAutoFit/>
          </a:bodyPr>
          <a:lstStyle/>
          <a:p>
            <a:pPr algn="l">
              <a:spcBef>
                <a:spcPts val="0"/>
              </a:spcBef>
              <a:spcAft>
                <a:spcPts val="0"/>
              </a:spcAft>
            </a:pPr>
            <a:r>
              <a:rPr sz="1000" b="1" i="0" spc="250">
                <a:solidFill>
                  <a:srgbClr val="F2A93C"/>
                </a:solidFill>
                <a:latin typeface="Bahnschrift"/>
              </a:rPr>
              <a:t>SECTION 05</a:t>
            </a:r>
          </a:p>
        </p:txBody>
      </p:sp>
      <p:sp>
        <p:nvSpPr>
          <p:cNvPr id="7" name="TextBox 6"/>
          <p:cNvSpPr txBox="1"/>
          <p:nvPr/>
        </p:nvSpPr>
        <p:spPr>
          <a:xfrm>
            <a:off x="841248" y="2706624"/>
            <a:ext cx="7863840" cy="685800"/>
          </a:xfrm>
          <a:prstGeom prst="rect">
            <a:avLst/>
          </a:prstGeom>
          <a:noFill/>
        </p:spPr>
        <p:txBody>
          <a:bodyPr wrap="square" anchor="t" lIns="0" rIns="0" tIns="0" bIns="0">
            <a:spAutoFit/>
          </a:bodyPr>
          <a:lstStyle/>
          <a:p>
            <a:pPr algn="l">
              <a:spcBef>
                <a:spcPts val="0"/>
              </a:spcBef>
              <a:spcAft>
                <a:spcPts val="0"/>
              </a:spcAft>
            </a:pPr>
            <a:r>
              <a:rPr sz="3000" b="1" i="0">
                <a:solidFill>
                  <a:srgbClr val="FFFFFF"/>
                </a:solidFill>
                <a:latin typeface="Georgia"/>
              </a:rPr>
              <a:t>Controls</a:t>
            </a:r>
          </a:p>
        </p:txBody>
      </p:sp>
      <p:sp>
        <p:nvSpPr>
          <p:cNvPr id="8" name="Rectangle 7"/>
          <p:cNvSpPr/>
          <p:nvPr/>
        </p:nvSpPr>
        <p:spPr>
          <a:xfrm>
            <a:off x="841248" y="3419856"/>
            <a:ext cx="2011680" cy="25603"/>
          </a:xfrm>
          <a:prstGeom prst="rect">
            <a:avLst/>
          </a:prstGeom>
          <a:solidFill>
            <a:srgbClr val="F2A93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41248" y="3639312"/>
            <a:ext cx="7863840" cy="548640"/>
          </a:xfrm>
          <a:prstGeom prst="rect">
            <a:avLst/>
          </a:prstGeom>
          <a:noFill/>
        </p:spPr>
        <p:txBody>
          <a:bodyPr wrap="square" anchor="t" lIns="0" rIns="0" tIns="0" bIns="0">
            <a:spAutoFit/>
          </a:bodyPr>
          <a:lstStyle/>
          <a:p>
            <a:pPr algn="l">
              <a:spcBef>
                <a:spcPts val="0"/>
              </a:spcBef>
              <a:spcAft>
                <a:spcPts val="0"/>
              </a:spcAft>
            </a:pPr>
            <a:r>
              <a:rPr sz="1300" b="0" i="1">
                <a:solidFill>
                  <a:srgbClr val="C9CEF0"/>
                </a:solidFill>
                <a:latin typeface="Georgia"/>
              </a:rPr>
              <a:t>The compliance posture this product is built to</a:t>
            </a:r>
          </a:p>
        </p:txBody>
      </p:sp>
      <p:sp>
        <p:nvSpPr>
          <p:cNvPr id="10" name="TextBox 9"/>
          <p:cNvSpPr txBox="1"/>
          <p:nvPr/>
        </p:nvSpPr>
        <p:spPr>
          <a:xfrm>
            <a:off x="841248" y="4983480"/>
            <a:ext cx="7315200" cy="219456"/>
          </a:xfrm>
          <a:prstGeom prst="rect">
            <a:avLst/>
          </a:prstGeom>
          <a:noFill/>
        </p:spPr>
        <p:txBody>
          <a:bodyPr wrap="square" anchor="t" lIns="0" rIns="0" tIns="0" bIns="0">
            <a:spAutoFit/>
          </a:bodyPr>
          <a:lstStyle/>
          <a:p>
            <a:pPr algn="l">
              <a:spcBef>
                <a:spcPts val="0"/>
              </a:spcBef>
              <a:spcAft>
                <a:spcPts val="0"/>
              </a:spcAft>
            </a:pPr>
            <a:r>
              <a:rPr sz="950" b="0" i="0" spc="40">
                <a:solidFill>
                  <a:srgbClr val="C9CEF0"/>
                </a:solidFill>
                <a:latin typeface="Bahnschrift"/>
              </a:rPr>
              <a:t>Compliance posture</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logo_clean.png"/>
          <p:cNvPicPr>
            <a:picLocks noChangeAspect="1"/>
          </p:cNvPicPr>
          <p:nvPr/>
        </p:nvPicPr>
        <p:blipFill>
          <a:blip r:embed="rId2"/>
          <a:stretch>
            <a:fillRect/>
          </a:stretch>
        </p:blipFill>
        <p:spPr>
          <a:xfrm>
            <a:off x="9674809" y="365760"/>
            <a:ext cx="1629918" cy="283464"/>
          </a:xfrm>
          <a:prstGeom prst="rect">
            <a:avLst/>
          </a:prstGeom>
        </p:spPr>
      </p:pic>
      <p:sp>
        <p:nvSpPr>
          <p:cNvPr id="4" name="TextBox 3"/>
          <p:cNvSpPr txBox="1"/>
          <p:nvPr/>
        </p:nvSpPr>
        <p:spPr>
          <a:xfrm>
            <a:off x="4541367" y="128016"/>
            <a:ext cx="3108960" cy="182880"/>
          </a:xfrm>
          <a:prstGeom prst="rect">
            <a:avLst/>
          </a:prstGeom>
          <a:noFill/>
        </p:spPr>
        <p:txBody>
          <a:bodyPr wrap="square" anchor="t" lIns="0" rIns="0" tIns="0" bIns="0">
            <a:spAutoFit/>
          </a:bodyPr>
          <a:lstStyle/>
          <a:p>
            <a:pPr algn="ctr">
              <a:spcBef>
                <a:spcPts val="0"/>
              </a:spcBef>
              <a:spcAft>
                <a:spcPts val="0"/>
              </a:spcAft>
            </a:pPr>
            <a:r>
              <a:rPr sz="750" b="0" i="0">
                <a:solidFill>
                  <a:srgbClr val="6B7280"/>
                </a:solidFill>
                <a:latin typeface="Bahnschrift"/>
              </a:rPr>
              <a:t>Private &amp; Confidential</a:t>
            </a:r>
          </a:p>
        </p:txBody>
      </p:sp>
      <p:sp>
        <p:nvSpPr>
          <p:cNvPr id="5" name="TextBox 4"/>
          <p:cNvSpPr txBox="1"/>
          <p:nvPr/>
        </p:nvSpPr>
        <p:spPr>
          <a:xfrm>
            <a:off x="7863840" y="274320"/>
            <a:ext cx="1749247" cy="201168"/>
          </a:xfrm>
          <a:prstGeom prst="rect">
            <a:avLst/>
          </a:prstGeom>
          <a:noFill/>
        </p:spPr>
        <p:txBody>
          <a:bodyPr wrap="square" anchor="t" lIns="0" rIns="0" tIns="0" bIns="0">
            <a:spAutoFit/>
          </a:bodyPr>
          <a:lstStyle/>
          <a:p>
            <a:pPr algn="r">
              <a:spcBef>
                <a:spcPts val="0"/>
              </a:spcBef>
              <a:spcAft>
                <a:spcPts val="0"/>
              </a:spcAft>
            </a:pPr>
            <a:r>
              <a:rPr sz="750" b="1" i="0" spc="120">
                <a:solidFill>
                  <a:srgbClr val="8C95DE"/>
                </a:solidFill>
                <a:latin typeface="Bahnschrift"/>
              </a:rPr>
              <a:t>05 · CONTROLS AND THE ASK</a:t>
            </a:r>
          </a:p>
        </p:txBody>
      </p:sp>
      <p:sp>
        <p:nvSpPr>
          <p:cNvPr id="6" name="Rectangle 5"/>
          <p:cNvSpPr/>
          <p:nvPr/>
        </p:nvSpPr>
        <p:spPr>
          <a:xfrm>
            <a:off x="8549640" y="512064"/>
            <a:ext cx="137160" cy="20116"/>
          </a:xfrm>
          <a:prstGeom prst="rect">
            <a:avLst/>
          </a:prstGeom>
          <a:solidFill>
            <a:srgbClr val="E5E7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8732519" y="512064"/>
            <a:ext cx="137160" cy="20116"/>
          </a:xfrm>
          <a:prstGeom prst="rect">
            <a:avLst/>
          </a:prstGeom>
          <a:solidFill>
            <a:srgbClr val="E5E7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8915400" y="512064"/>
            <a:ext cx="137160" cy="20116"/>
          </a:xfrm>
          <a:prstGeom prst="rect">
            <a:avLst/>
          </a:prstGeom>
          <a:solidFill>
            <a:srgbClr val="E5E7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9098280" y="512064"/>
            <a:ext cx="137160" cy="20116"/>
          </a:xfrm>
          <a:prstGeom prst="rect">
            <a:avLst/>
          </a:prstGeom>
          <a:solidFill>
            <a:srgbClr val="E5E7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9281160" y="512064"/>
            <a:ext cx="137160" cy="20116"/>
          </a:xfrm>
          <a:prstGeom prst="rect">
            <a:avLst/>
          </a:prstGeom>
          <a:solidFill>
            <a:srgbClr val="1B27A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41248" y="420624"/>
            <a:ext cx="6858000" cy="502920"/>
          </a:xfrm>
          <a:prstGeom prst="rect">
            <a:avLst/>
          </a:prstGeom>
          <a:noFill/>
        </p:spPr>
        <p:txBody>
          <a:bodyPr wrap="square" anchor="t" lIns="0" rIns="0" tIns="0" bIns="0">
            <a:spAutoFit/>
          </a:bodyPr>
          <a:lstStyle/>
          <a:p>
            <a:pPr algn="l">
              <a:spcBef>
                <a:spcPts val="0"/>
              </a:spcBef>
              <a:spcAft>
                <a:spcPts val="0"/>
              </a:spcAft>
            </a:pPr>
            <a:r>
              <a:rPr sz="2600" b="1" i="0">
                <a:solidFill>
                  <a:srgbClr val="1B27A3"/>
                </a:solidFill>
                <a:latin typeface="Bahnschrift"/>
              </a:rPr>
              <a:t>Compliance posture</a:t>
            </a:r>
          </a:p>
        </p:txBody>
      </p:sp>
      <p:sp>
        <p:nvSpPr>
          <p:cNvPr id="12" name="TextBox 11"/>
          <p:cNvSpPr txBox="1"/>
          <p:nvPr/>
        </p:nvSpPr>
        <p:spPr>
          <a:xfrm>
            <a:off x="841248" y="950976"/>
            <a:ext cx="9692640" cy="411480"/>
          </a:xfrm>
          <a:prstGeom prst="rect">
            <a:avLst/>
          </a:prstGeom>
          <a:noFill/>
        </p:spPr>
        <p:txBody>
          <a:bodyPr wrap="square" anchor="t" lIns="0" rIns="0" tIns="0" bIns="0">
            <a:spAutoFit/>
          </a:bodyPr>
          <a:lstStyle/>
          <a:p>
            <a:pPr algn="l">
              <a:spcBef>
                <a:spcPts val="0"/>
              </a:spcBef>
              <a:spcAft>
                <a:spcPts val="0"/>
              </a:spcAft>
            </a:pPr>
            <a:r>
              <a:rPr sz="1750" b="1" i="0">
                <a:solidFill>
                  <a:srgbClr val="F2A93C"/>
                </a:solidFill>
                <a:latin typeface="Bahnschrift"/>
              </a:rPr>
              <a:t>Built for a non-discretionary mandate, and constrained accordingly</a:t>
            </a:r>
          </a:p>
        </p:txBody>
      </p:sp>
      <p:sp>
        <p:nvSpPr>
          <p:cNvPr id="13" name="Rectangle 12"/>
          <p:cNvSpPr/>
          <p:nvPr/>
        </p:nvSpPr>
        <p:spPr>
          <a:xfrm>
            <a:off x="841248" y="1408176"/>
            <a:ext cx="10509199" cy="21945"/>
          </a:xfrm>
          <a:prstGeom prst="rect">
            <a:avLst/>
          </a:prstGeom>
          <a:solidFill>
            <a:srgbClr val="1B27A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9155887" y="6528816"/>
            <a:ext cx="2194560" cy="182880"/>
          </a:xfrm>
          <a:prstGeom prst="rect">
            <a:avLst/>
          </a:prstGeom>
          <a:noFill/>
        </p:spPr>
        <p:txBody>
          <a:bodyPr wrap="square" anchor="t" lIns="0" rIns="0" tIns="0" bIns="0">
            <a:spAutoFit/>
          </a:bodyPr>
          <a:lstStyle/>
          <a:p>
            <a:pPr algn="r">
              <a:spcBef>
                <a:spcPts val="0"/>
              </a:spcBef>
              <a:spcAft>
                <a:spcPts val="0"/>
              </a:spcAft>
            </a:pPr>
            <a:r>
              <a:rPr sz="750" b="0" i="0">
                <a:solidFill>
                  <a:srgbClr val="6B7280"/>
                </a:solidFill>
                <a:latin typeface="Bahnschrift"/>
              </a:rPr>
              <a:t>Portfolio Review  ·  27</a:t>
            </a:r>
          </a:p>
        </p:txBody>
      </p:sp>
      <p:sp>
        <p:nvSpPr>
          <p:cNvPr id="15" name="TextBox 14"/>
          <p:cNvSpPr txBox="1"/>
          <p:nvPr/>
        </p:nvSpPr>
        <p:spPr>
          <a:xfrm>
            <a:off x="914400" y="1755648"/>
            <a:ext cx="3006455" cy="219456"/>
          </a:xfrm>
          <a:prstGeom prst="rect">
            <a:avLst/>
          </a:prstGeom>
          <a:noFill/>
        </p:spPr>
        <p:txBody>
          <a:bodyPr wrap="square" anchor="ctr" lIns="0" rIns="0" tIns="0" bIns="0">
            <a:spAutoFit/>
          </a:bodyPr>
          <a:lstStyle/>
          <a:p>
            <a:pPr algn="l">
              <a:spcBef>
                <a:spcPts val="0"/>
              </a:spcBef>
              <a:spcAft>
                <a:spcPts val="0"/>
              </a:spcAft>
            </a:pPr>
            <a:r>
              <a:rPr sz="800" b="1" i="0" spc="200">
                <a:solidFill>
                  <a:srgbClr val="6B7280"/>
                </a:solidFill>
                <a:latin typeface="Bahnschrift"/>
              </a:rPr>
              <a:t>CONTROL</a:t>
            </a:r>
          </a:p>
        </p:txBody>
      </p:sp>
      <p:sp>
        <p:nvSpPr>
          <p:cNvPr id="16" name="TextBox 15"/>
          <p:cNvSpPr txBox="1"/>
          <p:nvPr/>
        </p:nvSpPr>
        <p:spPr>
          <a:xfrm>
            <a:off x="4067159" y="1755648"/>
            <a:ext cx="7210135" cy="219456"/>
          </a:xfrm>
          <a:prstGeom prst="rect">
            <a:avLst/>
          </a:prstGeom>
          <a:noFill/>
        </p:spPr>
        <p:txBody>
          <a:bodyPr wrap="square" anchor="ctr" lIns="0" rIns="0" tIns="0" bIns="0">
            <a:spAutoFit/>
          </a:bodyPr>
          <a:lstStyle/>
          <a:p>
            <a:pPr algn="l">
              <a:spcBef>
                <a:spcPts val="0"/>
              </a:spcBef>
              <a:spcAft>
                <a:spcPts val="0"/>
              </a:spcAft>
            </a:pPr>
            <a:r>
              <a:rPr sz="800" b="1" i="0" spc="200">
                <a:solidFill>
                  <a:srgbClr val="6B7280"/>
                </a:solidFill>
                <a:latin typeface="Bahnschrift"/>
              </a:rPr>
              <a:t>HOW IT IS ENFORCED</a:t>
            </a:r>
          </a:p>
        </p:txBody>
      </p:sp>
      <p:sp>
        <p:nvSpPr>
          <p:cNvPr id="17" name="Rectangle 16"/>
          <p:cNvSpPr/>
          <p:nvPr/>
        </p:nvSpPr>
        <p:spPr>
          <a:xfrm>
            <a:off x="841248" y="2011680"/>
            <a:ext cx="10509199" cy="13716"/>
          </a:xfrm>
          <a:prstGeom prst="rect">
            <a:avLst/>
          </a:prstGeom>
          <a:solidFill>
            <a:srgbClr val="1B27A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914400" y="2057400"/>
            <a:ext cx="3006455" cy="475488"/>
          </a:xfrm>
          <a:prstGeom prst="rect">
            <a:avLst/>
          </a:prstGeom>
          <a:noFill/>
        </p:spPr>
        <p:txBody>
          <a:bodyPr wrap="square" anchor="ctr" lIns="0" rIns="0" tIns="0" bIns="0">
            <a:spAutoFit/>
          </a:bodyPr>
          <a:lstStyle/>
          <a:p>
            <a:pPr algn="l">
              <a:spcBef>
                <a:spcPts val="0"/>
              </a:spcBef>
              <a:spcAft>
                <a:spcPts val="0"/>
              </a:spcAft>
            </a:pPr>
            <a:r>
              <a:rPr sz="1000" b="1" i="0">
                <a:solidFill>
                  <a:srgbClr val="16233B"/>
                </a:solidFill>
                <a:latin typeface="Bahnschrift"/>
              </a:rPr>
              <a:t>No buy recommendations</a:t>
            </a:r>
          </a:p>
        </p:txBody>
      </p:sp>
      <p:sp>
        <p:nvSpPr>
          <p:cNvPr id="19" name="TextBox 18"/>
          <p:cNvSpPr txBox="1"/>
          <p:nvPr/>
        </p:nvSpPr>
        <p:spPr>
          <a:xfrm>
            <a:off x="4067159" y="2057400"/>
            <a:ext cx="7210135" cy="475488"/>
          </a:xfrm>
          <a:prstGeom prst="rect">
            <a:avLst/>
          </a:prstGeom>
          <a:noFill/>
        </p:spPr>
        <p:txBody>
          <a:bodyPr wrap="square" anchor="ctr" lIns="0" rIns="0" tIns="0" bIns="0">
            <a:spAutoFit/>
          </a:bodyPr>
          <a:lstStyle/>
          <a:p>
            <a:pPr algn="l">
              <a:spcBef>
                <a:spcPts val="0"/>
              </a:spcBef>
              <a:spcAft>
                <a:spcPts val="0"/>
              </a:spcAft>
            </a:pPr>
            <a:r>
              <a:rPr sz="1000" b="0" i="0">
                <a:solidFill>
                  <a:srgbClr val="16233B"/>
                </a:solidFill>
                <a:latin typeface="Georgia"/>
              </a:rPr>
              <a:t>The vocabulary is Sell, Trim or Hold. This is a review of holdings the client already owns, not a solicitation. The word is blocked by the client-copy scan.</a:t>
            </a:r>
          </a:p>
        </p:txBody>
      </p:sp>
      <p:sp>
        <p:nvSpPr>
          <p:cNvPr id="20" name="Rectangle 19"/>
          <p:cNvSpPr/>
          <p:nvPr/>
        </p:nvSpPr>
        <p:spPr>
          <a:xfrm>
            <a:off x="841248" y="2514600"/>
            <a:ext cx="10509199" cy="475488"/>
          </a:xfrm>
          <a:prstGeom prst="rect">
            <a:avLst/>
          </a:prstGeom>
          <a:solidFill>
            <a:srgbClr val="F5F6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914400" y="2532888"/>
            <a:ext cx="3006455" cy="475488"/>
          </a:xfrm>
          <a:prstGeom prst="rect">
            <a:avLst/>
          </a:prstGeom>
          <a:noFill/>
        </p:spPr>
        <p:txBody>
          <a:bodyPr wrap="square" anchor="ctr" lIns="0" rIns="0" tIns="0" bIns="0">
            <a:spAutoFit/>
          </a:bodyPr>
          <a:lstStyle/>
          <a:p>
            <a:pPr algn="l">
              <a:spcBef>
                <a:spcPts val="0"/>
              </a:spcBef>
              <a:spcAft>
                <a:spcPts val="0"/>
              </a:spcAft>
            </a:pPr>
            <a:r>
              <a:rPr sz="1000" b="1" i="0">
                <a:solidFill>
                  <a:srgbClr val="16233B"/>
                </a:solidFill>
                <a:latin typeface="Bahnschrift"/>
              </a:rPr>
              <a:t>No target prices</a:t>
            </a:r>
          </a:p>
        </p:txBody>
      </p:sp>
      <p:sp>
        <p:nvSpPr>
          <p:cNvPr id="22" name="TextBox 21"/>
          <p:cNvSpPr txBox="1"/>
          <p:nvPr/>
        </p:nvSpPr>
        <p:spPr>
          <a:xfrm>
            <a:off x="4067159" y="2532888"/>
            <a:ext cx="7210135" cy="475488"/>
          </a:xfrm>
          <a:prstGeom prst="rect">
            <a:avLst/>
          </a:prstGeom>
          <a:noFill/>
        </p:spPr>
        <p:txBody>
          <a:bodyPr wrap="square" anchor="ctr" lIns="0" rIns="0" tIns="0" bIns="0">
            <a:spAutoFit/>
          </a:bodyPr>
          <a:lstStyle/>
          <a:p>
            <a:pPr algn="l">
              <a:spcBef>
                <a:spcPts val="0"/>
              </a:spcBef>
              <a:spcAft>
                <a:spcPts val="0"/>
              </a:spcAft>
            </a:pPr>
            <a:r>
              <a:rPr sz="1000" b="0" i="0">
                <a:solidFill>
                  <a:srgbClr val="16233B"/>
                </a:solidFill>
                <a:latin typeface="Georgia"/>
              </a:rPr>
              <a:t>No page carries a price objective or an implied return promise. Valuation is expressed as a judgment on what the multiple already assumes.</a:t>
            </a:r>
          </a:p>
        </p:txBody>
      </p:sp>
      <p:sp>
        <p:nvSpPr>
          <p:cNvPr id="23" name="TextBox 22"/>
          <p:cNvSpPr txBox="1"/>
          <p:nvPr/>
        </p:nvSpPr>
        <p:spPr>
          <a:xfrm>
            <a:off x="914400" y="3008376"/>
            <a:ext cx="3006455" cy="475488"/>
          </a:xfrm>
          <a:prstGeom prst="rect">
            <a:avLst/>
          </a:prstGeom>
          <a:noFill/>
        </p:spPr>
        <p:txBody>
          <a:bodyPr wrap="square" anchor="ctr" lIns="0" rIns="0" tIns="0" bIns="0">
            <a:spAutoFit/>
          </a:bodyPr>
          <a:lstStyle/>
          <a:p>
            <a:pPr algn="l">
              <a:spcBef>
                <a:spcPts val="0"/>
              </a:spcBef>
              <a:spcAft>
                <a:spcPts val="0"/>
              </a:spcAft>
            </a:pPr>
            <a:r>
              <a:rPr sz="1000" b="1" i="0">
                <a:solidFill>
                  <a:srgbClr val="16233B"/>
                </a:solidFill>
                <a:latin typeface="Bahnschrift"/>
              </a:rPr>
              <a:t>Tax is flagged as an estimate</a:t>
            </a:r>
          </a:p>
        </p:txBody>
      </p:sp>
      <p:sp>
        <p:nvSpPr>
          <p:cNvPr id="24" name="TextBox 23"/>
          <p:cNvSpPr txBox="1"/>
          <p:nvPr/>
        </p:nvSpPr>
        <p:spPr>
          <a:xfrm>
            <a:off x="4067159" y="3008376"/>
            <a:ext cx="7210135" cy="475488"/>
          </a:xfrm>
          <a:prstGeom prst="rect">
            <a:avLst/>
          </a:prstGeom>
          <a:noFill/>
        </p:spPr>
        <p:txBody>
          <a:bodyPr wrap="square" anchor="ctr" lIns="0" rIns="0" tIns="0" bIns="0">
            <a:spAutoFit/>
          </a:bodyPr>
          <a:lstStyle/>
          <a:p>
            <a:pPr algn="l">
              <a:spcBef>
                <a:spcPts val="0"/>
              </a:spcBef>
              <a:spcAft>
                <a:spcPts val="0"/>
              </a:spcAft>
            </a:pPr>
            <a:r>
              <a:rPr sz="1000" b="0" i="0">
                <a:solidFill>
                  <a:srgbClr val="16233B"/>
                </a:solidFill>
                <a:latin typeface="Georgia"/>
              </a:rPr>
              <a:t>Tax characterisations are labelled indicative, with the client's own adviser named as the authority before dealing.</a:t>
            </a:r>
          </a:p>
        </p:txBody>
      </p:sp>
      <p:sp>
        <p:nvSpPr>
          <p:cNvPr id="25" name="Rectangle 24"/>
          <p:cNvSpPr/>
          <p:nvPr/>
        </p:nvSpPr>
        <p:spPr>
          <a:xfrm>
            <a:off x="841248" y="3465576"/>
            <a:ext cx="10509199" cy="475488"/>
          </a:xfrm>
          <a:prstGeom prst="rect">
            <a:avLst/>
          </a:prstGeom>
          <a:solidFill>
            <a:srgbClr val="F5F6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914400" y="3483864"/>
            <a:ext cx="3006455" cy="475488"/>
          </a:xfrm>
          <a:prstGeom prst="rect">
            <a:avLst/>
          </a:prstGeom>
          <a:noFill/>
        </p:spPr>
        <p:txBody>
          <a:bodyPr wrap="square" anchor="ctr" lIns="0" rIns="0" tIns="0" bIns="0">
            <a:spAutoFit/>
          </a:bodyPr>
          <a:lstStyle/>
          <a:p>
            <a:pPr algn="l">
              <a:spcBef>
                <a:spcPts val="0"/>
              </a:spcBef>
              <a:spcAft>
                <a:spcPts val="0"/>
              </a:spcAft>
            </a:pPr>
            <a:r>
              <a:rPr sz="1000" b="1" i="0">
                <a:solidFill>
                  <a:srgbClr val="16233B"/>
                </a:solidFill>
                <a:latin typeface="Bahnschrift"/>
              </a:rPr>
              <a:t>Gaps are disclosed, not filled</a:t>
            </a:r>
          </a:p>
        </p:txBody>
      </p:sp>
      <p:sp>
        <p:nvSpPr>
          <p:cNvPr id="27" name="TextBox 26"/>
          <p:cNvSpPr txBox="1"/>
          <p:nvPr/>
        </p:nvSpPr>
        <p:spPr>
          <a:xfrm>
            <a:off x="4067159" y="3483864"/>
            <a:ext cx="7210135" cy="475488"/>
          </a:xfrm>
          <a:prstGeom prst="rect">
            <a:avLst/>
          </a:prstGeom>
          <a:noFill/>
        </p:spPr>
        <p:txBody>
          <a:bodyPr wrap="square" anchor="ctr" lIns="0" rIns="0" tIns="0" bIns="0">
            <a:spAutoFit/>
          </a:bodyPr>
          <a:lstStyle/>
          <a:p>
            <a:pPr algn="l">
              <a:spcBef>
                <a:spcPts val="0"/>
              </a:spcBef>
              <a:spcAft>
                <a:spcPts val="0"/>
              </a:spcAft>
            </a:pPr>
            <a:r>
              <a:rPr sz="1000" b="0" i="0">
                <a:solidFill>
                  <a:srgbClr val="16233B"/>
                </a:solidFill>
                <a:latin typeface="Georgia"/>
              </a:rPr>
              <a:t>Where cost basis, coverage or fund data is missing, the deck says so on the page rather than substituting an assumption.</a:t>
            </a:r>
          </a:p>
        </p:txBody>
      </p:sp>
      <p:sp>
        <p:nvSpPr>
          <p:cNvPr id="28" name="TextBox 27"/>
          <p:cNvSpPr txBox="1"/>
          <p:nvPr/>
        </p:nvSpPr>
        <p:spPr>
          <a:xfrm>
            <a:off x="914400" y="3959352"/>
            <a:ext cx="3006455" cy="475488"/>
          </a:xfrm>
          <a:prstGeom prst="rect">
            <a:avLst/>
          </a:prstGeom>
          <a:noFill/>
        </p:spPr>
        <p:txBody>
          <a:bodyPr wrap="square" anchor="ctr" lIns="0" rIns="0" tIns="0" bIns="0">
            <a:spAutoFit/>
          </a:bodyPr>
          <a:lstStyle/>
          <a:p>
            <a:pPr algn="l">
              <a:spcBef>
                <a:spcPts val="0"/>
              </a:spcBef>
              <a:spcAft>
                <a:spcPts val="0"/>
              </a:spcAft>
            </a:pPr>
            <a:r>
              <a:rPr sz="1000" b="1" i="0">
                <a:solidFill>
                  <a:srgbClr val="16233B"/>
                </a:solidFill>
                <a:latin typeface="Bahnschrift"/>
              </a:rPr>
              <a:t>Every client copy is signed</a:t>
            </a:r>
          </a:p>
        </p:txBody>
      </p:sp>
      <p:sp>
        <p:nvSpPr>
          <p:cNvPr id="29" name="TextBox 28"/>
          <p:cNvSpPr txBox="1"/>
          <p:nvPr/>
        </p:nvSpPr>
        <p:spPr>
          <a:xfrm>
            <a:off x="4067159" y="3959352"/>
            <a:ext cx="7210135" cy="475488"/>
          </a:xfrm>
          <a:prstGeom prst="rect">
            <a:avLst/>
          </a:prstGeom>
          <a:noFill/>
        </p:spPr>
        <p:txBody>
          <a:bodyPr wrap="square" anchor="ctr" lIns="0" rIns="0" tIns="0" bIns="0">
            <a:spAutoFit/>
          </a:bodyPr>
          <a:lstStyle/>
          <a:p>
            <a:pPr algn="l">
              <a:spcBef>
                <a:spcPts val="0"/>
              </a:spcBef>
              <a:spcAft>
                <a:spcPts val="0"/>
              </a:spcAft>
            </a:pPr>
            <a:r>
              <a:rPr sz="1000" b="0" i="0">
                <a:solidFill>
                  <a:srgbClr val="16233B"/>
                </a:solidFill>
                <a:latin typeface="Georgia"/>
              </a:rPr>
              <a:t>Principal or CEO countersignature, with no standing exemption for a repeat client or a routine refresh.</a:t>
            </a:r>
          </a:p>
        </p:txBody>
      </p:sp>
      <p:sp>
        <p:nvSpPr>
          <p:cNvPr id="30" name="Rounded Rectangle 29"/>
          <p:cNvSpPr/>
          <p:nvPr/>
        </p:nvSpPr>
        <p:spPr>
          <a:xfrm>
            <a:off x="841248" y="4581144"/>
            <a:ext cx="10509199" cy="786384"/>
          </a:xfrm>
          <a:prstGeom prst="roundRect">
            <a:avLst>
              <a:gd name="adj" fmla="val 4000"/>
            </a:avLst>
          </a:prstGeom>
          <a:solidFill>
            <a:srgbClr val="FBEFD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ectangle 30"/>
          <p:cNvSpPr/>
          <p:nvPr/>
        </p:nvSpPr>
        <p:spPr>
          <a:xfrm>
            <a:off x="841248" y="4581144"/>
            <a:ext cx="54864" cy="786384"/>
          </a:xfrm>
          <a:prstGeom prst="rect">
            <a:avLst/>
          </a:prstGeom>
          <a:solidFill>
            <a:srgbClr val="F2A93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1042416" y="4709159"/>
            <a:ext cx="10143439" cy="274320"/>
          </a:xfrm>
          <a:prstGeom prst="rect">
            <a:avLst/>
          </a:prstGeom>
          <a:noFill/>
        </p:spPr>
        <p:txBody>
          <a:bodyPr wrap="square" anchor="t" lIns="0" rIns="0" tIns="0" bIns="0">
            <a:spAutoFit/>
          </a:bodyPr>
          <a:lstStyle/>
          <a:p>
            <a:pPr algn="l">
              <a:spcBef>
                <a:spcPts val="0"/>
              </a:spcBef>
              <a:spcAft>
                <a:spcPts val="0"/>
              </a:spcAft>
            </a:pPr>
            <a:r>
              <a:rPr sz="950" b="1" i="0" spc="60">
                <a:solidFill>
                  <a:srgbClr val="92400E"/>
                </a:solidFill>
                <a:latin typeface="Bahnschrift"/>
              </a:rPr>
              <a:t>THE STANDING RULE BEHIND ALL OF IT</a:t>
            </a:r>
          </a:p>
        </p:txBody>
      </p:sp>
      <p:sp>
        <p:nvSpPr>
          <p:cNvPr id="33" name="TextBox 32"/>
          <p:cNvSpPr txBox="1"/>
          <p:nvPr/>
        </p:nvSpPr>
        <p:spPr>
          <a:xfrm>
            <a:off x="1042416" y="4983480"/>
            <a:ext cx="10143439" cy="329184"/>
          </a:xfrm>
          <a:prstGeom prst="rect">
            <a:avLst/>
          </a:prstGeom>
          <a:noFill/>
        </p:spPr>
        <p:txBody>
          <a:bodyPr wrap="square" anchor="t" lIns="0" rIns="0" tIns="0" bIns="0">
            <a:spAutoFit/>
          </a:bodyPr>
          <a:lstStyle/>
          <a:p>
            <a:pPr algn="l">
              <a:lnSpc>
                <a:spcPct val="106000"/>
              </a:lnSpc>
              <a:spcBef>
                <a:spcPts val="0"/>
              </a:spcBef>
              <a:spcAft>
                <a:spcPts val="0"/>
              </a:spcAft>
            </a:pPr>
            <a:r>
              <a:rPr sz="1050" b="0" i="0">
                <a:solidFill>
                  <a:srgbClr val="16233B"/>
                </a:solidFill>
                <a:latin typeface="Georgia"/>
              </a:rPr>
              <a:t>We do not fabricate. An estimate is labelled an estimate, a gap is shown as a gap, and a number we cannot source does not go on a client page. Every control above follows from that one commitment.</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