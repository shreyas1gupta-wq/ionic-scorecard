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572000"/>
            <a:ext cx="12191695" cy="274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DBEAFE"/>
                </a:solidFill>
                <a:latin typeface="Bahnschrift"/>
              </a:rPr>
              <a:t>IONIC WEALTH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600" b="1" i="0">
                <a:solidFill>
                  <a:srgbClr val="FFFFFF"/>
                </a:solidFill>
                <a:latin typeface="Bahnschrift"/>
              </a:rPr>
              <a:t>The Stock Scorecard</a:t>
            </a:r>
          </a:p>
          <a:p>
            <a:pPr algn="l">
              <a:spcAft>
                <a:spcPts val="800"/>
              </a:spcAft>
            </a:pPr>
            <a:r>
              <a:rPr sz="2400" b="0" i="1">
                <a:solidFill>
                  <a:srgbClr val="BFDBFE"/>
                </a:solidFill>
                <a:latin typeface="Georgia"/>
              </a:rPr>
              <a:t>Methodology and end-to-end workflow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0060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BEAFE"/>
                </a:solidFill>
                <a:latin typeface="Georgia"/>
              </a:rPr>
              <a:t>A quantamental engine that scores stocks 0 to 100 and turns those scores into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BEAFE"/>
                </a:solidFill>
                <a:latin typeface="Georgia"/>
              </a:rPr>
              <a:t>Clear Sell / Trim / Hold guidance for client portfolios.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93C5FD"/>
                </a:solidFill>
                <a:latin typeface="Georgia"/>
              </a:rPr>
              <a:t>Frozen methodology v6.3 · prepared 2026-07-20 · internal team walkthrough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One engine, two jobs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What the system 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6766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450" b="0" i="0">
                <a:solidFill>
                  <a:srgbClr val="111827"/>
                </a:solidFill>
                <a:latin typeface="Georgia"/>
              </a:rPr>
              <a:t>A repeatable pipeline that scores any Nifty stock on fundamentals and technicals, then converts the score into portfolio advice.</a:t>
            </a:r>
          </a:p>
          <a:p>
            <a:pPr>
              <a:spcAft>
                <a:spcPts val="1100"/>
              </a:spcAft>
            </a:pPr>
            <a:r>
              <a:rPr sz="14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450" b="0" i="0">
                <a:solidFill>
                  <a:srgbClr val="111827"/>
                </a:solidFill>
                <a:latin typeface="Georgia"/>
              </a:rPr>
              <a:t>Two independent scores per stock, never blended in the engine:</a:t>
            </a:r>
          </a:p>
          <a:p>
            <a:pPr lvl="1">
              <a:spcAft>
                <a:spcPts val="1100"/>
              </a:spcAft>
            </a:pPr>
            <a:r>
              <a:rPr sz="1450" b="1" i="0">
                <a:solidFill>
                  <a:srgbClr val="6B7280"/>
                </a:solidFill>
                <a:latin typeface="Georgia"/>
              </a:rPr>
              <a:t>-</a:t>
            </a:r>
            <a:r>
              <a:rPr sz="1450" b="0" i="0">
                <a:solidFill>
                  <a:srgbClr val="374151"/>
                </a:solidFill>
                <a:latin typeface="Georgia"/>
              </a:rPr>
              <a:t>3-Year score, tilted to fundamentals (quality, growth, value).</a:t>
            </a:r>
          </a:p>
          <a:p>
            <a:pPr lvl="1">
              <a:spcAft>
                <a:spcPts val="1100"/>
              </a:spcAft>
            </a:pPr>
            <a:r>
              <a:rPr sz="1450" b="1" i="0">
                <a:solidFill>
                  <a:srgbClr val="6B7280"/>
                </a:solidFill>
                <a:latin typeface="Georgia"/>
              </a:rPr>
              <a:t>-</a:t>
            </a:r>
            <a:r>
              <a:rPr sz="1450" b="0" i="0">
                <a:solidFill>
                  <a:srgbClr val="374151"/>
                </a:solidFill>
                <a:latin typeface="Georgia"/>
              </a:rPr>
              <a:t>1-Year score, tilted to price behaviour and momentum.</a:t>
            </a:r>
          </a:p>
          <a:p>
            <a:pPr>
              <a:spcAft>
                <a:spcPts val="1100"/>
              </a:spcAft>
            </a:pPr>
            <a:r>
              <a:rPr sz="14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450" b="0" i="0">
                <a:solidFill>
                  <a:srgbClr val="111827"/>
                </a:solidFill>
                <a:latin typeface="Georgia"/>
              </a:rPr>
              <a:t>Every stock passes through the same steps, so two analysts on two days get the same discipline.</a:t>
            </a:r>
          </a:p>
          <a:p>
            <a:pPr>
              <a:spcAft>
                <a:spcPts val="1100"/>
              </a:spcAft>
            </a:pPr>
            <a:r>
              <a:rPr sz="14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450" b="0" i="0">
                <a:solidFill>
                  <a:srgbClr val="111827"/>
                </a:solidFill>
                <a:latin typeface="Georgia"/>
              </a:rPr>
              <a:t>Recommendation vocabulary is Sell, Trim or Hold. Never Buy.</a:t>
            </a:r>
            <a:r>
              <a:rPr sz="1350" b="0" i="1">
                <a:solidFill>
                  <a:srgbClr val="6B7280"/>
                </a:solidFill>
                <a:latin typeface="Georgia"/>
              </a:rPr>
              <a:t>This reviews existing holdings, it does not solicit new positions (NDPMS context)</a:t>
            </a:r>
          </a:p>
          <a:p>
            <a:pPr>
              <a:spcAft>
                <a:spcPts val="1100"/>
              </a:spcAft>
            </a:pPr>
            <a:r>
              <a:rPr sz="14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450" b="0" i="0">
                <a:solidFill>
                  <a:srgbClr val="111827"/>
                </a:solidFill>
                <a:latin typeface="Georgia"/>
              </a:rPr>
              <a:t>Live use so far: a real 59-stock client portfolio, plus a 66-name Nifty-100 coverage build.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1508760"/>
            <a:ext cx="4023360" cy="384048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563EB"/>
                </a:solidFill>
                <a:latin typeface="Bahnschrift"/>
              </a:rPr>
              <a:t>THE PROMISE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194560"/>
            <a:ext cx="356616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E3A8A"/>
                </a:solidFill>
                <a:latin typeface="Bahnschrift"/>
              </a:rPr>
              <a:t>Fund-manager judgment,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E3A8A"/>
                </a:solidFill>
                <a:latin typeface="Bahnschrift"/>
              </a:rPr>
              <a:t>Delivered with the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E3A8A"/>
                </a:solidFill>
                <a:latin typeface="Bahnschrift"/>
              </a:rPr>
              <a:t>Consistency of a machine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111827"/>
                </a:solidFill>
                <a:latin typeface="Georgia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374151"/>
                </a:solidFill>
                <a:latin typeface="Georgia"/>
              </a:rPr>
              <a:t>Systematic scoring removes the coin-flips; human review keeps the judgment.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Six stages, from raw data to a signed client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The workflow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554480"/>
            <a:ext cx="1700784" cy="1234440"/>
          </a:xfrm>
          <a:prstGeom prst="roundRect">
            <a:avLst>
              <a:gd name="adj" fmla="val 9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709928"/>
            <a:ext cx="170078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67128"/>
            <a:ext cx="170078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Bahnschrift"/>
              </a:rPr>
              <a:t>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78024"/>
            <a:ext cx="170078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DBEAFE"/>
                </a:solidFill>
                <a:latin typeface="Georgia"/>
              </a:rPr>
              <a:t>Screener feed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267712" y="2075688"/>
            <a:ext cx="140817" cy="201168"/>
          </a:xfrm>
          <a:prstGeom prst="rightArrow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426817" y="1554480"/>
            <a:ext cx="1700784" cy="1234440"/>
          </a:xfrm>
          <a:prstGeom prst="roundRect">
            <a:avLst>
              <a:gd name="adj" fmla="val 9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6817" y="1709928"/>
            <a:ext cx="170078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6817" y="2167128"/>
            <a:ext cx="170078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Bahnschrift"/>
              </a:rPr>
              <a:t>Quant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6817" y="2478024"/>
            <a:ext cx="170078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DBEAFE"/>
                </a:solidFill>
                <a:latin typeface="Georgia"/>
              </a:rPr>
              <a:t>0 to 100, x2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145889" y="2075688"/>
            <a:ext cx="140817" cy="201168"/>
          </a:xfrm>
          <a:prstGeom prst="rightArrow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04995" y="1554480"/>
            <a:ext cx="1700784" cy="1234440"/>
          </a:xfrm>
          <a:prstGeom prst="roundRect">
            <a:avLst>
              <a:gd name="adj" fmla="val 9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04995" y="1709928"/>
            <a:ext cx="170078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04995" y="2167128"/>
            <a:ext cx="170078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Bahnschrift"/>
              </a:rPr>
              <a:t>AI analyst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4995" y="2478024"/>
            <a:ext cx="170078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DBEAFE"/>
                </a:solidFill>
                <a:latin typeface="Georgia"/>
              </a:rPr>
              <a:t>One per stock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024067" y="2075688"/>
            <a:ext cx="140817" cy="201168"/>
          </a:xfrm>
          <a:prstGeom prst="rightArrow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83172" y="1554480"/>
            <a:ext cx="1700784" cy="1234440"/>
          </a:xfrm>
          <a:prstGeom prst="roundRect">
            <a:avLst>
              <a:gd name="adj" fmla="val 9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83172" y="1709928"/>
            <a:ext cx="170078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3172" y="2167128"/>
            <a:ext cx="170078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Bahnschrift"/>
              </a:rPr>
              <a:t>AI fund mgr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3172" y="2478024"/>
            <a:ext cx="170078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DBEAFE"/>
                </a:solidFill>
                <a:latin typeface="Georgia"/>
              </a:rPr>
              <a:t>Trim + sizing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902244" y="2075688"/>
            <a:ext cx="140817" cy="201168"/>
          </a:xfrm>
          <a:prstGeom prst="rightArrow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61350" y="1554480"/>
            <a:ext cx="1700784" cy="1234440"/>
          </a:xfrm>
          <a:prstGeom prst="roundRect">
            <a:avLst>
              <a:gd name="adj" fmla="val 9000"/>
            </a:avLst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61350" y="1709928"/>
            <a:ext cx="170078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Bahnschrift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61350" y="2167128"/>
            <a:ext cx="170078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Bahnschrift"/>
              </a:rPr>
              <a:t>Human review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61350" y="2478024"/>
            <a:ext cx="170078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DBEAFE"/>
                </a:solidFill>
                <a:latin typeface="Georgia"/>
              </a:rPr>
              <a:t>Sign-off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9780422" y="2075688"/>
            <a:ext cx="140817" cy="201168"/>
          </a:xfrm>
          <a:prstGeom prst="rightArrow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939528" y="1554480"/>
            <a:ext cx="1700784" cy="1234440"/>
          </a:xfrm>
          <a:prstGeom prst="roundRect">
            <a:avLst>
              <a:gd name="adj" fmla="val 9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39528" y="1709928"/>
            <a:ext cx="170078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Bahnschrift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39528" y="2167128"/>
            <a:ext cx="170078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Bahnschrift"/>
              </a:rPr>
              <a:t>Deliverable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9528" y="2478024"/>
            <a:ext cx="170078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DBEAFE"/>
                </a:solidFill>
                <a:latin typeface="Georgia"/>
              </a:rPr>
              <a:t>Client + analyst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320040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Data:</a:t>
            </a:r>
            <a:r>
              <a:rPr sz="1200" b="0" i="1">
                <a:solidFill>
                  <a:srgbClr val="6B7280"/>
                </a:solidFill>
                <a:latin typeface="Georgia"/>
              </a:rPr>
              <a:t>Screener fundamentals + price history, refreshed each results season, quality-gated before use.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Quant score:</a:t>
            </a:r>
            <a:r>
              <a:rPr sz="1200" b="0" i="1">
                <a:solidFill>
                  <a:srgbClr val="6B7280"/>
                </a:solidFill>
                <a:latin typeface="Georgia"/>
              </a:rPr>
              <a:t>Seven percentile-ranked pillars, weighted two ways (3Y and 1Y), then gates and penalties.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AI analyst:</a:t>
            </a:r>
            <a:r>
              <a:rPr sz="1200" b="0" i="1">
                <a:solidFill>
                  <a:srgbClr val="6B7280"/>
                </a:solidFill>
                <a:latin typeface="Georgia"/>
              </a:rPr>
              <a:t>One sector-specialist agent researches each stock, forms a forward growth view and a Sell/Hold call.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AI fund manager:</a:t>
            </a:r>
            <a:r>
              <a:rPr sz="1200" b="0" i="1">
                <a:solidFill>
                  <a:srgbClr val="6B7280"/>
                </a:solidFill>
                <a:latin typeface="Georgia"/>
              </a:rPr>
              <a:t>Sets trim targets and portfolio-level narrative where client weights are known.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Human review:</a:t>
            </a:r>
            <a:r>
              <a:rPr sz="1200" b="0" i="1">
                <a:solidFill>
                  <a:srgbClr val="6B7280"/>
                </a:solidFill>
                <a:latin typeface="Georgia"/>
              </a:rPr>
              <a:t>The Principal signs off; nothing reaches a client without it.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Deliverable:</a:t>
            </a:r>
            <a:r>
              <a:rPr sz="1200" b="0" i="1">
                <a:solidFill>
                  <a:srgbClr val="6B7280"/>
                </a:solidFill>
                <a:latin typeface="Georgia"/>
              </a:rPr>
              <a:t>A client workbook (one score, clear actions) and a full analyst workbook (every number).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88920"/>
            <a:ext cx="12191695" cy="2743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B08D57"/>
                </a:solidFill>
                <a:latin typeface="Bahnschrift"/>
              </a:rPr>
              <a:t>PART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Bahnschrift"/>
              </a:rPr>
              <a:t>The quant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1148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BFDBFE"/>
                </a:solidFill>
                <a:latin typeface="Georgia"/>
              </a:rPr>
              <a:t>How a raw stock becomes two scores from 0 to 100.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Garbage in is the one thing a scoring engine cannot survive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Stage 1 · The data layer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6858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400" b="0" i="0">
                <a:solidFill>
                  <a:srgbClr val="111827"/>
                </a:solidFill>
                <a:latin typeface="Georgia"/>
              </a:rPr>
              <a:t>Source: Screener.in deep financials (P&amp;L, balance sheet, cash flow) plus daily adjusted prices and index data.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400" b="0" i="0">
                <a:solidFill>
                  <a:srgbClr val="111827"/>
                </a:solidFill>
                <a:latin typeface="Georgia"/>
              </a:rPr>
              <a:t>Refresh cadence is basis results, four times a year, after each earnings season closes.</a:t>
            </a:r>
            <a:r>
              <a:rPr sz="1300" b="0" i="1">
                <a:solidFill>
                  <a:srgbClr val="6B7280"/>
                </a:solidFill>
                <a:latin typeface="Georgia"/>
              </a:rPr>
              <a:t>Next full refresh approx 25 Aug 2026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400" b="0" i="0">
                <a:solidFill>
                  <a:srgbClr val="111827"/>
                </a:solidFill>
                <a:latin typeface="Georgia"/>
              </a:rPr>
              <a:t>Between refreshes, any covered name that reports gets a targeted re-scrape before it feeds a client sheet.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400" b="0" i="0">
                <a:solidFill>
                  <a:srgbClr val="111827"/>
                </a:solidFill>
                <a:latin typeface="Georgia"/>
              </a:rPr>
              <a:t>Quality gate (D-009) before any scoring use:</a:t>
            </a:r>
          </a:p>
          <a:p>
            <a:pPr lvl="1">
              <a:spcAft>
                <a:spcPts val="1000"/>
              </a:spcAft>
            </a:pPr>
            <a:r>
              <a:rPr sz="1400" b="1" i="0">
                <a:solidFill>
                  <a:srgbClr val="6B7280"/>
                </a:solidFill>
                <a:latin typeface="Georgia"/>
              </a:rPr>
              <a:t>-</a:t>
            </a:r>
            <a:r>
              <a:rPr sz="1400" b="0" i="0">
                <a:solidFill>
                  <a:srgbClr val="374151"/>
                </a:solidFill>
                <a:latin typeface="Georgia"/>
              </a:rPr>
              <a:t>Spot-check known values, confirm no look-ahead, sanity-check the schema.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400" b="0" i="0">
                <a:solidFill>
                  <a:srgbClr val="111827"/>
                </a:solidFill>
                <a:latin typeface="Georgia"/>
              </a:rPr>
              <a:t>A stale price is expected and corrected silently, it is never treated as a finding.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400" b="0" i="0">
                <a:solidFill>
                  <a:srgbClr val="111827"/>
                </a:solidFill>
                <a:latin typeface="Georgia"/>
              </a:rPr>
              <a:t>Every refresh stamps a run-date and a pass/fail record, so the book is auditable.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08760"/>
            <a:ext cx="3977639" cy="356616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69164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  <a:latin typeface="Bahnschrift"/>
              </a:rPr>
              <a:t>THE DATA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194560"/>
            <a:ext cx="3566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Same fields, every stock</a:t>
            </a:r>
          </a:p>
          <a:p>
            <a:pPr>
              <a:spcAft>
                <a:spcPts val="13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Point-in-time, no future leakage</a:t>
            </a:r>
          </a:p>
          <a:p>
            <a:pPr>
              <a:spcAft>
                <a:spcPts val="13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Refresh on results, not on whim</a:t>
            </a:r>
          </a:p>
          <a:p>
            <a:pPr>
              <a:spcAft>
                <a:spcPts val="13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Verified before it scores</a:t>
            </a:r>
          </a:p>
          <a:p>
            <a:pPr>
              <a:spcAft>
                <a:spcPts val="13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One source of truth on disk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Fundamentals lead the 3-year view; price behaviour leads the 1-year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Stage 2a · Two horizons, seven pillars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E3A8A"/>
                </a:solidFill>
                <a:latin typeface="Bahnschrift"/>
              </a:rPr>
              <a:t>Pillar weights (before regime tilt)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874519"/>
          <a:ext cx="5577839" cy="3072384"/>
        </p:xfrm>
        <a:graphic>
          <a:graphicData uri="http://schemas.openxmlformats.org/drawingml/2006/table">
            <a:tbl>
              <a:tblPr firstRow="0" bandRow="0"/>
              <a:tblGrid>
                <a:gridCol w="2935705"/>
                <a:gridCol w="1321067"/>
                <a:gridCol w="1321067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Bahnschrift"/>
                        </a:rPr>
                        <a:t>Pillar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Bahnschrift"/>
                        </a:rPr>
                        <a:t>3Y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Bahnschrift"/>
                        </a:rPr>
                        <a:t>1Y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11827"/>
                          </a:solidFill>
                          <a:latin typeface="Georgia"/>
                        </a:rPr>
                        <a:t>Quality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111827"/>
                          </a:solidFill>
                          <a:latin typeface="Georgia"/>
                        </a:rPr>
                        <a:t>20%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111827"/>
                          </a:solidFill>
                          <a:latin typeface="Georgia"/>
                        </a:rPr>
                        <a:t>16%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11827"/>
                          </a:solidFill>
                          <a:latin typeface="Georgia"/>
                        </a:rPr>
                        <a:t>Growth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111827"/>
                          </a:solidFill>
                          <a:latin typeface="Georgia"/>
                        </a:rPr>
                        <a:t>20%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111827"/>
                          </a:solidFill>
                          <a:latin typeface="Georgia"/>
                        </a:rPr>
                        <a:t>16%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11827"/>
                          </a:solidFill>
                          <a:latin typeface="Georgia"/>
                        </a:rPr>
                        <a:t>Value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111827"/>
                          </a:solidFill>
                          <a:latin typeface="Georgia"/>
                        </a:rPr>
                        <a:t>18%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111827"/>
                          </a:solidFill>
                          <a:latin typeface="Georgia"/>
                        </a:rPr>
                        <a:t>16%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11827"/>
                          </a:solidFill>
                          <a:latin typeface="Georgia"/>
                        </a:rPr>
                        <a:t>Stage / Technical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111827"/>
                          </a:solidFill>
                          <a:latin typeface="Georgia"/>
                        </a:rPr>
                        <a:t>14%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111827"/>
                          </a:solidFill>
                          <a:latin typeface="Georgia"/>
                        </a:rPr>
                        <a:t>26%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11827"/>
                          </a:solidFill>
                          <a:latin typeface="Georgia"/>
                        </a:rPr>
                        <a:t>Sector &amp; Macro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111827"/>
                          </a:solidFill>
                          <a:latin typeface="Georgia"/>
                        </a:rPr>
                        <a:t>11%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111827"/>
                          </a:solidFill>
                          <a:latin typeface="Georgia"/>
                        </a:rPr>
                        <a:t>13%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11827"/>
                          </a:solidFill>
                          <a:latin typeface="Georgia"/>
                        </a:rPr>
                        <a:t>Ownership Flow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111827"/>
                          </a:solidFill>
                          <a:latin typeface="Georgia"/>
                        </a:rPr>
                        <a:t>9%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111827"/>
                          </a:solidFill>
                          <a:latin typeface="Georgia"/>
                        </a:rPr>
                        <a:t>8%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11827"/>
                          </a:solidFill>
                          <a:latin typeface="Georgia"/>
                        </a:rPr>
                        <a:t>Accumulation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111827"/>
                          </a:solidFill>
                          <a:latin typeface="Georgia"/>
                        </a:rPr>
                        <a:t>8%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111827"/>
                          </a:solidFill>
                          <a:latin typeface="Georgia"/>
                        </a:rPr>
                        <a:t>5%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92240" y="1508760"/>
            <a:ext cx="5166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Each pillar is scored as a percentile rank against the universe, so every score is 'where this stock sits versus its peers', not a raw ratio.</a:t>
            </a:r>
          </a:p>
          <a:p>
            <a:pPr>
              <a:spcAft>
                <a:spcPts val="10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All inputs are winsorized at 2% and 98% before ranking, so a single outlier cannot claim an extreme rank.</a:t>
            </a:r>
          </a:p>
          <a:p>
            <a:pPr>
              <a:spcAft>
                <a:spcPts val="10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The 3Y book leans on Quality, Growth and Value (58% together).</a:t>
            </a:r>
          </a:p>
          <a:p>
            <a:pPr>
              <a:spcAft>
                <a:spcPts val="10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The 1Y book leans on Stage / Technical and near-term flow (39% together).</a:t>
            </a:r>
          </a:p>
          <a:p>
            <a:pPr>
              <a:spcAft>
                <a:spcPts val="10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Intrinsic value (DCF) is deliberately excluded from the machine: the mechanical version produced implausible growth figures, so it now lives as the analyst's own reverse-DCF judgment.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Quality, Growth,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Stage 2b · Pillar formulas (1 of 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E3A8A"/>
                </a:solidFill>
                <a:latin typeface="Bahnschrift"/>
              </a:rPr>
              <a:t>Quality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01368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911095"/>
            <a:ext cx="10817352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3A8A"/>
                </a:solidFill>
                <a:latin typeface="Consolas"/>
              </a:rPr>
              <a:t>Quality = mean( pctile(ROE, sector-neutral), pctile(ROCE, sector-neutral) )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1E3A8A"/>
                </a:solidFill>
                <a:latin typeface="Consolas"/>
              </a:rPr>
              <a:t>ROE = Net Profit / (Equity Capital + Reserves) ROCE = Operating Profit / (Equity + Borrowings)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7889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E3A8A"/>
                </a:solidFill>
                <a:latin typeface="Bahnschrift"/>
              </a:rPr>
              <a:t>Growth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72968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82696"/>
            <a:ext cx="10817352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3A8A"/>
                </a:solidFill>
                <a:latin typeface="Consolas"/>
              </a:rPr>
              <a:t>Growth(3Y) = pctile( 3-year revenue CAGR, whole universe )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1E3A8A"/>
                </a:solidFill>
                <a:latin typeface="Consolas"/>
              </a:rPr>
              <a:t>Growth(1Y) = pctile( 1-year / TTM revenue growth, whole universe 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60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E3A8A"/>
                </a:solidFill>
                <a:latin typeface="Bahnschrift"/>
              </a:rPr>
              <a:t>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544568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654296"/>
            <a:ext cx="10817352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3A8A"/>
                </a:solidFill>
                <a:latin typeface="Consolas"/>
              </a:rPr>
              <a:t>Value = 0.25 x pctile(-PE, universe) + 0.35 x pctile(-PE, sector x cap-tier)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1E3A8A"/>
                </a:solidFill>
                <a:latin typeface="Consolas"/>
              </a:rPr>
              <a:t>+ 0.20 x pctile(-PB, sector x cap-tier) + 0.20 x pctile(FCF yield, sector x cap-tier)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Stage / Technical, Sector &amp; Macro, Ownership Flow, Accumulation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Stage 2b · Pillar formulas (2 of 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E3A8A"/>
                </a:solidFill>
                <a:latin typeface="Bahnschrift"/>
              </a:rPr>
              <a:t>Stage / Technical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01368"/>
            <a:ext cx="11091672" cy="1207008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911095"/>
            <a:ext cx="10817352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E3A8A"/>
                </a:solidFill>
                <a:latin typeface="Consolas"/>
              </a:rPr>
              <a:t>Mean( pctile(return, universe), pctile(return, sector) ) over 12M+24M [3Y] / 3M+6M [1Y]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1E3A8A"/>
                </a:solidFill>
                <a:latin typeface="Consolas"/>
              </a:rPr>
              <a:t>Gated by price vs 200DMA [3Y] / 50DMA [1Y]; +/-5 pt RSI nudge on 1Y only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1E3A8A"/>
                </a:solidFill>
                <a:latin typeface="Consolas"/>
              </a:rPr>
              <a:t>Where a chart-analyst pass has run, its Long-Term Pattern Score REPLACES the mechanical 3Y 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17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E3A8A"/>
                </a:solidFill>
                <a:latin typeface="Bahnschrift"/>
              </a:rPr>
              <a:t>Sector &amp; Macro / Ownership Flow / Accumulation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01568"/>
            <a:ext cx="11091672" cy="1207008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511296"/>
            <a:ext cx="10817352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E3A8A"/>
                </a:solidFill>
                <a:latin typeface="Consolas"/>
              </a:rPr>
              <a:t>Sector &amp; Macro = pctile(sector-mean return, universe) + regime-cyclicality fit adjustment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1E3A8A"/>
                </a:solidFill>
                <a:latin typeface="Consolas"/>
              </a:rPr>
              <a:t>Ownership Flow = pctile( mean(FII qoq + DII qoq) ), 6-of-8 quarters [3Y] / 1-2 quarters [1Y]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1E3A8A"/>
                </a:solidFill>
                <a:latin typeface="Consolas"/>
              </a:rPr>
              <a:t>Accumulation = pctile( OBV slope ), 6-12 months [3Y] / 1-3 months [1Y]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617720"/>
            <a:ext cx="11091672" cy="777240"/>
          </a:xfrm>
          <a:prstGeom prst="roundRect">
            <a:avLst>
              <a:gd name="adj" fmla="val 5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727448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5803D"/>
                </a:solidFill>
                <a:latin typeface="Bahnschrift"/>
              </a:rPr>
              <a:t>Why percentiles, not raw numbers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11827"/>
                </a:solidFill>
                <a:latin typeface="Georgia"/>
              </a:rPr>
              <a:t>A 22% ROE means nothing in isolation. Ranked against peers it becomes a score you can compare, add and weight. Every pillar speaks the same 0 to 100 language.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A mild, deliberate nudge, not a market-timing bet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Stage 2c · The regime tilt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5577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50" b="0" i="0">
                <a:solidFill>
                  <a:srgbClr val="111827"/>
                </a:solidFill>
                <a:latin typeface="Georgia"/>
              </a:rPr>
              <a:t>Six fixed regimes describe the macro backdrop (risk-on, risk-off, domestic expansion or slowdown, value rotation, quality leadership).</a:t>
            </a:r>
          </a:p>
          <a:p>
            <a:pPr>
              <a:spcAft>
                <a:spcPts val="1100"/>
              </a:spcAft>
            </a:pPr>
            <a:r>
              <a:rPr sz="13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50" b="0" i="0">
                <a:solidFill>
                  <a:srgbClr val="111827"/>
                </a:solidFill>
                <a:latin typeface="Georgia"/>
              </a:rPr>
              <a:t>The regime shifts the pillar weights slightly and adjusts the Sector &amp; Macro score for cyclical vs defensive names.</a:t>
            </a:r>
          </a:p>
          <a:p>
            <a:pPr>
              <a:spcAft>
                <a:spcPts val="1100"/>
              </a:spcAft>
            </a:pPr>
            <a:r>
              <a:rPr sz="13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50" b="0" i="0">
                <a:solidFill>
                  <a:srgbClr val="111827"/>
                </a:solidFill>
                <a:latin typeface="Georgia"/>
              </a:rPr>
              <a:t>It is slow-moving, re-checked monthly, and the analyst can override it per stock.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4173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E3A8A"/>
                </a:solidFill>
                <a:latin typeface="Bahnschrift"/>
              </a:rPr>
              <a:t>Weight tilt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55080" y="1828800"/>
          <a:ext cx="5303519" cy="1508760"/>
        </p:xfrm>
        <a:graphic>
          <a:graphicData uri="http://schemas.openxmlformats.org/drawingml/2006/table">
            <a:tbl>
              <a:tblPr firstRow="0" bandRow="0"/>
              <a:tblGrid>
                <a:gridCol w="1407056"/>
                <a:gridCol w="3896463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Bahnschrift"/>
                        </a:rPr>
                        <a:t>Tag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Bahnschrift"/>
                        </a:rPr>
                        <a:t>Tilt applied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827"/>
                          </a:solidFill>
                          <a:latin typeface="Georgia"/>
                        </a:rPr>
                        <a:t>Cyclical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11827"/>
                          </a:solidFill>
                          <a:latin typeface="Georgia"/>
                        </a:rPr>
                        <a:t>Value +3, Sector +3, Growth -2, Quality -2, Stage -2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827"/>
                          </a:solidFill>
                          <a:latin typeface="Georgia"/>
                        </a:rPr>
                        <a:t>Not cyclical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11827"/>
                          </a:solidFill>
                          <a:latin typeface="Georgia"/>
                        </a:rPr>
                        <a:t>Quality +3, Growth +2, Stage -3, Sector -2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355080" y="3063240"/>
            <a:ext cx="5303520" cy="123444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3172968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563EB"/>
                </a:solidFill>
                <a:latin typeface="Bahnschrift"/>
              </a:rPr>
              <a:t>Current call (macro desk)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11827"/>
                </a:solidFill>
                <a:latin typeface="Georgia"/>
              </a:rPr>
              <a:t>Value / Cyclical Rotation (mild) 70% + India Slowdown (mild) 30%.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11827"/>
                </a:solidFill>
                <a:latin typeface="Georgia"/>
              </a:rPr>
              <a:t>Fit adjustment: Cyclical +4.6, Not-cyclical -2.6.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805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Design intent: the tilt is about one-fifth the magnitude of a full melt-up. It shades the score, it does not drive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Safety checks applied after the weighted score, before it is trusted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Stage 2d · Overlay gates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E3A8A"/>
                </a:solidFill>
                <a:latin typeface="Bahnschrift"/>
              </a:rPr>
              <a:t>Balance-sheet safety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01368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911095"/>
            <a:ext cx="10817352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3A8A"/>
                </a:solidFill>
                <a:latin typeface="Consolas"/>
              </a:rPr>
              <a:t>RED if D/E &gt; 2.5 or Interest Coverage &lt; 1.5 -&gt; score capped at 40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1E3A8A"/>
                </a:solidFill>
                <a:latin typeface="Consolas"/>
              </a:rPr>
              <a:t>AMBER if D/E &gt; 1.5 or Interest Coverage &lt; 3 -&gt; score x 0.85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7889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E3A8A"/>
                </a:solidFill>
                <a:latin typeface="Bahnschrift"/>
              </a:rPr>
              <a:t>Liquidity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72968"/>
            <a:ext cx="11091672" cy="585216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82696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3A8A"/>
                </a:solidFill>
                <a:latin typeface="Consolas"/>
              </a:rPr>
              <a:t>RED if median 60-day turnover &lt; size-tier bar (Rs 5cr / 1cr / 25L for Large / Mid / Small) -&gt; cap 40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23360"/>
            <a:ext cx="11091672" cy="137160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160520"/>
            <a:ext cx="106984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92400E"/>
                </a:solidFill>
                <a:latin typeface="Bahnschrift"/>
              </a:rPr>
              <a:t>The financial-sector exemption (a lesson we paid for)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11827"/>
                </a:solidFill>
                <a:latin typeface="Georgia"/>
              </a:rPr>
              <a:t>Banks, NBFCs and insurers run high debt-to-equity by design, leverage is their business model, not distress.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11827"/>
                </a:solidFill>
                <a:latin typeface="Georgia"/>
              </a:rPr>
              <a:t>They are exempt from the D/E trigger and tagged 'N/A financial-sector', never silently passed. Their true health is judged on asset quality and capital adequacy in the analyst layer.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Red flags compound; a clean bill earns a small lift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Stage 2e · Penalty and boost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E3A8A"/>
                </a:solidFill>
                <a:latin typeface="Bahnschrift"/>
              </a:rPr>
              <a:t>Exponential red-flag penalty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01368"/>
            <a:ext cx="6766560" cy="896112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911095"/>
            <a:ext cx="64922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3A8A"/>
                </a:solidFill>
                <a:latin typeface="Consolas"/>
              </a:rPr>
              <a:t>Penalty = -min( 10, 2^(flags) - 1 )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1E3A8A"/>
                </a:solidFill>
                <a:latin typeface="Consolas"/>
              </a:rPr>
              <a:t>1 flag -1 2 flags -3 3 flags -7 4+ -10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498079" y="1801368"/>
          <a:ext cx="4160520" cy="1975104"/>
        </p:xfrm>
        <a:graphic>
          <a:graphicData uri="http://schemas.openxmlformats.org/drawingml/2006/table">
            <a:tbl>
              <a:tblPr firstRow="0" bandRow="0"/>
              <a:tblGrid>
                <a:gridCol w="3120390"/>
                <a:gridCol w="104013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Bahnschrift"/>
                        </a:rPr>
                        <a:t>Red flag counted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Bahnschrift"/>
                        </a:rPr>
                        <a:t>Scope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11827"/>
                          </a:solidFill>
                          <a:latin typeface="Georgia"/>
                        </a:rPr>
                        <a:t>Interest coverage &lt; 1.5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11827"/>
                          </a:solidFill>
                          <a:latin typeface="Georgia"/>
                        </a:rPr>
                        <a:t>All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11827"/>
                          </a:solidFill>
                          <a:latin typeface="Georgia"/>
                        </a:rPr>
                        <a:t>Debt / equity &gt; 2.5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11827"/>
                          </a:solidFill>
                          <a:latin typeface="Georgia"/>
                        </a:rPr>
                        <a:t>Non-fin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11827"/>
                          </a:solidFill>
                          <a:latin typeface="Georgia"/>
                        </a:rPr>
                        <a:t>Negative 1yr revenue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11827"/>
                          </a:solidFill>
                          <a:latin typeface="Georgia"/>
                        </a:rPr>
                        <a:t>All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11827"/>
                          </a:solidFill>
                          <a:latin typeface="Georgia"/>
                        </a:rPr>
                        <a:t>Growth decel &gt; 15pp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11827"/>
                          </a:solidFill>
                          <a:latin typeface="Georgia"/>
                        </a:rPr>
                        <a:t>All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11827"/>
                          </a:solidFill>
                          <a:latin typeface="Georgia"/>
                        </a:rPr>
                        <a:t>Analyst fwd growth &lt; 10%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11827"/>
                          </a:solidFill>
                          <a:latin typeface="Georgia"/>
                        </a:rPr>
                        <a:t>All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3749039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E3A8A"/>
                </a:solidFill>
                <a:latin typeface="Bahnschrift"/>
              </a:rPr>
              <a:t>Boost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33088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242816"/>
            <a:ext cx="10817352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E3A8A"/>
                </a:solidFill>
                <a:latin typeface="Consolas"/>
              </a:rPr>
              <a:t>Boost = +3 if zero red flags AND Quality &gt; 60th pctile AND Value &gt; 60th pctile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1E3A8A"/>
                </a:solidFill>
                <a:latin typeface="Consolas"/>
              </a:rPr>
              <a:t>Full +10 is reserved for an analyst-confirmed clean bill of health (not yet automatic)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1206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A forward growth estimate below 10% is penalized twice by design: once here, once as a cap on the client score. Slow growth is not rewarded.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Conservative by construction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Stage 2f · The quant recommendation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17320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527048"/>
            <a:ext cx="10817352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0" i="0">
                <a:solidFill>
                  <a:srgbClr val="1E3A8A"/>
                </a:solidFill>
                <a:latin typeface="Consolas"/>
              </a:rPr>
              <a:t>Per horizon: gate RED -&gt; Sell score missing -&gt; No Recommendation else score &gt;= 40 -&gt; Hold, &lt; 40 -&gt; Sell</a:t>
            </a:r>
          </a:p>
          <a:p>
            <a:pPr>
              <a:spcAft>
                <a:spcPts val="400"/>
              </a:spcAft>
            </a:pPr>
            <a:r>
              <a:rPr sz="1250" b="0" i="0">
                <a:solidFill>
                  <a:srgbClr val="1E3A8A"/>
                </a:solidFill>
                <a:latin typeface="Consolas"/>
              </a:rPr>
              <a:t>OVERALL = Sell if EITHER horizon says Sell (surface any real concern, do not average it away)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788920"/>
            <a:ext cx="11091672" cy="105156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898648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563EB"/>
                </a:solidFill>
                <a:latin typeface="Bahnschrift"/>
              </a:rPr>
              <a:t>The analyst always has the last word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11827"/>
                </a:solidFill>
                <a:latin typeface="Georgia"/>
              </a:rPr>
              <a:t>Where human research exists, the analyst's Sell/Hold call OVERRIDES the quant call entirely. The machine proposes; the analyst disposes. A leveraged financial that the machine flags on debt can be held on a sound asset-quality read.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1480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This is why the same score can carry different calls: the number is an input to judgment, not a verdict.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A short-term-tax-aware threshold (30 instead of 40) is designed but inactive until we hold client purchase dates.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88920"/>
            <a:ext cx="12191695" cy="2743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B08D57"/>
                </a:solidFill>
                <a:latin typeface="Bahnschrift"/>
              </a:rPr>
              <a:t>PART TWO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Bahnschrift"/>
              </a:rPr>
              <a:t>AI research and the Ionic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1148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BFDBFE"/>
                </a:solidFill>
                <a:latin typeface="Georgia"/>
              </a:rPr>
              <a:t>From a quant score to the one number a client sees.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One sector specialist per stock, in a single disciplined 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Stage 3 · The AI analyst 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6858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50" b="0" i="0">
                <a:solidFill>
                  <a:srgbClr val="111827"/>
                </a:solidFill>
                <a:latin typeface="Georgia"/>
              </a:rPr>
              <a:t>One agent per stock, routed to the right sector desk:</a:t>
            </a:r>
          </a:p>
          <a:p>
            <a:pPr lvl="1">
              <a:spcAft>
                <a:spcPts val="800"/>
              </a:spcAft>
            </a:pPr>
            <a:r>
              <a:rPr sz="1350" b="1" i="0">
                <a:solidFill>
                  <a:srgbClr val="6B7280"/>
                </a:solidFill>
                <a:latin typeface="Georgia"/>
              </a:rPr>
              <a:t>-</a:t>
            </a:r>
            <a:r>
              <a:rPr sz="1350" b="0" i="0">
                <a:solidFill>
                  <a:srgbClr val="374151"/>
                </a:solidFill>
                <a:latin typeface="Georgia"/>
              </a:rPr>
              <a:t>Industrials, financials, consumer, IT and telecom, pharma and chemicals.</a:t>
            </a:r>
          </a:p>
          <a:p>
            <a:pPr>
              <a:spcAft>
                <a:spcPts val="800"/>
              </a:spcAft>
            </a:pPr>
            <a:r>
              <a:rPr sz="13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50" b="0" i="0">
                <a:solidFill>
                  <a:srgbClr val="111827"/>
                </a:solidFill>
                <a:latin typeface="Georgia"/>
              </a:rPr>
              <a:t>Each pass, in order:</a:t>
            </a:r>
          </a:p>
          <a:p>
            <a:pPr lvl="1">
              <a:spcAft>
                <a:spcPts val="800"/>
              </a:spcAft>
            </a:pPr>
            <a:r>
              <a:rPr sz="1350" b="1" i="0">
                <a:solidFill>
                  <a:srgbClr val="6B7280"/>
                </a:solidFill>
                <a:latin typeface="Georgia"/>
              </a:rPr>
              <a:t>-</a:t>
            </a:r>
            <a:r>
              <a:rPr sz="1350" b="0" i="0">
                <a:solidFill>
                  <a:srgbClr val="374151"/>
                </a:solidFill>
                <a:latin typeface="Georgia"/>
              </a:rPr>
              <a:t>Deep research on the business and its latest results,</a:t>
            </a:r>
          </a:p>
          <a:p>
            <a:pPr lvl="1">
              <a:spcAft>
                <a:spcPts val="800"/>
              </a:spcAft>
            </a:pPr>
            <a:r>
              <a:rPr sz="1350" b="1" i="0">
                <a:solidFill>
                  <a:srgbClr val="6B7280"/>
                </a:solidFill>
                <a:latin typeface="Georgia"/>
              </a:rPr>
              <a:t>-</a:t>
            </a:r>
            <a:r>
              <a:rPr sz="1350" b="0" i="0">
                <a:solidFill>
                  <a:srgbClr val="374151"/>
                </a:solidFill>
                <a:latin typeface="Georgia"/>
              </a:rPr>
              <a:t>An earnings-quality check for one-off items flattering the numbers,</a:t>
            </a:r>
          </a:p>
          <a:p>
            <a:pPr lvl="1">
              <a:spcAft>
                <a:spcPts val="800"/>
              </a:spcAft>
            </a:pPr>
            <a:r>
              <a:rPr sz="1350" b="1" i="0">
                <a:solidFill>
                  <a:srgbClr val="6B7280"/>
                </a:solidFill>
                <a:latin typeface="Georgia"/>
              </a:rPr>
              <a:t>-</a:t>
            </a:r>
            <a:r>
              <a:rPr sz="1350" b="0" i="0">
                <a:solidFill>
                  <a:srgbClr val="374151"/>
                </a:solidFill>
                <a:latin typeface="Georgia"/>
              </a:rPr>
              <a:t>A reverse-DCF judgment: what growth does the price imply, can the business clear it,</a:t>
            </a:r>
          </a:p>
          <a:p>
            <a:pPr lvl="1">
              <a:spcAft>
                <a:spcPts val="800"/>
              </a:spcAft>
            </a:pPr>
            <a:r>
              <a:rPr sz="1350" b="1" i="0">
                <a:solidFill>
                  <a:srgbClr val="6B7280"/>
                </a:solidFill>
                <a:latin typeface="Georgia"/>
              </a:rPr>
              <a:t>-</a:t>
            </a:r>
            <a:r>
              <a:rPr sz="1350" b="0" i="0">
                <a:solidFill>
                  <a:srgbClr val="374151"/>
                </a:solidFill>
                <a:latin typeface="Georgia"/>
              </a:rPr>
              <a:t>A forward 3 to 5 year growth estimate,</a:t>
            </a:r>
          </a:p>
          <a:p>
            <a:pPr lvl="1">
              <a:spcAft>
                <a:spcPts val="800"/>
              </a:spcAft>
            </a:pPr>
            <a:r>
              <a:rPr sz="1350" b="1" i="0">
                <a:solidFill>
                  <a:srgbClr val="6B7280"/>
                </a:solidFill>
                <a:latin typeface="Georgia"/>
              </a:rPr>
              <a:t>-</a:t>
            </a:r>
            <a:r>
              <a:rPr sz="1350" b="0" i="0">
                <a:solidFill>
                  <a:srgbClr val="374151"/>
                </a:solidFill>
                <a:latin typeface="Georgia"/>
              </a:rPr>
              <a:t>A seven-point self-review before it finalizes.</a:t>
            </a:r>
          </a:p>
          <a:p>
            <a:pPr>
              <a:spcAft>
                <a:spcPts val="800"/>
              </a:spcAft>
            </a:pPr>
            <a:r>
              <a:rPr sz="13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50" b="0" i="0">
                <a:solidFill>
                  <a:srgbClr val="111827"/>
                </a:solidFill>
                <a:latin typeface="Georgia"/>
              </a:rPr>
              <a:t>Output is one structured record per stock, saved the moment it is done.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08760"/>
            <a:ext cx="3977639" cy="379476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673352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  <a:latin typeface="Bahnschrift"/>
              </a:rPr>
              <a:t>ESCALATION, KEPT NARROW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148840"/>
            <a:ext cx="3611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Escalate only a Hold-versus-Sell coin-flip, or a methodology gap that likely hits other stocks.</a:t>
            </a:r>
          </a:p>
          <a:p>
            <a:pPr>
              <a:spcAft>
                <a:spcPts val="12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Never escalate a stale price or ordinary uncertainty.</a:t>
            </a:r>
          </a:p>
          <a:p>
            <a:pPr>
              <a:spcAft>
                <a:spcPts val="12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Escalations are logged for the Principal to rule on, not resolved by the desk.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The single 0 to 100 number a client sees, forward-looking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Stage 4 · The Ionic Score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17320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527048"/>
            <a:ext cx="10817352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3A8A"/>
                </a:solidFill>
                <a:latin typeface="Consolas"/>
              </a:rPr>
              <a:t>Base = 0.60 x final(3Y score) + 0.40 x final(1Y score)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1E3A8A"/>
                </a:solidFill>
                <a:latin typeface="Consolas"/>
              </a:rPr>
              <a:t>Ionic_score = clamp( base + forward_adjustment, 0, 100 )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5603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E3A8A"/>
                </a:solidFill>
                <a:latin typeface="Bahnschrift"/>
              </a:rPr>
              <a:t>Forward adjustment = growth leg + conviction leg (total clamped to +/- 20)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1752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50" b="0" i="0">
                <a:solidFill>
                  <a:srgbClr val="111827"/>
                </a:solidFill>
                <a:latin typeface="Georgia"/>
              </a:rPr>
              <a:t>Growth leg:</a:t>
            </a:r>
            <a:r>
              <a:rPr sz="1250" b="0" i="1">
                <a:solidFill>
                  <a:srgbClr val="6B7280"/>
                </a:solidFill>
                <a:latin typeface="Georgia"/>
              </a:rPr>
              <a:t>Scaled from the analyst's forward 3 to 5 year growth estimate (see next slide).</a:t>
            </a:r>
          </a:p>
          <a:p>
            <a:pPr>
              <a:spcAft>
                <a:spcPts val="900"/>
              </a:spcAft>
            </a:pPr>
            <a:r>
              <a:rPr sz="13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50" b="0" i="0">
                <a:solidFill>
                  <a:srgbClr val="111827"/>
                </a:solidFill>
                <a:latin typeface="Georgia"/>
              </a:rPr>
              <a:t>Conviction leg:</a:t>
            </a:r>
            <a:r>
              <a:rPr sz="1250" b="0" i="1">
                <a:solidFill>
                  <a:srgbClr val="6B7280"/>
                </a:solidFill>
                <a:latin typeface="Georgia"/>
              </a:rPr>
              <a:t>Analyst says Sell -6; analyst holds a name the machine wanted to sell (a rescue) +6; agreement 0.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97680"/>
            <a:ext cx="11091672" cy="109728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416552"/>
            <a:ext cx="106984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92400E"/>
                </a:solidFill>
                <a:latin typeface="Bahnschrift"/>
              </a:rPr>
              <a:t>Two coherence caps keep the score honest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11827"/>
                </a:solidFill>
                <a:latin typeface="Georgia"/>
              </a:rPr>
              <a:t>If forward growth is below 10%, the adjustment can only be zero or negative, never a boost.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11827"/>
                </a:solidFill>
                <a:latin typeface="Georgia"/>
              </a:rPr>
              <a:t>If the analyst says Sell, the adjustment can only be zero or negative. A name we are exiting is never dressed up.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We give real weight to the future, not the past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Stage 4 · The growth leg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13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508760"/>
          <a:ext cx="6583679" cy="3218688"/>
        </p:xfrm>
        <a:graphic>
          <a:graphicData uri="http://schemas.openxmlformats.org/drawingml/2006/table">
            <a:tbl>
              <a:tblPr firstRow="0" bandRow="0"/>
              <a:tblGrid>
                <a:gridCol w="4568267"/>
                <a:gridCol w="2015412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Bahnschrift"/>
                        </a:rPr>
                        <a:t>Forward 3 to 5 year growth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Bahnschrift"/>
                        </a:rPr>
                        <a:t>Points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11827"/>
                          </a:solidFill>
                          <a:latin typeface="Georgia"/>
                        </a:rPr>
                        <a:t>Below 5% (stagnant / declining)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B91C1C"/>
                          </a:solidFill>
                          <a:latin typeface="Georgia"/>
                        </a:rPr>
                        <a:t>-15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11827"/>
                          </a:solidFill>
                          <a:latin typeface="Georgia"/>
                        </a:rPr>
                        <a:t>5 to 10% (below nominal GDP)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B91C1C"/>
                          </a:solidFill>
                          <a:latin typeface="Georgia"/>
                        </a:rPr>
                        <a:t>-5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11827"/>
                          </a:solidFill>
                          <a:latin typeface="Georgia"/>
                        </a:rPr>
                        <a:t>10 to 15% (steady compounder)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111827"/>
                          </a:solidFill>
                          <a:latin typeface="Georgia"/>
                        </a:rPr>
                        <a:t>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11827"/>
                          </a:solidFill>
                          <a:latin typeface="Georgia"/>
                        </a:rPr>
                        <a:t>15 to 20% (strong)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15803D"/>
                          </a:solidFill>
                          <a:latin typeface="Georgia"/>
                        </a:rPr>
                        <a:t>+5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11827"/>
                          </a:solidFill>
                          <a:latin typeface="Georgia"/>
                        </a:rPr>
                        <a:t>20 to 25% (exceptional momentum)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15803D"/>
                          </a:solidFill>
                          <a:latin typeface="Georgia"/>
                        </a:rPr>
                        <a:t>+10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11827"/>
                          </a:solidFill>
                          <a:latin typeface="Georgia"/>
                        </a:rPr>
                        <a:t>25% and above (hypergrowth)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15803D"/>
                          </a:solidFill>
                          <a:latin typeface="Georgia"/>
                        </a:rPr>
                        <a:t>+15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11827"/>
                          </a:solidFill>
                          <a:latin typeface="Georgia"/>
                        </a:rPr>
                        <a:t>Exceptional tier (see right)</a:t>
                      </a:r>
                    </a:p>
                  </a:txBody>
                  <a:tcPr marL="73152" marR="54864" marT="18288" marB="18288" anchor="ctr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15803D"/>
                          </a:solidFill>
                          <a:latin typeface="Georgia"/>
                        </a:rPr>
                        <a:t>+20</a:t>
                      </a:r>
                    </a:p>
                  </a:txBody>
                  <a:tcPr marL="73152" marR="54864" marT="18288" marB="18288" anchor="ctr"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452360" y="1508760"/>
            <a:ext cx="4206240" cy="228600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1673352"/>
            <a:ext cx="379476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2563EB"/>
                </a:solidFill>
                <a:latin typeface="Bahnschrift"/>
              </a:rPr>
              <a:t>The +20 exceptional tier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111827"/>
                </a:solidFill>
                <a:latin typeface="Georgia"/>
              </a:rPr>
              <a:t>Reserved for the rare compounder that clears all three:</a:t>
            </a:r>
          </a:p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1E3A8A"/>
                </a:solidFill>
                <a:latin typeface="Georgia"/>
              </a:rPr>
              <a:t>Growth at or above 25%,</a:t>
            </a:r>
          </a:p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1E3A8A"/>
                </a:solidFill>
                <a:latin typeface="Georgia"/>
              </a:rPr>
              <a:t>Return on equity at or above 20%,</a:t>
            </a:r>
          </a:p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1E3A8A"/>
                </a:solidFill>
                <a:latin typeface="Georgia"/>
              </a:rPr>
              <a:t>Little or no share dilution.</a:t>
            </a:r>
          </a:p>
          <a:p>
            <a:pPr algn="l">
              <a:spcAft>
                <a:spcPts val="500"/>
              </a:spcAft>
            </a:pPr>
            <a:r>
              <a:rPr sz="1150" b="0" i="1">
                <a:solidFill>
                  <a:srgbClr val="6B7280"/>
                </a:solidFill>
                <a:latin typeface="Georgia"/>
              </a:rPr>
              <a:t>The fund manager confirms the dilution test by hand.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52360" y="3977639"/>
            <a:ext cx="4206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111827"/>
                </a:solidFill>
                <a:latin typeface="Georgia"/>
              </a:rPr>
              <a:t>Growth is the analyst's forward view, never a copy of trailing CAGR. The penalty for slow growth exists on purpose.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Two gates turn a score into a portfolio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Stage 5 · Sell, Trim or Hold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E3A8A"/>
                </a:solidFill>
                <a:latin typeface="Bahnschrift"/>
              </a:rPr>
              <a:t>Gate A · stock quality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01368"/>
            <a:ext cx="11091672" cy="585216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911095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E3A8A"/>
                </a:solidFill>
                <a:latin typeface="Consolas"/>
              </a:rPr>
              <a:t>Analyst says Sell -&gt; Sell else ionic_score &lt; 40 -&gt; Sell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5603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E3A8A"/>
                </a:solidFill>
                <a:latin typeface="Bahnschrift"/>
              </a:rPr>
              <a:t>Gate B · concentration (the Trim band)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44368"/>
            <a:ext cx="11091672" cy="585216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054096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E3A8A"/>
                </a:solidFill>
                <a:latin typeface="Consolas"/>
              </a:rPr>
              <a:t>Ionic_score 40 to 50 AND position &gt; 2.5% of book -&gt; Trim to a stated target weight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70332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E3A8A"/>
                </a:solidFill>
                <a:latin typeface="Bahnschrift"/>
              </a:rPr>
              <a:t>Concentration guidance (not hard caps)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48640" y="4114800"/>
          <a:ext cx="6400799" cy="1755648"/>
        </p:xfrm>
        <a:graphic>
          <a:graphicData uri="http://schemas.openxmlformats.org/drawingml/2006/table">
            <a:tbl>
              <a:tblPr firstRow="0" bandRow="0"/>
              <a:tblGrid>
                <a:gridCol w="2427889"/>
                <a:gridCol w="3972910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Bahnschrift"/>
                        </a:rPr>
                        <a:t>Single-stock weight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Bahnschrift"/>
                        </a:rPr>
                        <a:t>Guidance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827"/>
                          </a:solidFill>
                          <a:latin typeface="Georgia"/>
                        </a:rPr>
                        <a:t>5 to 10%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11827"/>
                          </a:solidFill>
                          <a:latin typeface="Georgia"/>
                        </a:rPr>
                        <a:t>Fine; reduce if forward growth is modest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827"/>
                          </a:solidFill>
                          <a:latin typeface="Georgia"/>
                        </a:rPr>
                        <a:t>Above 10%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11827"/>
                          </a:solidFill>
                          <a:latin typeface="Georgia"/>
                        </a:rPr>
                        <a:t>A little high; trim advice unless conviction is high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827"/>
                          </a:solidFill>
                          <a:latin typeface="Georgia"/>
                        </a:rPr>
                        <a:t>Above 20%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11827"/>
                          </a:solidFill>
                          <a:latin typeface="Georgia"/>
                        </a:rPr>
                        <a:t>Extreme; strong trim advice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7223760" y="3794760"/>
            <a:ext cx="4434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Trim targets are set by the fund-manager pass, by judgment, not a formula.</a:t>
            </a:r>
          </a:p>
          <a:p>
            <a:pPr>
              <a:spcAft>
                <a:spcPts val="10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Buying price, the client's mandate, and large versus small cap all matter. None is a rigid rule.</a:t>
            </a:r>
          </a:p>
          <a:p>
            <a:pPr>
              <a:spcAft>
                <a:spcPts val="10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Freed cash is shown as cash. An existing-holdings review never auto-redeploys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Portfolio-level risk and return, in plain words, honestly framed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Stage 6 · The analytics layer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5760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50" b="0" i="0">
                <a:solidFill>
                  <a:srgbClr val="111827"/>
                </a:solidFill>
                <a:latin typeface="Georgia"/>
              </a:rPr>
              <a:t>A simulated backcast holds today's mix at constant weights and compares it to the Nifty 50 (dividends added back).</a:t>
            </a:r>
          </a:p>
          <a:p>
            <a:pPr>
              <a:spcAft>
                <a:spcPts val="800"/>
              </a:spcAft>
            </a:pPr>
            <a:r>
              <a:rPr sz="13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50" b="0" i="0">
                <a:solidFill>
                  <a:srgbClr val="111827"/>
                </a:solidFill>
                <a:latin typeface="Georgia"/>
              </a:rPr>
              <a:t>Measured over 3 years and 1 year:</a:t>
            </a:r>
          </a:p>
          <a:p>
            <a:pPr lvl="1">
              <a:spcAft>
                <a:spcPts val="800"/>
              </a:spcAft>
            </a:pPr>
            <a:r>
              <a:rPr sz="1350" b="1" i="0">
                <a:solidFill>
                  <a:srgbClr val="6B7280"/>
                </a:solidFill>
                <a:latin typeface="Georgia"/>
              </a:rPr>
              <a:t>-</a:t>
            </a:r>
            <a:r>
              <a:rPr sz="1350" b="0" i="0">
                <a:solidFill>
                  <a:srgbClr val="374151"/>
                </a:solidFill>
                <a:latin typeface="Georgia"/>
              </a:rPr>
              <a:t>Return, volatility, Sharpe and Sortino, deepest fall,</a:t>
            </a:r>
          </a:p>
          <a:p>
            <a:pPr lvl="1">
              <a:spcAft>
                <a:spcPts val="800"/>
              </a:spcAft>
            </a:pPr>
            <a:r>
              <a:rPr sz="1350" b="1" i="0">
                <a:solidFill>
                  <a:srgbClr val="6B7280"/>
                </a:solidFill>
                <a:latin typeface="Georgia"/>
              </a:rPr>
              <a:t>-</a:t>
            </a:r>
            <a:r>
              <a:rPr sz="1350" b="0" i="0">
                <a:solidFill>
                  <a:srgbClr val="374151"/>
                </a:solidFill>
                <a:latin typeface="Georgia"/>
              </a:rPr>
              <a:t>Beta, alpha, tracking error, up and down capture,</a:t>
            </a:r>
          </a:p>
          <a:p>
            <a:pPr lvl="1">
              <a:spcAft>
                <a:spcPts val="800"/>
              </a:spcAft>
            </a:pPr>
            <a:r>
              <a:rPr sz="1350" b="1" i="0">
                <a:solidFill>
                  <a:srgbClr val="6B7280"/>
                </a:solidFill>
                <a:latin typeface="Georgia"/>
              </a:rPr>
              <a:t>-</a:t>
            </a:r>
            <a:r>
              <a:rPr sz="1350" b="0" i="0">
                <a:solidFill>
                  <a:srgbClr val="374151"/>
                </a:solidFill>
                <a:latin typeface="Georgia"/>
              </a:rPr>
              <a:t>A four-factor regression (market, size, value, momentum),</a:t>
            </a:r>
          </a:p>
          <a:p>
            <a:pPr lvl="1">
              <a:spcAft>
                <a:spcPts val="800"/>
              </a:spcAft>
            </a:pPr>
            <a:r>
              <a:rPr sz="1350" b="1" i="0">
                <a:solidFill>
                  <a:srgbClr val="6B7280"/>
                </a:solidFill>
                <a:latin typeface="Georgia"/>
              </a:rPr>
              <a:t>-</a:t>
            </a:r>
            <a:r>
              <a:rPr sz="1350" b="0" i="0">
                <a:solidFill>
                  <a:srgbClr val="374151"/>
                </a:solidFill>
                <a:latin typeface="Georgia"/>
              </a:rPr>
              <a:t>A correlation heatmap of the largest holdings,</a:t>
            </a:r>
          </a:p>
          <a:p>
            <a:pPr lvl="1">
              <a:spcAft>
                <a:spcPts val="800"/>
              </a:spcAft>
            </a:pPr>
            <a:r>
              <a:rPr sz="1350" b="1" i="0">
                <a:solidFill>
                  <a:srgbClr val="6B7280"/>
                </a:solidFill>
                <a:latin typeface="Georgia"/>
              </a:rPr>
              <a:t>-</a:t>
            </a:r>
            <a:r>
              <a:rPr sz="1350" b="0" i="0">
                <a:solidFill>
                  <a:srgbClr val="374151"/>
                </a:solidFill>
                <a:latin typeface="Georgia"/>
              </a:rPr>
              <a:t>Index valuation context (P/E percentile vs history).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7960" y="1508760"/>
            <a:ext cx="5120640" cy="393192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1691640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92400E"/>
                </a:solidFill>
                <a:latin typeface="Bahnschrift"/>
              </a:rPr>
              <a:t>THE HONESTY RULES (BINDING)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194560"/>
            <a:ext cx="4709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The simulation is a portrait of today's mix, it is not the client's realized return, and it is not a forecast.</a:t>
            </a:r>
          </a:p>
          <a:p>
            <a:pPr>
              <a:spcAft>
                <a:spcPts val="11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The selection-bias caveat is printed on the client sheet itself.</a:t>
            </a:r>
          </a:p>
          <a:p>
            <a:pPr>
              <a:spcAft>
                <a:spcPts val="11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The risk-free rate assumption is stated (6.5%).</a:t>
            </a:r>
          </a:p>
          <a:p>
            <a:pPr>
              <a:spcAft>
                <a:spcPts val="11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Any expected-alpha number stays analyst-side and labelled an estimate, never shown to the client as a forward return.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88920"/>
            <a:ext cx="12191695" cy="2743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B08D57"/>
                </a:solidFill>
                <a:latin typeface="Bahnschrift"/>
              </a:rPr>
              <a:t>PART THREE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Bahnschrift"/>
              </a:rPr>
              <a:t>Deliverables, controls,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1148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BFDBFE"/>
                </a:solidFill>
                <a:latin typeface="Georgia"/>
              </a:rPr>
              <a:t>What ships, how we keep it honest, and where we are.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One for the client, one for the desk. Both ship together.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The two 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508760"/>
            <a:ext cx="5486400" cy="393192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9164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E3A8A"/>
                </a:solidFill>
                <a:latin typeface="Bahnschrift"/>
              </a:rPr>
              <a:t>Client workbook</a:t>
            </a:r>
          </a:p>
          <a:p>
            <a:pPr algn="l">
              <a:spcAft>
                <a:spcPts val="200"/>
              </a:spcAft>
            </a:pPr>
            <a:r>
              <a:rPr sz="1150" b="0" i="1">
                <a:solidFill>
                  <a:srgbClr val="6B7280"/>
                </a:solidFill>
                <a:latin typeface="Georgia"/>
              </a:rPr>
              <a:t>Ionic Wealth branded, four sheets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5603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At a Glance: KPI dashboard + growth-of-100 chart.</a:t>
            </a:r>
          </a:p>
          <a:p>
            <a:pPr>
              <a:spcAft>
                <a:spcPts val="9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Recommendations: one Ionic Score, one action, one rationale per holding.</a:t>
            </a:r>
          </a:p>
          <a:p>
            <a:pPr>
              <a:spcAft>
                <a:spcPts val="9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Portfolio Analytics: risk and return in plain words.</a:t>
            </a:r>
          </a:p>
          <a:p>
            <a:pPr>
              <a:spcAft>
                <a:spcPts val="9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Before vs After: what the actions do to the book.</a:t>
            </a:r>
          </a:p>
          <a:p>
            <a:pPr>
              <a:spcAft>
                <a:spcPts val="9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One score. Sell / Trim / Hold. No jargon.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508760"/>
            <a:ext cx="5486400" cy="39319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E3A8A"/>
                </a:solidFill>
                <a:latin typeface="Bahnschrift"/>
              </a:rPr>
              <a:t>Analyst workbook</a:t>
            </a:r>
          </a:p>
          <a:p>
            <a:pPr algn="l">
              <a:spcAft>
                <a:spcPts val="200"/>
              </a:spcAft>
            </a:pPr>
            <a:r>
              <a:rPr sz="1150" b="0" i="1">
                <a:solidFill>
                  <a:srgbClr val="6B7280"/>
                </a:solidFill>
                <a:latin typeface="Georgia"/>
              </a:rPr>
              <a:t>The full working paper, 46 columns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5603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Every pillar sub-score, both horizons, gates, penalty, boost.</a:t>
            </a:r>
          </a:p>
          <a:p>
            <a:pPr>
              <a:spcAft>
                <a:spcPts val="9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The full research record per stock, nothing clipped.</a:t>
            </a:r>
          </a:p>
          <a:p>
            <a:pPr>
              <a:spcAft>
                <a:spcPts val="9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A field guide: the workbook documents its own method.</a:t>
            </a:r>
          </a:p>
          <a:p>
            <a:pPr>
              <a:spcAft>
                <a:spcPts val="9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Portfolio Analytics (Full): factor betas with t-stats.</a:t>
            </a:r>
          </a:p>
          <a:p>
            <a:pPr>
              <a:spcAft>
                <a:spcPts val="9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Empty technical columns hide themselves until that pass runs.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The scores 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Highest and lowest Ionic Scores in the live 59-stock client book, with the analyst's read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17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1463040"/>
            <a:ext cx="146304" cy="1463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36245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5803D"/>
                </a:solidFill>
                <a:latin typeface="Bahnschrift"/>
              </a:rPr>
              <a:t>Top 5 by Ionic Score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1709928"/>
          <a:ext cx="11091670" cy="1975104"/>
        </p:xfrm>
        <a:graphic>
          <a:graphicData uri="http://schemas.openxmlformats.org/drawingml/2006/table">
            <a:tbl>
              <a:tblPr firstRow="0" bandRow="0"/>
              <a:tblGrid>
                <a:gridCol w="2716327"/>
                <a:gridCol w="769626"/>
                <a:gridCol w="769626"/>
                <a:gridCol w="6836091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Bahnschrift"/>
                        </a:rPr>
                        <a:t>Holding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Bahnschrift"/>
                        </a:rPr>
                        <a:t>Score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Bahnschrift"/>
                        </a:rPr>
                        <a:t>Call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Bahnschrift"/>
                        </a:rPr>
                        <a:t>What the analyst is seeing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11827"/>
                          </a:solidFill>
                          <a:latin typeface="Georgia"/>
                        </a:rPr>
                        <a:t>Suzlon (SUZLON)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89.1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5803D"/>
                          </a:solidFill>
                          <a:latin typeface="Georgia"/>
                        </a:rPr>
                        <a:t>Hold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Debt-free turnaround; 6.4 GW order book from near-zero, record FY26 deliveries.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11827"/>
                          </a:solidFill>
                          <a:latin typeface="Georgia"/>
                        </a:rPr>
                        <a:t>Tata Motors CV (TMCV)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70.2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5803D"/>
                          </a:solidFill>
                          <a:latin typeface="Georgia"/>
                        </a:rPr>
                        <a:t>Hold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Demerged CV maker executing: 11% revenue growth, margins up, share gains.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11827"/>
                          </a:solidFill>
                          <a:latin typeface="Georgia"/>
                        </a:rPr>
                        <a:t>LIC (LICI)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69.4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5803D"/>
                          </a:solidFill>
                          <a:latin typeface="Georgia"/>
                        </a:rPr>
                        <a:t>Hold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Real margin-quality gains; market share still slipping, but more slowly.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11827"/>
                          </a:solidFill>
                          <a:latin typeface="Georgia"/>
                        </a:rPr>
                        <a:t>Motherson Wiring (MSUMI)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68.8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5803D"/>
                          </a:solidFill>
                          <a:latin typeface="Georgia"/>
                        </a:rPr>
                        <a:t>Hold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Dominant wiring-harness supplier riding EV and SUV content growth.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11827"/>
                          </a:solidFill>
                          <a:latin typeface="Georgia"/>
                        </a:rPr>
                        <a:t>Bandhan Bank (BANDHANBNK)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68.0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5803D"/>
                          </a:solidFill>
                          <a:latin typeface="Georgia"/>
                        </a:rPr>
                        <a:t>Hold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Microfinance stress turning; a real pivot toward secured lending.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Oval 12"/>
          <p:cNvSpPr/>
          <p:nvPr/>
        </p:nvSpPr>
        <p:spPr>
          <a:xfrm>
            <a:off x="548640" y="3931920"/>
            <a:ext cx="146304" cy="14630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83133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B91C1C"/>
                </a:solidFill>
                <a:latin typeface="Bahnschrift"/>
              </a:rPr>
              <a:t>Bottom 5 by Ionic Score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4178808"/>
          <a:ext cx="11091670" cy="1975104"/>
        </p:xfrm>
        <a:graphic>
          <a:graphicData uri="http://schemas.openxmlformats.org/drawingml/2006/table">
            <a:tbl>
              <a:tblPr firstRow="0" bandRow="0"/>
              <a:tblGrid>
                <a:gridCol w="2716327"/>
                <a:gridCol w="769626"/>
                <a:gridCol w="769626"/>
                <a:gridCol w="6836091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Bahnschrift"/>
                        </a:rPr>
                        <a:t>Holding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Bahnschrift"/>
                        </a:rPr>
                        <a:t>Score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Bahnschrift"/>
                        </a:rPr>
                        <a:t>Call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Bahnschrift"/>
                        </a:rPr>
                        <a:t>What the analyst is seeing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11827"/>
                          </a:solidFill>
                          <a:latin typeface="Georgia"/>
                        </a:rPr>
                        <a:t>Tata Power (TATAPOWER)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25.5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B91C1C"/>
                          </a:solidFill>
                          <a:latin typeface="Georgia"/>
                        </a:rPr>
                        <a:t>Sell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Full price against modest returns; the FY26 revenue dip was a one-off.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11827"/>
                          </a:solidFill>
                          <a:latin typeface="Georgia"/>
                        </a:rPr>
                        <a:t>Deepak Nitrite (DEEPAKNTR)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28.1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B91C1C"/>
                          </a:solidFill>
                          <a:latin typeface="Georgia"/>
                        </a:rPr>
                        <a:t>Sell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Commodity chemicals downcycle; peak margins and returns roughly halved.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11827"/>
                          </a:solidFill>
                          <a:latin typeface="Georgia"/>
                        </a:rPr>
                        <a:t>Reliance (RELIANCE)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30.3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5803D"/>
                          </a:solidFill>
                          <a:latin typeface="Georgia"/>
                        </a:rPr>
                        <a:t>Hold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Held on a low score; strong operating profit, reported profit hit by depreciation.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11827"/>
                          </a:solidFill>
                          <a:latin typeface="Georgia"/>
                        </a:rPr>
                        <a:t>Cochin Shipyard (COCHINSHIP)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32.0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B91C1C"/>
                          </a:solidFill>
                          <a:latin typeface="Georgia"/>
                        </a:rPr>
                        <a:t>Sell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Growth stepped down sharply off a high base; margins normalizing.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11827"/>
                          </a:solidFill>
                          <a:latin typeface="Georgia"/>
                        </a:rPr>
                        <a:t>Asian Paints (ASIANPAINT)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32.5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B91C1C"/>
                          </a:solidFill>
                          <a:latin typeface="Georgia"/>
                        </a:rPr>
                        <a:t>Sell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Recovery is largely an easy base effect; new-entrant competition caps upside.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48640" y="628192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Georgia"/>
              </a:rPr>
              <a:t>Reliance shows the analyst override at work: a low model score we deliberately Hold on forward optionality. The score informs the call, it does not dictate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The controls matter as much as the formulas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How we keep it honest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46304" cy="603504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444752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1" i="0">
                <a:solidFill>
                  <a:srgbClr val="1E3A8A"/>
                </a:solidFill>
                <a:latin typeface="Bahnschrift"/>
              </a:rPr>
              <a:t>Schema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1444752"/>
            <a:ext cx="7863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111827"/>
                </a:solidFill>
                <a:latin typeface="Georgia"/>
              </a:rPr>
              <a:t>Every research file is checked for all fields and correct types before it counts.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21408"/>
            <a:ext cx="146304" cy="603504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103120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1" i="0">
                <a:solidFill>
                  <a:srgbClr val="1E3A8A"/>
                </a:solidFill>
                <a:latin typeface="Bahnschrift"/>
              </a:rPr>
              <a:t>Zero-tell style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2103120"/>
            <a:ext cx="7863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111827"/>
                </a:solidFill>
                <a:latin typeface="Georgia"/>
              </a:rPr>
              <a:t>The builder refuses to ship a sheet containing AI writing tells or banned words.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79776"/>
            <a:ext cx="146304" cy="603504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761488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1" i="0">
                <a:solidFill>
                  <a:srgbClr val="1E3A8A"/>
                </a:solidFill>
                <a:latin typeface="Bahnschrift"/>
              </a:rPr>
              <a:t>Independent QA sweep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761488"/>
            <a:ext cx="7863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111827"/>
                </a:solidFill>
                <a:latin typeface="Georgia"/>
              </a:rPr>
              <a:t>A second agent audits each file: does the call match the reasoning, is the growth number calibrated, any Buy language, any pending-vs-done error.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38144"/>
            <a:ext cx="146304" cy="603504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1" i="0">
                <a:solidFill>
                  <a:srgbClr val="1E3A8A"/>
                </a:solidFill>
                <a:latin typeface="Bahnschrift"/>
              </a:rPr>
              <a:t>Fact-check on claims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60" y="3419856"/>
            <a:ext cx="7863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111827"/>
                </a:solidFill>
                <a:latin typeface="Georgia"/>
              </a:rPr>
              <a:t>Completed-versus-pending legal and deal claims are verified against primary sources.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096511"/>
            <a:ext cx="146304" cy="603504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078224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1" i="0">
                <a:solidFill>
                  <a:srgbClr val="1E3A8A"/>
                </a:solidFill>
                <a:latin typeface="Bahnschrift"/>
              </a:rPr>
              <a:t>Growth re-adjudication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4078224"/>
            <a:ext cx="7863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111827"/>
                </a:solidFill>
                <a:latin typeface="Georgia"/>
              </a:rPr>
              <a:t>A flagged growth number goes back to the same analyst desk to defend or revise.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754879"/>
            <a:ext cx="146304" cy="603504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4736592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1" i="0">
                <a:solidFill>
                  <a:srgbClr val="1E3A8A"/>
                </a:solidFill>
                <a:latin typeface="Bahnschrift"/>
              </a:rPr>
              <a:t>Human sign-off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4736592"/>
            <a:ext cx="7863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111827"/>
                </a:solidFill>
                <a:latin typeface="Georgia"/>
              </a:rPr>
              <a:t>Nothing reaches a client without the Principal's approval.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431535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  <a:latin typeface="Georgia"/>
              </a:rPr>
              <a:t>In the Nifty-100 build, this layer caught three overstated legal claims and pulled three growth numbers down a full band before they touched a score.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Coverage to date and the road 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Where we are, and what is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81912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E3A8A"/>
                </a:solidFill>
                <a:latin typeface="Bahnschrift"/>
              </a:rPr>
              <a:t>125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167128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Bahnschrift"/>
              </a:rPr>
              <a:t>STOCKS RESEARCHED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441448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Georgia"/>
              </a:rPr>
              <a:t>59 client holdings + 66 Nifty-100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1103" y="146304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3983" y="1581912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E3A8A"/>
                </a:solidFill>
                <a:latin typeface="Bahnschrift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2271" y="2167128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Bahnschrift"/>
              </a:rPr>
              <a:t>PILLARS X 2 HORIZONS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1" y="2441448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Georgia"/>
              </a:rPr>
              <a:t>One consistent scoring spine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7" y="146304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6447" y="1581912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E3A8A"/>
                </a:solidFill>
                <a:latin typeface="Bahnschrift"/>
              </a:rP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4736" y="2167128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Bahnschrift"/>
              </a:rPr>
              <a:t>HUMAN SIGNED-OFF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2441448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Georgia"/>
              </a:rPr>
              <a:t>No client sheet ships otherwise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1089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E3A8A"/>
                </a:solidFill>
                <a:latin typeface="Bahnschrift"/>
              </a:rPr>
              <a:t>Coverage so far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520439"/>
            <a:ext cx="5577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Real 59-stock client portfolio: fully scored, researched and delivered.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Nifty-100 build: 66 new names researched, 27 Sell / 39 Hold.</a:t>
            </a:r>
            <a:r>
              <a:rPr sz="1200" b="0" i="1">
                <a:solidFill>
                  <a:srgbClr val="6B7280"/>
                </a:solidFill>
                <a:latin typeface="Georgia"/>
              </a:rPr>
              <a:t>Valuation vs deliverable growth, not business quality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Every call carries a rationale, a forward growth view and a source list.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1089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E3A8A"/>
                </a:solidFill>
                <a:latin typeface="Bahnschrift"/>
              </a:rPr>
              <a:t>The road ahead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520439"/>
            <a:ext cx="5257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Extend the quant score to the full Nifty-100, then the Nifty-750.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Add human proof-reading and an intern re-review for a second pair of eyes.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A consistency check so calls never contradict our house views or PMS holdings.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Quarterly model and format upgrades, basis results.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400" b="1" i="0">
                <a:solidFill>
                  <a:srgbClr val="FFFFFF"/>
                </a:solidFill>
                <a:latin typeface="Bahnschrift"/>
              </a:rPr>
              <a:t>A repeatable, defensible process</a:t>
            </a:r>
          </a:p>
          <a:p>
            <a:pPr algn="l">
              <a:spcAft>
                <a:spcPts val="1000"/>
              </a:spcAft>
            </a:pPr>
            <a:r>
              <a:rPr sz="1800" b="0" i="1">
                <a:solidFill>
                  <a:srgbClr val="BFDBFE"/>
                </a:solidFill>
                <a:latin typeface="Georgia"/>
              </a:rPr>
              <a:t>Systematic where machines are better, human where judgment is better.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9377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93C5FD"/>
                </a:solidFill>
                <a:latin typeface="Georgia"/>
              </a:rPr>
              <a:t>Method frozen in FROZEN_METHODOLOGY.md v6.3 · Ionic Wealth · internal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