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12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eyas Gupta" userId="012d5afd-9295-4939-981a-93e082ffd108" providerId="ADAL" clId="{ECA260C8-5CAA-4207-9635-07E614C4BA65}"/>
    <pc:docChg chg="mod modSld modMainMaster">
      <pc:chgData name="Shreyas Gupta" userId="012d5afd-9295-4939-981a-93e082ffd108" providerId="ADAL" clId="{ECA260C8-5CAA-4207-9635-07E614C4BA65}" dt="2026-07-20T07:35:48.802" v="3" actId="33475"/>
      <pc:docMkLst>
        <pc:docMk/>
      </pc:docMkLst>
      <pc:sldChg chg="modSp mod">
        <pc:chgData name="Shreyas Gupta" userId="012d5afd-9295-4939-981a-93e082ffd108" providerId="ADAL" clId="{ECA260C8-5CAA-4207-9635-07E614C4BA65}" dt="2026-07-20T07:35:47.433" v="1" actId="1076"/>
        <pc:sldMkLst>
          <pc:docMk/>
          <pc:sldMk cId="0" sldId="264"/>
        </pc:sldMkLst>
        <pc:spChg chg="mod">
          <ac:chgData name="Shreyas Gupta" userId="012d5afd-9295-4939-981a-93e082ffd108" providerId="ADAL" clId="{ECA260C8-5CAA-4207-9635-07E614C4BA65}" dt="2026-07-20T07:35:42.247" v="0" actId="1076"/>
          <ac:spMkLst>
            <pc:docMk/>
            <pc:sldMk cId="0" sldId="264"/>
            <ac:spMk id="13" creationId="{00000000-0000-0000-0000-000000000000}"/>
          </ac:spMkLst>
        </pc:spChg>
        <pc:spChg chg="mod">
          <ac:chgData name="Shreyas Gupta" userId="012d5afd-9295-4939-981a-93e082ffd108" providerId="ADAL" clId="{ECA260C8-5CAA-4207-9635-07E614C4BA65}" dt="2026-07-20T07:35:47.433" v="1" actId="1076"/>
          <ac:spMkLst>
            <pc:docMk/>
            <pc:sldMk cId="0" sldId="264"/>
            <ac:spMk id="14" creationId="{00000000-0000-0000-0000-000000000000}"/>
          </ac:spMkLst>
        </pc:spChg>
      </pc:sldChg>
      <pc:sldMasterChg chg="addSp mod">
        <pc:chgData name="Shreyas Gupta" userId="012d5afd-9295-4939-981a-93e082ffd108" providerId="ADAL" clId="{ECA260C8-5CAA-4207-9635-07E614C4BA65}" dt="2026-07-20T07:35:48.797" v="2" actId="33475"/>
        <pc:sldMasterMkLst>
          <pc:docMk/>
          <pc:sldMasterMk cId="2209977519" sldId="2147483648"/>
        </pc:sldMasterMkLst>
        <pc:spChg chg="add">
          <ac:chgData name="Shreyas Gupta" userId="012d5afd-9295-4939-981a-93e082ffd108" providerId="ADAL" clId="{ECA260C8-5CAA-4207-9635-07E614C4BA65}" dt="2026-07-20T07:35:48.797" v="2" actId="33475"/>
          <ac:spMkLst>
            <pc:docMk/>
            <pc:sldMasterMk cId="2209977519" sldId="2147483648"/>
            <ac:spMk id="8" creationId="{540451B9-7FC6-009F-AC3A-141E756A6DB2}"/>
          </ac:spMkLst>
        </pc:sp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20-Jul-26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0451B9-7FC6-009F-AC3A-141E756A6DB2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518150" y="63500"/>
            <a:ext cx="1181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Classified as Internal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4572000"/>
            <a:ext cx="12191695" cy="2743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DBEAFE"/>
                </a:solidFill>
                <a:latin typeface="Bahnschrift"/>
              </a:rPr>
              <a:t>IONIC WEALTH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5740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4600" b="1" i="0">
                <a:solidFill>
                  <a:srgbClr val="FFFFFF"/>
                </a:solidFill>
                <a:latin typeface="Bahnschrift"/>
              </a:rPr>
              <a:t>The Stock Scorecard</a:t>
            </a:r>
          </a:p>
          <a:p>
            <a:pPr algn="l">
              <a:spcAft>
                <a:spcPts val="800"/>
              </a:spcAft>
            </a:pPr>
            <a:r>
              <a:rPr sz="2400" b="0" i="1">
                <a:solidFill>
                  <a:srgbClr val="BFDBFE"/>
                </a:solidFill>
                <a:latin typeface="Georgia"/>
              </a:rPr>
              <a:t>Methodology and end-to-end workflow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BEAFE"/>
                </a:solidFill>
                <a:latin typeface="Georgia"/>
              </a:rPr>
              <a:t>A quantamental engine that scores stocks 0 to 100 and turns those scores into</a:t>
            </a:r>
          </a:p>
          <a:p>
            <a:pPr algn="l">
              <a:spcAft>
                <a:spcPts val="300"/>
              </a:spcAft>
            </a:pPr>
            <a:r>
              <a:rPr sz="1400" b="0" i="0">
                <a:solidFill>
                  <a:srgbClr val="DBEAFE"/>
                </a:solidFill>
                <a:latin typeface="Georgia"/>
              </a:rPr>
              <a:t>Clear Sell / Trim / Hold guidance for client portfolios.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1">
                <a:solidFill>
                  <a:srgbClr val="93C5FD"/>
                </a:solidFill>
                <a:latin typeface="Georgia"/>
              </a:rPr>
              <a:t>Frozen methodology v6.3 · prepared 2026-07-20 · internal team walkthrough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One engine, two jobs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What the system is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67665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A repeatable pipeline that scores any Nifty stock on fundamentals and technicals, then converts the score into portfolio advice.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Two independent scores per stock, never blended in the engine:</a:t>
            </a:r>
          </a:p>
          <a:p>
            <a:pPr lvl="1">
              <a:spcAft>
                <a:spcPts val="1100"/>
              </a:spcAft>
            </a:pPr>
            <a:r>
              <a:rPr sz="14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450" b="0" i="0">
                <a:solidFill>
                  <a:srgbClr val="374151"/>
                </a:solidFill>
                <a:latin typeface="Georgia"/>
              </a:rPr>
              <a:t>3-Year score, tilted to fundamentals (quality, growth, value).</a:t>
            </a:r>
          </a:p>
          <a:p>
            <a:pPr lvl="1">
              <a:spcAft>
                <a:spcPts val="1100"/>
              </a:spcAft>
            </a:pPr>
            <a:r>
              <a:rPr sz="14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450" b="0" i="0">
                <a:solidFill>
                  <a:srgbClr val="374151"/>
                </a:solidFill>
                <a:latin typeface="Georgia"/>
              </a:rPr>
              <a:t>1-Year score, tilted to price behaviour and momentum.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Every stock passes through the same steps, so two analysts on two days get the same discipline.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Recommendation vocabulary is Sell, Trim or Hold. Never Buy.</a:t>
            </a:r>
            <a:r>
              <a:rPr sz="1350" b="0" i="1">
                <a:solidFill>
                  <a:srgbClr val="6B7280"/>
                </a:solidFill>
                <a:latin typeface="Georgia"/>
              </a:rPr>
              <a:t>This reviews existing holdings, it does not solicit new positions (NDPMS context)</a:t>
            </a:r>
          </a:p>
          <a:p>
            <a:pPr>
              <a:spcAft>
                <a:spcPts val="1100"/>
              </a:spcAft>
            </a:pPr>
            <a:r>
              <a:rPr sz="14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50" b="0" i="0">
                <a:solidFill>
                  <a:srgbClr val="111827"/>
                </a:solidFill>
                <a:latin typeface="Georgia"/>
              </a:rPr>
              <a:t>Live use so far: a real 59-stock client portfolio, plus a 66-name Nifty-100 coverage build.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1508760"/>
            <a:ext cx="4023360" cy="384048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63840" y="173736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2563EB"/>
                </a:solidFill>
                <a:latin typeface="Bahnschrift"/>
              </a:rPr>
              <a:t>THE PROMISE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194560"/>
            <a:ext cx="35661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E3A8A"/>
                </a:solidFill>
                <a:latin typeface="Bahnschrift"/>
              </a:rPr>
              <a:t>Fund-manager judgment,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E3A8A"/>
                </a:solidFill>
                <a:latin typeface="Bahnschrift"/>
              </a:rPr>
              <a:t>Delivered with the</a:t>
            </a:r>
          </a:p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1E3A8A"/>
                </a:solidFill>
                <a:latin typeface="Bahnschrift"/>
              </a:rPr>
              <a:t>Consistency of a machine</a:t>
            </a:r>
          </a:p>
          <a:p>
            <a:pPr algn="l">
              <a:spcAft>
                <a:spcPts val="400"/>
              </a:spcAft>
            </a:pPr>
            <a:endParaRPr sz="2000" b="1" i="0">
              <a:solidFill>
                <a:srgbClr val="1E3A8A"/>
              </a:solidFill>
              <a:latin typeface="Bahnschrift"/>
            </a:endParaRPr>
          </a:p>
          <a:p>
            <a:pPr algn="l">
              <a:spcAft>
                <a:spcPts val="400"/>
              </a:spcAft>
            </a:pPr>
            <a:r>
              <a:rPr sz="1300" b="0" i="1">
                <a:solidFill>
                  <a:srgbClr val="374151"/>
                </a:solidFill>
                <a:latin typeface="Georgia"/>
              </a:rPr>
              <a:t>Systematic scoring removes the coin-flips; human review keeps the judgment.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Six stages, from raw data to a signed client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The workflow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Screener feed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267712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2426817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426817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26817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Quant score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26817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0 to 100, x2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145889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4304995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04995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04995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AI analyst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4995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One per stock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6024067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6183172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183172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3172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AI fund mgr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3172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Trim + sizing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7902244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061350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061350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61350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Human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61350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Sign-off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9780422" y="2075688"/>
            <a:ext cx="140817" cy="201168"/>
          </a:xfrm>
          <a:prstGeom prst="rightArrow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9939528" y="1554480"/>
            <a:ext cx="1700784" cy="1234440"/>
          </a:xfrm>
          <a:prstGeom prst="roundRect">
            <a:avLst>
              <a:gd name="adj" fmla="val 9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939528" y="1709928"/>
            <a:ext cx="1700784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Bahnschrift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39528" y="2167128"/>
            <a:ext cx="1700784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Bahnschrift"/>
              </a:rPr>
              <a:t>Deliverable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478024"/>
            <a:ext cx="1700784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 i="1">
                <a:solidFill>
                  <a:srgbClr val="DBEAFE"/>
                </a:solidFill>
                <a:latin typeface="Georgia"/>
              </a:rPr>
              <a:t>Client + analyst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200400"/>
            <a:ext cx="11064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Data: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Screener fundamentals + price history, refreshed each results season, quality-gated before use.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Quant score: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Seven percentile-ranked pillars, weighted two ways (3Y and 1Y), then gates and penalties.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AI analyst: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One sector-specialist agent researches each stock, forms a forward growth view and a Sell/Hold call.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AI fund manager: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Sets trim targets and portfolio-level narrative where client weights are known.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Human review: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The Principal signs off; nothing reaches a client without it.</a:t>
            </a:r>
          </a:p>
          <a:p>
            <a:pPr>
              <a:spcAft>
                <a:spcPts val="7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Deliverable: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A client workbook (one score, clear actions) and a full analyst workbook (every number).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2743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B08D57"/>
                </a:solidFill>
                <a:latin typeface="Bahnschrift"/>
              </a:rPr>
              <a:t>PART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Bahnschrift"/>
              </a:rPr>
              <a:t>The quant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BFDBFE"/>
                </a:solidFill>
                <a:latin typeface="Georgia"/>
              </a:rPr>
              <a:t>How a raw stock becomes two scores from 0 to 100.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Garbage in is the one thing a scoring engine cannot survive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1 · The data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6858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Source: Screener.in deep financials (P&amp;L, balance sheet, cash flow) plus daily adjusted prices and index data.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Refresh cadence is basis results, four times a year, after each earnings season closes.</a:t>
            </a:r>
            <a:r>
              <a:rPr sz="1300" b="0" i="1">
                <a:solidFill>
                  <a:srgbClr val="6B7280"/>
                </a:solidFill>
                <a:latin typeface="Georgia"/>
              </a:rPr>
              <a:t>Next full refresh approx 25 Aug 2026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Between refreshes, any covered name that reports gets a targeted re-scrape before it feeds a client sheet.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Quality gate (D-009) before any scoring use:</a:t>
            </a:r>
          </a:p>
          <a:p>
            <a:pPr lvl="1">
              <a:spcAft>
                <a:spcPts val="1000"/>
              </a:spcAft>
            </a:pPr>
            <a:r>
              <a:rPr sz="140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400" b="0" i="0">
                <a:solidFill>
                  <a:srgbClr val="374151"/>
                </a:solidFill>
                <a:latin typeface="Georgia"/>
              </a:rPr>
              <a:t>Spot-check known values, confirm no look-ahead, sanity-check the schema.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A stale price is expected and corrected silently, it is never treated as a finding.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400" b="0" i="0">
                <a:solidFill>
                  <a:srgbClr val="111827"/>
                </a:solidFill>
                <a:latin typeface="Georgia"/>
              </a:rPr>
              <a:t>Every refresh stamps a run-date and a pass/fail record, so the book is auditable.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08760"/>
            <a:ext cx="3977639" cy="35661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09560" y="1691640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Bahnschrift"/>
              </a:rPr>
              <a:t>THE DATA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94560"/>
            <a:ext cx="356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Same fields, every stock</a:t>
            </a:r>
          </a:p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Point-in-time, no future leakage</a:t>
            </a:r>
          </a:p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Refresh on results, not on whim</a:t>
            </a:r>
          </a:p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Verified before it scores</a:t>
            </a:r>
          </a:p>
          <a:p>
            <a:pPr>
              <a:spcAft>
                <a:spcPts val="13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One source of truth on disk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Fundamentals lead the 3-year view; price behaviour leads the 1-year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2a · Two horizons, seven pillars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Pillar weights (before regime tilt)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1874519"/>
          <a:ext cx="5577839" cy="3072384"/>
        </p:xfrm>
        <a:graphic>
          <a:graphicData uri="http://schemas.openxmlformats.org/drawingml/2006/table">
            <a:tbl>
              <a:tblPr/>
              <a:tblGrid>
                <a:gridCol w="29357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1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10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Pillar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3Y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1Y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Quality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>
                          <a:solidFill>
                            <a:srgbClr val="111827"/>
                          </a:solidFill>
                          <a:latin typeface="Georgia"/>
                        </a:rPr>
                        <a:t>20%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16%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Growth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>
                          <a:solidFill>
                            <a:srgbClr val="111827"/>
                          </a:solidFill>
                          <a:latin typeface="Georgia"/>
                        </a:rPr>
                        <a:t>20%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16%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Value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18%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16%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Stage / Technical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14%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26%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Sector &amp; Macro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11%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13%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Ownership Flow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9%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8%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Accumulation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8%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 dirty="0">
                          <a:solidFill>
                            <a:srgbClr val="111827"/>
                          </a:solidFill>
                          <a:latin typeface="Georgia"/>
                        </a:rPr>
                        <a:t>5%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1508760"/>
            <a:ext cx="51663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Each pillar is scored as a percentile rank against the universe, so every score is 'where this stock sits versus its peers', not a raw ratio.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All inputs are winsorized at 2% and 98% before ranking, so a single outlier cannot claim an extreme rank.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The 3Y book leans on Quality, Growth and Value (58% together).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The 1Y book leans on Stage / Technical and near-term flow (39% together).</a:t>
            </a:r>
          </a:p>
          <a:p>
            <a:pPr>
              <a:spcAft>
                <a:spcPts val="10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Intrinsic value (DCF) is deliberately excluded from the machine: the mechanical version produced implausible growth figures, so it now lives as the analyst's own reverse-DCF judgment.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Quality, Growth,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2b · Pillar formulas (1 of 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Quality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Quality = mean( pctile(ROE, sector-neutral), pctile(ROCE, sector-neutral) 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ROE = Net Profit / (Equity Capital + Reserves) ROCE = Operating Profit / (Equity + Borrowings)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889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Growth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7296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282696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Growth(3Y) = pctile( 3-year revenue CAGR, whole universe 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Growth(1Y) = pctile( 1-year / TTM revenue growth, whole universe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54456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4654296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Value = 0.25 x pctile(-PE, universe) + 0.35 x pctile(-PE, sector x cap-tier)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+ 0.20 x pctile(-PB, sector x cap-tier) + 0.20 x pctile(FCF yield, sector x cap-tier)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Stage / Technical, Sector &amp; Macro, Ownership Flow, Accumulation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2b · Pillar formulas (2 of 2)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Stage / Technical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11091672" cy="1207008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10817352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Mean( pctile(return, universe), pctile(return, sector) ) over 12M+24M [3Y] / 3M+6M [1Y]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Gated by price vs 200DMA [3Y] / 50DMA [1Y]; +/-5 pt RSI nudge on 1Y only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Where a chart-analyst pass has run, its Long-Term Pattern Score REPLACES the mechanical 3Y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Sector &amp; Macro / Ownership Flow / Accumulation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401568"/>
            <a:ext cx="11091672" cy="1207008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511296"/>
            <a:ext cx="10817352" cy="987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Sector &amp; Macro = pctile(sector-mean return, universe) + regime-cyclicality fit adjustment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Ownership Flow = pctile( mean(FII qoq + DII qoq) ), 6-of-8 quarters [3Y] / 1-2 quarters [1Y]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Accumulation = pctile( OBV slope ), 6-12 months [3Y] / 1-3 months [1Y]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5000"/>
            </a:avLst>
          </a:prstGeom>
          <a:solidFill>
            <a:srgbClr val="DCFC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727448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5803D"/>
                </a:solidFill>
                <a:latin typeface="Bahnschrift"/>
              </a:rPr>
              <a:t>Why percentiles, not raw numbers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A 22% ROE means nothing in isolation. Ranked against peers it becomes a score you can compare, add and weight. Every pillar speaks the same 0 to 100 language.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A mild, deliberate nudge, not a market-timing bet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2c · The regime tilt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Six fixed regimes describe the macro backdrop (risk-on, risk-off, domestic expansion or slowdown, value rotation, quality leadership).</a:t>
            </a:r>
          </a:p>
          <a:p>
            <a:pPr>
              <a:spcAft>
                <a:spcPts val="11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The regime shifts the pillar weights slightly and adjusts the Sector &amp; Macro score for cyclical vs defensive names.</a:t>
            </a:r>
          </a:p>
          <a:p>
            <a:pPr>
              <a:spcAft>
                <a:spcPts val="11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It is slow-moving, re-checked monthly, and the analyst can override it per stock.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417320"/>
            <a:ext cx="5303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Weight tilt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55080" y="1828800"/>
          <a:ext cx="5303519" cy="1508760"/>
        </p:xfrm>
        <a:graphic>
          <a:graphicData uri="http://schemas.openxmlformats.org/drawingml/2006/table">
            <a:tbl>
              <a:tblPr/>
              <a:tblGrid>
                <a:gridCol w="14070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9646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Bahnschrift"/>
                        </a:rPr>
                        <a:t>Tag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Bahnschrift"/>
                        </a:rPr>
                        <a:t>Tilt applied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Cyclical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Value +3, Sector +3, Growth -2, Quality -2, Stage -2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Not cyclical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Quality +3, Growth +2, Stage -3, Sector -2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382512" y="5006340"/>
            <a:ext cx="5303520" cy="123444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60819" y="5184648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 i="0" dirty="0">
                <a:solidFill>
                  <a:srgbClr val="2563EB"/>
                </a:solidFill>
                <a:latin typeface="Bahnschrift"/>
              </a:rPr>
              <a:t>Current call (macro desk)</a:t>
            </a:r>
          </a:p>
          <a:p>
            <a:pPr algn="l">
              <a:spcAft>
                <a:spcPts val="300"/>
              </a:spcAft>
            </a:pPr>
            <a:r>
              <a:rPr sz="1250" b="0" i="0" dirty="0">
                <a:solidFill>
                  <a:srgbClr val="111827"/>
                </a:solidFill>
                <a:latin typeface="Georgia"/>
              </a:rPr>
              <a:t>Value / Cyclical Rotation (mild) 70% + India Slowdown (mild) 30%.</a:t>
            </a:r>
          </a:p>
          <a:p>
            <a:pPr algn="l">
              <a:spcAft>
                <a:spcPts val="300"/>
              </a:spcAft>
            </a:pPr>
            <a:r>
              <a:rPr sz="1250" b="0" i="0" dirty="0">
                <a:solidFill>
                  <a:srgbClr val="111827"/>
                </a:solidFill>
                <a:latin typeface="Georgia"/>
              </a:rPr>
              <a:t>Fit adjustment: Cyclical +4.6, Not-cyclical -2.6.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805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Design intent: the tilt is about one-fifth the magnitude of a full melt-up. It shades the score, it does not drive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Safety checks applied after the weighted score, before it is trusted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2d · Overlay gates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Balance-sheet safety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RED if D/E &gt; 2.5 or Interest Coverage &lt; 1.5 -&gt; score capped at 40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AMBER if D/E &gt; 1.5 or Interest Coverage &lt; 3 -&gt; score x 0.85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7889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Liquidity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172968"/>
            <a:ext cx="11091672" cy="585216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282696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RED if median 60-day turnover &lt; size-tier bar (Rs 5cr / 1cr / 25L for Large / Mid / Small) -&gt; cap 40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23360"/>
            <a:ext cx="11091672" cy="137160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160520"/>
            <a:ext cx="1069848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92400E"/>
                </a:solidFill>
                <a:latin typeface="Bahnschrift"/>
              </a:rPr>
              <a:t>The financial-sector exemption (a lesson we paid for)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11827"/>
                </a:solidFill>
                <a:latin typeface="Georgia"/>
              </a:rPr>
              <a:t>Banks, NBFCs and insurers run high debt-to-equity by design, leverage is their business model, not distress.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11827"/>
                </a:solidFill>
                <a:latin typeface="Georgia"/>
              </a:rPr>
              <a:t>They are exempt from the D/E trigger and tagged 'N/A financial-sector', never silently passed. Their true health is judged on asset quality and capital adequacy in the analyst layer.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Red flags compound; a clean bill earns a small lift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2e · Penalty and boost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Exponential red-flag penalty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6766560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64922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Penalty = -min( 10, 2^(flags) - 1 )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1 flag -1 2 flags -3 3 flags -7 4+ -10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498079" y="1801368"/>
          <a:ext cx="4160520" cy="1975104"/>
        </p:xfrm>
        <a:graphic>
          <a:graphicData uri="http://schemas.openxmlformats.org/drawingml/2006/table">
            <a:tbl>
              <a:tblPr/>
              <a:tblGrid>
                <a:gridCol w="3120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01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FFFFFF"/>
                          </a:solidFill>
                          <a:latin typeface="Bahnschrift"/>
                        </a:rPr>
                        <a:t>Red flag counted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Bahnschrift"/>
                        </a:rPr>
                        <a:t>Scope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Interest coverage &lt; 1.5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All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Debt / equity &gt; 2.5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Non-fin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Negative 1yr revenue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All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Growth decel &gt; 15pp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All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11827"/>
                          </a:solidFill>
                          <a:latin typeface="Georgia"/>
                        </a:rPr>
                        <a:t>Analyst fwd growth &lt; 10%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 i="0">
                          <a:solidFill>
                            <a:srgbClr val="111827"/>
                          </a:solidFill>
                          <a:latin typeface="Georgia"/>
                        </a:rPr>
                        <a:t>All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3749039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E3A8A"/>
                </a:solidFill>
                <a:latin typeface="Bahnschrift"/>
              </a:rPr>
              <a:t>Boost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1330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4242816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Boost = +3 if zero red flags AND Quality &gt; 60th pctile AND Value &gt; 60th pctile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Full +10 is reserved for an analyst-confirmed clean bill of health (not yet automatic)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2064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A forward growth estimate below 10% is penalized twice by design: once here, once as a cap on the client score. Slow growth is not rewarded.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Conservative by construction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2f · The quant recommendation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527048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0" i="0">
                <a:solidFill>
                  <a:srgbClr val="1E3A8A"/>
                </a:solidFill>
                <a:latin typeface="Consolas"/>
              </a:rPr>
              <a:t>Per horizon: gate RED -&gt; Sell score missing -&gt; No Recommendation else score &gt;= 40 -&gt; Hold, &lt; 40 -&gt; Sell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1E3A8A"/>
                </a:solidFill>
                <a:latin typeface="Consolas"/>
              </a:rPr>
              <a:t>OVERALL = Sell if EITHER horizon says Sell (surface any real concern, do not average it away)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788920"/>
            <a:ext cx="11091672" cy="105156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2898648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2563EB"/>
                </a:solidFill>
                <a:latin typeface="Bahnschrift"/>
              </a:rPr>
              <a:t>The analyst always has the last word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11827"/>
                </a:solidFill>
                <a:latin typeface="Georgia"/>
              </a:rPr>
              <a:t>Where human research exists, the analyst's Sell/Hold call OVERRIDES the quant call entirely. The machine proposes; the analyst disposes. A leveraged financial that the machine flags on debt can be held on a sound asset-quality read.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This is why the same score can carry different calls: the number is an input to judgment, not a verdict.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 short-term-tax-aware threshold (30 instead of 40) is designed but inactive until we hold client purchase dates.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2743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B08D57"/>
                </a:solidFill>
                <a:latin typeface="Bahnschrift"/>
              </a:rPr>
              <a:t>PART TWO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Bahnschrift"/>
              </a:rPr>
              <a:t>AI research and the Ionic 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BFDBFE"/>
                </a:solidFill>
                <a:latin typeface="Georgia"/>
              </a:rPr>
              <a:t>From a quant score to the one number a client sees.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One sector specialist per stock, in a single disciplined 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3 · The AI analyst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68580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One agent per stock, routed to the right sector desk: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Industrials, financials, consumer, IT and telecom, pharma and chemicals.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Each pass, in order: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Deep research on the business and its latest results,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An earnings-quality check for one-off items flattering the numbers,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reverse-DCF judgment: what growth does the price imply, can the business clear it,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forward 3 to 5 year growth estimate,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seven-point self-review before it finalizes.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Output is one structured record per stock, saved the moment it is done.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08760"/>
            <a:ext cx="3977639" cy="379476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09560" y="1673352"/>
            <a:ext cx="3566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Bahnschrift"/>
              </a:rPr>
              <a:t>ESCALATION, KEPT NARROW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148840"/>
            <a:ext cx="36118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Escalate only a Hold-versus-Sell coin-flip, or a methodology gap that likely hits other stocks.</a:t>
            </a:r>
          </a:p>
          <a:p>
            <a:pPr>
              <a:spcAft>
                <a:spcPts val="12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Never escalate a stale price or ordinary uncertainty.</a:t>
            </a:r>
          </a:p>
          <a:p>
            <a:pPr>
              <a:spcAft>
                <a:spcPts val="12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Escalations are logged for the Principal to rule on, not resolved by the desk.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The single 0 to 100 number a client sees, forward-looking by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4 · The Ionic Score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527048"/>
            <a:ext cx="10817352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Base = 0.60 x final(3Y score) + 0.40 x final(1Y score)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1E3A8A"/>
                </a:solidFill>
                <a:latin typeface="Consolas"/>
              </a:rPr>
              <a:t>Ionic_score = clamp( base + forward_adjustment, 0, 100 )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560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Forward adjustment = growth leg + conviction leg (total clamped to +/- 20)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1752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Growth leg:</a:t>
            </a:r>
            <a:r>
              <a:rPr sz="1250" b="0" i="1">
                <a:solidFill>
                  <a:srgbClr val="6B7280"/>
                </a:solidFill>
                <a:latin typeface="Georgia"/>
              </a:rPr>
              <a:t>Scaled from the analyst's forward 3 to 5 year growth estimate (see next slide).</a:t>
            </a:r>
          </a:p>
          <a:p>
            <a:pPr>
              <a:spcAft>
                <a:spcPts val="9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Conviction leg:</a:t>
            </a:r>
            <a:r>
              <a:rPr sz="1250" b="0" i="1">
                <a:solidFill>
                  <a:srgbClr val="6B7280"/>
                </a:solidFill>
                <a:latin typeface="Georgia"/>
              </a:rPr>
              <a:t>Analyst says Sell -6; analyst holds a name the machine wanted to sell (a rescue) +6; agreement 0.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97680"/>
            <a:ext cx="11091672" cy="109728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416552"/>
            <a:ext cx="1069848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92400E"/>
                </a:solidFill>
                <a:latin typeface="Bahnschrift"/>
              </a:rPr>
              <a:t>Two coherence caps keep the score honest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If forward growth is below 10%, the adjustment can only be zero or negative, never a boost.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If the analyst says Sell, the adjustment can only be zero or negative. A name we are exiting is never dressed 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We give real weight to the future, not the past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4 · The growth leg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508760"/>
          <a:ext cx="6583679" cy="3218688"/>
        </p:xfrm>
        <a:graphic>
          <a:graphicData uri="http://schemas.openxmlformats.org/drawingml/2006/table">
            <a:tbl>
              <a:tblPr/>
              <a:tblGrid>
                <a:gridCol w="45682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541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Forward 3 to 5 year growth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 i="0">
                          <a:solidFill>
                            <a:srgbClr val="FFFFFF"/>
                          </a:solidFill>
                          <a:latin typeface="Bahnschrift"/>
                        </a:rPr>
                        <a:t>Points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Below 5% (stagnant / declining)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B91C1C"/>
                          </a:solidFill>
                          <a:latin typeface="Georgia"/>
                        </a:rPr>
                        <a:t>-15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5 to 10% (below nominal GDP)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B91C1C"/>
                          </a:solidFill>
                          <a:latin typeface="Georgia"/>
                        </a:rPr>
                        <a:t>-5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10 to 15% (steady compounder)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11827"/>
                          </a:solidFill>
                          <a:latin typeface="Georgia"/>
                        </a:rPr>
                        <a:t>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15 to 20% (strong)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5803D"/>
                          </a:solidFill>
                          <a:latin typeface="Georgia"/>
                        </a:rPr>
                        <a:t>+5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20 to 25% (exceptional momentum)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5803D"/>
                          </a:solidFill>
                          <a:latin typeface="Georgia"/>
                        </a:rPr>
                        <a:t>+10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25% and above (hypergrowth)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5803D"/>
                          </a:solidFill>
                          <a:latin typeface="Georgia"/>
                        </a:rPr>
                        <a:t>+15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250" b="1" i="0">
                          <a:solidFill>
                            <a:srgbClr val="111827"/>
                          </a:solidFill>
                          <a:latin typeface="Georgia"/>
                        </a:rPr>
                        <a:t>Exceptional tier (see right)</a:t>
                      </a:r>
                    </a:p>
                  </a:txBody>
                  <a:tcPr marL="73152" marR="54864" marT="18288" marB="18288" anchor="ctr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 i="0">
                          <a:solidFill>
                            <a:srgbClr val="15803D"/>
                          </a:solidFill>
                          <a:latin typeface="Georgia"/>
                        </a:rPr>
                        <a:t>+20</a:t>
                      </a:r>
                    </a:p>
                  </a:txBody>
                  <a:tcPr marL="73152" marR="54864" marT="18288" marB="18288" anchor="ctr">
                    <a:solidFill>
                      <a:srgbClr val="EFF6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452360" y="1508760"/>
            <a:ext cx="4206240" cy="228600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80960" y="1673352"/>
            <a:ext cx="379476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2563EB"/>
                </a:solidFill>
                <a:latin typeface="Bahnschrift"/>
              </a:rPr>
              <a:t>The +20 exceptional tier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11827"/>
                </a:solidFill>
                <a:latin typeface="Georgia"/>
              </a:rPr>
              <a:t>Reserved for the rare compounder that clears all three: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E3A8A"/>
                </a:solidFill>
                <a:latin typeface="Georgia"/>
              </a:rPr>
              <a:t>Growth at or above 25%,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E3A8A"/>
                </a:solidFill>
                <a:latin typeface="Georgia"/>
              </a:rPr>
              <a:t>Return on equity at or above 20%,</a:t>
            </a:r>
          </a:p>
          <a:p>
            <a:pPr algn="l">
              <a:spcAft>
                <a:spcPts val="500"/>
              </a:spcAft>
            </a:pPr>
            <a:r>
              <a:rPr sz="1250" b="1" i="0">
                <a:solidFill>
                  <a:srgbClr val="1E3A8A"/>
                </a:solidFill>
                <a:latin typeface="Georgia"/>
              </a:rPr>
              <a:t>Little or no share dilution.</a:t>
            </a:r>
          </a:p>
          <a:p>
            <a:pPr algn="l">
              <a:spcAft>
                <a:spcPts val="500"/>
              </a:spcAft>
            </a:pPr>
            <a:r>
              <a:rPr sz="1150" b="0" i="1">
                <a:solidFill>
                  <a:srgbClr val="6B7280"/>
                </a:solidFill>
                <a:latin typeface="Georgia"/>
              </a:rPr>
              <a:t>The fund manager confirms the dilution test by hand.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52360" y="3977639"/>
            <a:ext cx="42062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111827"/>
                </a:solidFill>
                <a:latin typeface="Georgia"/>
              </a:rPr>
              <a:t>Growth is the analyst's forward view, never a copy of trailing CAGR. The penalty for slow growth exists on purpose.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Two gates turn a score into a portfolio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5 · Sell, Trim or Hold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Gate A · stock quality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01368"/>
            <a:ext cx="11091672" cy="585216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1911095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Analyst says Sell -&gt; Sell else ionic_score &lt; 40 -&gt; Sell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56032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Gate B · concentration (the Trim band)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44368"/>
            <a:ext cx="11091672" cy="585216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3054096"/>
            <a:ext cx="108173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1E3A8A"/>
                </a:solidFill>
                <a:latin typeface="Consolas"/>
              </a:rPr>
              <a:t>Ionic_score 40 to 50 AND position &gt; 2.5% of book -&gt; Trim to a stated target weight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70332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Concentration guidance (not hard caps)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8640" y="4114800"/>
          <a:ext cx="6400799" cy="1755648"/>
        </p:xfrm>
        <a:graphic>
          <a:graphicData uri="http://schemas.openxmlformats.org/drawingml/2006/table">
            <a:tbl>
              <a:tblPr/>
              <a:tblGrid>
                <a:gridCol w="24278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72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Bahnschrift"/>
                        </a:rPr>
                        <a:t>Single-stock weight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Bahnschrift"/>
                        </a:rPr>
                        <a:t>Guidance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5 to 10%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Fine; reduce if forward growth is modest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Above 10%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A little high; trim advice unless conviction is high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11827"/>
                          </a:solidFill>
                          <a:latin typeface="Georgia"/>
                        </a:rPr>
                        <a:t>Above 20%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11827"/>
                          </a:solidFill>
                          <a:latin typeface="Georgia"/>
                        </a:rPr>
                        <a:t>Extreme; strong trim advice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7223760" y="3794760"/>
            <a:ext cx="4434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Trim targets are set by the fund-manager pass, by judgment, not a formula.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Buying price, the client's mandate, and large versus small cap all matter. None is a rigid rule.</a:t>
            </a:r>
          </a:p>
          <a:p>
            <a:pPr>
              <a:spcAft>
                <a:spcPts val="10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Freed cash is shown as cash. An existing-holdings review never auto-redeploys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Portfolio-level risk and return, in plain words, honestly framed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Stage 6 · The analytics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417320"/>
            <a:ext cx="5760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A simulated backcast holds today's mix at constant weights and compares it to the Nifty 50 (dividends added back).</a:t>
            </a:r>
          </a:p>
          <a:p>
            <a:pPr>
              <a:spcAft>
                <a:spcPts val="800"/>
              </a:spcAft>
            </a:pPr>
            <a:r>
              <a:rPr sz="13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50" b="0" i="0">
                <a:solidFill>
                  <a:srgbClr val="111827"/>
                </a:solidFill>
                <a:latin typeface="Georgia"/>
              </a:rPr>
              <a:t>Measured over 3 years and 1 year: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Return, volatility, Sharpe and Sortino, deepest fall,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Beta, alpha, tracking error, up and down capture,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four-factor regression (market, size, value, momentum),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A correlation heatmap of the largest holdings,</a:t>
            </a:r>
          </a:p>
          <a:p>
            <a:pPr lvl="1">
              <a:spcAft>
                <a:spcPts val="800"/>
              </a:spcAft>
            </a:pPr>
            <a:r>
              <a:rPr sz="1350" b="1" i="0">
                <a:solidFill>
                  <a:srgbClr val="6B7280"/>
                </a:solidFill>
                <a:latin typeface="Georgia"/>
              </a:rPr>
              <a:t>-</a:t>
            </a:r>
            <a:r>
              <a:rPr sz="1350" b="0" i="0">
                <a:solidFill>
                  <a:srgbClr val="374151"/>
                </a:solidFill>
                <a:latin typeface="Georgia"/>
              </a:rPr>
              <a:t>Index valuation context (P/E percentile vs history).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37960" y="1508760"/>
            <a:ext cx="5120640" cy="3931920"/>
          </a:xfrm>
          <a:prstGeom prst="roundRect">
            <a:avLst>
              <a:gd name="adj" fmla="val 5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766560" y="1691640"/>
            <a:ext cx="4709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>
                <a:solidFill>
                  <a:srgbClr val="92400E"/>
                </a:solidFill>
                <a:latin typeface="Bahnschrift"/>
              </a:rPr>
              <a:t>THE HONESTY RULES (BINDING)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194560"/>
            <a:ext cx="47091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The simulation is a portrait of today's mix, it is not the client's realized return, and it is not a forecast.</a:t>
            </a:r>
          </a:p>
          <a:p>
            <a:pPr>
              <a:spcAft>
                <a:spcPts val="11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The selection-bias caveat is printed on the client sheet itself.</a:t>
            </a:r>
          </a:p>
          <a:p>
            <a:pPr>
              <a:spcAft>
                <a:spcPts val="11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The risk-free rate assumption is stated (6.5%).</a:t>
            </a:r>
          </a:p>
          <a:p>
            <a:pPr>
              <a:spcAft>
                <a:spcPts val="11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Any expected-alpha number stays analyst-side and labelled an estimate, never shown to the client as a forward return.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2788920"/>
            <a:ext cx="12191695" cy="27432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B08D57"/>
                </a:solidFill>
                <a:latin typeface="Bahnschrift"/>
              </a:rPr>
              <a:t>PART THREE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Bahnschrift"/>
              </a:rPr>
              <a:t>Deliverables, controls,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11480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>
                <a:solidFill>
                  <a:srgbClr val="BFDBFE"/>
                </a:solidFill>
                <a:latin typeface="Georgia"/>
              </a:rPr>
              <a:t>What ships, how we keep it honest, and where we are.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One for the client, one for the desk. Both ship together.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The two deliverables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50876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EFF6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6916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E3A8A"/>
                </a:solidFill>
                <a:latin typeface="Bahnschrift"/>
              </a:rPr>
              <a:t>Client workbook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7280"/>
                </a:solidFill>
                <a:latin typeface="Georgia"/>
              </a:rPr>
              <a:t>Ionic Wealth branded, four sheets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5603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At a Glance: KPI dashboard + growth-of-100 chart.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Recommendations: one Ionic Score, one action, one rationale per holding.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Portfolio Analytics: risk and return in plain words.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Before vs After: what the actions do to the book.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One score. Sell / Trim / Hold. No jargon.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508760"/>
            <a:ext cx="5486400" cy="393192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 i="0">
                <a:solidFill>
                  <a:srgbClr val="1E3A8A"/>
                </a:solidFill>
                <a:latin typeface="Bahnschrift"/>
              </a:rPr>
              <a:t>Analyst workbook</a:t>
            </a:r>
          </a:p>
          <a:p>
            <a:pPr algn="l">
              <a:spcAft>
                <a:spcPts val="200"/>
              </a:spcAft>
            </a:pPr>
            <a:r>
              <a:rPr sz="1150" b="0" i="1">
                <a:solidFill>
                  <a:srgbClr val="6B7280"/>
                </a:solidFill>
                <a:latin typeface="Georgia"/>
              </a:rPr>
              <a:t>The full working paper, 46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56032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Every pillar sub-score, both horizons, gates, penalty, boost.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The full research record per stock, nothing clipped.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A field guide: the workbook documents its own method.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Portfolio Analytics (Full): factor betas with t-stats.</a:t>
            </a:r>
          </a:p>
          <a:p>
            <a:pPr>
              <a:spcAft>
                <a:spcPts val="900"/>
              </a:spcAft>
            </a:pPr>
            <a:r>
              <a:rPr sz="125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250" b="0" i="0">
                <a:solidFill>
                  <a:srgbClr val="111827"/>
                </a:solidFill>
                <a:latin typeface="Georgia"/>
              </a:rPr>
              <a:t>Empty technical columns hide themselves until that pass runs.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The scores 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Highest and lowest Ionic Scores in the live 59-stock client book, with the analyst's read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17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1463040"/>
            <a:ext cx="146304" cy="146304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36245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15803D"/>
                </a:solidFill>
                <a:latin typeface="Bahnschrift"/>
              </a:rPr>
              <a:t>Top 5 by Ionic Score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1709928"/>
          <a:ext cx="11091670" cy="1975104"/>
        </p:xfrm>
        <a:graphic>
          <a:graphicData uri="http://schemas.openxmlformats.org/drawingml/2006/table">
            <a:tbl>
              <a:tblPr/>
              <a:tblGrid>
                <a:gridCol w="27163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96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96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360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Holding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Score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Call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What the analyst is seeing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Suzlon (SUZLON)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89.1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Debt-free turnaround; 6.4 GW order book from near-zero, record FY26 deliveries.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Tata Motors CV (TMCV)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70.2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Demerged CV maker executing: 11% revenue growth, margins up, share gains.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LIC (LICI)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69.4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Real margin-quality gains; market share still slipping, but more slowly.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Motherson Wiring (MSUMI)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68.8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Dominant wiring-harness supplier riding EV and SUV content growth.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Bandhan Bank (BANDHANBNK)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68.0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Microfinance stress turning; a real pivot toward secured lending.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Oval 12"/>
          <p:cNvSpPr/>
          <p:nvPr/>
        </p:nvSpPr>
        <p:spPr>
          <a:xfrm>
            <a:off x="548640" y="3931920"/>
            <a:ext cx="146304" cy="146304"/>
          </a:xfrm>
          <a:prstGeom prst="ellipse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831336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i="0">
                <a:solidFill>
                  <a:srgbClr val="B91C1C"/>
                </a:solidFill>
                <a:latin typeface="Bahnschrift"/>
              </a:rPr>
              <a:t>Bottom 5 by Ionic Score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48640" y="4178808"/>
          <a:ext cx="11091670" cy="1975104"/>
        </p:xfrm>
        <a:graphic>
          <a:graphicData uri="http://schemas.openxmlformats.org/drawingml/2006/table">
            <a:tbl>
              <a:tblPr/>
              <a:tblGrid>
                <a:gridCol w="271632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96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962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360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Holding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Score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Call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FFFFFF"/>
                          </a:solidFill>
                          <a:latin typeface="Bahnschrift"/>
                        </a:rPr>
                        <a:t>What the analyst is seeing</a:t>
                      </a:r>
                    </a:p>
                  </a:txBody>
                  <a:tcPr marL="73152" marR="54864" marT="18288" marB="18288" anchor="ctr">
                    <a:solidFill>
                      <a:srgbClr val="1E3A8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Tata Power (TATAPOWER)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25.5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B91C1C"/>
                          </a:solidFill>
                          <a:latin typeface="Georgia"/>
                        </a:rPr>
                        <a:t>Sell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Full price against modest returns; the FY26 revenue dip was a one-off.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Deepak Nitrite (DEEPAKNTR)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28.1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B91C1C"/>
                          </a:solidFill>
                          <a:latin typeface="Georgia"/>
                        </a:rPr>
                        <a:t>Sell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Commodity chemicals downcycle; peak margins and returns roughly halved.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Reliance (RELIANCE)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30.3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5803D"/>
                          </a:solidFill>
                          <a:latin typeface="Georgia"/>
                        </a:rPr>
                        <a:t>Hold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Held on a low score; strong operating profit, reported profit hit by depreciation.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Cochin Shipyard (COCHINSHIP)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32.0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B91C1C"/>
                          </a:solidFill>
                          <a:latin typeface="Georgia"/>
                        </a:rPr>
                        <a:t>Sell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Growth stepped down sharply off a high base; margins normalizing.</a:t>
                      </a:r>
                    </a:p>
                  </a:txBody>
                  <a:tcPr marL="73152" marR="54864" marT="18288" marB="18288" anchor="ctr"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050" b="1" i="0">
                          <a:solidFill>
                            <a:srgbClr val="111827"/>
                          </a:solidFill>
                          <a:latin typeface="Georgia"/>
                        </a:rPr>
                        <a:t>Asian Paints (ASIANPAINT)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32.5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 i="0">
                          <a:solidFill>
                            <a:srgbClr val="B91C1C"/>
                          </a:solidFill>
                          <a:latin typeface="Georgia"/>
                        </a:rPr>
                        <a:t>Sell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 i="0">
                          <a:solidFill>
                            <a:srgbClr val="111827"/>
                          </a:solidFill>
                          <a:latin typeface="Georgia"/>
                        </a:rPr>
                        <a:t>Recovery is largely an easy base effect; new-entrant competition caps upside.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48640" y="6281928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Georgia"/>
              </a:rPr>
              <a:t>Reliance shows the analyst override at work: a low model score we deliberately Hold on forward optionality. The score informs the call, it does not dictate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The controls matter as much as the formulas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How we keep it honest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1444752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Schema validation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444752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Every research file is checked for all fields and correct types before it counts.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121408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2103120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Zero-tell style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2103120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The builder refuses to ship a sheet containing AI writing tells or banned words.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779776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2761488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Independent QA sweep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2761488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A second agent audits each file: does the call match the reasoning, is the growth number calibrated, any Buy language, any pending-vs-done error.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438144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Fact-check on claims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94760" y="3419856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Completed-versus-pending legal and deal claims are verified against primary sources.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096511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8680" y="4078224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Growth re-adjudication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94760" y="4078224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A flagged growth number goes back to the same analyst desk to defend or revise.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754879"/>
            <a:ext cx="146304" cy="603504"/>
          </a:xfrm>
          <a:prstGeom prst="roundRect">
            <a:avLst>
              <a:gd name="adj" fmla="val 3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68680" y="4736592"/>
            <a:ext cx="28346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1E3A8A"/>
                </a:solidFill>
                <a:latin typeface="Bahnschrift"/>
              </a:rPr>
              <a:t>Human sign-off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60" y="4736592"/>
            <a:ext cx="7863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0" i="0">
                <a:solidFill>
                  <a:srgbClr val="111827"/>
                </a:solidFill>
                <a:latin typeface="Georgia"/>
              </a:rPr>
              <a:t>Nothing reaches a client without the Principal's approval.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431535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Georgia"/>
              </a:rPr>
              <a:t>In the Nifty-100 build, this layer caught three overstated legal claims and pulled three growth numbers down a full band before they touched a score.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310896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 i="0">
                <a:solidFill>
                  <a:srgbClr val="1E3A8A"/>
                </a:solidFill>
                <a:latin typeface="Bahnschrift"/>
              </a:rPr>
              <a:t>Coverage to date and the road ahead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41248"/>
            <a:ext cx="11064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 i="1">
                <a:solidFill>
                  <a:srgbClr val="6B7280"/>
                </a:solidFill>
                <a:latin typeface="Georgia"/>
              </a:rPr>
              <a:t>Where we are, and what is next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170432"/>
            <a:ext cx="11091672" cy="2560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6656832"/>
            <a:ext cx="822960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800" b="0" i="0">
                <a:solidFill>
                  <a:srgbClr val="6B7280"/>
                </a:solidFill>
                <a:latin typeface="Georgia"/>
              </a:rPr>
              <a:t>Ionic Wealth · Stock Scorecard: Methodology &amp; Workflow · Internal, for team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656832"/>
            <a:ext cx="1097280" cy="2011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 i="0">
                <a:solidFill>
                  <a:srgbClr val="6B7280"/>
                </a:solidFill>
                <a:latin typeface="Georgia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6304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5819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E3A8A"/>
                </a:solidFill>
                <a:latin typeface="Bahnschrift"/>
              </a:rPr>
              <a:t>125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67128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Bahnschrift"/>
              </a:rPr>
              <a:t>STOCKS RESEARCHED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44144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Georgia"/>
              </a:rPr>
              <a:t>59 client holdings + 66 Nifty-100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61103" y="146304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43983" y="15819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E3A8A"/>
                </a:solidFill>
                <a:latin typeface="Bahnschrift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62271" y="2167128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Bahnschrift"/>
              </a:rPr>
              <a:t>PILLARS X 2 HORIZONS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1" y="244144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Georgia"/>
              </a:rPr>
              <a:t>One consistent scoring spine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7" y="1463040"/>
            <a:ext cx="3566160" cy="141732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9525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7" y="1581912"/>
            <a:ext cx="3291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1E3A8A"/>
                </a:solidFill>
                <a:latin typeface="Bahnschrift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2167128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Bahnschrift"/>
              </a:rPr>
              <a:t>HUMAN SIGNED-OFF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244144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Georgia"/>
              </a:rPr>
              <a:t>No client sheet ships otherwise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10896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Coverage so far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520439"/>
            <a:ext cx="55778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Real 59-stock client portfolio: fully scored, researched and delivered.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Nifty-100 build: 66 new names researched, 27 Sell / 39 Hold.</a:t>
            </a:r>
            <a:r>
              <a:rPr sz="1200" b="0" i="1">
                <a:solidFill>
                  <a:srgbClr val="6B7280"/>
                </a:solidFill>
                <a:latin typeface="Georgia"/>
              </a:rPr>
              <a:t>Valuation vs deliverable growth, not business quality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Every call carries a rationale, a forward growth view and a source list.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3108960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1E3A8A"/>
                </a:solidFill>
                <a:latin typeface="Bahnschrift"/>
              </a:rPr>
              <a:t>The road ahead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520439"/>
            <a:ext cx="5257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Extend the quant score to the full Nifty-100, then the Nifty-750.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Add human proof-reading and an intern re-review for a second pair of eyes.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A consistency check so calls never contradict our house views or PMS holdings.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2563EB"/>
                </a:solidFill>
                <a:latin typeface="Georgia"/>
              </a:rPr>
              <a:t>•</a:t>
            </a:r>
            <a:r>
              <a:rPr sz="1300" b="0" i="0">
                <a:solidFill>
                  <a:srgbClr val="111827"/>
                </a:solidFill>
                <a:latin typeface="Georgia"/>
              </a:rPr>
              <a:t>Quarterly model and format upgrades, basis results.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3400" b="1" i="0">
                <a:solidFill>
                  <a:srgbClr val="FFFFFF"/>
                </a:solidFill>
                <a:latin typeface="Bahnschrift"/>
              </a:rPr>
              <a:t>A repeatable, defensible process</a:t>
            </a:r>
          </a:p>
          <a:p>
            <a:pPr algn="l">
              <a:spcAft>
                <a:spcPts val="1000"/>
              </a:spcAft>
            </a:pPr>
            <a:r>
              <a:rPr sz="1800" b="0" i="1">
                <a:solidFill>
                  <a:srgbClr val="BFDBFE"/>
                </a:solidFill>
                <a:latin typeface="Georgia"/>
              </a:rPr>
              <a:t>Systematic where machines are better, human where judgment is better.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9377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1">
                <a:solidFill>
                  <a:srgbClr val="93C5FD"/>
                </a:solidFill>
                <a:latin typeface="Georgia"/>
              </a:rPr>
              <a:t>Method frozen in FROZEN_METHODOLOGY.md v6.3 · Ionic Wealth · internal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3663</Words>
  <Application>Microsoft Office PowerPoint</Application>
  <PresentationFormat>Widescreen</PresentationFormat>
  <Paragraphs>408</Paragraphs>
  <Slides>24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1" baseType="lpstr">
      <vt:lpstr>Aptos</vt:lpstr>
      <vt:lpstr>Arial</vt:lpstr>
      <vt:lpstr>Bahnschrift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Shreyas Gupta</cp:lastModifiedBy>
  <cp:revision>1</cp:revision>
  <dcterms:created xsi:type="dcterms:W3CDTF">2013-01-27T09:14:16Z</dcterms:created>
  <dcterms:modified xsi:type="dcterms:W3CDTF">2026-07-20T07:35:48Z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b477e47-c5e2-456e-a140-e57b17328ccf_Enabled">
    <vt:lpwstr>true</vt:lpwstr>
  </property>
  <property fmtid="{D5CDD505-2E9C-101B-9397-08002B2CF9AE}" pid="3" name="MSIP_Label_3b477e47-c5e2-456e-a140-e57b17328ccf_SetDate">
    <vt:lpwstr>2026-07-20T07:35:48Z</vt:lpwstr>
  </property>
  <property fmtid="{D5CDD505-2E9C-101B-9397-08002B2CF9AE}" pid="4" name="MSIP_Label_3b477e47-c5e2-456e-a140-e57b17328ccf_Method">
    <vt:lpwstr>Standard</vt:lpwstr>
  </property>
  <property fmtid="{D5CDD505-2E9C-101B-9397-08002B2CF9AE}" pid="5" name="MSIP_Label_3b477e47-c5e2-456e-a140-e57b17328ccf_Name">
    <vt:lpwstr>Test  Label microsoft</vt:lpwstr>
  </property>
  <property fmtid="{D5CDD505-2E9C-101B-9397-08002B2CF9AE}" pid="6" name="MSIP_Label_3b477e47-c5e2-456e-a140-e57b17328ccf_SiteId">
    <vt:lpwstr>0c5db098-310c-4940-b38a-fad919b7166d</vt:lpwstr>
  </property>
  <property fmtid="{D5CDD505-2E9C-101B-9397-08002B2CF9AE}" pid="7" name="MSIP_Label_3b477e47-c5e2-456e-a140-e57b17328ccf_ActionId">
    <vt:lpwstr>eaadd645-a66f-4a71-af67-46c08d50da5d</vt:lpwstr>
  </property>
  <property fmtid="{D5CDD505-2E9C-101B-9397-08002B2CF9AE}" pid="8" name="MSIP_Label_3b477e47-c5e2-456e-a140-e57b17328ccf_ContentBits">
    <vt:lpwstr>1</vt:lpwstr>
  </property>
  <property fmtid="{D5CDD505-2E9C-101B-9397-08002B2CF9AE}" pid="9" name="MSIP_Label_3b477e47-c5e2-456e-a140-e57b17328ccf_Tag">
    <vt:lpwstr>10, 3, 0, 1</vt:lpwstr>
  </property>
  <property fmtid="{D5CDD505-2E9C-101B-9397-08002B2CF9AE}" pid="10" name="ClassificationContentMarkingHeaderLocations">
    <vt:lpwstr>Office Theme:8</vt:lpwstr>
  </property>
  <property fmtid="{D5CDD505-2E9C-101B-9397-08002B2CF9AE}" pid="11" name="ClassificationContentMarkingHeaderText">
    <vt:lpwstr>Classified as Internal</vt:lpwstr>
  </property>
</Properties>
</file>