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5" y="91440"/>
            <a:ext cx="4846320" cy="67665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4754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 spc="100">
                <a:solidFill>
                  <a:srgbClr val="FFFFFF"/>
                </a:solidFill>
                <a:latin typeface="Bahnschrift"/>
              </a:rPr>
              <a:t>IONIC </a:t>
            </a:r>
            <a:r>
              <a:rPr sz="1700" b="0" i="0" spc="100">
                <a:solidFill>
                  <a:srgbClr val="C9CEF0"/>
                </a:solidFill>
                <a:latin typeface="Bahnschrift"/>
              </a:rPr>
              <a:t>WEALTH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841248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260">
                <a:solidFill>
                  <a:srgbClr val="F2A93C"/>
                </a:solidFill>
                <a:latin typeface="Bahnschrift"/>
              </a:rPr>
              <a:t>BY ANGEL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03120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Bahnschrift"/>
              </a:rPr>
              <a:t>Portfolio </a:t>
            </a:r>
            <a:r>
              <a:rPr sz="4000" b="1" i="0">
                <a:solidFill>
                  <a:srgbClr val="F2A93C"/>
                </a:solidFill>
                <a:latin typeface="Bahnschrift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12724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60">
                <a:solidFill>
                  <a:srgbClr val="8C95DE"/>
                </a:solidFill>
                <a:latin typeface="Bahnschrift"/>
              </a:rPr>
              <a:t>PREPARED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419856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Bahnschrift"/>
              </a:rPr>
              <a:t>ABXY Family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4114800"/>
            <a:ext cx="3108960" cy="27432"/>
          </a:xfrm>
          <a:prstGeom prst="rect">
            <a:avLst/>
          </a:prstGeom>
          <a:solidFill>
            <a:srgbClr val="F2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315968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C9CEF0"/>
                </a:solidFill>
                <a:latin typeface="Georgia"/>
              </a:rPr>
              <a:t>NDPMS (Non-Discretionary)   ·   Aggressive   ·   Long term (7yr+)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8978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8C95DE"/>
                </a:solidFill>
                <a:latin typeface="Georgia"/>
              </a:rPr>
              <a:t>Co-founder in your journey of wealth creation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21792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5DE"/>
                </a:solidFill>
                <a:latin typeface="Bahnschrift"/>
              </a:rPr>
              <a:t>As of 2026-07-25   ·   </a:t>
            </a:r>
            <a:r>
              <a:rPr sz="750" b="0" i="1">
                <a:solidFill>
                  <a:srgbClr val="8C95DE"/>
                </a:solidFill>
                <a:latin typeface="Bahnschrift"/>
              </a:rPr>
              <a:t>[ILLUSTRATIVE, synthetic demo client; not a real portfolio]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809" y="365760"/>
            <a:ext cx="1629918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41367" y="128016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74320"/>
            <a:ext cx="17492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 spc="120">
                <a:solidFill>
                  <a:srgbClr val="8C95DE"/>
                </a:solidFill>
                <a:latin typeface="Bahnschrift"/>
              </a:rPr>
              <a:t>00 · UNDERSTANDING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54964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2519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1540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9828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8116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0624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7A3"/>
                </a:solidFill>
                <a:latin typeface="Bahnschrift"/>
              </a:rPr>
              <a:t>Investment Policy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95097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2A93C"/>
                </a:solidFill>
                <a:latin typeface="Bahnschrift"/>
              </a:rPr>
              <a:t>Your plan, in one page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408176"/>
            <a:ext cx="10509199" cy="21945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5887" y="652881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Portfolio Review  · 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1487" y="1481328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1">
                <a:solidFill>
                  <a:srgbClr val="F2A93C"/>
                </a:solidFill>
                <a:latin typeface="Bahnschrift"/>
              </a:rPr>
              <a:t>[ILLUSTRATIVE, demo IPS]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164592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6B7280"/>
                </a:solidFill>
                <a:latin typeface="Bahnschrift"/>
              </a:rPr>
              <a:t>RISK TIER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1847088"/>
            <a:ext cx="1737360" cy="512064"/>
          </a:xfrm>
          <a:prstGeom prst="roundRect">
            <a:avLst>
              <a:gd name="adj" fmla="val 12000"/>
            </a:avLst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1847088"/>
            <a:ext cx="17373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 spc="40">
                <a:solidFill>
                  <a:srgbClr val="FFFFFF"/>
                </a:solidFill>
                <a:latin typeface="Bahnschrift"/>
              </a:rPr>
              <a:t>AGGRESSIVE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8" y="1645920"/>
            <a:ext cx="8497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6B7280"/>
                </a:solidFill>
                <a:latin typeface="Bahnschrift"/>
              </a:rPr>
              <a:t>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8" y="1865376"/>
            <a:ext cx="8497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16233B"/>
                </a:solidFill>
                <a:latin typeface="Georgia"/>
              </a:rPr>
              <a:t>Long-term capital growth with a quality bias; tolerates interim drawdowns for higher compounding.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2670048"/>
            <a:ext cx="10509199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798064"/>
            <a:ext cx="3931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6B7280"/>
                </a:solidFill>
                <a:latin typeface="Bahnschrift"/>
              </a:rPr>
              <a:t>TARGETS &amp; LIMITS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127248"/>
            <a:ext cx="2560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233B"/>
                </a:solidFill>
                <a:latin typeface="Georgia"/>
              </a:rPr>
              <a:t>Time horizon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7" y="312724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7A3"/>
                </a:solidFill>
                <a:latin typeface="Bahnschrift"/>
              </a:rPr>
              <a:t>7 yr+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3474720"/>
            <a:ext cx="3931920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529584"/>
            <a:ext cx="2560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233B"/>
                </a:solidFill>
                <a:latin typeface="Georgia"/>
              </a:rPr>
              <a:t>Single-name cap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0127" y="3529584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7A3"/>
                </a:solidFill>
                <a:latin typeface="Bahnschrift"/>
              </a:rPr>
              <a:t>max 8%  of the book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" y="3877056"/>
            <a:ext cx="3931920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931920"/>
            <a:ext cx="2560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233B"/>
                </a:solidFill>
                <a:latin typeface="Georgia"/>
              </a:rPr>
              <a:t>Foreign / global equity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0127" y="3931920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7A3"/>
                </a:solidFill>
                <a:latin typeface="Bahnschrift"/>
              </a:rPr>
              <a:t>15%  target of equity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" y="4279392"/>
            <a:ext cx="3931920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334256"/>
            <a:ext cx="2560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233B"/>
                </a:solidFill>
                <a:latin typeface="Georgia"/>
              </a:rPr>
              <a:t>Gold &amp; silver sleeve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0127" y="4334256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7A3"/>
                </a:solidFill>
                <a:latin typeface="Bahnschrift"/>
              </a:rPr>
              <a:t>5%  target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" y="4681728"/>
            <a:ext cx="3931920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798064"/>
            <a:ext cx="389082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6B7280"/>
                </a:solidFill>
                <a:latin typeface="Bahnschrift"/>
              </a:rPr>
              <a:t>STRATEGIC ALLOCATION BANDS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5746" y="2798064"/>
            <a:ext cx="23847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B7280"/>
                </a:solidFill>
                <a:latin typeface="Bahnschrift"/>
              </a:rPr>
              <a:t>min, target, max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3017520"/>
            <a:ext cx="3657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B7280"/>
                </a:solidFill>
                <a:latin typeface="Bahnschrift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40980" y="3017520"/>
            <a:ext cx="3657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B7280"/>
                </a:solidFill>
                <a:latin typeface="Bahnschrift"/>
              </a:rPr>
              <a:t>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017520"/>
            <a:ext cx="3657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B7280"/>
                </a:solidFill>
                <a:latin typeface="Bahnschrift"/>
              </a:rPr>
              <a:t>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4920" y="3255264"/>
            <a:ext cx="1325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33B"/>
                </a:solidFill>
                <a:latin typeface="Bahnschrift"/>
              </a:rPr>
              <a:t>Equity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3364992"/>
            <a:ext cx="3063240" cy="82296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483346" y="3328416"/>
            <a:ext cx="612648" cy="155448"/>
          </a:xfrm>
          <a:prstGeom prst="rect">
            <a:avLst/>
          </a:prstGeom>
          <a:solidFill>
            <a:srgbClr val="C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74252" y="3300984"/>
            <a:ext cx="14630" cy="210312"/>
          </a:xfrm>
          <a:prstGeom prst="rect">
            <a:avLst/>
          </a:prstGeom>
          <a:solidFill>
            <a:srgbClr val="F2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46919" y="3255264"/>
            <a:ext cx="170352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27A3"/>
                </a:solidFill>
                <a:latin typeface="Bahnschrift"/>
              </a:rPr>
              <a:t>65–85%</a:t>
            </a:r>
            <a:r>
              <a:rPr sz="900" b="0" i="0">
                <a:solidFill>
                  <a:srgbClr val="6B7280"/>
                </a:solidFill>
                <a:latin typeface="Bahnschrift"/>
              </a:rPr>
              <a:t>   tgt 78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3712464"/>
            <a:ext cx="1325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33B"/>
                </a:solidFill>
                <a:latin typeface="Bahnschrift"/>
              </a:rPr>
              <a:t>Hybrid/Debt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3822191"/>
            <a:ext cx="3063240" cy="82296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45402" y="3785615"/>
            <a:ext cx="612648" cy="155448"/>
          </a:xfrm>
          <a:prstGeom prst="rect">
            <a:avLst/>
          </a:prstGeom>
          <a:solidFill>
            <a:srgbClr val="C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52513" y="3758184"/>
            <a:ext cx="14630" cy="210312"/>
          </a:xfrm>
          <a:prstGeom prst="rect">
            <a:avLst/>
          </a:prstGeom>
          <a:solidFill>
            <a:srgbClr val="F2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46919" y="3712464"/>
            <a:ext cx="170352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27A3"/>
                </a:solidFill>
                <a:latin typeface="Bahnschrift"/>
              </a:rPr>
              <a:t>5–25%</a:t>
            </a:r>
            <a:r>
              <a:rPr sz="900" b="0" i="0">
                <a:solidFill>
                  <a:srgbClr val="6B7280"/>
                </a:solidFill>
                <a:latin typeface="Bahnschrift"/>
              </a:rPr>
              <a:t>   tgt 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74920" y="4169664"/>
            <a:ext cx="1325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33B"/>
                </a:solidFill>
                <a:latin typeface="Bahnschrift"/>
              </a:rPr>
              <a:t>Alternatives/Gold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4279392"/>
            <a:ext cx="3063240" cy="82296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92240" y="4242816"/>
            <a:ext cx="306324" cy="155448"/>
          </a:xfrm>
          <a:prstGeom prst="rect">
            <a:avLst/>
          </a:prstGeom>
          <a:solidFill>
            <a:srgbClr val="C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638086" y="4215384"/>
            <a:ext cx="14630" cy="210312"/>
          </a:xfrm>
          <a:prstGeom prst="rect">
            <a:avLst/>
          </a:prstGeom>
          <a:solidFill>
            <a:srgbClr val="F2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46919" y="4169664"/>
            <a:ext cx="170352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27A3"/>
                </a:solidFill>
                <a:latin typeface="Bahnschrift"/>
              </a:rPr>
              <a:t>0–10%</a:t>
            </a:r>
            <a:r>
              <a:rPr sz="900" b="0" i="0">
                <a:solidFill>
                  <a:srgbClr val="6B7280"/>
                </a:solidFill>
                <a:latin typeface="Bahnschrift"/>
              </a:rPr>
              <a:t>   tgt 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74920" y="4626864"/>
            <a:ext cx="1325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33B"/>
                </a:solidFill>
                <a:latin typeface="Bahnschrift"/>
              </a:rPr>
              <a:t>Cash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4736592"/>
            <a:ext cx="3063240" cy="82296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92240" y="4700016"/>
            <a:ext cx="459485" cy="155448"/>
          </a:xfrm>
          <a:prstGeom prst="rect">
            <a:avLst/>
          </a:prstGeom>
          <a:solidFill>
            <a:srgbClr val="C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638086" y="4672584"/>
            <a:ext cx="14630" cy="210312"/>
          </a:xfrm>
          <a:prstGeom prst="rect">
            <a:avLst/>
          </a:prstGeom>
          <a:solidFill>
            <a:srgbClr val="F2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46919" y="4626864"/>
            <a:ext cx="170352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27A3"/>
                </a:solidFill>
                <a:latin typeface="Bahnschrift"/>
              </a:rPr>
              <a:t>0–15%</a:t>
            </a:r>
            <a:r>
              <a:rPr sz="900" b="0" i="0">
                <a:solidFill>
                  <a:srgbClr val="6B7280"/>
                </a:solidFill>
                <a:latin typeface="Bahnschrift"/>
              </a:rPr>
              <a:t>   tgt 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248" y="5029200"/>
            <a:ext cx="10509199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" y="5138928"/>
            <a:ext cx="1050919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6B7280"/>
                </a:solidFill>
                <a:latin typeface="Bahnschrift"/>
              </a:rPr>
              <a:t>CONSTRAINTS</a:t>
            </a:r>
          </a:p>
        </p:txBody>
      </p:sp>
      <p:sp>
        <p:nvSpPr>
          <p:cNvPr id="62" name="Oval 61"/>
          <p:cNvSpPr/>
          <p:nvPr/>
        </p:nvSpPr>
        <p:spPr>
          <a:xfrm>
            <a:off x="841248" y="5468112"/>
            <a:ext cx="82296" cy="82296"/>
          </a:xfrm>
          <a:prstGeom prst="ellipse">
            <a:avLst/>
          </a:prstGeom>
          <a:solidFill>
            <a:srgbClr val="F2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4128" y="5394960"/>
            <a:ext cx="49345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33B"/>
                </a:solidFill>
                <a:latin typeface="Georgia"/>
              </a:rPr>
              <a:t>No single stock above 8% of the book</a:t>
            </a:r>
          </a:p>
        </p:txBody>
      </p:sp>
      <p:sp>
        <p:nvSpPr>
          <p:cNvPr id="64" name="Oval 63"/>
          <p:cNvSpPr/>
          <p:nvPr/>
        </p:nvSpPr>
        <p:spPr>
          <a:xfrm>
            <a:off x="6095847" y="5468112"/>
            <a:ext cx="82296" cy="82296"/>
          </a:xfrm>
          <a:prstGeom prst="ellipse">
            <a:avLst/>
          </a:prstGeom>
          <a:solidFill>
            <a:srgbClr val="F2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78727" y="5394960"/>
            <a:ext cx="49345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33B"/>
                </a:solidFill>
                <a:latin typeface="Georgia"/>
              </a:rPr>
              <a:t>Min 15% of equity in foreign/global by target</a:t>
            </a:r>
          </a:p>
        </p:txBody>
      </p:sp>
      <p:sp>
        <p:nvSpPr>
          <p:cNvPr id="66" name="Oval 65"/>
          <p:cNvSpPr/>
          <p:nvPr/>
        </p:nvSpPr>
        <p:spPr>
          <a:xfrm>
            <a:off x="841248" y="5779007"/>
            <a:ext cx="82296" cy="82296"/>
          </a:xfrm>
          <a:prstGeom prst="ellipse">
            <a:avLst/>
          </a:prstGeom>
          <a:solidFill>
            <a:srgbClr val="F2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24128" y="5705856"/>
            <a:ext cx="49345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33B"/>
                </a:solidFill>
                <a:latin typeface="Georgia"/>
              </a:rPr>
              <a:t>No unrated / F&amp;O / leveraged positions</a:t>
            </a:r>
          </a:p>
        </p:txBody>
      </p:sp>
      <p:sp>
        <p:nvSpPr>
          <p:cNvPr id="68" name="Oval 67"/>
          <p:cNvSpPr/>
          <p:nvPr/>
        </p:nvSpPr>
        <p:spPr>
          <a:xfrm>
            <a:off x="6095847" y="5779007"/>
            <a:ext cx="82296" cy="82296"/>
          </a:xfrm>
          <a:prstGeom prst="ellipse">
            <a:avLst/>
          </a:prstGeom>
          <a:solidFill>
            <a:srgbClr val="F2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78727" y="5705856"/>
            <a:ext cx="49345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33B"/>
                </a:solidFill>
                <a:latin typeface="Georgia"/>
              </a:rPr>
              <a:t>ESG: no tobacco primary-producer adds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809" y="365760"/>
            <a:ext cx="1629918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41367" y="128016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74320"/>
            <a:ext cx="17492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 spc="120">
                <a:solidFill>
                  <a:srgbClr val="8C95DE"/>
                </a:solidFill>
                <a:latin typeface="Bahnschrift"/>
              </a:rPr>
              <a:t>00 · UNDERSTANDING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54964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2519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1540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9828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8116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0624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7A3"/>
                </a:solidFill>
                <a:latin typeface="Bahnschrift"/>
              </a:rPr>
              <a:t>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95097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2A93C"/>
                </a:solidFill>
                <a:latin typeface="Bahnschrift"/>
              </a:rPr>
              <a:t>The five things that need attention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408176"/>
            <a:ext cx="10509199" cy="21945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5887" y="652881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Portfolio Review  · 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1645920"/>
            <a:ext cx="1964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6233B"/>
                </a:solidFill>
                <a:latin typeface="Bahnschrift"/>
              </a:rPr>
              <a:t>Rs 6.8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121408"/>
            <a:ext cx="196467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PORTFOLIO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3087" y="1645920"/>
            <a:ext cx="1964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6233B"/>
                </a:solidFill>
                <a:latin typeface="Bahnschrift"/>
              </a:rPr>
              <a:t>47 /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3087" y="2121408"/>
            <a:ext cx="196467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STOCKS / FUNDS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8223" y="1691640"/>
            <a:ext cx="7315" cy="56692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4927" y="1645920"/>
            <a:ext cx="1964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6233B"/>
                </a:solidFill>
                <a:latin typeface="Bahnschrift"/>
              </a:rPr>
              <a:t>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4927" y="2121408"/>
            <a:ext cx="196467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TOP-10 WEIGHT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90063" y="1691640"/>
            <a:ext cx="7315" cy="56692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46767" y="1645920"/>
            <a:ext cx="1964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E0402F"/>
                </a:solidFill>
                <a:latin typeface="Bahnschrift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6767" y="2121408"/>
            <a:ext cx="196467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EQUITY SELLS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91903" y="1691640"/>
            <a:ext cx="7315" cy="56692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8607" y="1645920"/>
            <a:ext cx="1964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92400E"/>
                </a:solidFill>
                <a:latin typeface="Bahnschrift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8607" y="2121408"/>
            <a:ext cx="196467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FUND ACTIONS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93743" y="1691640"/>
            <a:ext cx="7315" cy="56692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2670048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16233B"/>
                </a:solidFill>
                <a:latin typeface="Georgia"/>
              </a:rPr>
              <a:t>Below are the five things to fix. Each has one clear next step.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035808"/>
            <a:ext cx="195553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CATEGORY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6239" y="3035808"/>
            <a:ext cx="3637007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GAP VS 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9551" y="3035808"/>
            <a:ext cx="342682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WHAT WE WOULD 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2679" y="3035808"/>
            <a:ext cx="90461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SEE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" y="3291839"/>
            <a:ext cx="10509199" cy="13716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3337560"/>
            <a:ext cx="195553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33B"/>
                </a:solidFill>
                <a:latin typeface="Bahnschrift"/>
              </a:rPr>
              <a:t>Too concentrated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6239" y="3337560"/>
            <a:ext cx="363700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33B"/>
                </a:solidFill>
                <a:latin typeface="Georgia"/>
              </a:rPr>
              <a:t>Your 2 biggest shares are over 11%; the plan caps any one at 8%.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99551" y="3337560"/>
            <a:ext cx="342682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B27A3"/>
                </a:solidFill>
                <a:latin typeface="Bahnschrift"/>
              </a:rPr>
              <a:t>One exits via the sell list; the other is reduced slowly.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72679" y="3337560"/>
            <a:ext cx="90461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33B"/>
                </a:solidFill>
                <a:latin typeface="Georgia"/>
              </a:rPr>
              <a:t>01 · X-ray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" y="3831336"/>
            <a:ext cx="10509199" cy="512064"/>
          </a:xfrm>
          <a:prstGeom prst="rect">
            <a:avLst/>
          </a:prstGeom>
          <a:solidFill>
            <a:srgbClr val="F5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3849624"/>
            <a:ext cx="195553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33B"/>
                </a:solidFill>
                <a:latin typeface="Bahnschrift"/>
              </a:rPr>
              <a:t>Weak holdings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6239" y="3849624"/>
            <a:ext cx="363700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33B"/>
                </a:solidFill>
                <a:latin typeface="Georgia"/>
              </a:rPr>
              <a:t>10 shares score in the Sell zone.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99551" y="3849624"/>
            <a:ext cx="342682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B27A3"/>
                </a:solidFill>
                <a:latin typeface="Bahnschrift"/>
              </a:rPr>
              <a:t>Sell all of them, in a planned order.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2679" y="3849624"/>
            <a:ext cx="90461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33B"/>
                </a:solidFill>
                <a:latin typeface="Georgia"/>
              </a:rPr>
              <a:t>02 · Equity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361688"/>
            <a:ext cx="195553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33B"/>
                </a:solidFill>
                <a:latin typeface="Bahnschrift"/>
              </a:rPr>
              <a:t>Too little abroad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6239" y="4361688"/>
            <a:ext cx="363700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33B"/>
                </a:solidFill>
                <a:latin typeface="Georgia"/>
              </a:rPr>
              <a:t>About 12 points below the 15% overseas target.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99551" y="4361688"/>
            <a:ext cx="342682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B27A3"/>
                </a:solidFill>
                <a:latin typeface="Bahnschrift"/>
              </a:rPr>
              <a:t>Plan an overseas step for when we reinvest.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2679" y="4361688"/>
            <a:ext cx="90461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33B"/>
                </a:solidFill>
                <a:latin typeface="Georgia"/>
              </a:rPr>
              <a:t>04 · Plan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" y="4855464"/>
            <a:ext cx="10509199" cy="512064"/>
          </a:xfrm>
          <a:prstGeom prst="rect">
            <a:avLst/>
          </a:prstGeom>
          <a:solidFill>
            <a:srgbClr val="F5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4873752"/>
            <a:ext cx="195553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33B"/>
                </a:solidFill>
                <a:latin typeface="Bahnschrift"/>
              </a:rPr>
              <a:t>Paying extra fees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6239" y="4873752"/>
            <a:ext cx="363700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33B"/>
                </a:solidFill>
                <a:latin typeface="Georgia"/>
              </a:rPr>
              <a:t>About Rs 32k/yr of avoidable Regular-plan cost.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99551" y="4873752"/>
            <a:ext cx="342682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B27A3"/>
                </a:solidFill>
                <a:latin typeface="Bahnschrift"/>
              </a:rPr>
              <a:t>Every fund change we suggest lands in a cheaper Direct plan.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72679" y="4873752"/>
            <a:ext cx="90461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33B"/>
                </a:solidFill>
                <a:latin typeface="Georgia"/>
              </a:rPr>
              <a:t>04 · Plan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385816"/>
            <a:ext cx="195553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33B"/>
                </a:solidFill>
                <a:latin typeface="Bahnschrift"/>
              </a:rPr>
              <a:t>Fund line-up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16239" y="5385816"/>
            <a:ext cx="363700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33B"/>
                </a:solidFill>
                <a:latin typeface="Georgia"/>
              </a:rPr>
              <a:t>2 funds trail the index or are built too rigidly.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99551" y="5385816"/>
            <a:ext cx="342682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B27A3"/>
                </a:solidFill>
                <a:latin typeface="Bahnschrift"/>
              </a:rPr>
              <a:t>Switch to an index/factor fund and a Flexi-Cap.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72679" y="5385816"/>
            <a:ext cx="90461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33B"/>
                </a:solidFill>
                <a:latin typeface="Georgia"/>
              </a:rPr>
              <a:t>03 · Funds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870448"/>
            <a:ext cx="1050919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B7280"/>
                </a:solidFill>
                <a:latin typeface="Bahnschrift"/>
              </a:rPr>
              <a:t>Counts (sells, fund actions) match the scored books exactly; ‘See’ points to the section with the detail.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v_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0"/>
            <a:ext cx="585216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41367" y="128016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C95DE"/>
                </a:solidFill>
                <a:latin typeface="Bahnschrift"/>
              </a:rPr>
              <a:t>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868680"/>
            <a:ext cx="45838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0" b="1" i="0">
                <a:solidFill>
                  <a:srgbClr val="242F8E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591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F2A93C"/>
                </a:solidFill>
                <a:latin typeface="Bahnschrift"/>
              </a:rPr>
              <a:t>SECTION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06624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Portfolio X-ray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419856"/>
            <a:ext cx="2011680" cy="25603"/>
          </a:xfrm>
          <a:prstGeom prst="rect">
            <a:avLst/>
          </a:prstGeom>
          <a:solidFill>
            <a:srgbClr val="F2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639312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C9CEF0"/>
                </a:solidFill>
                <a:latin typeface="Georgia"/>
              </a:rPr>
              <a:t>Where the book stands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9834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40">
                <a:solidFill>
                  <a:srgbClr val="C9CEF0"/>
                </a:solidFill>
                <a:latin typeface="Bahnschrift"/>
              </a:rPr>
              <a:t>Portfolio snapshot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25780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40">
                <a:solidFill>
                  <a:srgbClr val="C9CEF0"/>
                </a:solidFill>
                <a:latin typeface="Bahnschrift"/>
              </a:rPr>
              <a:t>Concentration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809" y="365760"/>
            <a:ext cx="1629918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41367" y="128016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74320"/>
            <a:ext cx="17492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 spc="120">
                <a:solidFill>
                  <a:srgbClr val="8C95DE"/>
                </a:solidFill>
                <a:latin typeface="Bahnschrift"/>
              </a:rPr>
              <a:t>01 · PORTFOLIO X-RAY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549640" y="512064"/>
            <a:ext cx="137160" cy="20116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2519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1540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9828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8116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0624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7A3"/>
                </a:solidFill>
                <a:latin typeface="Bahnschrift"/>
              </a:rPr>
              <a:t>Your portfolio 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95097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2A93C"/>
                </a:solidFill>
                <a:latin typeface="Bahnschrift"/>
              </a:rPr>
              <a:t>What you own today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408176"/>
            <a:ext cx="10509199" cy="21945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5887" y="652881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Portfolio Review  ·  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1664208"/>
            <a:ext cx="24901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6233B"/>
                </a:solidFill>
                <a:latin typeface="Bahnschrift"/>
              </a:rPr>
              <a:t>₹6.80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139696"/>
            <a:ext cx="249013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TOTAL PORTFOLIO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8547" y="1664208"/>
            <a:ext cx="24901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6233B"/>
                </a:solidFill>
                <a:latin typeface="Bahnschrift"/>
              </a:rPr>
              <a:t>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8547" y="2139696"/>
            <a:ext cx="249013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DIRECT EQUITY NAMES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13683" y="1709928"/>
            <a:ext cx="7315" cy="56692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5847" y="1664208"/>
            <a:ext cx="24901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6233B"/>
                </a:solidFill>
                <a:latin typeface="Bahnschrift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2139696"/>
            <a:ext cx="249013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MUTUAL-FUND SCHEMES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40983" y="1709928"/>
            <a:ext cx="7315" cy="56692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23147" y="1664208"/>
            <a:ext cx="24901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6233B"/>
                </a:solidFill>
                <a:latin typeface="Bahnschrift"/>
              </a:rPr>
              <a:t>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23147" y="2139696"/>
            <a:ext cx="249013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IN THE TOP 10 HOLDINGS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68283" y="1709928"/>
            <a:ext cx="7315" cy="56692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" y="2670048"/>
            <a:ext cx="10509199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azby_snapshot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893183"/>
            <a:ext cx="3977639" cy="2854713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5276088" y="2880360"/>
            <a:ext cx="6074359" cy="1371600"/>
          </a:xfrm>
          <a:prstGeom prst="roundRect">
            <a:avLst>
              <a:gd name="adj" fmla="val 4000"/>
            </a:avLst>
          </a:prstGeom>
          <a:solidFill>
            <a:srgbClr val="FB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76088" y="2880360"/>
            <a:ext cx="54864" cy="1371600"/>
          </a:xfrm>
          <a:prstGeom prst="rect">
            <a:avLst/>
          </a:prstGeom>
          <a:solidFill>
            <a:srgbClr val="F2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77255" y="3008376"/>
            <a:ext cx="57085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92400E"/>
                </a:solidFill>
                <a:latin typeface="Bahnschrift"/>
              </a:rPr>
              <a:t>IN SHORT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7255" y="3282696"/>
            <a:ext cx="57085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233B"/>
                </a:solidFill>
                <a:latin typeface="Georgia"/>
              </a:rPr>
              <a:t>Most of your money, about 60%, is invested directly in shares. About 34% is in mutual funds and 6% is kept as cash. A lot sits in just a few shares. We look at that next.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089904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Bahnschrift"/>
              </a:rPr>
              <a:t>Source: client custody statement as of 2026-07-25; Ionic Wealth Portfolio Review. Percentages of total AUM.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809" y="365760"/>
            <a:ext cx="1629918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41367" y="128016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74320"/>
            <a:ext cx="17492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 spc="120">
                <a:solidFill>
                  <a:srgbClr val="8C95DE"/>
                </a:solidFill>
                <a:latin typeface="Bahnschrift"/>
              </a:rPr>
              <a:t>01 · PORTFOLIO X-RAY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549640" y="512064"/>
            <a:ext cx="137160" cy="20116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2519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1540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9828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8116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0624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7A3"/>
                </a:solidFill>
                <a:latin typeface="Bahnschrift"/>
              </a:rPr>
              <a:t>Too much in too few names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95097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2A93C"/>
                </a:solidFill>
                <a:latin typeface="Bahnschrift"/>
              </a:rPr>
              <a:t>Your ten biggest holdings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408176"/>
            <a:ext cx="10509199" cy="21945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5887" y="652881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Portfolio Review  ·  06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1481328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8C9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1453896"/>
            <a:ext cx="10189159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6B7280"/>
                </a:solidFill>
                <a:latin typeface="Bahnschrift"/>
              </a:rPr>
              <a:t>SCOPE  </a:t>
            </a:r>
            <a:r>
              <a:rPr sz="850" b="0" i="1">
                <a:solidFill>
                  <a:srgbClr val="16233B"/>
                </a:solidFill>
                <a:latin typeface="Georgia"/>
              </a:rPr>
              <a:t>Direct equity only · as of 2026-07-25</a:t>
            </a:r>
          </a:p>
        </p:txBody>
      </p:sp>
      <p:pic>
        <p:nvPicPr>
          <p:cNvPr id="17" name="Picture 16" descr="azby_conc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74519"/>
            <a:ext cx="6903720" cy="278154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973568" y="1874519"/>
            <a:ext cx="3376879" cy="1581912"/>
          </a:xfrm>
          <a:prstGeom prst="roundRect">
            <a:avLst>
              <a:gd name="adj" fmla="val 4000"/>
            </a:avLst>
          </a:prstGeom>
          <a:solidFill>
            <a:srgbClr val="FB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74519"/>
            <a:ext cx="54864" cy="1581912"/>
          </a:xfrm>
          <a:prstGeom prst="rect">
            <a:avLst/>
          </a:prstGeom>
          <a:solidFill>
            <a:srgbClr val="E0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2002536"/>
            <a:ext cx="30111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402F"/>
                </a:solidFill>
                <a:latin typeface="Bahnschrift"/>
              </a:rPr>
              <a:t>SINGLE-NAME CAP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276856"/>
            <a:ext cx="3011119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233B"/>
                </a:solidFill>
                <a:latin typeface="Georgia"/>
              </a:rPr>
              <a:t>2 shares are bigger than our 8% single-name limit: RELIANCE (12.4%), TITAN (11.3%). RELIANCE is on the sell list anyway. TITAN we reduce slowly toward 8%.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074920"/>
            <a:ext cx="24901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6233B"/>
                </a:solidFill>
                <a:latin typeface="Bahnschrift"/>
              </a:rPr>
              <a:t>23.7%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550408"/>
            <a:ext cx="249013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TOP 2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8547" y="5074920"/>
            <a:ext cx="24901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6233B"/>
                </a:solidFill>
                <a:latin typeface="Bahnschrift"/>
              </a:rPr>
              <a:t>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68547" y="5550408"/>
            <a:ext cx="249013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TOP 10 NAMES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13683" y="5120640"/>
            <a:ext cx="7315" cy="56692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5847" y="5074920"/>
            <a:ext cx="24901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6233B"/>
                </a:solidFill>
                <a:latin typeface="Bahnschrift"/>
              </a:rPr>
              <a:t>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5847" y="5550408"/>
            <a:ext cx="249013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OUR SINGLE-STOCK LIMIT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40983" y="5120640"/>
            <a:ext cx="7315" cy="56692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23147" y="5074920"/>
            <a:ext cx="24901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E0402F"/>
                </a:solidFill>
                <a:latin typeface="Bahnschrift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23147" y="5550408"/>
            <a:ext cx="249013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NAMES OVER THE CAP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68283" y="5120640"/>
            <a:ext cx="7315" cy="56692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089904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Bahnschrift"/>
              </a:rPr>
              <a:t>Source: client holdings as of 2026-07-25. Weights as % of total AUM; IPS single-name guideline per the Investment Policy Statement.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v_a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0"/>
            <a:ext cx="585216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41367" y="128016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C95DE"/>
                </a:solidFill>
                <a:latin typeface="Bahnschrift"/>
              </a:rPr>
              <a:t>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868680"/>
            <a:ext cx="45838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0" b="1" i="0">
                <a:solidFill>
                  <a:srgbClr val="242F8E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591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F2A93C"/>
                </a:solidFill>
                <a:latin typeface="Bahnschrift"/>
              </a:rP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06624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The Equity Book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419856"/>
            <a:ext cx="2011680" cy="25603"/>
          </a:xfrm>
          <a:prstGeom prst="rect">
            <a:avLst/>
          </a:prstGeom>
          <a:solidFill>
            <a:srgbClr val="F2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639312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C9CEF0"/>
                </a:solidFill>
                <a:latin typeface="Georgia"/>
              </a:rPr>
              <a:t>Every direct holding, scored and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9834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40">
                <a:solidFill>
                  <a:srgbClr val="C9CEF0"/>
                </a:solidFill>
                <a:latin typeface="Bahnschrift"/>
              </a:rPr>
              <a:t>The book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25780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40">
                <a:solidFill>
                  <a:srgbClr val="C9CEF0"/>
                </a:solidFill>
                <a:latin typeface="Bahnschrift"/>
              </a:rPr>
              <a:t>What we would sell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809" y="365760"/>
            <a:ext cx="1629918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41367" y="128016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74320"/>
            <a:ext cx="17492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 spc="120">
                <a:solidFill>
                  <a:srgbClr val="8C95DE"/>
                </a:solidFill>
                <a:latin typeface="Bahnschrift"/>
              </a:rPr>
              <a:t>02 ·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854964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2519" y="512064"/>
            <a:ext cx="137160" cy="20116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1540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9828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8116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0624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7A3"/>
                </a:solidFill>
                <a:latin typeface="Bahnschrift"/>
              </a:rPr>
              <a:t>The book 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95097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2A93C"/>
                </a:solidFill>
                <a:latin typeface="Bahnschrift"/>
              </a:rPr>
              <a:t>Your shares, all on one picture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408176"/>
            <a:ext cx="10509199" cy="21945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5887" y="652881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Portfolio Review  ·  08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1481328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8C9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1453896"/>
            <a:ext cx="10189159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6B7280"/>
                </a:solidFill>
                <a:latin typeface="Bahnschrift"/>
              </a:rPr>
              <a:t>SCOPE  </a:t>
            </a:r>
            <a:r>
              <a:rPr sz="850" b="0" i="1">
                <a:solidFill>
                  <a:srgbClr val="16233B"/>
                </a:solidFill>
                <a:latin typeface="Georgia"/>
              </a:rPr>
              <a:t>Direct equity only · as of 2026-07-25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1645920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7280"/>
                </a:solidFill>
                <a:latin typeface="Georgia"/>
              </a:rPr>
              <a:t>Every dot is one holding. Further right = a bigger part of your money. Higher up = a stronger score. Anything in the red band scores low.</a:t>
            </a:r>
          </a:p>
        </p:txBody>
      </p:sp>
      <p:pic>
        <p:nvPicPr>
          <p:cNvPr id="18" name="Picture 17" descr="equity_book_bub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435" y="2240280"/>
            <a:ext cx="7138824" cy="324612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841248" y="5641848"/>
            <a:ext cx="118872" cy="118872"/>
          </a:xfrm>
          <a:prstGeom prst="ellipse">
            <a:avLst/>
          </a:prstGeom>
          <a:solidFill>
            <a:srgbClr val="E0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596128"/>
            <a:ext cx="9144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33B"/>
                </a:solidFill>
                <a:latin typeface="Bahnschrift"/>
              </a:rPr>
              <a:t>Sell</a:t>
            </a:r>
          </a:p>
        </p:txBody>
      </p:sp>
      <p:sp>
        <p:nvSpPr>
          <p:cNvPr id="21" name="Oval 20"/>
          <p:cNvSpPr/>
          <p:nvPr/>
        </p:nvSpPr>
        <p:spPr>
          <a:xfrm>
            <a:off x="1801368" y="5641848"/>
            <a:ext cx="118872" cy="118872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84248" y="5596128"/>
            <a:ext cx="9144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33B"/>
                </a:solidFill>
                <a:latin typeface="Bahnschrift"/>
              </a:rPr>
              <a:t>Hold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8648" y="5596128"/>
            <a:ext cx="840607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B7280"/>
                </a:solidFill>
                <a:latin typeface="Georgia"/>
              </a:rPr>
              <a:t>dot size = rupee value held · gold line = Sell threshold (40) · a red dot above the line is an exceptional, documented 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6089904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Bahnschrift"/>
              </a:rPr>
              <a:t>Weight = share of direct-equity book · Ionic Score reflects our full review process, forward-growth adjusted · illustrative synthetic book.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6309360"/>
            <a:ext cx="1050919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280"/>
                </a:solidFill>
                <a:latin typeface="Georgia"/>
              </a:rPr>
              <a:t>The Ionic Score flags candidates; the Portfolio Review team confirms every call.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809" y="365760"/>
            <a:ext cx="1629918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41367" y="128016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74320"/>
            <a:ext cx="17492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 spc="120">
                <a:solidFill>
                  <a:srgbClr val="8C95DE"/>
                </a:solidFill>
                <a:latin typeface="Bahnschrift"/>
              </a:rPr>
              <a:t>02 ·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854964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2519" y="512064"/>
            <a:ext cx="137160" cy="20116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1540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9828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8116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0624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7A3"/>
                </a:solidFill>
                <a:latin typeface="Bahnschrift"/>
              </a:rPr>
              <a:t>What we would sell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95097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2A93C"/>
                </a:solidFill>
                <a:latin typeface="Bahnschrift"/>
              </a:rPr>
              <a:t>The shares we would sell, and why  (1 of 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408176"/>
            <a:ext cx="10509199" cy="21945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5887" y="652881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Portfolio Review  ·  09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04120" y="1298448"/>
            <a:ext cx="1243584" cy="219456"/>
          </a:xfrm>
          <a:prstGeom prst="roundRect">
            <a:avLst>
              <a:gd name="adj" fmla="val 50000"/>
            </a:avLst>
          </a:prstGeom>
          <a:solidFill>
            <a:srgbClr val="FBE3E0"/>
          </a:solidFill>
          <a:ln w="9525">
            <a:solidFill>
              <a:srgbClr val="E04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04120" y="1292961"/>
            <a:ext cx="124358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E0402F"/>
                </a:solidFill>
                <a:latin typeface="Bahnschrift"/>
              </a:rPr>
              <a:t>SELL ×10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1481328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8C9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1453896"/>
            <a:ext cx="10189159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6B7280"/>
                </a:solidFill>
                <a:latin typeface="Bahnschrift"/>
              </a:rPr>
              <a:t>SCOPE  </a:t>
            </a:r>
            <a:r>
              <a:rPr sz="850" b="0" i="1">
                <a:solidFill>
                  <a:srgbClr val="16233B"/>
                </a:solidFill>
                <a:latin typeface="Georgia"/>
              </a:rPr>
              <a:t>Direct equity only · as of 2026-07-25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1682496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7280"/>
                </a:solidFill>
                <a:latin typeface="Georgia"/>
              </a:rPr>
              <a:t>Each name shows the reason in two lines; the page link has the full story.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029968"/>
            <a:ext cx="195553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HOLDING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6239" y="2029968"/>
            <a:ext cx="484247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SHARE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6791" y="2029968"/>
            <a:ext cx="1219891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IONIC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2987" y="2029968"/>
            <a:ext cx="79952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8815" y="2029968"/>
            <a:ext cx="4687927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THE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93047" y="2029968"/>
            <a:ext cx="484247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DETAIL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2286000"/>
            <a:ext cx="10509199" cy="13716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2331720"/>
            <a:ext cx="19555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33B"/>
                </a:solidFill>
                <a:latin typeface="Bahnschrift"/>
              </a:rPr>
              <a:t>Reliance Industries Ltd.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6239" y="2331720"/>
            <a:ext cx="48424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Bahnschrift"/>
              </a:rPr>
              <a:t>12.4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46791" y="2596896"/>
            <a:ext cx="640080" cy="64008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46791" y="2596896"/>
            <a:ext cx="155539" cy="64008"/>
          </a:xfrm>
          <a:prstGeom prst="rect">
            <a:avLst/>
          </a:prstGeom>
          <a:solidFill>
            <a:srgbClr val="4A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02823" y="2569464"/>
            <a:ext cx="10972" cy="11887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50879" y="2519172"/>
            <a:ext cx="4114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Bahnschrift"/>
              </a:rPr>
              <a:t>24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12987" y="2496312"/>
            <a:ext cx="799523" cy="219456"/>
          </a:xfrm>
          <a:prstGeom prst="roundRect">
            <a:avLst>
              <a:gd name="adj" fmla="val 50000"/>
            </a:avLst>
          </a:prstGeom>
          <a:solidFill>
            <a:srgbClr val="FBE3E0"/>
          </a:solidFill>
          <a:ln w="9525">
            <a:solidFill>
              <a:srgbClr val="E04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2987" y="2490825"/>
            <a:ext cx="799523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E0402F"/>
                </a:solidFill>
                <a:latin typeface="Bahnschrift"/>
              </a:rPr>
              <a:t>SELL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58815" y="2331720"/>
            <a:ext cx="46879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93047" y="2331720"/>
            <a:ext cx="48424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" y="2880360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2898648"/>
            <a:ext cx="19555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33B"/>
                </a:solidFill>
                <a:latin typeface="Bahnschrift"/>
              </a:rPr>
              <a:t>Tata Power Co. Ltd.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6239" y="2898648"/>
            <a:ext cx="48424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Bahnschrift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46791" y="3163824"/>
            <a:ext cx="640080" cy="64008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46791" y="3163824"/>
            <a:ext cx="201625" cy="64008"/>
          </a:xfrm>
          <a:prstGeom prst="rect">
            <a:avLst/>
          </a:prstGeom>
          <a:solidFill>
            <a:srgbClr val="4A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02823" y="3136392"/>
            <a:ext cx="10972" cy="11887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50879" y="3086100"/>
            <a:ext cx="4114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Bahnschrift"/>
              </a:rPr>
              <a:t>32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12987" y="3063240"/>
            <a:ext cx="799523" cy="219456"/>
          </a:xfrm>
          <a:prstGeom prst="roundRect">
            <a:avLst>
              <a:gd name="adj" fmla="val 50000"/>
            </a:avLst>
          </a:prstGeom>
          <a:solidFill>
            <a:srgbClr val="FBE3E0"/>
          </a:solidFill>
          <a:ln w="9525">
            <a:solidFill>
              <a:srgbClr val="E04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12987" y="3057753"/>
            <a:ext cx="799523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E0402F"/>
                </a:solidFill>
                <a:latin typeface="Bahnschrift"/>
              </a:rPr>
              <a:t>SELL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58815" y="2898648"/>
            <a:ext cx="46879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93047" y="2898648"/>
            <a:ext cx="48424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" y="3447288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3465576"/>
            <a:ext cx="19555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33B"/>
                </a:solidFill>
                <a:latin typeface="Bahnschrift"/>
              </a:rPr>
              <a:t>Larsen &amp; Toubro Ltd.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6239" y="3465576"/>
            <a:ext cx="48424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Bahnschrift"/>
              </a:rPr>
              <a:t>1.2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46791" y="3730752"/>
            <a:ext cx="640080" cy="64008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46791" y="3730752"/>
            <a:ext cx="252831" cy="64008"/>
          </a:xfrm>
          <a:prstGeom prst="rect">
            <a:avLst/>
          </a:prstGeom>
          <a:solidFill>
            <a:srgbClr val="4A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02823" y="3703320"/>
            <a:ext cx="10972" cy="11887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50879" y="3653028"/>
            <a:ext cx="4114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Bahnschrift"/>
              </a:rPr>
              <a:t>40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12987" y="3630168"/>
            <a:ext cx="799523" cy="219456"/>
          </a:xfrm>
          <a:prstGeom prst="roundRect">
            <a:avLst>
              <a:gd name="adj" fmla="val 50000"/>
            </a:avLst>
          </a:prstGeom>
          <a:solidFill>
            <a:srgbClr val="FBE3E0"/>
          </a:solidFill>
          <a:ln w="9525">
            <a:solidFill>
              <a:srgbClr val="E04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12987" y="3624681"/>
            <a:ext cx="799523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E0402F"/>
                </a:solidFill>
                <a:latin typeface="Bahnschrift"/>
              </a:rPr>
              <a:t>SELL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58815" y="3465576"/>
            <a:ext cx="46879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93047" y="3465576"/>
            <a:ext cx="48424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841248" y="4014216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4032504"/>
            <a:ext cx="19555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33B"/>
                </a:solidFill>
                <a:latin typeface="Bahnschrift"/>
              </a:rPr>
              <a:t>Jio Financial Services Ltd.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16239" y="4032504"/>
            <a:ext cx="48424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Bahnschrift"/>
              </a:rPr>
              <a:t>0.9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46791" y="4297680"/>
            <a:ext cx="640080" cy="64008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46791" y="4297680"/>
            <a:ext cx="237469" cy="64008"/>
          </a:xfrm>
          <a:prstGeom prst="rect">
            <a:avLst/>
          </a:prstGeom>
          <a:solidFill>
            <a:srgbClr val="4A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902823" y="4270248"/>
            <a:ext cx="10972" cy="11887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50879" y="4219956"/>
            <a:ext cx="4114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Bahnschrift"/>
              </a:rPr>
              <a:t>37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12987" y="4197096"/>
            <a:ext cx="799523" cy="219456"/>
          </a:xfrm>
          <a:prstGeom prst="roundRect">
            <a:avLst>
              <a:gd name="adj" fmla="val 50000"/>
            </a:avLst>
          </a:prstGeom>
          <a:solidFill>
            <a:srgbClr val="FBE3E0"/>
          </a:solidFill>
          <a:ln w="9525">
            <a:solidFill>
              <a:srgbClr val="E04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12987" y="4191609"/>
            <a:ext cx="799523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E0402F"/>
                </a:solidFill>
                <a:latin typeface="Bahnschrift"/>
              </a:rPr>
              <a:t>SELL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58815" y="4032504"/>
            <a:ext cx="46879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93047" y="4032504"/>
            <a:ext cx="48424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841248" y="4581144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4599432"/>
            <a:ext cx="19555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33B"/>
                </a:solidFill>
                <a:latin typeface="Bahnschrift"/>
              </a:rPr>
              <a:t>Deepak Nitrite Ltd.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16239" y="4599432"/>
            <a:ext cx="48424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Bahnschrift"/>
              </a:rPr>
              <a:t>0.8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46791" y="4864608"/>
            <a:ext cx="640080" cy="64008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646791" y="4864608"/>
            <a:ext cx="250271" cy="64008"/>
          </a:xfrm>
          <a:prstGeom prst="rect">
            <a:avLst/>
          </a:prstGeom>
          <a:solidFill>
            <a:srgbClr val="4A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902823" y="4837176"/>
            <a:ext cx="10972" cy="11887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50879" y="4786884"/>
            <a:ext cx="4114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Bahnschrift"/>
              </a:rPr>
              <a:t>39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12987" y="4764024"/>
            <a:ext cx="799523" cy="219456"/>
          </a:xfrm>
          <a:prstGeom prst="roundRect">
            <a:avLst>
              <a:gd name="adj" fmla="val 50000"/>
            </a:avLst>
          </a:prstGeom>
          <a:solidFill>
            <a:srgbClr val="FBE3E0"/>
          </a:solidFill>
          <a:ln w="9525">
            <a:solidFill>
              <a:srgbClr val="E04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12987" y="4758537"/>
            <a:ext cx="799523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E0402F"/>
                </a:solidFill>
                <a:latin typeface="Bahnschrift"/>
              </a:rPr>
              <a:t>SELL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58815" y="4599432"/>
            <a:ext cx="46879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93047" y="4599432"/>
            <a:ext cx="48424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841248" y="5148072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58815" y="2386584"/>
            <a:ext cx="46879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Georgia"/>
              </a:rPr>
              <a:t>Bottom-quartile on quality and value with negative momentum; our own sum-of-the-parts sits at today's price, no bargain.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19895" y="2532888"/>
            <a:ext cx="575687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C95DE"/>
                </a:solidFill>
                <a:latin typeface="Bahnschrift"/>
              </a:rPr>
              <a:t/>
            </a:r>
          </a:p>
        </p:txBody>
      </p:sp>
      <p:sp>
        <p:nvSpPr>
          <p:cNvPr id="84" name="Rectangle 83"/>
          <p:cNvSpPr/>
          <p:nvPr/>
        </p:nvSpPr>
        <p:spPr>
          <a:xfrm>
            <a:off x="841248" y="2313432"/>
            <a:ext cx="10509199" cy="5669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58815" y="2953512"/>
            <a:ext cx="46879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Georgia"/>
              </a:rPr>
              <a:t>Borrowings rose Rs 17,500 cr in FY26 to fund a capex plan that has already slipped; leverage is rising while returns stay thin.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719895" y="3099816"/>
            <a:ext cx="575687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C95DE"/>
                </a:solidFill>
                <a:latin typeface="Bahnschrift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841248" y="2880360"/>
            <a:ext cx="10509199" cy="5669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58815" y="3520440"/>
            <a:ext cx="46879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Georgia"/>
              </a:rPr>
              <a:t>FY27 guidance has been cut and H1 execution guided soft; at ~32x trailing earnings there is little cushion, so we sell into strength.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719895" y="3666744"/>
            <a:ext cx="575687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C95DE"/>
                </a:solidFill>
                <a:latin typeface="Bahnschrift"/>
              </a:rPr>
              <a:t/>
            </a:r>
          </a:p>
        </p:txBody>
      </p:sp>
      <p:sp>
        <p:nvSpPr>
          <p:cNvPr id="90" name="Rectangle 89"/>
          <p:cNvSpPr/>
          <p:nvPr/>
        </p:nvSpPr>
        <p:spPr>
          <a:xfrm>
            <a:off x="841248" y="3447288"/>
            <a:ext cx="10509199" cy="5669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958815" y="4087368"/>
            <a:ext cx="46879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Georgia"/>
              </a:rPr>
              <a:t>A Rs 1.4-lakh-crore valuation still resting mostly on treasury income; the operating businesses are too young to carry the price.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719895" y="4233672"/>
            <a:ext cx="575687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C95DE"/>
                </a:solidFill>
                <a:latin typeface="Bahnschrift"/>
              </a:rPr>
              <a:t/>
            </a:r>
          </a:p>
        </p:txBody>
      </p:sp>
      <p:sp>
        <p:nvSpPr>
          <p:cNvPr id="93" name="Rectangle 92"/>
          <p:cNvSpPr/>
          <p:nvPr/>
        </p:nvSpPr>
        <p:spPr>
          <a:xfrm>
            <a:off x="841248" y="4014216"/>
            <a:ext cx="10509199" cy="5669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958815" y="4654296"/>
            <a:ext cx="46879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Georgia"/>
              </a:rPr>
              <a:t>A commodity downcycle name: FY22's peak margins have halved and the price still assumes the cycle returns quickly.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19895" y="4800600"/>
            <a:ext cx="575687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C95DE"/>
                </a:solidFill>
                <a:latin typeface="Bahnschrift"/>
              </a:rPr>
              <a:t/>
            </a:r>
          </a:p>
        </p:txBody>
      </p:sp>
      <p:sp>
        <p:nvSpPr>
          <p:cNvPr id="96" name="Rectangle 95"/>
          <p:cNvSpPr/>
          <p:nvPr/>
        </p:nvSpPr>
        <p:spPr>
          <a:xfrm>
            <a:off x="841248" y="4581144"/>
            <a:ext cx="10509199" cy="5669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1248" y="6089904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Bahnschrift"/>
              </a:rPr>
              <a:t>Each row links to the name's full rationale page (score panel, the case, the bull we rejected, valuation check). Illustrative synthetic book.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1248" y="6309360"/>
            <a:ext cx="1050919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280"/>
                </a:solidFill>
                <a:latin typeface="Georgia"/>
              </a:rPr>
              <a:t>Scores flag, people decide: each call here carries a named reviewer's sign-off.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809" y="365760"/>
            <a:ext cx="1629918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41367" y="128016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74320"/>
            <a:ext cx="17492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 spc="120">
                <a:solidFill>
                  <a:srgbClr val="8C95DE"/>
                </a:solidFill>
                <a:latin typeface="Bahnschrift"/>
              </a:rPr>
              <a:t>02 ·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854964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2519" y="512064"/>
            <a:ext cx="137160" cy="20116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1540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9828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8116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0624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7A3"/>
                </a:solidFill>
                <a:latin typeface="Bahnschrift"/>
              </a:rPr>
              <a:t>What we would sell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95097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2A93C"/>
                </a:solidFill>
                <a:latin typeface="Bahnschrift"/>
              </a:rPr>
              <a:t>The shares we would sell, and why  (2 of 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408176"/>
            <a:ext cx="10509199" cy="21945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5887" y="652881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Portfolio Review  ·  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1481328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8C9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1453896"/>
            <a:ext cx="10189159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6B7280"/>
                </a:solidFill>
                <a:latin typeface="Bahnschrift"/>
              </a:rPr>
              <a:t>SCOPE  </a:t>
            </a:r>
            <a:r>
              <a:rPr sz="850" b="0" i="1">
                <a:solidFill>
                  <a:srgbClr val="16233B"/>
                </a:solidFill>
                <a:latin typeface="Georgia"/>
              </a:rPr>
              <a:t>Direct equity only · as of 2026-07-25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1682496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7280"/>
                </a:solidFill>
                <a:latin typeface="Georgia"/>
              </a:rPr>
              <a:t>Each name shows the reason in two lines; the page link has the full 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029968"/>
            <a:ext cx="195553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HOLDING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6239" y="2029968"/>
            <a:ext cx="484247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SHARE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6791" y="2029968"/>
            <a:ext cx="1219891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IONIC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2987" y="2029968"/>
            <a:ext cx="79952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8815" y="2029968"/>
            <a:ext cx="4687927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THE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93047" y="2029968"/>
            <a:ext cx="484247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DETAIL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2286000"/>
            <a:ext cx="10509199" cy="13716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2331720"/>
            <a:ext cx="19555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33B"/>
                </a:solidFill>
                <a:latin typeface="Bahnschrift"/>
              </a:rPr>
              <a:t>Hindustan Unilever Ltd.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6239" y="2331720"/>
            <a:ext cx="48424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Bahnschrift"/>
              </a:rPr>
              <a:t>0.8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46791" y="2596896"/>
            <a:ext cx="640080" cy="64008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46791" y="2596896"/>
            <a:ext cx="243230" cy="64008"/>
          </a:xfrm>
          <a:prstGeom prst="rect">
            <a:avLst/>
          </a:prstGeom>
          <a:solidFill>
            <a:srgbClr val="4A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02823" y="2569464"/>
            <a:ext cx="10972" cy="11887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0879" y="2519172"/>
            <a:ext cx="4114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Bahnschrift"/>
              </a:rPr>
              <a:t>38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12987" y="2496312"/>
            <a:ext cx="799523" cy="219456"/>
          </a:xfrm>
          <a:prstGeom prst="roundRect">
            <a:avLst>
              <a:gd name="adj" fmla="val 50000"/>
            </a:avLst>
          </a:prstGeom>
          <a:solidFill>
            <a:srgbClr val="FBE3E0"/>
          </a:solidFill>
          <a:ln w="9525">
            <a:solidFill>
              <a:srgbClr val="E04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12987" y="2490825"/>
            <a:ext cx="799523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E0402F"/>
                </a:solidFill>
                <a:latin typeface="Bahnschrift"/>
              </a:rPr>
              <a:t>SELL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58815" y="2331720"/>
            <a:ext cx="46879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93047" y="2331720"/>
            <a:ext cx="48424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" y="2880360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2898648"/>
            <a:ext cx="19555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33B"/>
                </a:solidFill>
                <a:latin typeface="Bahnschrift"/>
              </a:rPr>
              <a:t>GAIL (India) Ltd.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6239" y="2898648"/>
            <a:ext cx="48424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Bahnschrift"/>
              </a:rPr>
              <a:t>0.5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46791" y="3163824"/>
            <a:ext cx="640080" cy="64008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46791" y="3163824"/>
            <a:ext cx="216987" cy="64008"/>
          </a:xfrm>
          <a:prstGeom prst="rect">
            <a:avLst/>
          </a:prstGeom>
          <a:solidFill>
            <a:srgbClr val="4A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02823" y="3136392"/>
            <a:ext cx="10972" cy="11887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50879" y="3086100"/>
            <a:ext cx="4114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Bahnschrift"/>
              </a:rPr>
              <a:t>34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12987" y="3063240"/>
            <a:ext cx="799523" cy="219456"/>
          </a:xfrm>
          <a:prstGeom prst="roundRect">
            <a:avLst>
              <a:gd name="adj" fmla="val 50000"/>
            </a:avLst>
          </a:prstGeom>
          <a:solidFill>
            <a:srgbClr val="FBE3E0"/>
          </a:solidFill>
          <a:ln w="9525">
            <a:solidFill>
              <a:srgbClr val="E04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12987" y="3057753"/>
            <a:ext cx="799523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E0402F"/>
                </a:solidFill>
                <a:latin typeface="Bahnschrift"/>
              </a:rPr>
              <a:t>SELL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58815" y="2898648"/>
            <a:ext cx="46879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93047" y="2898648"/>
            <a:ext cx="48424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" y="3447288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3465576"/>
            <a:ext cx="19555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33B"/>
                </a:solidFill>
                <a:latin typeface="Bahnschrift"/>
              </a:rPr>
              <a:t>Hindustan Copper Ltd.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6239" y="3465576"/>
            <a:ext cx="48424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Bahnschrift"/>
              </a:rPr>
              <a:t>0.3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46791" y="3730752"/>
            <a:ext cx="640080" cy="64008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46791" y="3730752"/>
            <a:ext cx="304678" cy="64008"/>
          </a:xfrm>
          <a:prstGeom prst="rect">
            <a:avLst/>
          </a:prstGeom>
          <a:solidFill>
            <a:srgbClr val="4A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902823" y="3703320"/>
            <a:ext cx="10972" cy="11887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50879" y="3653028"/>
            <a:ext cx="4114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Bahnschrift"/>
              </a:rPr>
              <a:t>48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12987" y="3630168"/>
            <a:ext cx="799523" cy="219456"/>
          </a:xfrm>
          <a:prstGeom prst="roundRect">
            <a:avLst>
              <a:gd name="adj" fmla="val 50000"/>
            </a:avLst>
          </a:prstGeom>
          <a:solidFill>
            <a:srgbClr val="FBE3E0"/>
          </a:solidFill>
          <a:ln w="9525">
            <a:solidFill>
              <a:srgbClr val="E04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12987" y="3624681"/>
            <a:ext cx="799523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E0402F"/>
                </a:solidFill>
                <a:latin typeface="Bahnschrift"/>
              </a:rPr>
              <a:t>SELL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58815" y="3465576"/>
            <a:ext cx="46879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93047" y="3465576"/>
            <a:ext cx="48424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" y="4014216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4032504"/>
            <a:ext cx="19555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33B"/>
                </a:solidFill>
                <a:latin typeface="Bahnschrift"/>
              </a:rPr>
              <a:t>UltraTech Cement Ltd.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16239" y="4032504"/>
            <a:ext cx="48424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Bahnschrift"/>
              </a:rPr>
              <a:t>0.2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46791" y="4297680"/>
            <a:ext cx="640080" cy="64008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646791" y="4297680"/>
            <a:ext cx="233629" cy="64008"/>
          </a:xfrm>
          <a:prstGeom prst="rect">
            <a:avLst/>
          </a:prstGeom>
          <a:solidFill>
            <a:srgbClr val="4A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902823" y="4270248"/>
            <a:ext cx="10972" cy="11887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50879" y="4219956"/>
            <a:ext cx="4114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Bahnschrift"/>
              </a:rPr>
              <a:t>36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12987" y="4197096"/>
            <a:ext cx="799523" cy="219456"/>
          </a:xfrm>
          <a:prstGeom prst="roundRect">
            <a:avLst>
              <a:gd name="adj" fmla="val 50000"/>
            </a:avLst>
          </a:prstGeom>
          <a:solidFill>
            <a:srgbClr val="FBE3E0"/>
          </a:solidFill>
          <a:ln w="9525">
            <a:solidFill>
              <a:srgbClr val="E04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12987" y="4191609"/>
            <a:ext cx="799523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E0402F"/>
                </a:solidFill>
                <a:latin typeface="Bahnschrift"/>
              </a:rPr>
              <a:t>SELL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58815" y="4032504"/>
            <a:ext cx="46879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93047" y="4032504"/>
            <a:ext cx="48424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841248" y="4581144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0" y="4599432"/>
            <a:ext cx="19555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33B"/>
                </a:solidFill>
                <a:latin typeface="Bahnschrift"/>
              </a:rPr>
              <a:t>ITC Hotels Ltd.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16239" y="4599432"/>
            <a:ext cx="48424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Bahnschrift"/>
              </a:rPr>
              <a:t>0.1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46791" y="4864608"/>
            <a:ext cx="640080" cy="64008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46791" y="4864608"/>
            <a:ext cx="253471" cy="64008"/>
          </a:xfrm>
          <a:prstGeom prst="rect">
            <a:avLst/>
          </a:prstGeom>
          <a:solidFill>
            <a:srgbClr val="4A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902823" y="4837176"/>
            <a:ext cx="10972" cy="11887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50879" y="4786884"/>
            <a:ext cx="4114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Bahnschrift"/>
              </a:rPr>
              <a:t>40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012987" y="4764024"/>
            <a:ext cx="799523" cy="219456"/>
          </a:xfrm>
          <a:prstGeom prst="roundRect">
            <a:avLst>
              <a:gd name="adj" fmla="val 50000"/>
            </a:avLst>
          </a:prstGeom>
          <a:solidFill>
            <a:srgbClr val="FBE3E0"/>
          </a:solidFill>
          <a:ln w="9525">
            <a:solidFill>
              <a:srgbClr val="E04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12987" y="4758537"/>
            <a:ext cx="799523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E0402F"/>
                </a:solidFill>
                <a:latin typeface="Bahnschrift"/>
              </a:rPr>
              <a:t>SELL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58815" y="4599432"/>
            <a:ext cx="46879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793047" y="4599432"/>
            <a:ext cx="48424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841248" y="5148072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58815" y="2386584"/>
            <a:ext cx="46879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Georgia"/>
              </a:rPr>
              <a:t>Headline profit is demerger-inflated (organic growth ~4%); three-year revenue growth of 2% does not support the price.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19895" y="2532888"/>
            <a:ext cx="575687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C95DE"/>
                </a:solidFill>
                <a:latin typeface="Bahnschrift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841248" y="2313432"/>
            <a:ext cx="10509199" cy="5669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58815" y="2953512"/>
            <a:ext cx="46879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Georgia"/>
              </a:rPr>
              <a:t>Marketing margins are in a structural reset: five straight quarters of profit decline, and the dividend now exceeds free cash flow.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719895" y="3099816"/>
            <a:ext cx="575687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C95DE"/>
                </a:solidFill>
                <a:latin typeface="Bahnschrift"/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841248" y="2880360"/>
            <a:ext cx="10509199" cy="5669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58815" y="3520440"/>
            <a:ext cx="46879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Georgia"/>
              </a:rPr>
              <a:t>FY26's profit boom is copper price, not mining volume; the capacity ramp is delayed and a PSU stake-sale overhang sits at a peak multiple.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719895" y="3666744"/>
            <a:ext cx="575687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C95DE"/>
                </a:solidFill>
                <a:latin typeface="Bahnschrift"/>
              </a:rPr>
              <a:t/>
            </a:r>
          </a:p>
        </p:txBody>
      </p:sp>
      <p:sp>
        <p:nvSpPr>
          <p:cNvPr id="88" name="Rectangle 87"/>
          <p:cNvSpPr/>
          <p:nvPr/>
        </p:nvSpPr>
        <p:spPr>
          <a:xfrm>
            <a:off x="841248" y="3447288"/>
            <a:ext cx="10509199" cy="5669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46791" y="3831336"/>
            <a:ext cx="1274755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 spc="80">
                <a:solidFill>
                  <a:srgbClr val="92400E"/>
                </a:solidFill>
                <a:latin typeface="Bahnschrift"/>
              </a:rPr>
              <a:t>EXCEPTIONAL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58815" y="4087368"/>
            <a:ext cx="46879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Georgia"/>
              </a:rPr>
              <a:t>Priced at 42-46x earnings for a 10.7% ROE while cement pricing stays soft; no dated catalyst offsets it.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719895" y="4233672"/>
            <a:ext cx="575687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C95DE"/>
                </a:solidFill>
                <a:latin typeface="Bahnschrift"/>
              </a:rPr>
              <a:t/>
            </a:r>
          </a:p>
        </p:txBody>
      </p:sp>
      <p:sp>
        <p:nvSpPr>
          <p:cNvPr id="92" name="Rectangle 91"/>
          <p:cNvSpPr/>
          <p:nvPr/>
        </p:nvSpPr>
        <p:spPr>
          <a:xfrm>
            <a:off x="841248" y="4014216"/>
            <a:ext cx="10509199" cy="5669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58815" y="4654296"/>
            <a:ext cx="46879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Georgia"/>
              </a:rPr>
              <a:t>44-46x trailing earnings on a 7% ROE with a promoter-stake overhang; one strong quarter does not yet earn the multiple.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719895" y="4800600"/>
            <a:ext cx="575687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C95DE"/>
                </a:solidFill>
                <a:latin typeface="Bahnschrift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841248" y="4581144"/>
            <a:ext cx="10509199" cy="5669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41248" y="5239512"/>
            <a:ext cx="1050919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280"/>
                </a:solidFill>
                <a:latin typeface="Georgia"/>
              </a:rPr>
              <a:t>Names selling above the 40 score line are exceptional, high-conviction calls; the linked page documents each case in full.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1248" y="6089904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Bahnschrift"/>
              </a:rPr>
              <a:t>Each row links to the name's full rationale page (score panel, the case, the bull we rejected, valuation check). Illustrative synthetic book.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1248" y="6309360"/>
            <a:ext cx="1050919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280"/>
                </a:solidFill>
                <a:latin typeface="Georgia"/>
              </a:rPr>
              <a:t>The score is the starting point; the final word on every name belongs to the desk.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v_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0"/>
            <a:ext cx="585216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41367" y="128016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C95DE"/>
                </a:solidFill>
                <a:latin typeface="Bahnschrift"/>
              </a:rPr>
              <a:t>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868680"/>
            <a:ext cx="45838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0" b="1" i="0">
                <a:solidFill>
                  <a:srgbClr val="242F8E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591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F2A93C"/>
                </a:solidFill>
                <a:latin typeface="Bahnschrift"/>
              </a:rP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06624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The Fund Book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419856"/>
            <a:ext cx="2011680" cy="25603"/>
          </a:xfrm>
          <a:prstGeom prst="rect">
            <a:avLst/>
          </a:prstGeom>
          <a:solidFill>
            <a:srgbClr val="F2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639312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C9CEF0"/>
                </a:solidFill>
                <a:latin typeface="Georgia"/>
              </a:rPr>
              <a:t>Upside, downside and consistency, not just returns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9834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40">
                <a:solidFill>
                  <a:srgbClr val="C9CEF0"/>
                </a:solidFill>
                <a:latin typeface="Bahnschrift"/>
              </a:rPr>
              <a:t>The fund book, scored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25780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40">
                <a:solidFill>
                  <a:srgbClr val="C9CEF0"/>
                </a:solidFill>
                <a:latin typeface="Bahnschrift"/>
              </a:rPr>
              <a:t>Fund actions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809" y="365760"/>
            <a:ext cx="1629918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41367" y="128016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74320"/>
            <a:ext cx="17492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 spc="120">
                <a:solidFill>
                  <a:srgbClr val="8C95DE"/>
                </a:solidFill>
                <a:latin typeface="Bahnschrift"/>
              </a:rPr>
              <a:t>03 · FUNDS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854964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2519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15400" y="512064"/>
            <a:ext cx="137160" cy="20116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9828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8116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0624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7A3"/>
                </a:solidFill>
                <a:latin typeface="Bahnschrift"/>
              </a:rPr>
              <a:t>Your funds, graded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95097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2A93C"/>
                </a:solidFill>
                <a:latin typeface="Bahnschrift"/>
              </a:rPr>
              <a:t>A simple quality grade for each fund, and what we suggest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408176"/>
            <a:ext cx="10509199" cy="21945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5887" y="652881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Portfolio Review  ·  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1481328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8C9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1453896"/>
            <a:ext cx="10189159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6B7280"/>
                </a:solidFill>
                <a:latin typeface="Bahnschrift"/>
              </a:rPr>
              <a:t>SCOPE  </a:t>
            </a:r>
            <a:r>
              <a:rPr sz="850" b="0" i="1">
                <a:solidFill>
                  <a:srgbClr val="16233B"/>
                </a:solidFill>
                <a:latin typeface="Georgia"/>
              </a:rPr>
              <a:t>MF sleeve only, Direct-plan NAV vs total-return benchmark · as of 2026-07-25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1828800"/>
            <a:ext cx="3422857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6B7280"/>
                </a:solidFill>
                <a:latin typeface="Bahnschrift"/>
              </a:rPr>
              <a:t>SCHEME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3561" y="1828800"/>
            <a:ext cx="143999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6B7280"/>
                </a:solidFill>
                <a:latin typeface="Bahnschrift"/>
              </a:rPr>
              <a:t>CATEGORY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9856" y="1828800"/>
            <a:ext cx="104341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6B7280"/>
                </a:solidFill>
                <a:latin typeface="Bahnschrift"/>
              </a:rPr>
              <a:t>SHARE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9576" y="1828800"/>
            <a:ext cx="163827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6B7280"/>
                </a:solidFill>
                <a:latin typeface="Bahnschrift"/>
              </a:rPr>
              <a:t>QUALITY /100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4157" y="1828800"/>
            <a:ext cx="2233137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6B7280"/>
                </a:solidFill>
                <a:latin typeface="Bahnschrift"/>
              </a:rPr>
              <a:t>SUGGESTED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2084832"/>
            <a:ext cx="10509199" cy="13716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130552"/>
            <a:ext cx="342285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LIC MF Large Cap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3561" y="2130552"/>
            <a:ext cx="143999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Equity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9856" y="2130552"/>
            <a:ext cx="10434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5.6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59576" y="2295144"/>
            <a:ext cx="640080" cy="64008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59576" y="2295144"/>
            <a:ext cx="179222" cy="64008"/>
          </a:xfrm>
          <a:prstGeom prst="rect">
            <a:avLst/>
          </a:prstGeom>
          <a:solidFill>
            <a:srgbClr val="4A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15608" y="2267712"/>
            <a:ext cx="10972" cy="11887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63664" y="2217420"/>
            <a:ext cx="4114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Bahnschrift"/>
              </a:rPr>
              <a:t>28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4157" y="2194560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 w="9525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44157" y="2189073"/>
            <a:ext cx="12801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92400E"/>
                </a:solidFill>
                <a:latin typeface="Bahnschrift"/>
              </a:rPr>
              <a:t>SWITCH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" y="2478024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2496312"/>
            <a:ext cx="342285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HDFC Flexi Cap (Dir)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3561" y="2496312"/>
            <a:ext cx="143999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Equity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69856" y="2496312"/>
            <a:ext cx="10434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4.2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59576" y="2660904"/>
            <a:ext cx="640080" cy="64008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59576" y="2660904"/>
            <a:ext cx="473659" cy="64008"/>
          </a:xfrm>
          <a:prstGeom prst="rect">
            <a:avLst/>
          </a:prstGeom>
          <a:solidFill>
            <a:srgbClr val="4A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15608" y="2633472"/>
            <a:ext cx="10972" cy="11887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63664" y="2583180"/>
            <a:ext cx="4114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Bahnschrift"/>
              </a:rPr>
              <a:t>74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44157" y="2560320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E0F2EA"/>
          </a:solidFill>
          <a:ln w="9525">
            <a:solidFill>
              <a:srgbClr val="1E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44157" y="2554833"/>
            <a:ext cx="12801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1E9E6A"/>
                </a:solidFill>
                <a:latin typeface="Bahnschrift"/>
              </a:rPr>
              <a:t>HOLD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" y="2843784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2862072"/>
            <a:ext cx="342285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LIC MF Multi Cap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3561" y="2862072"/>
            <a:ext cx="143999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Equity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69856" y="2862072"/>
            <a:ext cx="10434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3.3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59576" y="3026664"/>
            <a:ext cx="640080" cy="64008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259576" y="3026664"/>
            <a:ext cx="377647" cy="64008"/>
          </a:xfrm>
          <a:prstGeom prst="rect">
            <a:avLst/>
          </a:prstGeom>
          <a:solidFill>
            <a:srgbClr val="4A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515608" y="2999232"/>
            <a:ext cx="10972" cy="11887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63664" y="2948940"/>
            <a:ext cx="4114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Bahnschrift"/>
              </a:rPr>
              <a:t>59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44157" y="2926080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 w="9525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44157" y="2920593"/>
            <a:ext cx="12801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92400E"/>
                </a:solidFill>
                <a:latin typeface="Bahnschrift"/>
              </a:rPr>
              <a:t>SWITCH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" y="3209544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3227832"/>
            <a:ext cx="342285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ICICI Pru Multi-Asset (Dir)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3561" y="3227832"/>
            <a:ext cx="143999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Hybrid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69856" y="3227832"/>
            <a:ext cx="10434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3.7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59576" y="3392424"/>
            <a:ext cx="640080" cy="64008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259576" y="3392424"/>
            <a:ext cx="480060" cy="64008"/>
          </a:xfrm>
          <a:prstGeom prst="rect">
            <a:avLst/>
          </a:prstGeom>
          <a:solidFill>
            <a:srgbClr val="4A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515608" y="3364992"/>
            <a:ext cx="10972" cy="11887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63664" y="3314700"/>
            <a:ext cx="4114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Bahnschrift"/>
              </a:rPr>
              <a:t>75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44157" y="3291840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E0F2EA"/>
          </a:solidFill>
          <a:ln w="9525">
            <a:solidFill>
              <a:srgbClr val="1E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44157" y="3286353"/>
            <a:ext cx="12801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1E9E6A"/>
                </a:solidFill>
                <a:latin typeface="Bahnschrift"/>
              </a:rPr>
              <a:t>HOLD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" y="3575303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4400" y="3593591"/>
            <a:ext cx="342285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PGIM India Small Cap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83561" y="3593591"/>
            <a:ext cx="143999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Equity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69856" y="3593591"/>
            <a:ext cx="10434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0.4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59576" y="3758184"/>
            <a:ext cx="640080" cy="64008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259576" y="3758184"/>
            <a:ext cx="51206" cy="64008"/>
          </a:xfrm>
          <a:prstGeom prst="rect">
            <a:avLst/>
          </a:prstGeom>
          <a:solidFill>
            <a:srgbClr val="4A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515608" y="3730752"/>
            <a:ext cx="10972" cy="11887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63664" y="3680460"/>
            <a:ext cx="4114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Bahnschrift"/>
              </a:rPr>
              <a:t>8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044157" y="3657600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FBE3E0"/>
          </a:solidFill>
          <a:ln w="9525">
            <a:solidFill>
              <a:srgbClr val="E04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44157" y="3652113"/>
            <a:ext cx="12801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E0402F"/>
                </a:solidFill>
                <a:latin typeface="Bahnschrift"/>
              </a:rPr>
              <a:t>EXIT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41248" y="3941064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4400" y="3959352"/>
            <a:ext cx="342285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LIC MF Balanced Advantage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83561" y="3959352"/>
            <a:ext cx="143999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Hybrid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69856" y="3959352"/>
            <a:ext cx="10434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2.8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59576" y="4123944"/>
            <a:ext cx="640080" cy="64008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259576" y="4123944"/>
            <a:ext cx="352044" cy="64008"/>
          </a:xfrm>
          <a:prstGeom prst="rect">
            <a:avLst/>
          </a:prstGeom>
          <a:solidFill>
            <a:srgbClr val="4A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515608" y="4096512"/>
            <a:ext cx="10972" cy="11887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963664" y="4046220"/>
            <a:ext cx="4114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Bahnschrift"/>
              </a:rPr>
              <a:t>55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044157" y="4023360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 w="9525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44157" y="4017873"/>
            <a:ext cx="12801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92400E"/>
                </a:solidFill>
                <a:latin typeface="Bahnschrift"/>
              </a:rPr>
              <a:t>TRIM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41248" y="4306824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4400" y="4325112"/>
            <a:ext cx="342285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Parag Parikh Flexi Cap (Dir)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83561" y="4325112"/>
            <a:ext cx="143999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Equity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69856" y="4325112"/>
            <a:ext cx="10434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7.0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259576" y="4489704"/>
            <a:ext cx="640080" cy="64008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259576" y="4489704"/>
            <a:ext cx="460857" cy="64008"/>
          </a:xfrm>
          <a:prstGeom prst="rect">
            <a:avLst/>
          </a:prstGeom>
          <a:solidFill>
            <a:srgbClr val="4A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15608" y="4462272"/>
            <a:ext cx="10972" cy="11887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963664" y="4411980"/>
            <a:ext cx="4114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Bahnschrift"/>
              </a:rPr>
              <a:t>72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044157" y="4389120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E0F2EA"/>
          </a:solidFill>
          <a:ln w="9525">
            <a:solidFill>
              <a:srgbClr val="1E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044157" y="4383633"/>
            <a:ext cx="12801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1E9E6A"/>
                </a:solidFill>
                <a:latin typeface="Bahnschrift"/>
              </a:rPr>
              <a:t>HOLD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41248" y="4672584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14400" y="4690872"/>
            <a:ext cx="342285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Nippon India Nifty 50 Index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83561" y="4690872"/>
            <a:ext cx="143999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Passive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69856" y="4690872"/>
            <a:ext cx="10434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3.7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259576" y="4855464"/>
            <a:ext cx="640080" cy="64008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259576" y="4855464"/>
            <a:ext cx="358444" cy="64008"/>
          </a:xfrm>
          <a:prstGeom prst="rect">
            <a:avLst/>
          </a:prstGeom>
          <a:solidFill>
            <a:srgbClr val="4A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515608" y="4828032"/>
            <a:ext cx="10972" cy="11887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963664" y="4777740"/>
            <a:ext cx="4114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Bahnschrift"/>
              </a:rPr>
              <a:t>56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044157" y="4754880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E0F2EA"/>
          </a:solidFill>
          <a:ln w="9525">
            <a:solidFill>
              <a:srgbClr val="1E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044157" y="4749393"/>
            <a:ext cx="12801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1E9E6A"/>
                </a:solidFill>
                <a:latin typeface="Bahnschrift"/>
              </a:rPr>
              <a:t>HOLD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41248" y="5038344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14400" y="5056632"/>
            <a:ext cx="342285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HDFC Balanced Advantage (Dir)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483561" y="5056632"/>
            <a:ext cx="143999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Hybrid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069856" y="5056632"/>
            <a:ext cx="10434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B"/>
                </a:solidFill>
                <a:latin typeface="Georgia"/>
              </a:rPr>
              <a:t>3.3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259576" y="5221224"/>
            <a:ext cx="640080" cy="64008"/>
          </a:xfrm>
          <a:prstGeom prst="rect">
            <a:avLst/>
          </a:prstGeom>
          <a:solidFill>
            <a:srgbClr val="EE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259576" y="5221224"/>
            <a:ext cx="512064" cy="64008"/>
          </a:xfrm>
          <a:prstGeom prst="rect">
            <a:avLst/>
          </a:prstGeom>
          <a:solidFill>
            <a:srgbClr val="4A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515608" y="5193792"/>
            <a:ext cx="10972" cy="11887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963664" y="5143500"/>
            <a:ext cx="4114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33B"/>
                </a:solidFill>
                <a:latin typeface="Bahnschrift"/>
              </a:rPr>
              <a:t>80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044157" y="5120640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E0F2EA"/>
          </a:solidFill>
          <a:ln w="9525">
            <a:solidFill>
              <a:srgbClr val="1E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044157" y="5115153"/>
            <a:ext cx="12801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1E9E6A"/>
                </a:solidFill>
                <a:latin typeface="Bahnschrift"/>
              </a:rPr>
              <a:t>HOLD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41248" y="5404104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41248" y="5504688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16233B"/>
                </a:solidFill>
                <a:latin typeface="Georgia"/>
              </a:rPr>
              <a:t>What this means: 4 of 9 funds could be improved, usually because of high fees or the wrong structure, not just weak returns. 5 are worth keeping.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1248" y="6089904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Bahnschrift"/>
              </a:rPr>
              <a:t>Ionic fund-quality framework · Direct-plan NAV vs total-return benchmark · structural watch-outs flagged per scheme. Illustrative synthetic funds.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41248" y="6309360"/>
            <a:ext cx="1050919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280"/>
                </a:solidFill>
                <a:latin typeface="Georgia"/>
              </a:rPr>
              <a:t>The Ionic Score flags candidates; the Portfolio Review team confirms every call.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809" y="365760"/>
            <a:ext cx="1629918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41367" y="128016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74320"/>
            <a:ext cx="17492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 spc="120">
                <a:solidFill>
                  <a:srgbClr val="8C95DE"/>
                </a:solidFill>
                <a:latin typeface="Bahnschrift"/>
              </a:rPr>
              <a:t>03 · FUNDS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854964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2519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15400" y="512064"/>
            <a:ext cx="137160" cy="20116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9828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8116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0624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7A3"/>
                </a:solidFill>
                <a:latin typeface="Bahnschrift"/>
              </a:rPr>
              <a:t>Changes to your funds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95097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2A93C"/>
                </a:solidFill>
                <a:latin typeface="Bahnschrift"/>
              </a:rPr>
              <a:t>A few structural fixes, none is about last year's return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408176"/>
            <a:ext cx="10509199" cy="21945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5887" y="652881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Portfolio Review  ·  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1481328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B7280"/>
                </a:solidFill>
                <a:latin typeface="Georgia"/>
              </a:rPr>
              <a:t>No fund here is sold on performance alone. Each action is structural: mandate, cost, scale or consistency. Where a scheme mostly re-buys index names you already hold directly, the cleaner replacement is a low-cost index sleeve (Nifty 50 / Nifty 500 class) rather than paying an active fee twice.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1920240"/>
            <a:ext cx="5117439" cy="1481328"/>
          </a:xfrm>
          <a:prstGeom prst="roundRect">
            <a:avLst>
              <a:gd name="adj" fmla="val 5000"/>
            </a:avLst>
          </a:prstGeom>
          <a:solidFill>
            <a:srgbClr val="F5F6FC"/>
          </a:solidFill>
          <a:ln w="12700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1920240"/>
            <a:ext cx="54864" cy="1481328"/>
          </a:xfrm>
          <a:prstGeom prst="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5840" y="2048256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 w="9525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042769"/>
            <a:ext cx="1234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92400E"/>
                </a:solidFill>
                <a:latin typeface="Bahnschrift"/>
              </a:rPr>
              <a:t>SWITCH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2576" y="2039112"/>
            <a:ext cx="35172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33B"/>
                </a:solidFill>
                <a:latin typeface="Bahnschrift"/>
              </a:rPr>
              <a:t>LIC MF Large Cap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340864"/>
            <a:ext cx="48431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30">
                <a:solidFill>
                  <a:srgbClr val="92400E"/>
                </a:solidFill>
                <a:latin typeface="Bahnschrift"/>
              </a:rPr>
              <a:t>NEG_ALPHA  ·  DOWN_CAP_HI  ·  HELD ~9Y, COSTLIER TO SWITCH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542032"/>
            <a:ext cx="480654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>Trails the large-cap index by 4-5pp a year over 3 and 5 years; active fees for below-index outcomes.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182112"/>
            <a:ext cx="48065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280"/>
                </a:solidFill>
                <a:latin typeface="Georgia"/>
              </a:rPr>
              <a:t>Measured against </a:t>
            </a:r>
            <a:r>
              <a:rPr sz="850" b="0" i="1">
                <a:solidFill>
                  <a:srgbClr val="1B27A3"/>
                </a:solidFill>
                <a:latin typeface="Georgia"/>
              </a:rPr>
              <a:t>a low-cost Large-Cap Index / Factor fund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511296"/>
            <a:ext cx="5117439" cy="1481328"/>
          </a:xfrm>
          <a:prstGeom prst="roundRect">
            <a:avLst>
              <a:gd name="adj" fmla="val 5000"/>
            </a:avLst>
          </a:prstGeom>
          <a:solidFill>
            <a:srgbClr val="F5F6FC"/>
          </a:solidFill>
          <a:ln w="12700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" y="3511296"/>
            <a:ext cx="54864" cy="1481328"/>
          </a:xfrm>
          <a:prstGeom prst="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5840" y="3639312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 w="9525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633825"/>
            <a:ext cx="1234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92400E"/>
                </a:solidFill>
                <a:latin typeface="Bahnschrift"/>
              </a:rPr>
              <a:t>SWITCH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2576" y="3630168"/>
            <a:ext cx="35172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33B"/>
                </a:solidFill>
                <a:latin typeface="Bahnschrift"/>
              </a:rPr>
              <a:t>LIC MF Multi Cap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931920"/>
            <a:ext cx="48431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30">
                <a:solidFill>
                  <a:srgbClr val="92400E"/>
                </a:solidFill>
                <a:latin typeface="Bahnschrift"/>
              </a:rPr>
              <a:t>MANDATE_RIGIDITY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133088"/>
            <a:ext cx="480654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>Multi-cap's SEBI 25/25/25 floor forces small/mid we prefer to size ourselves, structural, not performance.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773168"/>
            <a:ext cx="48065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280"/>
                </a:solidFill>
                <a:latin typeface="Georgia"/>
              </a:rPr>
              <a:t>Measured against </a:t>
            </a:r>
            <a:r>
              <a:rPr sz="850" b="0" i="1">
                <a:solidFill>
                  <a:srgbClr val="1B27A3"/>
                </a:solidFill>
                <a:latin typeface="Georgia"/>
              </a:rPr>
              <a:t>a Flexi-Cap (manager-flexible cap mix)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3007" y="1920240"/>
            <a:ext cx="5117439" cy="1481328"/>
          </a:xfrm>
          <a:prstGeom prst="roundRect">
            <a:avLst>
              <a:gd name="adj" fmla="val 5000"/>
            </a:avLst>
          </a:prstGeom>
          <a:solidFill>
            <a:srgbClr val="F5F6FC"/>
          </a:solidFill>
          <a:ln w="12700">
            <a:solidFill>
              <a:srgbClr val="E04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3007" y="1920240"/>
            <a:ext cx="54864" cy="1481328"/>
          </a:xfrm>
          <a:prstGeom prst="rect">
            <a:avLst/>
          </a:prstGeom>
          <a:solidFill>
            <a:srgbClr val="E0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97599" y="2048256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BE3E0"/>
          </a:solidFill>
          <a:ln w="9525">
            <a:solidFill>
              <a:srgbClr val="E04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7599" y="2042769"/>
            <a:ext cx="1234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E0402F"/>
                </a:solidFill>
                <a:latin typeface="Bahnschrift"/>
              </a:rPr>
              <a:t>EXIT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14335" y="2039112"/>
            <a:ext cx="35172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33B"/>
                </a:solidFill>
                <a:latin typeface="Bahnschrift"/>
              </a:rPr>
              <a:t>PGIM India Small Cap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7599" y="2340864"/>
            <a:ext cx="48431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30">
                <a:solidFill>
                  <a:srgbClr val="E0402F"/>
                </a:solidFill>
                <a:latin typeface="Bahnschrift"/>
              </a:rPr>
              <a:t>DEEP_DD  ·  NEG_ALPHA  ·  OVER_ALLOC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7599" y="2542032"/>
            <a:ext cx="480654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>Sub-scale ~3L beside a larger small-cap fund; persistent underperformance and duplication, structural exit.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7599" y="3182112"/>
            <a:ext cx="48065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280"/>
                </a:solidFill>
                <a:latin typeface="Georgia"/>
              </a:rPr>
              <a:t>Measured against </a:t>
            </a:r>
            <a:r>
              <a:rPr sz="850" b="0" i="1">
                <a:solidFill>
                  <a:srgbClr val="1B27A3"/>
                </a:solidFill>
                <a:latin typeface="Georgia"/>
              </a:rPr>
              <a:t>the primary small-cap sleeve already held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3007" y="3511296"/>
            <a:ext cx="5117439" cy="1481328"/>
          </a:xfrm>
          <a:prstGeom prst="roundRect">
            <a:avLst>
              <a:gd name="adj" fmla="val 5000"/>
            </a:avLst>
          </a:prstGeom>
          <a:solidFill>
            <a:srgbClr val="F5F6FC"/>
          </a:solidFill>
          <a:ln w="12700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33007" y="3511296"/>
            <a:ext cx="54864" cy="1481328"/>
          </a:xfrm>
          <a:prstGeom prst="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97599" y="3639312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 w="9525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7599" y="3633825"/>
            <a:ext cx="1234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92400E"/>
                </a:solidFill>
                <a:latin typeface="Bahnschrift"/>
              </a:rPr>
              <a:t>TRIM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14335" y="3630168"/>
            <a:ext cx="35172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33B"/>
                </a:solidFill>
                <a:latin typeface="Bahnschrift"/>
              </a:rPr>
              <a:t>LIC MF Balanced Advantage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97599" y="3931920"/>
            <a:ext cx="48431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30">
                <a:solidFill>
                  <a:srgbClr val="92400E"/>
                </a:solidFill>
                <a:latin typeface="Bahnschrift"/>
              </a:rPr>
              <a:t>SUB_SCALE  ·  SHORT_RECORD  ·  REG_PLAN_DRAG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97599" y="4133088"/>
            <a:ext cx="480654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>Under four years of record, sub-scale, Regular plan; we fold the sleeve into the proven hybrid held.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97599" y="4773168"/>
            <a:ext cx="48065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280"/>
                </a:solidFill>
                <a:latin typeface="Georgia"/>
              </a:rPr>
              <a:t>Measured against </a:t>
            </a:r>
            <a:r>
              <a:rPr sz="850" b="0" i="1">
                <a:solidFill>
                  <a:srgbClr val="1B27A3"/>
                </a:solidFill>
                <a:latin typeface="Georgia"/>
              </a:rPr>
              <a:t>the hybrid core already held (HDFC BAF, Direct)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6089904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Bahnschrift"/>
              </a:rPr>
              <a:t>Category exemplar = the fund our quality framework ranks best in the category, used as the measuring stick, not a recommendation to buy it. Whether a replacement is named is a compliance decision. Synthetic demo funds.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v_ar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0"/>
            <a:ext cx="585216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41367" y="128016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C95DE"/>
                </a:solidFill>
                <a:latin typeface="Bahnschrift"/>
              </a:rPr>
              <a:t>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868680"/>
            <a:ext cx="45838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0" b="1" i="0">
                <a:solidFill>
                  <a:srgbClr val="242F8E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591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F2A93C"/>
                </a:solidFill>
                <a:latin typeface="Bahnschrift"/>
              </a:rPr>
              <a:t>SECTION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06624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What We Would Do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419856"/>
            <a:ext cx="2011680" cy="25603"/>
          </a:xfrm>
          <a:prstGeom prst="rect">
            <a:avLst/>
          </a:prstGeom>
          <a:solidFill>
            <a:srgbClr val="F2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639312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C9CEF0"/>
                </a:solidFill>
                <a:latin typeface="Georgia"/>
              </a:rPr>
              <a:t>The calls, the cost and the 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9834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40">
                <a:solidFill>
                  <a:srgbClr val="C9CEF0"/>
                </a:solidFill>
                <a:latin typeface="Bahnschrift"/>
              </a:rPr>
              <a:t>What you're paying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25780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40">
                <a:solidFill>
                  <a:srgbClr val="C9CEF0"/>
                </a:solidFill>
                <a:latin typeface="Bahnschrift"/>
              </a:rPr>
              <a:t>Tax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5321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40">
                <a:solidFill>
                  <a:srgbClr val="C9CEF0"/>
                </a:solidFill>
                <a:latin typeface="Bahnschrift"/>
              </a:rPr>
              <a:t>Your priority actions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809" y="365760"/>
            <a:ext cx="1629918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41367" y="128016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74320"/>
            <a:ext cx="17492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 spc="120">
                <a:solidFill>
                  <a:srgbClr val="8C95DE"/>
                </a:solidFill>
                <a:latin typeface="Bahnschrift"/>
              </a:rPr>
              <a:t>04 ·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54964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2519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1540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98280" y="512064"/>
            <a:ext cx="137160" cy="20116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8116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0624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7A3"/>
                </a:solidFill>
                <a:latin typeface="Bahnschrift"/>
              </a:rPr>
              <a:t>What your funds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95097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2A93C"/>
                </a:solidFill>
                <a:latin typeface="Bahnschrift"/>
              </a:rPr>
              <a:t>What each fund charges you, every year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408176"/>
            <a:ext cx="10509199" cy="21945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5887" y="652881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Portfolio Review  · 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1664208"/>
            <a:ext cx="3365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6233B"/>
                </a:solidFill>
                <a:latin typeface="Bahnschrift"/>
              </a:rPr>
              <a:t>Rs 1.8 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139696"/>
            <a:ext cx="3365906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FUND FEES A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22576"/>
            <a:ext cx="33659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5DE"/>
                </a:solidFill>
                <a:latin typeface="Bahnschrift"/>
              </a:rPr>
              <a:t>79 bps blended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4314" y="1664208"/>
            <a:ext cx="3365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B27A3"/>
                </a:solidFill>
                <a:latin typeface="Bahnschrift"/>
              </a:rPr>
              <a:t>79 bps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4314" y="2139696"/>
            <a:ext cx="3365906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AVERAGE CHARGE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4314" y="2322576"/>
            <a:ext cx="33659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5DE"/>
                </a:solidFill>
                <a:latin typeface="Bahnschrift"/>
              </a:rPr>
              <a:t>across all your funds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89450" y="1709928"/>
            <a:ext cx="7315" cy="56692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7380" y="1664208"/>
            <a:ext cx="3365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8C95DE"/>
                </a:solidFill>
                <a:latin typeface="Bahnschrift"/>
              </a:rPr>
              <a:t>20–135 bps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7380" y="2139696"/>
            <a:ext cx="3365906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LOWEST AND HIGHEST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7380" y="2322576"/>
            <a:ext cx="33659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5DE"/>
                </a:solidFill>
                <a:latin typeface="Bahnschrift"/>
              </a:rPr>
              <a:t>your cheapest and priciest fund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92516" y="1709928"/>
            <a:ext cx="7315" cy="56692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zby_ter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036" y="2670048"/>
            <a:ext cx="7951622" cy="290779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41248" y="5632704"/>
            <a:ext cx="91440" cy="219456"/>
          </a:xfrm>
          <a:prstGeom prst="roundRect">
            <a:avLst>
              <a:gd name="adj" fmla="val 40000"/>
            </a:avLst>
          </a:prstGeom>
          <a:solidFill>
            <a:srgbClr val="F2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" y="5614416"/>
            <a:ext cx="1030803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92400E"/>
                </a:solidFill>
                <a:latin typeface="Bahnschrift"/>
              </a:rPr>
              <a:t>NEXT STEP   </a:t>
            </a:r>
            <a:r>
              <a:rPr sz="1000" b="0" i="1">
                <a:solidFill>
                  <a:srgbClr val="6B7280"/>
                </a:solidFill>
                <a:latin typeface="Georgia"/>
              </a:rPr>
              <a:t>Ask your relationship manager to run the numbers across cheaper options.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6089904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Bahnschrift"/>
              </a:rPr>
              <a:t>Basis: scheme Total Expense Ratio (current plan) from scheme documents, weighted by holding value. Illustrative for the ABXY demo.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809" y="365760"/>
            <a:ext cx="1629918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41367" y="128016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74320"/>
            <a:ext cx="17492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 spc="120">
                <a:solidFill>
                  <a:srgbClr val="8C95DE"/>
                </a:solidFill>
                <a:latin typeface="Bahnschrift"/>
              </a:rPr>
              <a:t>04 ·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54964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2519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1540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98280" y="512064"/>
            <a:ext cx="137160" cy="20116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8116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0624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7A3"/>
                </a:solidFill>
                <a:latin typeface="Bahnschrift"/>
              </a:rPr>
              <a:t>What tax this plan may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95097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2A93C"/>
                </a:solidFill>
                <a:latin typeface="Bahnschrift"/>
              </a:rPr>
              <a:t>The tax on these moves · an estimate to confirm with your adviser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408176"/>
            <a:ext cx="10509199" cy="21945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5887" y="652881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Portfolio Review  · 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1572768"/>
            <a:ext cx="6355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6B7280"/>
                </a:solidFill>
                <a:latin typeface="Bahnschrift"/>
              </a:rPr>
              <a:t>YOUR FUND CHANGES · THE TAX TYPE EACH MAY 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847088"/>
            <a:ext cx="87050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1212" y="1847088"/>
            <a:ext cx="2649931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SCHEME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1847088"/>
            <a:ext cx="99761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AMOUNT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1362" y="1847088"/>
            <a:ext cx="125181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TAX CHARACTER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2103120"/>
            <a:ext cx="6355080" cy="13716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2221992"/>
            <a:ext cx="870508" cy="219456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 w="9525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216505"/>
            <a:ext cx="87050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92400E"/>
                </a:solidFill>
                <a:latin typeface="Bahnschrift"/>
              </a:rPr>
              <a:t>SWITCH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1212" y="2148840"/>
            <a:ext cx="264993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>LIC MF Large Cap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2148840"/>
            <a:ext cx="99761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>Rs 38.1 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1362" y="2148840"/>
            <a:ext cx="125181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>LTCG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2514600"/>
            <a:ext cx="6355080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2606040"/>
            <a:ext cx="870508" cy="219456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 w="9525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2600553"/>
            <a:ext cx="87050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92400E"/>
                </a:solidFill>
                <a:latin typeface="Bahnschrift"/>
              </a:rPr>
              <a:t>SWITCH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1212" y="2532888"/>
            <a:ext cx="264993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>LIC MF Multi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2532888"/>
            <a:ext cx="99761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>Rs 22.2 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1362" y="2532888"/>
            <a:ext cx="125181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>LTCG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" y="2898648"/>
            <a:ext cx="6355080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" y="2990088"/>
            <a:ext cx="870508" cy="219456"/>
          </a:xfrm>
          <a:prstGeom prst="roundRect">
            <a:avLst>
              <a:gd name="adj" fmla="val 50000"/>
            </a:avLst>
          </a:prstGeom>
          <a:solidFill>
            <a:srgbClr val="FBE3E0"/>
          </a:solidFill>
          <a:ln w="9525">
            <a:solidFill>
              <a:srgbClr val="E04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2984601"/>
            <a:ext cx="87050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E0402F"/>
                </a:solidFill>
                <a:latin typeface="Bahnschrift"/>
              </a:rPr>
              <a:t>EXIT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31212" y="2916936"/>
            <a:ext cx="264993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>PGIM India Small Cap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7448" y="2916936"/>
            <a:ext cx="99761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>Rs 2.9 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71362" y="2916936"/>
            <a:ext cx="125181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>LTCG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" y="3282696"/>
            <a:ext cx="6355080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4400" y="3374136"/>
            <a:ext cx="870508" cy="219456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 w="9525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3368649"/>
            <a:ext cx="87050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92400E"/>
                </a:solidFill>
                <a:latin typeface="Bahnschrift"/>
              </a:rPr>
              <a:t>TRIM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31212" y="3300984"/>
            <a:ext cx="264993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>LIC MF Balanced Advantage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27448" y="3300984"/>
            <a:ext cx="99761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>Rs 19.0 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71362" y="3300984"/>
            <a:ext cx="125181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>LTCG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" y="3666744"/>
            <a:ext cx="6355080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3685032"/>
            <a:ext cx="8705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31212" y="3685032"/>
            <a:ext cx="264993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33B"/>
                </a:solidFill>
                <a:latin typeface="Bahnschrift"/>
              </a:rPr>
              <a:t>Total fund actions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27448" y="3685032"/>
            <a:ext cx="99761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33B"/>
                </a:solidFill>
                <a:latin typeface="Bahnschrift"/>
              </a:rPr>
              <a:t>Rs 82.2 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71362" y="3685032"/>
            <a:ext cx="125181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33B"/>
                </a:solidFill>
                <a:latin typeface="Georgia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" y="4050792"/>
            <a:ext cx="6355080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79208" y="1572768"/>
            <a:ext cx="3971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6B7280"/>
                </a:solidFill>
                <a:latin typeface="Bahnschrift"/>
              </a:rPr>
              <a:t>SELLING THE WEAK SHARES · WHAT'S LEFT AFTER EST. TAX</a:t>
            </a:r>
          </a:p>
        </p:txBody>
      </p:sp>
      <p:pic>
        <p:nvPicPr>
          <p:cNvPr id="51" name="Picture 50" descr="azby_tax_b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2450916"/>
            <a:ext cx="3971239" cy="195616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379208" y="4617720"/>
            <a:ext cx="3971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8C95DE"/>
                </a:solidFill>
                <a:latin typeface="Georgia"/>
              </a:rPr>
              <a:t>Net after est. tax feeds the deployment plan.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" y="5029200"/>
            <a:ext cx="5117439" cy="896112"/>
          </a:xfrm>
          <a:prstGeom prst="roundRect">
            <a:avLst>
              <a:gd name="adj" fmla="val 4000"/>
            </a:avLst>
          </a:prstGeom>
          <a:solidFill>
            <a:srgbClr val="FB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1248" y="5029200"/>
            <a:ext cx="54864" cy="896112"/>
          </a:xfrm>
          <a:prstGeom prst="rect">
            <a:avLst/>
          </a:prstGeom>
          <a:solidFill>
            <a:srgbClr val="E0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2416" y="5157216"/>
            <a:ext cx="475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402F"/>
                </a:solidFill>
                <a:latin typeface="Bahnschrift"/>
              </a:rPr>
              <a:t>THE SHARE-SALE TAX IS AN ESTIMATE FOR NOW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" y="5431536"/>
            <a:ext cx="475167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233B"/>
                </a:solidFill>
                <a:latin typeface="Georgia"/>
              </a:rPr>
              <a:t>The equity tax opposite is an estimate; the exact bill needs the demat trade file (buy dates + cost per lot), not in the statement provided.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33007" y="5029200"/>
            <a:ext cx="5117439" cy="896112"/>
          </a:xfrm>
          <a:prstGeom prst="roundRect">
            <a:avLst>
              <a:gd name="adj" fmla="val 4000"/>
            </a:avLst>
          </a:prstGeom>
          <a:solidFill>
            <a:srgbClr val="F5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33007" y="5029200"/>
            <a:ext cx="54864" cy="896112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34175" y="5157216"/>
            <a:ext cx="475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1B27A3"/>
                </a:solidFill>
                <a:latin typeface="Bahnschrift"/>
              </a:rPr>
              <a:t>LONG-HELD UNITS: A HIGHER BAR TO SELL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34175" y="5431536"/>
            <a:ext cx="475167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233B"/>
                </a:solidFill>
                <a:latin typeface="Georgia"/>
              </a:rPr>
              <a:t>For funds held over 5 years the tax bill can eat the gain from switching, so we switch those only for structural reasons.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89904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Bahnschrift"/>
              </a:rPr>
              <a:t>The table covers your fund changes; the chart covers the share sales. These tax numbers are estimates only. Please confirm the exact tax with your tax adviser before we act. Illustrative.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809" y="365760"/>
            <a:ext cx="1629918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41367" y="128016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74320"/>
            <a:ext cx="17492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 spc="120">
                <a:solidFill>
                  <a:srgbClr val="8C95DE"/>
                </a:solidFill>
                <a:latin typeface="Bahnschrift"/>
              </a:rPr>
              <a:t>04 ·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54964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2519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1540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98280" y="512064"/>
            <a:ext cx="137160" cy="20116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81160" y="512064"/>
            <a:ext cx="137160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0624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7A3"/>
                </a:solidFill>
                <a:latin typeface="Bahnschrift"/>
              </a:rPr>
              <a:t>What happens 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95097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2A93C"/>
                </a:solidFill>
                <a:latin typeface="Bahnschrift"/>
              </a:rPr>
              <a:t>Your action plan, step by step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408176"/>
            <a:ext cx="10509199" cy="21945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5887" y="652881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Bahnschrift"/>
              </a:rPr>
              <a:t>Portfolio Review  ·  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1645920"/>
            <a:ext cx="3365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6233B"/>
                </a:solidFill>
                <a:latin typeface="Bahnschrift"/>
              </a:rPr>
              <a:t>Rs 1.44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121408"/>
            <a:ext cx="3365906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CASH FREED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04288"/>
            <a:ext cx="33659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5DE"/>
                </a:solidFill>
                <a:latin typeface="Bahnschrift"/>
              </a:rPr>
              <a:t>from sells + trim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4314" y="1645920"/>
            <a:ext cx="3365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8C95DE"/>
                </a:solidFill>
                <a:latin typeface="Bahnschrif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4314" y="2121408"/>
            <a:ext cx="3365906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FUND CHANGES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4314" y="2304288"/>
            <a:ext cx="33659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5DE"/>
                </a:solidFill>
                <a:latin typeface="Bahnschrift"/>
              </a:rPr>
              <a:t>switch / drop / trim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89450" y="1691640"/>
            <a:ext cx="7315" cy="56692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7380" y="1645920"/>
            <a:ext cx="3365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B27A3"/>
                </a:solidFill>
                <a:latin typeface="Bahnschrift"/>
              </a:rPr>
              <a:t>Rs 1.26 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7380" y="2121408"/>
            <a:ext cx="3365906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6B7280"/>
                </a:solidFill>
                <a:latin typeface="Bahnschrift"/>
              </a:rPr>
              <a:t>CASH IN HAND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7380" y="2304288"/>
            <a:ext cx="33659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5DE"/>
                </a:solidFill>
                <a:latin typeface="Bahnschrift"/>
              </a:rPr>
              <a:t>after estimated tax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92516" y="1691640"/>
            <a:ext cx="7315" cy="56692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1248" y="2761488"/>
            <a:ext cx="384048" cy="384048"/>
          </a:xfrm>
          <a:prstGeom prst="ellipse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27614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Bahnschrift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27249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33B"/>
                </a:solidFill>
                <a:latin typeface="Bahnschrift"/>
              </a:rPr>
              <a:t>Sell the weak names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3008376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B7280"/>
                </a:solidFill>
                <a:latin typeface="Georgia"/>
              </a:rPr>
              <a:t>Sell the 10 weakest-scoring stocks, a little at a 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8727" y="27432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A93C"/>
                </a:solidFill>
                <a:latin typeface="Bahnschrift"/>
              </a:rPr>
              <a:t>Rs 1.31 Cr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8727" y="3108960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 spc="60">
                <a:solidFill>
                  <a:srgbClr val="6B7280"/>
                </a:solidFill>
                <a:latin typeface="Bahnschrift"/>
              </a:rPr>
              <a:t>FIRST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" y="3383279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3474720"/>
            <a:ext cx="384048" cy="384048"/>
          </a:xfrm>
          <a:prstGeom prst="ellipse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3474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Bahnschrift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08176" y="343814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33B"/>
                </a:solidFill>
                <a:latin typeface="Bahnschrift"/>
              </a:rPr>
              <a:t>Right-size the biggest names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08176" y="3721607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B7280"/>
                </a:solidFill>
                <a:latin typeface="Georgia"/>
              </a:rPr>
              <a:t>Gently reduce any single stock that is too large a share of your money.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18727" y="345643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A93C"/>
                </a:solidFill>
                <a:latin typeface="Bahnschrift"/>
              </a:rPr>
              <a:t>Rs 13.6 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18727" y="3822191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 spc="60">
                <a:solidFill>
                  <a:srgbClr val="6B7280"/>
                </a:solidFill>
                <a:latin typeface="Bahnschrift"/>
              </a:rPr>
              <a:t>SOON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" y="4096512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1248" y="4187952"/>
            <a:ext cx="384048" cy="384048"/>
          </a:xfrm>
          <a:prstGeom prst="ellipse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41879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Bahnschrift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08176" y="4151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33B"/>
                </a:solidFill>
                <a:latin typeface="Bahnschrift"/>
              </a:rPr>
              <a:t>Fix the funds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08176" y="443484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B7280"/>
                </a:solidFill>
                <a:latin typeface="Georgia"/>
              </a:rPr>
              <a:t>Tidy the fund list, move 3 to cheaper or Direct versions, drop the tiny one.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18727" y="4169663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A93C"/>
                </a:solidFill>
                <a:latin typeface="Bahnschrift"/>
              </a:rPr>
              <a:t>Rs 82.2 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18727" y="4535424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 spc="60">
                <a:solidFill>
                  <a:srgbClr val="6B7280"/>
                </a:solidFill>
                <a:latin typeface="Bahnschrift"/>
              </a:rPr>
              <a:t>A FEW DAYS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" y="4809744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1248" y="4901184"/>
            <a:ext cx="384048" cy="384048"/>
          </a:xfrm>
          <a:prstGeom prst="ellipse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" y="490118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Bahnschrift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08176" y="4864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33B"/>
                </a:solidFill>
                <a:latin typeface="Bahnschrift"/>
              </a:rPr>
              <a:t>Keep the cash ready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08176" y="5148072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B7280"/>
                </a:solidFill>
                <a:latin typeface="Georgia"/>
              </a:rPr>
              <a:t>The freed money sits safely in a liquid fund; where it goes next is decided with you, separately.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18727" y="488289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A93C"/>
                </a:solidFill>
                <a:latin typeface="Bahnschrift"/>
              </a:rPr>
              <a:t>Rs 1.26 Cr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18727" y="5248656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 spc="60">
                <a:solidFill>
                  <a:srgbClr val="6B7280"/>
                </a:solidFill>
                <a:latin typeface="Bahnschrift"/>
              </a:rPr>
              <a:t>TOGETHER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" y="5522976"/>
            <a:ext cx="10509199" cy="54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41248" y="5577840"/>
            <a:ext cx="6897319" cy="420624"/>
          </a:xfrm>
          <a:prstGeom prst="roundRect">
            <a:avLst>
              <a:gd name="adj" fmla="val 6000"/>
            </a:avLst>
          </a:prstGeom>
          <a:solidFill>
            <a:srgbClr val="FB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41248" y="5577840"/>
            <a:ext cx="54864" cy="420624"/>
          </a:xfrm>
          <a:prstGeom prst="rect">
            <a:avLst/>
          </a:prstGeom>
          <a:solidFill>
            <a:srgbClr val="F2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2416" y="5577840"/>
            <a:ext cx="65315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60">
                <a:solidFill>
                  <a:srgbClr val="92400E"/>
                </a:solidFill>
                <a:latin typeface="Bahnschrift"/>
              </a:rPr>
              <a:t>AUTHORISATION   </a:t>
            </a:r>
            <a:r>
              <a:rPr sz="950" b="0" i="0">
                <a:solidFill>
                  <a:srgbClr val="16233B"/>
                </a:solidFill>
                <a:latin typeface="Georgia"/>
              </a:rPr>
              <a:t>Nothing happens without your approval; every step is yours to confirm.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21447" y="5577840"/>
            <a:ext cx="3429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Bahnschrift"/>
              </a:rPr>
              <a:t>Reviewed with client on  ____________________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" y="6089904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Bahnschrift"/>
              </a:rPr>
              <a:t>Amounts illustrative for the ABXY demo · net figures after estimated tax · as of 2026-07-25.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40080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Bahnschrift"/>
              </a:rPr>
              <a:t>Disclaimer &amp; basis of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143000"/>
            <a:ext cx="2743200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54480"/>
            <a:ext cx="10509199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CEF0"/>
                </a:solidFill>
                <a:latin typeface="Georgia"/>
              </a:rPr>
              <a:t>This document is a review of existing holdings prepared for the named client under a Non-Discretionary Portfolio Management mandate. Recommendations are Sell / Trim / Hold on current positions only and are not a solicitation or an offer to buy any security. Nothing is executed until the client authorises it. The Ionic Score is a quantitative input reviewed by the Portfolio Review team; it is not a guarantee of future performance. Tax characterisations are indicative · confirm with the client's tax adviser before dealing. Mutual-fund evaluation uses Direct-plan NAV against total-return benchmarks, point-in-time. Past performance is not indicative of future results. This is a synthetic demonstration document; the ABXY Family is fictional and no content constitutes advice on a real portfolio.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526280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 spc="300">
                <a:solidFill>
                  <a:srgbClr val="FFFFFF"/>
                </a:solidFill>
                <a:latin typeface="Bahnschrift"/>
              </a:rPr>
              <a:t>IONIC WEALTH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2927" y="5102352"/>
            <a:ext cx="1005840" cy="18288"/>
          </a:xfrm>
          <a:prstGeom prst="rect">
            <a:avLst/>
          </a:prstGeom>
          <a:solidFill>
            <a:srgbClr val="F2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285232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C9CEF0"/>
                </a:solidFill>
                <a:latin typeface="Bahnschrift"/>
              </a:rPr>
              <a:t>Private &amp; Confidential  ·  Prepared exclusively for the named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309360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9CEF0"/>
                </a:solidFill>
                <a:latin typeface="Bahnschrift"/>
              </a:rPr>
              <a:t>Ionic Wealth by Angel One  ·  Portfolio Review  ·  Private &amp;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