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5" y="91440"/>
            <a:ext cx="4846320" cy="67665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4754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 spc="100">
                <a:solidFill>
                  <a:srgbClr val="FFFFFF"/>
                </a:solidFill>
                <a:latin typeface="Bahnschrift"/>
              </a:rPr>
              <a:t>IONIC </a:t>
            </a:r>
            <a:r>
              <a:rPr sz="1700" b="0" i="0" spc="100">
                <a:solidFill>
                  <a:srgbClr val="C9CEF0"/>
                </a:solidFill>
                <a:latin typeface="Bahnschrift"/>
              </a:rPr>
              <a:t>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841248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260">
                <a:solidFill>
                  <a:srgbClr val="F2A93C"/>
                </a:solidFill>
                <a:latin typeface="Bahnschrift"/>
              </a:rPr>
              <a:t>BY ANGEL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03120"/>
            <a:ext cx="6400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Bahnschrift"/>
              </a:rPr>
              <a:t>Portfolio </a:t>
            </a:r>
            <a:r>
              <a:rPr sz="4000" b="1" i="0">
                <a:solidFill>
                  <a:srgbClr val="F2A93C"/>
                </a:solidFill>
                <a:latin typeface="Bahnschrift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1272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60">
                <a:solidFill>
                  <a:srgbClr val="8C95DE"/>
                </a:solidFill>
                <a:latin typeface="Bahnschrift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19856"/>
            <a:ext cx="6400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Bahnschrift"/>
              </a:rPr>
              <a:t>ABXY Family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4114800"/>
            <a:ext cx="3108960" cy="2743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31596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C9CEF0"/>
                </a:solidFill>
                <a:latin typeface="Georgia"/>
              </a:rPr>
              <a:t>NDPMS (Non-Discretionary)   ·   Aggressive   ·   Long term (7yr+)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897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95DE"/>
                </a:solidFill>
                <a:latin typeface="Georgia"/>
              </a:rPr>
              <a:t>Co-founder in your journey of wealth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21792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5DE"/>
                </a:solidFill>
                <a:latin typeface="Bahnschrift"/>
              </a:rPr>
              <a:t>As of 2026-07-25   ·   </a:t>
            </a:r>
            <a:r>
              <a:rPr sz="750" b="0" i="1">
                <a:solidFill>
                  <a:srgbClr val="8C95DE"/>
                </a:solidFill>
                <a:latin typeface="Bahnschrift"/>
              </a:rPr>
              <a:t>[ILLUSTRATIVE, synthetic demo client; not a real portfolio]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00 ·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Investment Policy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plan, in one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1487" y="148132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1">
                <a:solidFill>
                  <a:srgbClr val="F2A93C"/>
                </a:solidFill>
                <a:latin typeface="Bahnschrift"/>
              </a:rPr>
              <a:t>[ILLUSTRATIVE, demo IPS]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645920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B7280"/>
                </a:solidFill>
                <a:latin typeface="Bahnschrift"/>
              </a:rPr>
              <a:t>RISK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1847088"/>
            <a:ext cx="1737360" cy="512064"/>
          </a:xfrm>
          <a:prstGeom prst="roundRect">
            <a:avLst>
              <a:gd name="adj" fmla="val 12000"/>
            </a:avLst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1847088"/>
            <a:ext cx="173736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spc="40">
                <a:solidFill>
                  <a:srgbClr val="FFFFFF"/>
                </a:solidFill>
                <a:latin typeface="Bahnschrift"/>
              </a:rPr>
              <a:t>AGGRESSIVE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1645920"/>
            <a:ext cx="8497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B7280"/>
                </a:solidFill>
                <a:latin typeface="Bahnschrift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1865376"/>
            <a:ext cx="8497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16233B"/>
                </a:solidFill>
                <a:latin typeface="Georgia"/>
              </a:rPr>
              <a:t>Long-term capital growth with a quality bias; tolerates interim drawdowns for higher compounding.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2670048"/>
            <a:ext cx="1050919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2798064"/>
            <a:ext cx="3931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TARGETS &amp; LIMITS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127248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Time horizon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7" y="312724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7 yr+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3474720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529584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Single-name cap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7" y="352958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max 8%  of the book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3877056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931920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Foreign / global equity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7" y="3931920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15%  target of equity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4279392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334256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Gold &amp; silver sleeve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7" y="4334256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5%  target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81728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98064"/>
            <a:ext cx="38908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STRATEGIC ALLOCATION BANDS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746" y="2798064"/>
            <a:ext cx="23847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280"/>
                </a:solidFill>
                <a:latin typeface="Bahnschrift"/>
              </a:rPr>
              <a:t>min, target,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59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40980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2552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Equity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33649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483346" y="3328416"/>
            <a:ext cx="612648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74252" y="33009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46919" y="32552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65–85%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37124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Hybrid/Debt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822191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45402" y="3785615"/>
            <a:ext cx="612648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2513" y="37581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7124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5–25%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74920" y="41696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Alternatives/Gold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42793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92240" y="4242816"/>
            <a:ext cx="306324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38086" y="42153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46919" y="41696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0–10%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74920" y="46268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Cash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40" y="47365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4700016"/>
            <a:ext cx="459485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638086" y="46725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6268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0–15%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" y="5029200"/>
            <a:ext cx="1050919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1248" y="5138928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CONSTRAINTS</a:t>
            </a:r>
          </a:p>
        </p:txBody>
      </p:sp>
      <p:sp>
        <p:nvSpPr>
          <p:cNvPr id="62" name="Oval 61"/>
          <p:cNvSpPr/>
          <p:nvPr/>
        </p:nvSpPr>
        <p:spPr>
          <a:xfrm>
            <a:off x="841248" y="5468112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" y="5394960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No single stock above 8% of the book</a:t>
            </a:r>
          </a:p>
        </p:txBody>
      </p:sp>
      <p:sp>
        <p:nvSpPr>
          <p:cNvPr id="64" name="Oval 63"/>
          <p:cNvSpPr/>
          <p:nvPr/>
        </p:nvSpPr>
        <p:spPr>
          <a:xfrm>
            <a:off x="6095847" y="5468112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8727" y="5394960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Min 15% of equity in foreign/global by target</a:t>
            </a:r>
          </a:p>
        </p:txBody>
      </p:sp>
      <p:sp>
        <p:nvSpPr>
          <p:cNvPr id="66" name="Oval 65"/>
          <p:cNvSpPr/>
          <p:nvPr/>
        </p:nvSpPr>
        <p:spPr>
          <a:xfrm>
            <a:off x="841248" y="5779007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" y="5705856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No unrated / F&amp;O / leveraged positions</a:t>
            </a:r>
          </a:p>
        </p:txBody>
      </p:sp>
      <p:sp>
        <p:nvSpPr>
          <p:cNvPr id="68" name="Oval 67"/>
          <p:cNvSpPr/>
          <p:nvPr/>
        </p:nvSpPr>
        <p:spPr>
          <a:xfrm>
            <a:off x="6095847" y="5779007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8727" y="5705856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ESG: no tobacco primary-producer adds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00 ·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Executive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five things that need attention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6.8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PORTFOLIO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308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47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308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STOCKS / FUNDS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822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492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492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TOP-10 WEIGHT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006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4676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0402F"/>
                </a:solidFill>
                <a:latin typeface="Bahnschrift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76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EQUITY SELLS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190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860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92400E"/>
                </a:solidFill>
                <a:latin typeface="Bahnschrift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860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ACTIONS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374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2670048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16233B"/>
                </a:solidFill>
                <a:latin typeface="Georgia"/>
              </a:rPr>
              <a:t>Below are the five things to fix. Each has one clear next step.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03580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CATEGORY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6239" y="3035808"/>
            <a:ext cx="363700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GAP VS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9551" y="3035808"/>
            <a:ext cx="34268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WHAT WE WOULD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2679" y="3035808"/>
            <a:ext cx="90461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3291839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337560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Too concentrated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6239" y="3337560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Your 2 biggest shares are over 11%; the plan caps any one at 8%.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9551" y="3337560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One exits via the sell list; the other is reduced slowly.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2679" y="3337560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01 · X-ray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3831336"/>
            <a:ext cx="10509199" cy="512064"/>
          </a:xfrm>
          <a:prstGeom prst="rect">
            <a:avLst/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49624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Weak holdings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6239" y="3849624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10 shares score in the Sell zone.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9551" y="3849624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Sell all of them, in a planned order.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2679" y="3849624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02 · Equity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361688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Too little abroad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6239" y="4361688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About 12 points below the 15% overseas target.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9551" y="4361688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Plan an overseas step for when we reinvest.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2679" y="4361688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04 ·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" y="4855464"/>
            <a:ext cx="10509199" cy="512064"/>
          </a:xfrm>
          <a:prstGeom prst="rect">
            <a:avLst/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873752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Paying extra fees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6239" y="4873752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About Rs 32k/yr of avoidable Regular-plan cost.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99551" y="4873752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Every fund change we suggest lands in a cheaper Direct plan.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72679" y="4873752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04 · Plan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5385816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Fund line-up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6239" y="5385816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2 funds trail the index or are built too rigidly.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99551" y="5385816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Switch to an index/factor fund and a Flexi-Cap.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72679" y="5385816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03 · Funds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870448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280"/>
                </a:solidFill>
                <a:latin typeface="Bahnschrift"/>
              </a:rPr>
              <a:t>Counts (sells, fund actions) match the scored books exactly; ‘See’ points to the section with the detail.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Portfolio X-ray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Where the book stands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Portfolio snapshot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Concentration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01 · PORTFOLIO X-RAY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Your portfolio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What you own 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₹6.80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TOTAL PORTFOLIO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85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5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DIRECT EQUITY NAMES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36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58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MUTUAL-FUND SCHEMES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409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31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1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IN THE TOP 10 HOLDINGS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682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" y="2670048"/>
            <a:ext cx="10509199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zby_snapshot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893183"/>
            <a:ext cx="3977639" cy="285471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276088" y="2880360"/>
            <a:ext cx="6074359" cy="1371600"/>
          </a:xfrm>
          <a:prstGeom prst="roundRect">
            <a:avLst>
              <a:gd name="adj" fmla="val 4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76088" y="2880360"/>
            <a:ext cx="54864" cy="1371600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7255" y="3008376"/>
            <a:ext cx="5708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92400E"/>
                </a:solidFill>
                <a:latin typeface="Bahnschrift"/>
              </a:rPr>
              <a:t>IN SHORT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7255" y="3282696"/>
            <a:ext cx="5708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Most of your money, about 60%, is invested directly in shares. About 34% is in mutual funds and 6% is kept as cash. A lot sits in just a few shares. We look at that next.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Source: client custody statement as of 2026-07-25; Ionic Wealth Portfolio Review. Percentages of total AUM.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01 · PORTFOLIO X-RAY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Too much in too few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ten biggest holdings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pic>
        <p:nvPicPr>
          <p:cNvPr id="17" name="Picture 16" descr="azby_conc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74519"/>
            <a:ext cx="6903720" cy="278154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973568" y="1874519"/>
            <a:ext cx="3376879" cy="1581912"/>
          </a:xfrm>
          <a:prstGeom prst="roundRect">
            <a:avLst>
              <a:gd name="adj" fmla="val 4000"/>
            </a:avLst>
          </a:prstGeom>
          <a:solidFill>
            <a:srgbClr val="F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54864" cy="1581912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002536"/>
            <a:ext cx="3011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402F"/>
                </a:solidFill>
                <a:latin typeface="Bahnschrift"/>
              </a:rPr>
              <a:t>SINGLE-NAME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276856"/>
            <a:ext cx="30111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2 shares are bigger than our 8% single-name limit: RELIANCE (12.4%), TITAN (11.3%). RELIANCE is on the sell list anyway. TITAN we reduce slowly toward 8%.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23.7%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 2 NAMES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85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5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 10 NAMES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36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58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OUR SINGLE-STOCK 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409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1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0402F"/>
                </a:solidFill>
                <a:latin typeface="Bahnschrif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NAMES OVER THE CAP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682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Source: client holdings as of 2026-07-25. Weights as % of total AUM; IPS single-name guideline per the Investment Policy Statement.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Equity 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Every direct holding, scored and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The book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What we would sell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The book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shares, all on one picture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64592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Every dot is one holding. Further right = a bigger part of your money. Higher up = a stronger score. Anything in the red band scores low.</a:t>
            </a:r>
          </a:p>
        </p:txBody>
      </p:sp>
      <p:pic>
        <p:nvPicPr>
          <p:cNvPr id="18" name="Picture 17" descr="equity_book_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435" y="2240280"/>
            <a:ext cx="7138824" cy="324612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41248" y="5641848"/>
            <a:ext cx="118872" cy="118872"/>
          </a:xfrm>
          <a:prstGeom prst="ellipse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59612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Sell</a:t>
            </a:r>
          </a:p>
        </p:txBody>
      </p:sp>
      <p:sp>
        <p:nvSpPr>
          <p:cNvPr id="21" name="Oval 20"/>
          <p:cNvSpPr/>
          <p:nvPr/>
        </p:nvSpPr>
        <p:spPr>
          <a:xfrm>
            <a:off x="1801368" y="5641848"/>
            <a:ext cx="118872" cy="118872"/>
          </a:xfrm>
          <a:prstGeom prst="ellipse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4248" y="559612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8648" y="5596128"/>
            <a:ext cx="840607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0"/>
                </a:solidFill>
                <a:latin typeface="Georgia"/>
              </a:rPr>
              <a:t>dot size = rupee value held · gold line = Sell threshold (40) · a red dot above the line is an exceptional, documented 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Weight = share of direct-equity book · Ionic Score reflects our full review process, forward-growth adjusted · illustrative synthetic 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Ionic Score flags candidates; the Portfolio Review team confirms every 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we would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shares we would sell, and why  (1 of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298448"/>
            <a:ext cx="1243584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1292961"/>
            <a:ext cx="1243584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 ×10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1682496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Each name shows the reason in two lines; the page link has the full story.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02996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HOLDING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6239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791" y="2029968"/>
            <a:ext cx="121989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IONIC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987" y="2029968"/>
            <a:ext cx="7995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8815" y="2029968"/>
            <a:ext cx="468792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THE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93047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DETAIL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2286000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2331720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Reliance Industries Ltd.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6239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12.4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46791" y="2596896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46791" y="2596896"/>
            <a:ext cx="15553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02823" y="2569464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0879" y="2519172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24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12987" y="2496312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12987" y="2490825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8815" y="2331720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047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" y="2880360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2898648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Tata Power Co. Ltd.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6239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1.9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46791" y="31638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46791" y="3163824"/>
            <a:ext cx="201625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02823" y="31363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0879" y="30861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12987" y="3063240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12987" y="3057753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58815" y="2898648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93047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" y="3447288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3465576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Larsen &amp; Toubro Ltd.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6239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1.2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46791" y="3730752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46791" y="3730752"/>
            <a:ext cx="25283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2823" y="3703320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50879" y="3653028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2987" y="3630168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12987" y="3624681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58815" y="3465576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93047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841248" y="401421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032504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Jio Financial Services Ltd.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6239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46791" y="4297680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6791" y="4297680"/>
            <a:ext cx="23746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02823" y="4270248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50879" y="4219956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37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12987" y="4197096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12987" y="4191609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8815" y="4032504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93047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841248" y="45811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599432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Deepak Nitrite Ltd.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6239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46791" y="4864608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46791" y="4864608"/>
            <a:ext cx="25027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902823" y="4837176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50879" y="4786884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12987" y="4764024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12987" y="4758537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58815" y="4599432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793047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841248" y="514807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958815" y="2386584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Bottom-quartile on quality and value with negative momentum; our own sum-of-the-parts sits at today's price, no bargain.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19895" y="2532888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" y="2313432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58815" y="2953512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Borrowings rose Rs 17,500 cr in FY26 to fund a capex plan that has already slipped; leverage is rising while returns stay thin.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19895" y="3099816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" y="2880360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58815" y="3520440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FY27 guidance has been cut and H1 execution guided soft; at ~32x trailing earnings there is little cushion, so we sell into strength.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19895" y="3666744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841248" y="3447288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58815" y="4087368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A Rs 1.4-lakh-crore valuation still resting mostly on treasury income; the operating businesses are too young to carry the price.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719895" y="4233672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" y="4014216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958815" y="4654296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A commodity downcycle name: FY22's peak margins have halved and the price still assumes the cycle returns quickly.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19895" y="4800600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841248" y="4581144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Each row links to the name's full rationale page (score panel, the case, the bull we rejected, valuation check). Illustrative synthetic book.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Scores flag, people decide: each call here carries a named reviewer's sign-off.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we would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shares we would sell, and why  (2 of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682496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Each name shows the reason in two lines; the page link has the full 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02996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HOLDING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6239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6791" y="2029968"/>
            <a:ext cx="121989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IONIC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12987" y="2029968"/>
            <a:ext cx="7995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8815" y="2029968"/>
            <a:ext cx="468792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THE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3047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DETAIL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286000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331720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Hindustan Unilever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6239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46791" y="2596896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46791" y="2596896"/>
            <a:ext cx="243230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02823" y="2569464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0879" y="2519172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12987" y="2496312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2987" y="2490825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8815" y="2331720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3047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2880360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2898648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GAIL (India) Ltd.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6239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6791" y="31638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46791" y="3163824"/>
            <a:ext cx="21698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02823" y="31363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50879" y="30861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12987" y="3063240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2987" y="3057753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58815" y="2898648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047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3447288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3465576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Hindustan Copper Ltd.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6239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46791" y="3730752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46791" y="3730752"/>
            <a:ext cx="304678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2823" y="3703320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50879" y="3653028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12987" y="3630168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12987" y="3624681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58815" y="3465576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93047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" y="401421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032504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UltraTech Cement Ltd.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6239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46791" y="4297680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46791" y="4297680"/>
            <a:ext cx="23362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02823" y="4270248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50879" y="4219956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36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12987" y="4197096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12987" y="4191609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8815" y="4032504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93047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841248" y="45811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599432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ITC Hotels Ltd.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16239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46791" y="4864608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646791" y="4864608"/>
            <a:ext cx="25347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902823" y="4837176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50879" y="4786884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12987" y="4764024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12987" y="4758537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58815" y="4599432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93047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41248" y="514807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58815" y="2386584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Headline profit is demerger-inflated (organic growth ~4%); three-year revenue growth of 2% does not support the price.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19895" y="2532888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2313432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58815" y="2953512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Marketing margins are in a structural reset: five straight quarters of profit decline, and the dividend now exceeds free cash flow.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719895" y="3099816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" y="2880360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58815" y="3520440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FY26's profit boom is copper price, not mining volume; the capacity ramp is delayed and a PSU stake-sale overhang sits at a peak multiple.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19895" y="3666744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841248" y="3447288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46791" y="3831336"/>
            <a:ext cx="1274755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92400E"/>
                </a:solidFill>
                <a:latin typeface="Bahnschrift"/>
              </a:rPr>
              <a:t>EXCEPTIONAL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58815" y="4087368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Priced at 42-46x earnings for a 10.7% ROE while cement pricing stays soft; no dated catalyst offsets it.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19895" y="4233672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" y="4014216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58815" y="4654296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44-46x trailing earnings on a 7% ROE with a promoter-stake overhang; one strong quarter does not yet earn the multiple.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19895" y="4800600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5" name="Rectangle 94"/>
          <p:cNvSpPr/>
          <p:nvPr/>
        </p:nvSpPr>
        <p:spPr>
          <a:xfrm>
            <a:off x="841248" y="4581144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1248" y="5239512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Names selling above the 40 score line are exceptional, high-conviction calls; the linked page documents each case in full.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Each row links to the name's full rationale page (score panel, the case, the bull we rejected, valuation check). Illustrative synthetic book.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score is the starting point; the final word on every name belongs to the desk.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Fund 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Upside, downside and consistency, not just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The fund book, scored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Fund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03 · FUNDS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Your funds, graded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A simple quality grade for each fund, and what we suggest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MF sleeve only, Direct-plan NAV, each scheme vs its own SEBI category benchmark (TRI)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1828800"/>
            <a:ext cx="342285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SCHEME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561" y="1828800"/>
            <a:ext cx="143999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CATEGORY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9856" y="1828800"/>
            <a:ext cx="104341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9576" y="1828800"/>
            <a:ext cx="163827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QUALITY 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4157" y="1828800"/>
            <a:ext cx="223313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SUGGESTED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2084832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13055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Large Cap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3561" y="213055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9856" y="213055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5.6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9576" y="229514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59576" y="2295144"/>
            <a:ext cx="19202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15608" y="226771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3664" y="221742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44157" y="219456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44157" y="218907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247802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49631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HDFC Flexi Cap (Dir)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561" y="249631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69856" y="249631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4.2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59576" y="266090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59576" y="2660904"/>
            <a:ext cx="43525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15608" y="263347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3664" y="258318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68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44157" y="256032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44157" y="255483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" y="284378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286207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Multi Cap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3561" y="286207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856" y="286207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59576" y="302666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59576" y="3026664"/>
            <a:ext cx="37764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15608" y="299923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63664" y="294894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44157" y="292608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4157" y="292059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" y="32095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322783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ICICI Pru Multi-Asset (Dir)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3561" y="322783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69856" y="322783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59576" y="33924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259576" y="3392424"/>
            <a:ext cx="416052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515608" y="33649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63664" y="33147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65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44157" y="329184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44157" y="328635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" y="3575303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3593591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PGIM India Small Cap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3561" y="3593591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856" y="3593591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0.4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59576" y="375818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259576" y="3758184"/>
            <a:ext cx="108813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515608" y="373075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63664" y="368046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17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44157" y="365760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44157" y="365211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" y="394106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395935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Balanced Advantage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83561" y="395935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69856" y="395935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2.8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59576" y="412394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259576" y="4123944"/>
            <a:ext cx="364845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15608" y="409651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963664" y="404622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57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44157" y="402336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4157" y="401787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430682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432511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Parag Parikh Flexi Cap (Dir)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83561" y="432511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69856" y="432511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7.0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259576" y="448970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259576" y="4489704"/>
            <a:ext cx="441655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5608" y="446227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63664" y="441198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69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044157" y="438912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44157" y="438363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" y="467258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4400" y="469087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Nippon India Nifty 50 Index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83561" y="469087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Passive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69856" y="469087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59576" y="485546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259576" y="4855464"/>
            <a:ext cx="35844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515608" y="482803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63664" y="477774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56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44157" y="475488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44157" y="474939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1248" y="50383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4400" y="505663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HDFC Balanced Advantage (Dir)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83561" y="505663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69856" y="505663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59576" y="52212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259576" y="5221224"/>
            <a:ext cx="416052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515608" y="51937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63664" y="51435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65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044157" y="512064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044157" y="511515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1248" y="540410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248" y="5504688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6233B"/>
                </a:solidFill>
                <a:latin typeface="Georgia"/>
              </a:rPr>
              <a:t>What this means: 4 of 9 funds could be improved, usually because of high fees or the wrong structure, not just weak returns. 5 are worth keeping.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Ionic fund-quality framework · Direct-plan NAV vs each scheme's own SEBI category benchmark (TRI) · structural watch-outs flagged per scheme. Illustrative synthetic funds.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Ionic Score flags candidates; the Portfolio Review team confirms every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03 · FUNDS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Changes to your funds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A few structural fixes, none is about last year's return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481328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B7280"/>
                </a:solidFill>
                <a:latin typeface="Georgia"/>
              </a:rPr>
              <a:t>No fund here is sold on performance alone. Each action is structural: mandate, cost, scale or consistency. Where a scheme mostly re-buys index names you already hold directly, the cleaner replacement is a low-cost index sleeve (Nifty 50 / Nifty 500 class) rather than paying an active fee twice.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1920240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1920240"/>
            <a:ext cx="54864" cy="148132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204825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04276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203911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Large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34086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NEG_ALPHA  ·  DOWN_CAP_HI  ·  HELD ~9Y, COSTLIER TO SWITCH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542032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Trails the large-cap index by 4-5pp a year over 3 and 5 years; active fees for below-index outcomes.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82112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a low-cost Large-Cap Index / Factor fund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511296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" y="3511296"/>
            <a:ext cx="54864" cy="148132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363931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33825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3630168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Multi Cap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31920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MANDATE_RIGIDITY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133088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Multi-cap's SEBI 25/25/25 floor forces small/mid we prefer to size ourselves, structural, not performance.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773168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a Flexi-Cap (manager-flexible cap mix)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1920240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1920240"/>
            <a:ext cx="54864" cy="1481328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7599" y="204825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7599" y="204276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4335" y="203911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PGIM India Small Cap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7599" y="234086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E0402F"/>
                </a:solidFill>
                <a:latin typeface="Bahnschrift"/>
              </a:rPr>
              <a:t>DEEP_DD  ·  NEG_ALPHA  ·  OVER_ALLOC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7599" y="2542032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Sub-scale ~3L beside a larger small-cap fund; persistent underperformance and duplication, structural exit.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7599" y="3182112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the primary small-cap sleeve already held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3511296"/>
            <a:ext cx="5117439" cy="1481328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3511296"/>
            <a:ext cx="54864" cy="148132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7599" y="363931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7599" y="3633825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14335" y="3630168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Balanced Advantage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7599" y="3931920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SUB_SCALE  ·  SHORT_RECORD  ·  REG_PLAN_DRAG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97599" y="4133088"/>
            <a:ext cx="480654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Under four years of record, sub-scale, Regular plan; we fold the sleeve into the proven hybrid held.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7599" y="4773168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the hybrid core already held (HDFC BAF, Direct)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Category exemplar = the fund our quality framework ranks best in the category, used as the measuring stick, not a recommendation to buy it. Whether a replacement is named is a compliance decision. Synthetic demo funds.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What We Would 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The calls, the cost and the 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What you're paying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Tax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5321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Your priority actions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your funds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What each fund charges you, every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1.8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FEES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79 bps blended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4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B27A3"/>
                </a:solidFill>
                <a:latin typeface="Bahnschrift"/>
              </a:rPr>
              <a:t>79 bps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4314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AVERAGE CHARGE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4314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across all your funds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89450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7380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8C95DE"/>
                </a:solidFill>
                <a:latin typeface="Bahnschrift"/>
              </a:rPr>
              <a:t>20–135 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7380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LOWEST AND HIGHEST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7380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your cheapest and priciest fund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2516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zby_ter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36" y="2670048"/>
            <a:ext cx="7951622" cy="290779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41248" y="5632704"/>
            <a:ext cx="91440" cy="219456"/>
          </a:xfrm>
          <a:prstGeom prst="roundRect">
            <a:avLst>
              <a:gd name="adj" fmla="val 40000"/>
            </a:avLst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5614416"/>
            <a:ext cx="10308031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NEXT STEP   </a:t>
            </a:r>
            <a:r>
              <a:rPr sz="1000" b="0" i="1">
                <a:solidFill>
                  <a:srgbClr val="6B7280"/>
                </a:solidFill>
                <a:latin typeface="Georgia"/>
              </a:rPr>
              <a:t>Ask your relationship manager to run the numbers across cheaper options.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Basis: scheme Total Expense Ratio (current plan) from scheme documents, weighted by holding value. Illustrative for the ABXY demo.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tax this plan may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tax on these moves · an estimate to confirm with your adviser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572768"/>
            <a:ext cx="6355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B7280"/>
                </a:solidFill>
                <a:latin typeface="Bahnschrift"/>
              </a:rPr>
              <a:t>YOUR FUND CHANGES · THE TAX TYPE EACH MAY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847088"/>
            <a:ext cx="87050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847088"/>
            <a:ext cx="264993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SCHEME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847088"/>
            <a:ext cx="99761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1362" y="1847088"/>
            <a:ext cx="125181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TAX CHARACTER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2103120"/>
            <a:ext cx="6355080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221992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2216505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212" y="2148840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Large Cap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7448" y="2148840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38.1 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1362" y="2148840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2514600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2606040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600553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1212" y="2532888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Multi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2532888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22.2 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1362" y="2532888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2898648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2990088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2984601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1212" y="2916936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PGIM India Small Cap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7448" y="2916936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2.9 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1362" y="2916936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3282696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4400" y="3374136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368649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1212" y="3300984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Balanced Advantage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7448" y="3300984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19.0 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71362" y="3300984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" y="3666744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685032"/>
            <a:ext cx="8705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1212" y="3685032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Total fund 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7448" y="3685032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Rs 82.2 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71362" y="3685032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" y="4050792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79208" y="1572768"/>
            <a:ext cx="39712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B7280"/>
                </a:solidFill>
                <a:latin typeface="Bahnschrift"/>
              </a:rPr>
              <a:t>SELLING THE WEAK SHARES · WHAT'S LEFT AFTER EST. TAX</a:t>
            </a:r>
          </a:p>
        </p:txBody>
      </p:sp>
      <p:pic>
        <p:nvPicPr>
          <p:cNvPr id="51" name="Picture 50" descr="azby_tax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450916"/>
            <a:ext cx="3971239" cy="195616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9208" y="4617720"/>
            <a:ext cx="3971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8C95DE"/>
                </a:solidFill>
                <a:latin typeface="Georgia"/>
              </a:rPr>
              <a:t>Net after est. tax feeds the deployment plan.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" y="5029200"/>
            <a:ext cx="5117439" cy="896112"/>
          </a:xfrm>
          <a:prstGeom prst="roundRect">
            <a:avLst>
              <a:gd name="adj" fmla="val 4000"/>
            </a:avLst>
          </a:prstGeom>
          <a:solidFill>
            <a:srgbClr val="F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" y="5029200"/>
            <a:ext cx="54864" cy="896112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2416" y="5157216"/>
            <a:ext cx="475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402F"/>
                </a:solidFill>
                <a:latin typeface="Bahnschrift"/>
              </a:rPr>
              <a:t>THE SHARE-SALE TAX IS AN ESTIMATE FOR NOW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5431536"/>
            <a:ext cx="475167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The equity tax opposite is an estimate; the exact bill needs the demat trade file (buy dates + cost per lot), not in the statement provided.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33007" y="5029200"/>
            <a:ext cx="5117439" cy="896112"/>
          </a:xfrm>
          <a:prstGeom prst="roundRect">
            <a:avLst>
              <a:gd name="adj" fmla="val 4000"/>
            </a:avLst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33007" y="5029200"/>
            <a:ext cx="54864" cy="896112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34175" y="5157216"/>
            <a:ext cx="475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1B27A3"/>
                </a:solidFill>
                <a:latin typeface="Bahnschrift"/>
              </a:rPr>
              <a:t>LONG-HELD UNITS: A HIGHER BAR TO SELL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34175" y="5431536"/>
            <a:ext cx="475167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For funds held over 5 years the tax bill can eat the gain from switching, so we switch those only for structural reasons.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The table covers your fund changes; the chart covers the share sales. These tax numbers are estimates only. Please confirm the exact tax with your tax adviser before we act. Illustrative.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happens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action plan, step by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1.44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CASH FREED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from sells + trim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4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8C95DE"/>
                </a:solidFill>
                <a:latin typeface="Bahnschrif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4314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4314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switch / drop / trim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89450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7380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B27A3"/>
                </a:solidFill>
                <a:latin typeface="Bahnschrift"/>
              </a:rPr>
              <a:t>Rs 1.26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7380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CASH IN HAND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7380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after estimated tax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2516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1248" y="2761488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76148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27249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Sell the weak names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3008376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Sell the 10 weakest-scoring stocks, a little at a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8727" y="27432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1.31 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8727" y="3108960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FIRST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3383279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248" y="3474720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3474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08176" y="343814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Right-size the biggest names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08176" y="3721607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Gently reduce any single stock that is too large a share of your money.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8727" y="345643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13.6 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18727" y="3822191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SOON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409651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1248" y="4187952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" y="41879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08176" y="4151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Fix the funds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08176" y="44348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Tidy the fund list, replace 3 weak funds with stronger, cheaper ones, drop the tiny one.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18727" y="4169663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82.2 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8727" y="4535424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A FEW DAYS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48097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41248" y="4901184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49011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08176" y="4864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Keep the cash ready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08176" y="5148072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The freed money sits safely in a liquid fund; where it goes next is decided with you, separately.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18727" y="488289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1.26 Cr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18727" y="5248656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TOGETHER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" y="552297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1248" y="5577840"/>
            <a:ext cx="6897319" cy="420624"/>
          </a:xfrm>
          <a:prstGeom prst="roundRect">
            <a:avLst>
              <a:gd name="adj" fmla="val 6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" y="5577840"/>
            <a:ext cx="54864" cy="420624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2416" y="5577840"/>
            <a:ext cx="65315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60">
                <a:solidFill>
                  <a:srgbClr val="92400E"/>
                </a:solidFill>
                <a:latin typeface="Bahnschrift"/>
              </a:rPr>
              <a:t>AUTHORISATION   </a:t>
            </a:r>
            <a:r>
              <a:rPr sz="950" b="0" i="0">
                <a:solidFill>
                  <a:srgbClr val="16233B"/>
                </a:solidFill>
                <a:latin typeface="Georgia"/>
              </a:rPr>
              <a:t>Nothing happens without your approval; every step is yours to confirm.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1447" y="5577840"/>
            <a:ext cx="3429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280"/>
                </a:solidFill>
                <a:latin typeface="Bahnschrift"/>
              </a:rPr>
              <a:t>Reviewed with client on  ____________________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Amounts illustrative for the ABXY demo · net figures after estimated tax · as of 2026-07-25.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008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Bahnschrift"/>
              </a:rPr>
              <a:t>Disclaimer &amp; basis of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143000"/>
            <a:ext cx="2743200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1050919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EF0"/>
                </a:solidFill>
                <a:latin typeface="Georgia"/>
              </a:rPr>
              <a:t>This document is a review of existing holdings prepared for the named client under a Non-Discretionary Portfolio Management mandate. Recommendations are Sell / Trim / Hold on current positions only and are not a solicitation or an offer to buy any security. Nothing is executed until the client authorises it. The Ionic Score is a quantitative input reviewed by the Portfolio Review team; it is not a guarantee of future performance. Tax characterisations are indicative · confirm with the client's tax adviser before dealing. Mutual-fund evaluation uses Direct-plan NAV against total-return benchmarks, point-in-time. Past performance is not indicative of future results. This is a synthetic demonstration document; the ABXY Family is fictional and no content constitutes advice on a real portfolio.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spc="300">
                <a:solidFill>
                  <a:srgbClr val="FFFFFF"/>
                </a:solidFill>
                <a:latin typeface="Bahnschrift"/>
              </a:rPr>
              <a:t>IONIC WEALTH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592927" y="5102352"/>
            <a:ext cx="1005840" cy="18288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85232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spc="60">
                <a:solidFill>
                  <a:srgbClr val="C9CEF0"/>
                </a:solidFill>
                <a:latin typeface="Bahnschrift"/>
              </a:rPr>
              <a:t>Private &amp; Confidential  ·  Prepared exclusively for the named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9CEF0"/>
                </a:solidFill>
                <a:latin typeface="Bahnschrift"/>
              </a:rPr>
              <a:t>Ionic Wealth by Angel One  ·  Portfolio Review  ·  Private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