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42.xml"/><Relationship Id="rId4" Type="http://schemas.openxmlformats.org/officeDocument/2006/relationships/slide" Target="slide38.xml"/><Relationship Id="rId5" Type="http://schemas.openxmlformats.org/officeDocument/2006/relationships/slide" Target="slide39.xml"/><Relationship Id="rId6" Type="http://schemas.openxmlformats.org/officeDocument/2006/relationships/slide" Target="slide43.xml"/><Relationship Id="rId7" Type="http://schemas.openxmlformats.org/officeDocument/2006/relationships/slide" Target="slide40.xml"/><Relationship Id="rId8" Type="http://schemas.openxmlformats.org/officeDocument/2006/relationships/slide" Target="slide44.xml"/><Relationship Id="rId9" Type="http://schemas.openxmlformats.org/officeDocument/2006/relationships/slide" Target="slide48.xml"/><Relationship Id="rId10" Type="http://schemas.openxmlformats.org/officeDocument/2006/relationships/slide" Target="slide4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42.xml"/><Relationship Id="rId4" Type="http://schemas.openxmlformats.org/officeDocument/2006/relationships/slide" Target="slide43.xml"/><Relationship Id="rId5" Type="http://schemas.openxmlformats.org/officeDocument/2006/relationships/slide" Target="slide44.xml"/><Relationship Id="rId6" Type="http://schemas.openxmlformats.org/officeDocument/2006/relationships/slide" Target="slide48.xml"/><Relationship Id="rId7" Type="http://schemas.openxmlformats.org/officeDocument/2006/relationships/slide" Target="slide4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49.xml"/><Relationship Id="rId4" Type="http://schemas.openxmlformats.org/officeDocument/2006/relationships/slide" Target="slide50.xml"/><Relationship Id="rId5" Type="http://schemas.openxmlformats.org/officeDocument/2006/relationships/slide" Target="slide51.xml"/><Relationship Id="rId6" Type="http://schemas.openxmlformats.org/officeDocument/2006/relationships/slide" Target="slide52.xml"/><Relationship Id="rId7" Type="http://schemas.openxmlformats.org/officeDocument/2006/relationships/slide" Target="slide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53.xml"/><Relationship Id="rId4" Type="http://schemas.openxmlformats.org/officeDocument/2006/relationships/slide" Target="slide55.xml"/><Relationship Id="rId5" Type="http://schemas.openxmlformats.org/officeDocument/2006/relationships/slide" Target="slide54.xml"/><Relationship Id="rId6" Type="http://schemas.openxmlformats.org/officeDocument/2006/relationships/slide" Target="slide4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 Id="rId4" Type="http://schemas.openxmlformats.org/officeDocument/2006/relationships/slide" Target="slide8.xml"/><Relationship Id="rId5" Type="http://schemas.openxmlformats.org/officeDocument/2006/relationships/slide" Target="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42.xml"/><Relationship Id="rId4" Type="http://schemas.openxmlformats.org/officeDocument/2006/relationships/slide" Target="slide38.xml"/><Relationship Id="rId5" Type="http://schemas.openxmlformats.org/officeDocument/2006/relationships/slide" Target="slide39.xml"/><Relationship Id="rId6" Type="http://schemas.openxmlformats.org/officeDocument/2006/relationships/slide" Target="slide43.xml"/><Relationship Id="rId7" Type="http://schemas.openxmlformats.org/officeDocument/2006/relationships/slide" Target="slide44.xml"/><Relationship Id="rId8" Type="http://schemas.openxmlformats.org/officeDocument/2006/relationships/slide" Target="slide48.xml"/><Relationship Id="rId9" Type="http://schemas.openxmlformats.org/officeDocument/2006/relationships/slide" Target="slide45.xml"/><Relationship Id="rId10" Type="http://schemas.openxmlformats.org/officeDocument/2006/relationships/slide" Target="slide49.xml"/><Relationship Id="rId11" Type="http://schemas.openxmlformats.org/officeDocument/2006/relationships/slide" Target="slide50.xml"/><Relationship Id="rId12" Type="http://schemas.openxmlformats.org/officeDocument/2006/relationships/slide" Target="slide5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52.xml"/><Relationship Id="rId4" Type="http://schemas.openxmlformats.org/officeDocument/2006/relationships/slide" Target="slide46.xml"/><Relationship Id="rId5" Type="http://schemas.openxmlformats.org/officeDocument/2006/relationships/slide" Target="slide53.xml"/><Relationship Id="rId6" Type="http://schemas.openxmlformats.org/officeDocument/2006/relationships/slide" Target="slide55.xml"/><Relationship Id="rId7" Type="http://schemas.openxmlformats.org/officeDocument/2006/relationships/slide" Target="slide54.xml"/><Relationship Id="rId8" Type="http://schemas.openxmlformats.org/officeDocument/2006/relationships/slide" Target="slide4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_art.png"/>
          <p:cNvPicPr>
            <a:picLocks noChangeAspect="1"/>
          </p:cNvPicPr>
          <p:nvPr/>
        </p:nvPicPr>
        <p:blipFill>
          <a:blip r:embed="rId2"/>
          <a:stretch>
            <a:fillRect/>
          </a:stretch>
        </p:blipFill>
        <p:spPr>
          <a:xfrm>
            <a:off x="7351775" y="91440"/>
            <a:ext cx="4846320" cy="6766560"/>
          </a:xfrm>
          <a:prstGeom prst="rect">
            <a:avLst/>
          </a:prstGeom>
        </p:spPr>
      </p:pic>
      <p:sp>
        <p:nvSpPr>
          <p:cNvPr id="4" name="Rectangle 3"/>
          <p:cNvSpPr/>
          <p:nvPr/>
        </p:nvSpPr>
        <p:spPr>
          <a:xfrm>
            <a:off x="0" y="0"/>
            <a:ext cx="12191695" cy="914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475488"/>
            <a:ext cx="4572000" cy="365760"/>
          </a:xfrm>
          <a:prstGeom prst="rect">
            <a:avLst/>
          </a:prstGeom>
          <a:noFill/>
        </p:spPr>
        <p:txBody>
          <a:bodyPr wrap="square" anchor="t" lIns="0" rIns="0" tIns="0" bIns="0">
            <a:spAutoFit/>
          </a:bodyPr>
          <a:lstStyle/>
          <a:p>
            <a:pPr algn="l">
              <a:spcBef>
                <a:spcPts val="0"/>
              </a:spcBef>
              <a:spcAft>
                <a:spcPts val="0"/>
              </a:spcAft>
            </a:pPr>
            <a:r>
              <a:rPr sz="1700" b="1" i="0" spc="100">
                <a:solidFill>
                  <a:srgbClr val="FFFFFF"/>
                </a:solidFill>
                <a:latin typeface="Bahnschrift"/>
              </a:rPr>
              <a:t>IONIC </a:t>
            </a:r>
            <a:r>
              <a:rPr sz="1700" b="0" i="0" spc="100">
                <a:solidFill>
                  <a:srgbClr val="C9CEF0"/>
                </a:solidFill>
                <a:latin typeface="Bahnschrift"/>
              </a:rPr>
              <a:t>WEALTH</a:t>
            </a:r>
          </a:p>
        </p:txBody>
      </p:sp>
      <p:sp>
        <p:nvSpPr>
          <p:cNvPr id="6" name="TextBox 5"/>
          <p:cNvSpPr txBox="1"/>
          <p:nvPr/>
        </p:nvSpPr>
        <p:spPr>
          <a:xfrm>
            <a:off x="841248" y="841248"/>
            <a:ext cx="4572000" cy="201168"/>
          </a:xfrm>
          <a:prstGeom prst="rect">
            <a:avLst/>
          </a:prstGeom>
          <a:noFill/>
        </p:spPr>
        <p:txBody>
          <a:bodyPr wrap="square" anchor="t" lIns="0" rIns="0" tIns="0" bIns="0">
            <a:spAutoFit/>
          </a:bodyPr>
          <a:lstStyle/>
          <a:p>
            <a:pPr algn="l">
              <a:spcBef>
                <a:spcPts val="0"/>
              </a:spcBef>
              <a:spcAft>
                <a:spcPts val="0"/>
              </a:spcAft>
            </a:pPr>
            <a:r>
              <a:rPr sz="750" b="1" i="0" spc="260">
                <a:solidFill>
                  <a:srgbClr val="F2A93C"/>
                </a:solidFill>
                <a:latin typeface="Bahnschrift"/>
              </a:rPr>
              <a:t>BY ANGEL ONE</a:t>
            </a:r>
          </a:p>
        </p:txBody>
      </p:sp>
      <p:sp>
        <p:nvSpPr>
          <p:cNvPr id="7" name="TextBox 6"/>
          <p:cNvSpPr txBox="1"/>
          <p:nvPr/>
        </p:nvSpPr>
        <p:spPr>
          <a:xfrm>
            <a:off x="841248" y="2103120"/>
            <a:ext cx="6400800" cy="777240"/>
          </a:xfrm>
          <a:prstGeom prst="rect">
            <a:avLst/>
          </a:prstGeom>
          <a:noFill/>
        </p:spPr>
        <p:txBody>
          <a:bodyPr wrap="square" anchor="t" lIns="0" rIns="0" tIns="0" bIns="0">
            <a:spAutoFit/>
          </a:bodyPr>
          <a:lstStyle/>
          <a:p>
            <a:pPr algn="l">
              <a:spcBef>
                <a:spcPts val="0"/>
              </a:spcBef>
              <a:spcAft>
                <a:spcPts val="0"/>
              </a:spcAft>
            </a:pPr>
            <a:r>
              <a:rPr sz="4000" b="1" i="0">
                <a:solidFill>
                  <a:srgbClr val="FFFFFF"/>
                </a:solidFill>
                <a:latin typeface="Bahnschrift"/>
              </a:rPr>
              <a:t>Portfolio </a:t>
            </a:r>
            <a:r>
              <a:rPr sz="4000" b="1" i="0">
                <a:solidFill>
                  <a:srgbClr val="F2A93C"/>
                </a:solidFill>
                <a:latin typeface="Bahnschrift"/>
              </a:rPr>
              <a:t>Review</a:t>
            </a:r>
          </a:p>
        </p:txBody>
      </p:sp>
      <p:sp>
        <p:nvSpPr>
          <p:cNvPr id="8" name="TextBox 7"/>
          <p:cNvSpPr txBox="1"/>
          <p:nvPr/>
        </p:nvSpPr>
        <p:spPr>
          <a:xfrm>
            <a:off x="841248" y="3127248"/>
            <a:ext cx="6400800" cy="274320"/>
          </a:xfrm>
          <a:prstGeom prst="rect">
            <a:avLst/>
          </a:prstGeom>
          <a:noFill/>
        </p:spPr>
        <p:txBody>
          <a:bodyPr wrap="square" anchor="t" lIns="0" rIns="0" tIns="0" bIns="0">
            <a:spAutoFit/>
          </a:bodyPr>
          <a:lstStyle/>
          <a:p>
            <a:pPr algn="l">
              <a:spcBef>
                <a:spcPts val="0"/>
              </a:spcBef>
              <a:spcAft>
                <a:spcPts val="0"/>
              </a:spcAft>
            </a:pPr>
            <a:r>
              <a:rPr sz="1000" b="1" i="0" spc="260">
                <a:solidFill>
                  <a:srgbClr val="8C95DE"/>
                </a:solidFill>
                <a:latin typeface="Bahnschrift"/>
              </a:rPr>
              <a:t>PREPARED FOR</a:t>
            </a:r>
          </a:p>
        </p:txBody>
      </p:sp>
      <p:sp>
        <p:nvSpPr>
          <p:cNvPr id="9" name="TextBox 8"/>
          <p:cNvSpPr txBox="1"/>
          <p:nvPr/>
        </p:nvSpPr>
        <p:spPr>
          <a:xfrm>
            <a:off x="841248" y="3419856"/>
            <a:ext cx="6400800" cy="594360"/>
          </a:xfrm>
          <a:prstGeom prst="rect">
            <a:avLst/>
          </a:prstGeom>
          <a:noFill/>
        </p:spPr>
        <p:txBody>
          <a:bodyPr wrap="square" anchor="t" lIns="0" rIns="0" tIns="0" bIns="0">
            <a:spAutoFit/>
          </a:bodyPr>
          <a:lstStyle/>
          <a:p>
            <a:pPr algn="l">
              <a:spcBef>
                <a:spcPts val="0"/>
              </a:spcBef>
              <a:spcAft>
                <a:spcPts val="0"/>
              </a:spcAft>
            </a:pPr>
            <a:r>
              <a:rPr sz="2800" b="1" i="0">
                <a:solidFill>
                  <a:srgbClr val="FFFFFF"/>
                </a:solidFill>
                <a:latin typeface="Bahnschrift"/>
              </a:rPr>
              <a:t>Anand Reddy</a:t>
            </a:r>
          </a:p>
        </p:txBody>
      </p:sp>
      <p:sp>
        <p:nvSpPr>
          <p:cNvPr id="10" name="Rectangle 9"/>
          <p:cNvSpPr/>
          <p:nvPr/>
        </p:nvSpPr>
        <p:spPr>
          <a:xfrm>
            <a:off x="841248" y="4114800"/>
            <a:ext cx="3108960" cy="2743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315968"/>
            <a:ext cx="6400800" cy="365760"/>
          </a:xfrm>
          <a:prstGeom prst="rect">
            <a:avLst/>
          </a:prstGeom>
          <a:noFill/>
        </p:spPr>
        <p:txBody>
          <a:bodyPr wrap="square" anchor="t" lIns="0" rIns="0" tIns="0" bIns="0">
            <a:spAutoFit/>
          </a:bodyPr>
          <a:lstStyle/>
          <a:p>
            <a:pPr algn="l">
              <a:spcBef>
                <a:spcPts val="0"/>
              </a:spcBef>
              <a:spcAft>
                <a:spcPts val="0"/>
              </a:spcAft>
            </a:pPr>
            <a:r>
              <a:rPr sz="1250" b="0" i="1">
                <a:solidFill>
                  <a:srgbClr val="C9CEF0"/>
                </a:solidFill>
                <a:latin typeface="Georgia"/>
              </a:rPr>
              <a:t>NDPMS (Non-Discretionary)   ·   Profile &amp; horizon: Not yet on file</a:t>
            </a:r>
          </a:p>
        </p:txBody>
      </p:sp>
      <p:sp>
        <p:nvSpPr>
          <p:cNvPr id="12" name="TextBox 11"/>
          <p:cNvSpPr txBox="1"/>
          <p:nvPr/>
        </p:nvSpPr>
        <p:spPr>
          <a:xfrm>
            <a:off x="841248" y="5897880"/>
            <a:ext cx="6400800" cy="274320"/>
          </a:xfrm>
          <a:prstGeom prst="rect">
            <a:avLst/>
          </a:prstGeom>
          <a:noFill/>
        </p:spPr>
        <p:txBody>
          <a:bodyPr wrap="square" anchor="t" lIns="0" rIns="0" tIns="0" bIns="0">
            <a:spAutoFit/>
          </a:bodyPr>
          <a:lstStyle/>
          <a:p>
            <a:pPr algn="l">
              <a:spcBef>
                <a:spcPts val="0"/>
              </a:spcBef>
              <a:spcAft>
                <a:spcPts val="0"/>
              </a:spcAft>
            </a:pPr>
            <a:r>
              <a:rPr sz="1200" b="0" i="1">
                <a:solidFill>
                  <a:srgbClr val="8C95DE"/>
                </a:solidFill>
                <a:latin typeface="Georgia"/>
              </a:rPr>
              <a:t>Co-founder in your journey of wealth creation</a:t>
            </a:r>
          </a:p>
        </p:txBody>
      </p:sp>
      <p:sp>
        <p:nvSpPr>
          <p:cNvPr id="13" name="TextBox 12"/>
          <p:cNvSpPr txBox="1"/>
          <p:nvPr/>
        </p:nvSpPr>
        <p:spPr>
          <a:xfrm>
            <a:off x="841248" y="6217920"/>
            <a:ext cx="6400800" cy="228600"/>
          </a:xfrm>
          <a:prstGeom prst="rect">
            <a:avLst/>
          </a:prstGeom>
          <a:noFill/>
        </p:spPr>
        <p:txBody>
          <a:bodyPr wrap="square" anchor="t" lIns="0" rIns="0" tIns="0" bIns="0">
            <a:spAutoFit/>
          </a:bodyPr>
          <a:lstStyle/>
          <a:p>
            <a:pPr algn="l">
              <a:spcBef>
                <a:spcPts val="0"/>
              </a:spcBef>
              <a:spcAft>
                <a:spcPts val="0"/>
              </a:spcAft>
            </a:pPr>
            <a:r>
              <a:rPr sz="850" b="0" i="0">
                <a:solidFill>
                  <a:srgbClr val="8C95DE"/>
                </a:solidFill>
                <a:latin typeface="Bahnschrift"/>
              </a:rPr>
              <a:t>As of 2026-07-27</a:t>
            </a:r>
            <a:r>
              <a:rPr sz="750" b="0" i="1">
                <a:solidFill>
                  <a:srgbClr val="8C95DE"/>
                </a:solidFill>
                <a:latin typeface="Bahnschrift"/>
              </a:rPr>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to read this review</a:t>
            </a:r>
          </a:p>
        </p:txBody>
      </p:sp>
      <p:sp>
        <p:nvSpPr>
          <p:cNvPr id="6" name="TextBox 5"/>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Contents · vocabulary · score legend</a:t>
            </a:r>
          </a:p>
        </p:txBody>
      </p:sp>
      <p:sp>
        <p:nvSpPr>
          <p:cNvPr id="7" name="Rectangle 6"/>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02</a:t>
            </a:r>
          </a:p>
        </p:txBody>
      </p:sp>
      <p:sp>
        <p:nvSpPr>
          <p:cNvPr id="9" name="TextBox 8"/>
          <p:cNvSpPr txBox="1"/>
          <p:nvPr/>
        </p:nvSpPr>
        <p:spPr>
          <a:xfrm>
            <a:off x="841248" y="1645920"/>
            <a:ext cx="4754880" cy="219456"/>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THE SIX SECTIONS</a:t>
            </a:r>
          </a:p>
        </p:txBody>
      </p:sp>
      <p:sp>
        <p:nvSpPr>
          <p:cNvPr id="10" name="Oval 9"/>
          <p:cNvSpPr/>
          <p:nvPr/>
        </p:nvSpPr>
        <p:spPr>
          <a:xfrm>
            <a:off x="932688" y="2075688"/>
            <a:ext cx="137160" cy="137160"/>
          </a:xfrm>
          <a:prstGeom prst="ellipse">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08176" y="196596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Understanding</a:t>
            </a:r>
          </a:p>
        </p:txBody>
      </p:sp>
      <p:sp>
        <p:nvSpPr>
          <p:cNvPr id="12" name="TextBox 11"/>
          <p:cNvSpPr txBox="1"/>
          <p:nvPr/>
        </p:nvSpPr>
        <p:spPr>
          <a:xfrm>
            <a:off x="1408176" y="222199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Your mandate, policy bands and the headline plan</a:t>
            </a:r>
          </a:p>
        </p:txBody>
      </p:sp>
      <p:sp>
        <p:nvSpPr>
          <p:cNvPr id="13" name="TextBox 12"/>
          <p:cNvSpPr txBox="1"/>
          <p:nvPr/>
        </p:nvSpPr>
        <p:spPr>
          <a:xfrm>
            <a:off x="841248" y="252374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01</a:t>
            </a:r>
          </a:p>
        </p:txBody>
      </p:sp>
      <p:sp>
        <p:nvSpPr>
          <p:cNvPr id="14" name="TextBox 13"/>
          <p:cNvSpPr txBox="1"/>
          <p:nvPr/>
        </p:nvSpPr>
        <p:spPr>
          <a:xfrm>
            <a:off x="1408176" y="251460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Portfolio X-ray</a:t>
            </a:r>
          </a:p>
        </p:txBody>
      </p:sp>
      <p:sp>
        <p:nvSpPr>
          <p:cNvPr id="15" name="TextBox 14"/>
          <p:cNvSpPr txBox="1"/>
          <p:nvPr/>
        </p:nvSpPr>
        <p:spPr>
          <a:xfrm>
            <a:off x="1408176" y="277063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Where the book stands today</a:t>
            </a:r>
          </a:p>
        </p:txBody>
      </p:sp>
      <p:sp>
        <p:nvSpPr>
          <p:cNvPr id="16" name="TextBox 15"/>
          <p:cNvSpPr txBox="1"/>
          <p:nvPr/>
        </p:nvSpPr>
        <p:spPr>
          <a:xfrm>
            <a:off x="841248" y="307238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02</a:t>
            </a:r>
          </a:p>
        </p:txBody>
      </p:sp>
      <p:sp>
        <p:nvSpPr>
          <p:cNvPr id="17" name="TextBox 16"/>
          <p:cNvSpPr txBox="1"/>
          <p:nvPr/>
        </p:nvSpPr>
        <p:spPr>
          <a:xfrm>
            <a:off x="1408176" y="306324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The Equity Book</a:t>
            </a:r>
          </a:p>
        </p:txBody>
      </p:sp>
      <p:sp>
        <p:nvSpPr>
          <p:cNvPr id="18" name="TextBox 17"/>
          <p:cNvSpPr txBox="1"/>
          <p:nvPr/>
        </p:nvSpPr>
        <p:spPr>
          <a:xfrm>
            <a:off x="1408176" y="331927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Every direct holding, scored and read</a:t>
            </a:r>
          </a:p>
        </p:txBody>
      </p:sp>
      <p:sp>
        <p:nvSpPr>
          <p:cNvPr id="19" name="TextBox 18"/>
          <p:cNvSpPr txBox="1"/>
          <p:nvPr/>
        </p:nvSpPr>
        <p:spPr>
          <a:xfrm>
            <a:off x="841248" y="362102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03</a:t>
            </a:r>
          </a:p>
        </p:txBody>
      </p:sp>
      <p:sp>
        <p:nvSpPr>
          <p:cNvPr id="20" name="TextBox 19"/>
          <p:cNvSpPr txBox="1"/>
          <p:nvPr/>
        </p:nvSpPr>
        <p:spPr>
          <a:xfrm>
            <a:off x="1408176" y="361188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The Fund Book</a:t>
            </a:r>
          </a:p>
        </p:txBody>
      </p:sp>
      <p:sp>
        <p:nvSpPr>
          <p:cNvPr id="21" name="TextBox 20"/>
          <p:cNvSpPr txBox="1"/>
          <p:nvPr/>
        </p:nvSpPr>
        <p:spPr>
          <a:xfrm>
            <a:off x="1408176" y="386791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Your funds, upside, downside, consistency</a:t>
            </a:r>
          </a:p>
        </p:txBody>
      </p:sp>
      <p:sp>
        <p:nvSpPr>
          <p:cNvPr id="22" name="TextBox 21"/>
          <p:cNvSpPr txBox="1"/>
          <p:nvPr/>
        </p:nvSpPr>
        <p:spPr>
          <a:xfrm>
            <a:off x="841248" y="416966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04</a:t>
            </a:r>
          </a:p>
        </p:txBody>
      </p:sp>
      <p:sp>
        <p:nvSpPr>
          <p:cNvPr id="23" name="TextBox 22"/>
          <p:cNvSpPr txBox="1"/>
          <p:nvPr/>
        </p:nvSpPr>
        <p:spPr>
          <a:xfrm>
            <a:off x="1408176" y="4160520"/>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Recommendations</a:t>
            </a:r>
          </a:p>
        </p:txBody>
      </p:sp>
      <p:sp>
        <p:nvSpPr>
          <p:cNvPr id="24" name="TextBox 23"/>
          <p:cNvSpPr txBox="1"/>
          <p:nvPr/>
        </p:nvSpPr>
        <p:spPr>
          <a:xfrm>
            <a:off x="1408176" y="441655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The plan, the cost, the tax and the sequence</a:t>
            </a:r>
          </a:p>
        </p:txBody>
      </p:sp>
      <p:sp>
        <p:nvSpPr>
          <p:cNvPr id="25" name="TextBox 24"/>
          <p:cNvSpPr txBox="1"/>
          <p:nvPr/>
        </p:nvSpPr>
        <p:spPr>
          <a:xfrm>
            <a:off x="841248" y="4718304"/>
            <a:ext cx="502920" cy="292608"/>
          </a:xfrm>
          <a:prstGeom prst="rect">
            <a:avLst/>
          </a:prstGeom>
          <a:noFill/>
        </p:spPr>
        <p:txBody>
          <a:bodyPr wrap="square" anchor="t" lIns="0" rIns="0" tIns="0" bIns="0">
            <a:spAutoFit/>
          </a:bodyPr>
          <a:lstStyle/>
          <a:p>
            <a:pPr algn="l">
              <a:spcBef>
                <a:spcPts val="0"/>
              </a:spcBef>
              <a:spcAft>
                <a:spcPts val="0"/>
              </a:spcAft>
            </a:pPr>
            <a:r>
              <a:rPr sz="1500" b="1" i="0">
                <a:solidFill>
                  <a:srgbClr val="8C95DE"/>
                </a:solidFill>
                <a:latin typeface="Bahnschrift"/>
              </a:rPr>
              <a:t>05</a:t>
            </a:r>
          </a:p>
        </p:txBody>
      </p:sp>
      <p:sp>
        <p:nvSpPr>
          <p:cNvPr id="26" name="TextBox 25"/>
          <p:cNvSpPr txBox="1"/>
          <p:nvPr/>
        </p:nvSpPr>
        <p:spPr>
          <a:xfrm>
            <a:off x="1408176" y="4709159"/>
            <a:ext cx="4206240" cy="256032"/>
          </a:xfrm>
          <a:prstGeom prst="rect">
            <a:avLst/>
          </a:prstGeom>
          <a:noFill/>
        </p:spPr>
        <p:txBody>
          <a:bodyPr wrap="square" anchor="t" lIns="0" rIns="0" tIns="0" bIns="0">
            <a:spAutoFit/>
          </a:bodyPr>
          <a:lstStyle/>
          <a:p>
            <a:pPr algn="l">
              <a:spcBef>
                <a:spcPts val="0"/>
              </a:spcBef>
              <a:spcAft>
                <a:spcPts val="0"/>
              </a:spcAft>
            </a:pPr>
            <a:r>
              <a:rPr sz="1250" b="1" i="0">
                <a:solidFill>
                  <a:srgbClr val="1B27A3"/>
                </a:solidFill>
                <a:latin typeface="Bahnschrift"/>
              </a:rPr>
              <a:t>Annexure</a:t>
            </a:r>
          </a:p>
        </p:txBody>
      </p:sp>
      <p:sp>
        <p:nvSpPr>
          <p:cNvPr id="27" name="TextBox 26"/>
          <p:cNvSpPr txBox="1"/>
          <p:nvPr/>
        </p:nvSpPr>
        <p:spPr>
          <a:xfrm>
            <a:off x="1408176" y="4965192"/>
            <a:ext cx="4297680" cy="219456"/>
          </a:xfrm>
          <a:prstGeom prst="rect">
            <a:avLst/>
          </a:prstGeom>
          <a:noFill/>
        </p:spPr>
        <p:txBody>
          <a:bodyPr wrap="square" anchor="t" lIns="0" rIns="0" tIns="0" bIns="0">
            <a:spAutoFit/>
          </a:bodyPr>
          <a:lstStyle/>
          <a:p>
            <a:pPr algn="l">
              <a:spcBef>
                <a:spcPts val="0"/>
              </a:spcBef>
              <a:spcAft>
                <a:spcPts val="0"/>
              </a:spcAft>
            </a:pPr>
            <a:r>
              <a:rPr sz="950" b="0" i="1">
                <a:solidFill>
                  <a:srgbClr val="6B7280"/>
                </a:solidFill>
                <a:latin typeface="Georgia"/>
              </a:rPr>
              <a:t>Supporting detail, on request</a:t>
            </a:r>
          </a:p>
        </p:txBody>
      </p:sp>
      <p:sp>
        <p:nvSpPr>
          <p:cNvPr id="28" name="Rectangle 27"/>
          <p:cNvSpPr/>
          <p:nvPr/>
        </p:nvSpPr>
        <p:spPr>
          <a:xfrm>
            <a:off x="5897880" y="1691640"/>
            <a:ext cx="9144" cy="397763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0" y="1645920"/>
            <a:ext cx="5223967" cy="219456"/>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THE WORDS WE USE</a:t>
            </a:r>
          </a:p>
        </p:txBody>
      </p:sp>
      <p:sp>
        <p:nvSpPr>
          <p:cNvPr id="30" name="TextBox 29"/>
          <p:cNvSpPr txBox="1"/>
          <p:nvPr/>
        </p:nvSpPr>
        <p:spPr>
          <a:xfrm>
            <a:off x="6126480" y="2011680"/>
            <a:ext cx="822960" cy="219456"/>
          </a:xfrm>
          <a:prstGeom prst="rect">
            <a:avLst/>
          </a:prstGeom>
          <a:noFill/>
        </p:spPr>
        <p:txBody>
          <a:bodyPr wrap="square" anchor="ctr" lIns="0" rIns="0" tIns="0" bIns="0">
            <a:spAutoFit/>
          </a:bodyPr>
          <a:lstStyle/>
          <a:p>
            <a:pPr algn="l">
              <a:spcBef>
                <a:spcPts val="0"/>
              </a:spcBef>
              <a:spcAft>
                <a:spcPts val="0"/>
              </a:spcAft>
            </a:pPr>
            <a:r>
              <a:rPr sz="800" b="1" i="0" spc="60">
                <a:solidFill>
                  <a:srgbClr val="8C95DE"/>
                </a:solidFill>
                <a:latin typeface="Bahnschrift"/>
              </a:rPr>
              <a:t>EQUITY</a:t>
            </a:r>
          </a:p>
        </p:txBody>
      </p:sp>
      <p:sp>
        <p:nvSpPr>
          <p:cNvPr id="31" name="Rounded Rectangle 30"/>
          <p:cNvSpPr/>
          <p:nvPr/>
        </p:nvSpPr>
        <p:spPr>
          <a:xfrm>
            <a:off x="6995160" y="2002536"/>
            <a:ext cx="56692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1997049"/>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3" name="Rounded Rectangle 32"/>
          <p:cNvSpPr/>
          <p:nvPr/>
        </p:nvSpPr>
        <p:spPr>
          <a:xfrm>
            <a:off x="7690104" y="2002536"/>
            <a:ext cx="56692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90104" y="1997049"/>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35" name="Rounded Rectangle 34"/>
          <p:cNvSpPr/>
          <p:nvPr/>
        </p:nvSpPr>
        <p:spPr>
          <a:xfrm>
            <a:off x="8385048" y="2002536"/>
            <a:ext cx="566928"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85048" y="1997049"/>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7" name="TextBox 36"/>
          <p:cNvSpPr txBox="1"/>
          <p:nvPr/>
        </p:nvSpPr>
        <p:spPr>
          <a:xfrm>
            <a:off x="6126480" y="2359152"/>
            <a:ext cx="822960" cy="219456"/>
          </a:xfrm>
          <a:prstGeom prst="rect">
            <a:avLst/>
          </a:prstGeom>
          <a:noFill/>
        </p:spPr>
        <p:txBody>
          <a:bodyPr wrap="square" anchor="ctr" lIns="0" rIns="0" tIns="0" bIns="0">
            <a:spAutoFit/>
          </a:bodyPr>
          <a:lstStyle/>
          <a:p>
            <a:pPr algn="l">
              <a:spcBef>
                <a:spcPts val="0"/>
              </a:spcBef>
              <a:spcAft>
                <a:spcPts val="0"/>
              </a:spcAft>
            </a:pPr>
            <a:r>
              <a:rPr sz="800" b="1" i="0" spc="60">
                <a:solidFill>
                  <a:srgbClr val="8C95DE"/>
                </a:solidFill>
                <a:latin typeface="Bahnschrift"/>
              </a:rPr>
              <a:t>FUNDS</a:t>
            </a:r>
          </a:p>
        </p:txBody>
      </p:sp>
      <p:sp>
        <p:nvSpPr>
          <p:cNvPr id="38" name="Rounded Rectangle 37"/>
          <p:cNvSpPr/>
          <p:nvPr/>
        </p:nvSpPr>
        <p:spPr>
          <a:xfrm>
            <a:off x="6995160" y="2350008"/>
            <a:ext cx="566928"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95160" y="2344521"/>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0" name="Rounded Rectangle 39"/>
          <p:cNvSpPr/>
          <p:nvPr/>
        </p:nvSpPr>
        <p:spPr>
          <a:xfrm>
            <a:off x="7690104" y="2350008"/>
            <a:ext cx="56692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90104" y="2344521"/>
            <a:ext cx="56692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42" name="Rounded Rectangle 41"/>
          <p:cNvSpPr/>
          <p:nvPr/>
        </p:nvSpPr>
        <p:spPr>
          <a:xfrm>
            <a:off x="8385048" y="2350008"/>
            <a:ext cx="658368"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85048" y="2344521"/>
            <a:ext cx="65836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SWITCH</a:t>
            </a:r>
          </a:p>
        </p:txBody>
      </p:sp>
      <p:sp>
        <p:nvSpPr>
          <p:cNvPr id="44" name="Rounded Rectangle 43"/>
          <p:cNvSpPr/>
          <p:nvPr/>
        </p:nvSpPr>
        <p:spPr>
          <a:xfrm>
            <a:off x="9171432" y="2350008"/>
            <a:ext cx="54864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71432" y="2344521"/>
            <a:ext cx="5486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46" name="TextBox 45"/>
          <p:cNvSpPr txBox="1"/>
          <p:nvPr/>
        </p:nvSpPr>
        <p:spPr>
          <a:xfrm>
            <a:off x="6126480" y="2724912"/>
            <a:ext cx="5223967" cy="365760"/>
          </a:xfrm>
          <a:prstGeom prst="rect">
            <a:avLst/>
          </a:prstGeom>
          <a:noFill/>
        </p:spPr>
        <p:txBody>
          <a:bodyPr wrap="square" anchor="t" lIns="0" rIns="0" tIns="0" bIns="0">
            <a:spAutoFit/>
          </a:bodyPr>
          <a:lstStyle/>
          <a:p>
            <a:pPr algn="l">
              <a:lnSpc>
                <a:spcPct val="105000"/>
              </a:lnSpc>
              <a:spcBef>
                <a:spcPts val="0"/>
              </a:spcBef>
              <a:spcAft>
                <a:spcPts val="0"/>
              </a:spcAft>
            </a:pPr>
            <a:r>
              <a:rPr sz="1000" b="0" i="1">
                <a:solidFill>
                  <a:srgbClr val="16233B"/>
                </a:solidFill>
                <a:latin typeface="Georgia"/>
              </a:rPr>
              <a:t>A review of the holdings you already own; every call here applies to existing positions.</a:t>
            </a:r>
          </a:p>
        </p:txBody>
      </p:sp>
      <p:sp>
        <p:nvSpPr>
          <p:cNvPr id="47" name="Rectangle 46"/>
          <p:cNvSpPr/>
          <p:nvPr/>
        </p:nvSpPr>
        <p:spPr>
          <a:xfrm>
            <a:off x="6126480" y="3200400"/>
            <a:ext cx="5223967"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26480" y="3310128"/>
            <a:ext cx="5223967" cy="219456"/>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THE IONIC SCORE, POSITIONED</a:t>
            </a:r>
          </a:p>
        </p:txBody>
      </p:sp>
      <p:sp>
        <p:nvSpPr>
          <p:cNvPr id="49" name="Rounded Rectangle 48"/>
          <p:cNvSpPr/>
          <p:nvPr/>
        </p:nvSpPr>
        <p:spPr>
          <a:xfrm>
            <a:off x="6126480" y="3639312"/>
            <a:ext cx="292608" cy="182880"/>
          </a:xfrm>
          <a:prstGeom prst="roundRect">
            <a:avLst>
              <a:gd name="adj" fmla="val 40000"/>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47104" y="3602736"/>
            <a:ext cx="4766767" cy="256032"/>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Below 40  ·  Sell candidate</a:t>
            </a:r>
          </a:p>
        </p:txBody>
      </p:sp>
      <p:sp>
        <p:nvSpPr>
          <p:cNvPr id="51" name="Rounded Rectangle 50"/>
          <p:cNvSpPr/>
          <p:nvPr/>
        </p:nvSpPr>
        <p:spPr>
          <a:xfrm>
            <a:off x="6126480" y="3941063"/>
            <a:ext cx="292608" cy="182880"/>
          </a:xfrm>
          <a:prstGeom prst="roundRect">
            <a:avLst>
              <a:gd name="adj" fmla="val 40000"/>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47104" y="3904487"/>
            <a:ext cx="4766767" cy="256032"/>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40 to 50  ·  watch zone; Trim only with a concentration or risk flag</a:t>
            </a:r>
          </a:p>
        </p:txBody>
      </p:sp>
      <p:sp>
        <p:nvSpPr>
          <p:cNvPr id="53" name="Rounded Rectangle 52"/>
          <p:cNvSpPr/>
          <p:nvPr/>
        </p:nvSpPr>
        <p:spPr>
          <a:xfrm>
            <a:off x="6126480" y="4242816"/>
            <a:ext cx="292608" cy="182880"/>
          </a:xfrm>
          <a:prstGeom prst="roundRect">
            <a:avLst>
              <a:gd name="adj" fmla="val 40000"/>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547104" y="4206240"/>
            <a:ext cx="4766767" cy="256032"/>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Georgia"/>
              </a:rPr>
              <a:t>50 and above  ·  Hold</a:t>
            </a:r>
          </a:p>
        </p:txBody>
      </p:sp>
      <p:sp>
        <p:nvSpPr>
          <p:cNvPr id="55" name="TextBox 54"/>
          <p:cNvSpPr txBox="1"/>
          <p:nvPr/>
        </p:nvSpPr>
        <p:spPr>
          <a:xfrm>
            <a:off x="6126480" y="4590288"/>
            <a:ext cx="5223967" cy="365760"/>
          </a:xfrm>
          <a:prstGeom prst="rect">
            <a:avLst/>
          </a:prstGeom>
          <a:noFill/>
        </p:spPr>
        <p:txBody>
          <a:bodyPr wrap="square" anchor="t" lIns="0" rIns="0" tIns="0" bIns="0">
            <a:spAutoFit/>
          </a:bodyPr>
          <a:lstStyle/>
          <a:p>
            <a:pPr algn="l">
              <a:lnSpc>
                <a:spcPct val="105000"/>
              </a:lnSpc>
              <a:spcBef>
                <a:spcPts val="0"/>
              </a:spcBef>
              <a:spcAft>
                <a:spcPts val="0"/>
              </a:spcAft>
            </a:pPr>
            <a:r>
              <a:rPr sz="950" b="0" i="1">
                <a:solidFill>
                  <a:srgbClr val="6B7280"/>
                </a:solidFill>
                <a:latin typeface="Georgia"/>
              </a:rPr>
              <a:t>The Ionic Score flags candidates; the Portfolio Review team confirms every call.</a:t>
            </a:r>
          </a:p>
        </p:txBody>
      </p:sp>
      <p:sp>
        <p:nvSpPr>
          <p:cNvPr id="56" name="Rectangle 55"/>
          <p:cNvSpPr/>
          <p:nvPr/>
        </p:nvSpPr>
        <p:spPr>
          <a:xfrm>
            <a:off x="841248" y="5394960"/>
            <a:ext cx="10509199"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841248" y="5559552"/>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42416" y="5522976"/>
            <a:ext cx="10234879" cy="502920"/>
          </a:xfrm>
          <a:prstGeom prst="rect">
            <a:avLst/>
          </a:prstGeom>
          <a:noFill/>
        </p:spPr>
        <p:txBody>
          <a:bodyPr wrap="square" anchor="t" lIns="0" rIns="0" tIns="0" bIns="0">
            <a:spAutoFit/>
          </a:bodyPr>
          <a:lstStyle/>
          <a:p>
            <a:pPr algn="l">
              <a:spcBef>
                <a:spcPts val="0"/>
              </a:spcBef>
              <a:spcAft>
                <a:spcPts val="0"/>
              </a:spcAft>
            </a:pPr>
            <a:r>
              <a:rPr sz="800" b="1" i="0" spc="80">
                <a:solidFill>
                  <a:srgbClr val="6B7280"/>
                </a:solidFill>
                <a:latin typeface="Bahnschrift"/>
              </a:rPr>
              <a:t>THIS BUILD   </a:t>
            </a:r>
            <a:r>
              <a:rPr sz="950" b="0" i="1">
                <a:solidFill>
                  <a:srgbClr val="1B27A3"/>
                </a:solidFill>
                <a:latin typeface="Georgia"/>
              </a:rPr>
              <a:t>Annexure attached this cycle:   Quality vs price   ·   Growth projection   ·   Spotlight holdings   ·   Holdings detail   ·   Sell cards   ·   Scheme overlap   ·   Scheme scorecards   ·   Appendix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00 · UNDERSTANDING</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Executive summary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the book differs from your policy, and what we'd do</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03</a:t>
            </a:r>
          </a:p>
        </p:txBody>
      </p:sp>
      <p:sp>
        <p:nvSpPr>
          <p:cNvPr id="15" name="TextBox 14"/>
          <p:cNvSpPr txBox="1"/>
          <p:nvPr/>
        </p:nvSpPr>
        <p:spPr>
          <a:xfrm>
            <a:off x="841248"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Rs 1.6 Cr</a:t>
            </a:r>
          </a:p>
        </p:txBody>
      </p:sp>
      <p:sp>
        <p:nvSpPr>
          <p:cNvPr id="16" name="TextBox 15"/>
          <p:cNvSpPr txBox="1"/>
          <p:nvPr/>
        </p:nvSpPr>
        <p:spPr>
          <a:xfrm>
            <a:off x="841248"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PORTFOLIO VALUE</a:t>
            </a:r>
          </a:p>
        </p:txBody>
      </p:sp>
      <p:sp>
        <p:nvSpPr>
          <p:cNvPr id="17" name="TextBox 16"/>
          <p:cNvSpPr txBox="1"/>
          <p:nvPr/>
        </p:nvSpPr>
        <p:spPr>
          <a:xfrm>
            <a:off x="294308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27 / 25</a:t>
            </a:r>
          </a:p>
        </p:txBody>
      </p:sp>
      <p:sp>
        <p:nvSpPr>
          <p:cNvPr id="18" name="TextBox 17"/>
          <p:cNvSpPr txBox="1"/>
          <p:nvPr/>
        </p:nvSpPr>
        <p:spPr>
          <a:xfrm>
            <a:off x="294308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STOCKS / FUNDS</a:t>
            </a:r>
          </a:p>
        </p:txBody>
      </p:sp>
      <p:sp>
        <p:nvSpPr>
          <p:cNvPr id="19" name="Rectangle 18"/>
          <p:cNvSpPr/>
          <p:nvPr/>
        </p:nvSpPr>
        <p:spPr>
          <a:xfrm>
            <a:off x="288822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4492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41%</a:t>
            </a:r>
          </a:p>
        </p:txBody>
      </p:sp>
      <p:sp>
        <p:nvSpPr>
          <p:cNvPr id="21" name="TextBox 20"/>
          <p:cNvSpPr txBox="1"/>
          <p:nvPr/>
        </p:nvSpPr>
        <p:spPr>
          <a:xfrm>
            <a:off x="504492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TOP-10 WEIGHT</a:t>
            </a:r>
          </a:p>
        </p:txBody>
      </p:sp>
      <p:sp>
        <p:nvSpPr>
          <p:cNvPr id="22" name="Rectangle 21"/>
          <p:cNvSpPr/>
          <p:nvPr/>
        </p:nvSpPr>
        <p:spPr>
          <a:xfrm>
            <a:off x="499006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4676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E0402F"/>
                </a:solidFill>
                <a:latin typeface="Bahnschrift"/>
              </a:rPr>
              <a:t>14</a:t>
            </a:r>
          </a:p>
        </p:txBody>
      </p:sp>
      <p:sp>
        <p:nvSpPr>
          <p:cNvPr id="24" name="TextBox 23"/>
          <p:cNvSpPr txBox="1"/>
          <p:nvPr/>
        </p:nvSpPr>
        <p:spPr>
          <a:xfrm>
            <a:off x="714676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EQUITY SELLS</a:t>
            </a:r>
          </a:p>
        </p:txBody>
      </p:sp>
      <p:sp>
        <p:nvSpPr>
          <p:cNvPr id="25" name="Rectangle 24"/>
          <p:cNvSpPr/>
          <p:nvPr/>
        </p:nvSpPr>
        <p:spPr>
          <a:xfrm>
            <a:off x="709190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48607" y="1645920"/>
            <a:ext cx="1964679" cy="457200"/>
          </a:xfrm>
          <a:prstGeom prst="rect">
            <a:avLst/>
          </a:prstGeom>
          <a:noFill/>
        </p:spPr>
        <p:txBody>
          <a:bodyPr wrap="square" anchor="t" lIns="0" rIns="0" tIns="0" bIns="0">
            <a:spAutoFit/>
          </a:bodyPr>
          <a:lstStyle/>
          <a:p>
            <a:pPr algn="l">
              <a:spcBef>
                <a:spcPts val="0"/>
              </a:spcBef>
              <a:spcAft>
                <a:spcPts val="0"/>
              </a:spcAft>
            </a:pPr>
            <a:r>
              <a:rPr sz="2700" b="0" i="0">
                <a:solidFill>
                  <a:srgbClr val="92400E"/>
                </a:solidFill>
                <a:latin typeface="Bahnschrift"/>
              </a:rPr>
              <a:t>7</a:t>
            </a:r>
          </a:p>
        </p:txBody>
      </p:sp>
      <p:sp>
        <p:nvSpPr>
          <p:cNvPr id="27" name="TextBox 26"/>
          <p:cNvSpPr txBox="1"/>
          <p:nvPr/>
        </p:nvSpPr>
        <p:spPr>
          <a:xfrm>
            <a:off x="9248607" y="2121408"/>
            <a:ext cx="196467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ACTIONS</a:t>
            </a:r>
          </a:p>
        </p:txBody>
      </p:sp>
      <p:sp>
        <p:nvSpPr>
          <p:cNvPr id="28" name="Rectangle 27"/>
          <p:cNvSpPr/>
          <p:nvPr/>
        </p:nvSpPr>
        <p:spPr>
          <a:xfrm>
            <a:off x="9193743"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 y="2670048"/>
            <a:ext cx="10509199" cy="237744"/>
          </a:xfrm>
          <a:prstGeom prst="rect">
            <a:avLst/>
          </a:prstGeom>
          <a:noFill/>
        </p:spPr>
        <p:txBody>
          <a:bodyPr wrap="square" anchor="t" lIns="0" rIns="0" tIns="0" bIns="0">
            <a:spAutoFit/>
          </a:bodyPr>
          <a:lstStyle/>
          <a:p>
            <a:pPr algn="l">
              <a:spcBef>
                <a:spcPts val="0"/>
              </a:spcBef>
              <a:spcAft>
                <a:spcPts val="0"/>
              </a:spcAft>
            </a:pPr>
            <a:r>
              <a:rPr sz="1150" b="0" i="1">
                <a:solidFill>
                  <a:srgbClr val="16233B"/>
                </a:solidFill>
                <a:latin typeface="Georgia"/>
              </a:rPr>
              <a:t>Each gap below has one action, and where to read the detail.</a:t>
            </a:r>
          </a:p>
        </p:txBody>
      </p:sp>
      <p:sp>
        <p:nvSpPr>
          <p:cNvPr id="30" name="TextBox 29"/>
          <p:cNvSpPr txBox="1"/>
          <p:nvPr/>
        </p:nvSpPr>
        <p:spPr>
          <a:xfrm>
            <a:off x="914400" y="3035808"/>
            <a:ext cx="19555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CATEGORY</a:t>
            </a:r>
          </a:p>
        </p:txBody>
      </p:sp>
      <p:sp>
        <p:nvSpPr>
          <p:cNvPr id="31" name="TextBox 30"/>
          <p:cNvSpPr txBox="1"/>
          <p:nvPr/>
        </p:nvSpPr>
        <p:spPr>
          <a:xfrm>
            <a:off x="3016239" y="3035808"/>
            <a:ext cx="363700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GAP VS POLICY</a:t>
            </a:r>
          </a:p>
        </p:txBody>
      </p:sp>
      <p:sp>
        <p:nvSpPr>
          <p:cNvPr id="32" name="TextBox 31"/>
          <p:cNvSpPr txBox="1"/>
          <p:nvPr/>
        </p:nvSpPr>
        <p:spPr>
          <a:xfrm>
            <a:off x="6799551" y="3035808"/>
            <a:ext cx="342682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WE WOULD DO</a:t>
            </a:r>
          </a:p>
        </p:txBody>
      </p:sp>
      <p:sp>
        <p:nvSpPr>
          <p:cNvPr id="33" name="TextBox 32"/>
          <p:cNvSpPr txBox="1"/>
          <p:nvPr/>
        </p:nvSpPr>
        <p:spPr>
          <a:xfrm>
            <a:off x="10372679" y="3035808"/>
            <a:ext cx="90461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SEE</a:t>
            </a:r>
          </a:p>
        </p:txBody>
      </p:sp>
      <p:sp>
        <p:nvSpPr>
          <p:cNvPr id="34" name="Rectangle 33"/>
          <p:cNvSpPr/>
          <p:nvPr/>
        </p:nvSpPr>
        <p:spPr>
          <a:xfrm>
            <a:off x="841248" y="3291839"/>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3337560"/>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Concentration</a:t>
            </a:r>
          </a:p>
        </p:txBody>
      </p:sp>
      <p:sp>
        <p:nvSpPr>
          <p:cNvPr id="36" name="TextBox 35"/>
          <p:cNvSpPr txBox="1"/>
          <p:nvPr/>
        </p:nvSpPr>
        <p:spPr>
          <a:xfrm>
            <a:off x="3016239" y="3337560"/>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Top-2 names each &gt;11%; our guideline caps a single name at 8%.</a:t>
            </a:r>
          </a:p>
        </p:txBody>
      </p:sp>
      <p:sp>
        <p:nvSpPr>
          <p:cNvPr id="37" name="TextBox 36"/>
          <p:cNvSpPr txBox="1"/>
          <p:nvPr/>
        </p:nvSpPr>
        <p:spPr>
          <a:xfrm>
            <a:off x="6799551" y="3337560"/>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One exits via the sell programme; the other trims toward the cap.</a:t>
            </a:r>
          </a:p>
        </p:txBody>
      </p:sp>
      <p:sp>
        <p:nvSpPr>
          <p:cNvPr id="38" name="TextBox 37"/>
          <p:cNvSpPr txBox="1"/>
          <p:nvPr/>
        </p:nvSpPr>
        <p:spPr>
          <a:xfrm>
            <a:off x="10372679" y="3337560"/>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01 · X-ray</a:t>
            </a:r>
          </a:p>
        </p:txBody>
      </p:sp>
      <p:sp>
        <p:nvSpPr>
          <p:cNvPr id="39" name="Rectangle 38"/>
          <p:cNvSpPr/>
          <p:nvPr/>
        </p:nvSpPr>
        <p:spPr>
          <a:xfrm>
            <a:off x="841248" y="3831336"/>
            <a:ext cx="10509199" cy="51206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849624"/>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Sell programme</a:t>
            </a:r>
          </a:p>
        </p:txBody>
      </p:sp>
      <p:sp>
        <p:nvSpPr>
          <p:cNvPr id="41" name="TextBox 40"/>
          <p:cNvSpPr txBox="1"/>
          <p:nvPr/>
        </p:nvSpPr>
        <p:spPr>
          <a:xfrm>
            <a:off x="3016239" y="3849624"/>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14 direct holdings score in the Sell band (&lt;40).</a:t>
            </a:r>
          </a:p>
        </p:txBody>
      </p:sp>
      <p:sp>
        <p:nvSpPr>
          <p:cNvPr id="42" name="TextBox 41"/>
          <p:cNvSpPr txBox="1"/>
          <p:nvPr/>
        </p:nvSpPr>
        <p:spPr>
          <a:xfrm>
            <a:off x="6799551" y="3849624"/>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Exit all 14, sliced by liquidity.</a:t>
            </a:r>
          </a:p>
        </p:txBody>
      </p:sp>
      <p:sp>
        <p:nvSpPr>
          <p:cNvPr id="43" name="TextBox 42"/>
          <p:cNvSpPr txBox="1"/>
          <p:nvPr/>
        </p:nvSpPr>
        <p:spPr>
          <a:xfrm>
            <a:off x="10372679" y="3849624"/>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02 · Equity</a:t>
            </a:r>
          </a:p>
        </p:txBody>
      </p:sp>
      <p:sp>
        <p:nvSpPr>
          <p:cNvPr id="44" name="TextBox 43"/>
          <p:cNvSpPr txBox="1"/>
          <p:nvPr/>
        </p:nvSpPr>
        <p:spPr>
          <a:xfrm>
            <a:off x="914400" y="4361688"/>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No investment policy on file</a:t>
            </a:r>
          </a:p>
        </p:txBody>
      </p:sp>
      <p:sp>
        <p:nvSpPr>
          <p:cNvPr id="45" name="TextBox 44"/>
          <p:cNvSpPr txBox="1"/>
          <p:nvPr/>
        </p:nvSpPr>
        <p:spPr>
          <a:xfrm>
            <a:off x="3016239" y="4361688"/>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This is a first review; no written mandate (goals, timeline, risk tier) exists yet for this account.</a:t>
            </a:r>
          </a:p>
        </p:txBody>
      </p:sp>
      <p:sp>
        <p:nvSpPr>
          <p:cNvPr id="46" name="TextBox 45"/>
          <p:cNvSpPr txBox="1"/>
          <p:nvPr/>
        </p:nvSpPr>
        <p:spPr>
          <a:xfrm>
            <a:off x="6799551" y="4361688"/>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Agree an IPS with the RM before the next review cycle.</a:t>
            </a:r>
          </a:p>
        </p:txBody>
      </p:sp>
      <p:sp>
        <p:nvSpPr>
          <p:cNvPr id="47" name="TextBox 46"/>
          <p:cNvSpPr txBox="1"/>
          <p:nvPr/>
        </p:nvSpPr>
        <p:spPr>
          <a:xfrm>
            <a:off x="10372679" y="4361688"/>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01 · X-ray</a:t>
            </a:r>
          </a:p>
        </p:txBody>
      </p:sp>
      <p:sp>
        <p:nvSpPr>
          <p:cNvPr id="48" name="Rectangle 47"/>
          <p:cNvSpPr/>
          <p:nvPr/>
        </p:nvSpPr>
        <p:spPr>
          <a:xfrm>
            <a:off x="841248" y="4855464"/>
            <a:ext cx="10509199" cy="51206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4873752"/>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Plan cost</a:t>
            </a:r>
          </a:p>
        </p:txBody>
      </p:sp>
      <p:sp>
        <p:nvSpPr>
          <p:cNvPr id="50" name="TextBox 49"/>
          <p:cNvSpPr txBox="1"/>
          <p:nvPr/>
        </p:nvSpPr>
        <p:spPr>
          <a:xfrm>
            <a:off x="3016239" y="4873752"/>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Every scheme in this account is already held Direct, no Regular-plan drag to correct.</a:t>
            </a:r>
          </a:p>
        </p:txBody>
      </p:sp>
      <p:sp>
        <p:nvSpPr>
          <p:cNvPr id="51" name="TextBox 50"/>
          <p:cNvSpPr txBox="1"/>
          <p:nvPr/>
        </p:nvSpPr>
        <p:spPr>
          <a:xfrm>
            <a:off x="6799551" y="4873752"/>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The fund actions below address structure and consistency, not cost.</a:t>
            </a:r>
          </a:p>
        </p:txBody>
      </p:sp>
      <p:sp>
        <p:nvSpPr>
          <p:cNvPr id="52" name="TextBox 51"/>
          <p:cNvSpPr txBox="1"/>
          <p:nvPr/>
        </p:nvSpPr>
        <p:spPr>
          <a:xfrm>
            <a:off x="10372679" y="4873752"/>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03 · Funds</a:t>
            </a:r>
          </a:p>
        </p:txBody>
      </p:sp>
      <p:sp>
        <p:nvSpPr>
          <p:cNvPr id="53" name="TextBox 52"/>
          <p:cNvSpPr txBox="1"/>
          <p:nvPr/>
        </p:nvSpPr>
        <p:spPr>
          <a:xfrm>
            <a:off x="914400" y="5385816"/>
            <a:ext cx="1955535" cy="512064"/>
          </a:xfrm>
          <a:prstGeom prst="rect">
            <a:avLst/>
          </a:prstGeom>
          <a:noFill/>
        </p:spPr>
        <p:txBody>
          <a:bodyPr wrap="square" anchor="ctr" lIns="0" rIns="0" tIns="0" bIns="0">
            <a:spAutoFit/>
          </a:bodyPr>
          <a:lstStyle/>
          <a:p>
            <a:pPr algn="l">
              <a:spcBef>
                <a:spcPts val="0"/>
              </a:spcBef>
              <a:spcAft>
                <a:spcPts val="0"/>
              </a:spcAft>
            </a:pPr>
            <a:r>
              <a:rPr sz="1000" b="1" i="0">
                <a:solidFill>
                  <a:srgbClr val="16233B"/>
                </a:solidFill>
                <a:latin typeface="Bahnschrift"/>
              </a:rPr>
              <a:t>Fund structure</a:t>
            </a:r>
          </a:p>
        </p:txBody>
      </p:sp>
      <p:sp>
        <p:nvSpPr>
          <p:cNvPr id="54" name="TextBox 53"/>
          <p:cNvSpPr txBox="1"/>
          <p:nvPr/>
        </p:nvSpPr>
        <p:spPr>
          <a:xfrm>
            <a:off x="3016239" y="5385816"/>
            <a:ext cx="3637007"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7 schemes exit for structural reasons (overlap, consolidation), not performance.</a:t>
            </a:r>
          </a:p>
        </p:txBody>
      </p:sp>
      <p:sp>
        <p:nvSpPr>
          <p:cNvPr id="55" name="TextBox 54"/>
          <p:cNvSpPr txBox="1"/>
          <p:nvPr/>
        </p:nvSpPr>
        <p:spPr>
          <a:xfrm>
            <a:off x="6799551" y="5385816"/>
            <a:ext cx="3426823" cy="512064"/>
          </a:xfrm>
          <a:prstGeom prst="rect">
            <a:avLst/>
          </a:prstGeom>
          <a:noFill/>
        </p:spPr>
        <p:txBody>
          <a:bodyPr wrap="square" anchor="ctr" lIns="0" rIns="0" tIns="0" bIns="0">
            <a:spAutoFit/>
          </a:bodyPr>
          <a:lstStyle/>
          <a:p>
            <a:pPr algn="l">
              <a:spcBef>
                <a:spcPts val="0"/>
              </a:spcBef>
              <a:spcAft>
                <a:spcPts val="0"/>
              </a:spcAft>
            </a:pPr>
            <a:r>
              <a:rPr sz="1000" b="0" i="0">
                <a:solidFill>
                  <a:srgbClr val="1B27A3"/>
                </a:solidFill>
                <a:latin typeface="Bahnschrift"/>
              </a:rPr>
              <a:t>See the fund actions detail for the reasoning on each.</a:t>
            </a:r>
          </a:p>
        </p:txBody>
      </p:sp>
      <p:sp>
        <p:nvSpPr>
          <p:cNvPr id="56" name="TextBox 55"/>
          <p:cNvSpPr txBox="1"/>
          <p:nvPr/>
        </p:nvSpPr>
        <p:spPr>
          <a:xfrm>
            <a:off x="10372679" y="5385816"/>
            <a:ext cx="904615" cy="51206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03 · Funds</a:t>
            </a:r>
          </a:p>
        </p:txBody>
      </p:sp>
      <p:sp>
        <p:nvSpPr>
          <p:cNvPr id="57" name="TextBox 56"/>
          <p:cNvSpPr txBox="1"/>
          <p:nvPr/>
        </p:nvSpPr>
        <p:spPr>
          <a:xfrm>
            <a:off x="841248" y="5870448"/>
            <a:ext cx="10509199" cy="182880"/>
          </a:xfrm>
          <a:prstGeom prst="rect">
            <a:avLst/>
          </a:prstGeom>
          <a:noFill/>
        </p:spPr>
        <p:txBody>
          <a:bodyPr wrap="square" anchor="t" lIns="0" rIns="0" tIns="0" bIns="0">
            <a:spAutoFit/>
          </a:bodyPr>
          <a:lstStyle/>
          <a:p>
            <a:pPr algn="l">
              <a:spcBef>
                <a:spcPts val="0"/>
              </a:spcBef>
              <a:spcAft>
                <a:spcPts val="0"/>
              </a:spcAft>
            </a:pPr>
            <a:r>
              <a:rPr sz="800" b="0" i="1">
                <a:solidFill>
                  <a:srgbClr val="6B7280"/>
                </a:solidFill>
                <a:latin typeface="Bahnschrift"/>
              </a:rPr>
              <a:t>Counts (sells, fund actions) match the scored books exactly; ‘See’ points to the section with the detail.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00 · UNDERSTANDING</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Our understanding</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Mandate, construction and benchmark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04</a:t>
            </a:r>
          </a:p>
        </p:txBody>
      </p:sp>
      <p:sp>
        <p:nvSpPr>
          <p:cNvPr id="15" name="TextBox 14"/>
          <p:cNvSpPr txBox="1"/>
          <p:nvPr/>
        </p:nvSpPr>
        <p:spPr>
          <a:xfrm>
            <a:off x="841248" y="1645920"/>
            <a:ext cx="5532120" cy="182880"/>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OUR UNDERSTANDING</a:t>
            </a:r>
          </a:p>
        </p:txBody>
      </p:sp>
      <p:sp>
        <p:nvSpPr>
          <p:cNvPr id="16" name="TextBox 15"/>
          <p:cNvSpPr txBox="1"/>
          <p:nvPr/>
        </p:nvSpPr>
        <p:spPr>
          <a:xfrm>
            <a:off x="841248" y="1883664"/>
            <a:ext cx="5532120" cy="1737360"/>
          </a:xfrm>
          <a:prstGeom prst="rect">
            <a:avLst/>
          </a:prstGeom>
          <a:noFill/>
        </p:spPr>
        <p:txBody>
          <a:bodyPr wrap="square" anchor="t" lIns="0" rIns="0" tIns="0" bIns="0">
            <a:spAutoFit/>
          </a:bodyPr>
          <a:lstStyle/>
          <a:p>
            <a:pPr algn="l">
              <a:lnSpc>
                <a:spcPct val="116000"/>
              </a:lnSpc>
              <a:spcBef>
                <a:spcPts val="0"/>
              </a:spcBef>
              <a:spcAft>
                <a:spcPts val="0"/>
              </a:spcAft>
            </a:pPr>
            <a:r>
              <a:rPr sz="1150" b="0" i="0">
                <a:solidFill>
                  <a:srgbClr val="16233B"/>
                </a:solidFill>
                <a:latin typeface="Georgia"/>
              </a:rPr>
              <a:t>The Anand Reddy portfolio is managed under a NDPMS (Non-Discretionary) mandate, we advise, you authorise every trade. The stated objective is long-term capital growth with a quality bias over a horizon still to be agreed with you. The book today runs ~42% direct equity, 58% funds and 0% cash, across 27 stocks and 25 schemes.</a:t>
            </a:r>
          </a:p>
        </p:txBody>
      </p:sp>
      <p:sp>
        <p:nvSpPr>
          <p:cNvPr id="17" name="Rounded Rectangle 16"/>
          <p:cNvSpPr/>
          <p:nvPr/>
        </p:nvSpPr>
        <p:spPr>
          <a:xfrm>
            <a:off x="841248" y="3794760"/>
            <a:ext cx="5532120" cy="14173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3794760"/>
            <a:ext cx="54864" cy="14173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6" y="3922776"/>
            <a:ext cx="516635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NON-DISCRETIONARY, YOU AUTHORISE EVERY TRADE</a:t>
            </a:r>
          </a:p>
        </p:txBody>
      </p:sp>
      <p:sp>
        <p:nvSpPr>
          <p:cNvPr id="20" name="TextBox 19"/>
          <p:cNvSpPr txBox="1"/>
          <p:nvPr/>
        </p:nvSpPr>
        <p:spPr>
          <a:xfrm>
            <a:off x="1042416" y="4197096"/>
            <a:ext cx="5166359" cy="9601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Nothing in this review is executed until you authorise it. Every recommendation is Sell, Trim or Hold on a holding you already own · never a solicitation to buy.</a:t>
            </a:r>
          </a:p>
        </p:txBody>
      </p:sp>
      <p:sp>
        <p:nvSpPr>
          <p:cNvPr id="21" name="Rounded Rectangle 20"/>
          <p:cNvSpPr/>
          <p:nvPr/>
        </p:nvSpPr>
        <p:spPr>
          <a:xfrm>
            <a:off x="6675120" y="1572768"/>
            <a:ext cx="4675327"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675120" y="1572768"/>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76288" y="1700784"/>
            <a:ext cx="430956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WHAT IS CORE–SATELLITE?</a:t>
            </a:r>
          </a:p>
        </p:txBody>
      </p:sp>
      <p:sp>
        <p:nvSpPr>
          <p:cNvPr id="24" name="TextBox 23"/>
          <p:cNvSpPr txBox="1"/>
          <p:nvPr/>
        </p:nvSpPr>
        <p:spPr>
          <a:xfrm>
            <a:off x="6876288" y="1975104"/>
            <a:ext cx="4309567"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stable core of quality businesses does the compounding; smaller satellite positions around it aim to add return without disturbing the core. Steady at the centre, selective at the edges.</a:t>
            </a:r>
          </a:p>
        </p:txBody>
      </p:sp>
      <p:sp>
        <p:nvSpPr>
          <p:cNvPr id="25" name="Rounded Rectangle 24"/>
          <p:cNvSpPr/>
          <p:nvPr/>
        </p:nvSpPr>
        <p:spPr>
          <a:xfrm>
            <a:off x="6675120" y="3657600"/>
            <a:ext cx="4675327" cy="15544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675120" y="3657600"/>
            <a:ext cx="54864" cy="15544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3785615"/>
            <a:ext cx="4309567" cy="219456"/>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WE MEASURE PROGRESS</a:t>
            </a:r>
          </a:p>
        </p:txBody>
      </p:sp>
      <p:sp>
        <p:nvSpPr>
          <p:cNvPr id="28" name="TextBox 27"/>
          <p:cNvSpPr txBox="1"/>
          <p:nvPr/>
        </p:nvSpPr>
        <p:spPr>
          <a:xfrm>
            <a:off x="6858000" y="4041648"/>
            <a:ext cx="4309567" cy="219456"/>
          </a:xfrm>
          <a:prstGeom prst="rect">
            <a:avLst/>
          </a:prstGeom>
          <a:noFill/>
        </p:spPr>
        <p:txBody>
          <a:bodyPr wrap="square" anchor="t" lIns="0" rIns="0" tIns="0" bIns="0">
            <a:spAutoFit/>
          </a:bodyPr>
          <a:lstStyle/>
          <a:p>
            <a:pPr algn="l">
              <a:spcBef>
                <a:spcPts val="0"/>
              </a:spcBef>
              <a:spcAft>
                <a:spcPts val="0"/>
              </a:spcAft>
            </a:pPr>
            <a:r>
              <a:rPr sz="950" b="0" i="1">
                <a:solidFill>
                  <a:srgbClr val="16233B"/>
                </a:solidFill>
                <a:latin typeface="Georgia"/>
              </a:rPr>
              <a:t>Against our house-view mix of markets, not a single index:</a:t>
            </a:r>
          </a:p>
        </p:txBody>
      </p:sp>
      <p:sp>
        <p:nvSpPr>
          <p:cNvPr id="29" name="TextBox 28"/>
          <p:cNvSpPr txBox="1"/>
          <p:nvPr/>
        </p:nvSpPr>
        <p:spPr>
          <a:xfrm>
            <a:off x="6858000" y="4315968"/>
            <a:ext cx="4309567" cy="182880"/>
          </a:xfrm>
          <a:prstGeom prst="rect">
            <a:avLst/>
          </a:prstGeom>
          <a:noFill/>
        </p:spPr>
        <p:txBody>
          <a:bodyPr wrap="square" anchor="t" lIns="0" rIns="0" tIns="0" bIns="0">
            <a:spAutoFit/>
          </a:bodyPr>
          <a:lstStyle/>
          <a:p>
            <a:pPr algn="l">
              <a:spcBef>
                <a:spcPts val="0"/>
              </a:spcBef>
              <a:spcAft>
                <a:spcPts val="0"/>
              </a:spcAft>
            </a:pPr>
            <a:r>
              <a:rPr sz="900" b="1" i="0">
                <a:solidFill>
                  <a:srgbClr val="F2A93C"/>
                </a:solidFill>
                <a:latin typeface="Bahnschrift"/>
              </a:rPr>
              <a:t>·  </a:t>
            </a:r>
            <a:r>
              <a:rPr sz="950" b="0" i="1">
                <a:solidFill>
                  <a:srgbClr val="16233B"/>
                </a:solidFill>
                <a:latin typeface="Georgia"/>
              </a:rPr>
              <a:t>Foreign equity, ~15% target, under-owned</a:t>
            </a:r>
          </a:p>
        </p:txBody>
      </p:sp>
      <p:sp>
        <p:nvSpPr>
          <p:cNvPr id="30" name="TextBox 29"/>
          <p:cNvSpPr txBox="1"/>
          <p:nvPr/>
        </p:nvSpPr>
        <p:spPr>
          <a:xfrm>
            <a:off x="6858000" y="4517136"/>
            <a:ext cx="4309567" cy="182880"/>
          </a:xfrm>
          <a:prstGeom prst="rect">
            <a:avLst/>
          </a:prstGeom>
          <a:noFill/>
        </p:spPr>
        <p:txBody>
          <a:bodyPr wrap="square" anchor="t" lIns="0" rIns="0" tIns="0" bIns="0">
            <a:spAutoFit/>
          </a:bodyPr>
          <a:lstStyle/>
          <a:p>
            <a:pPr algn="l">
              <a:spcBef>
                <a:spcPts val="0"/>
              </a:spcBef>
              <a:spcAft>
                <a:spcPts val="0"/>
              </a:spcAft>
            </a:pPr>
            <a:r>
              <a:rPr sz="900" b="1" i="0">
                <a:solidFill>
                  <a:srgbClr val="F2A93C"/>
                </a:solidFill>
                <a:latin typeface="Bahnschrift"/>
              </a:rPr>
              <a:t>·  </a:t>
            </a:r>
            <a:r>
              <a:rPr sz="950" b="0" i="1">
                <a:solidFill>
                  <a:srgbClr val="16233B"/>
                </a:solidFill>
                <a:latin typeface="Georgia"/>
              </a:rPr>
              <a:t>Gold &amp; silver, Positive, 75:25</a:t>
            </a:r>
          </a:p>
        </p:txBody>
      </p:sp>
      <p:sp>
        <p:nvSpPr>
          <p:cNvPr id="31" name="TextBox 30"/>
          <p:cNvSpPr txBox="1"/>
          <p:nvPr/>
        </p:nvSpPr>
        <p:spPr>
          <a:xfrm>
            <a:off x="6858000" y="4718304"/>
            <a:ext cx="4309567" cy="182880"/>
          </a:xfrm>
          <a:prstGeom prst="rect">
            <a:avLst/>
          </a:prstGeom>
          <a:noFill/>
        </p:spPr>
        <p:txBody>
          <a:bodyPr wrap="square" anchor="t" lIns="0" rIns="0" tIns="0" bIns="0">
            <a:spAutoFit/>
          </a:bodyPr>
          <a:lstStyle/>
          <a:p>
            <a:pPr algn="l">
              <a:spcBef>
                <a:spcPts val="0"/>
              </a:spcBef>
              <a:spcAft>
                <a:spcPts val="0"/>
              </a:spcAft>
            </a:pPr>
            <a:r>
              <a:rPr sz="900" b="1" i="0">
                <a:solidFill>
                  <a:srgbClr val="F2A93C"/>
                </a:solidFill>
                <a:latin typeface="Bahnschrift"/>
              </a:rPr>
              <a:t>·  </a:t>
            </a:r>
            <a:r>
              <a:rPr sz="950" b="0" i="1">
                <a:solidFill>
                  <a:srgbClr val="16233B"/>
                </a:solidFill>
                <a:latin typeface="Georgia"/>
              </a:rPr>
              <a:t>Low-vol / value favoured; momentum on hold</a:t>
            </a:r>
          </a:p>
        </p:txBody>
      </p:sp>
      <p:sp>
        <p:nvSpPr>
          <p:cNvPr id="32" name="TextBox 31"/>
          <p:cNvSpPr txBox="1"/>
          <p:nvPr/>
        </p:nvSpPr>
        <p:spPr>
          <a:xfrm>
            <a:off x="6858000" y="4956048"/>
            <a:ext cx="4309567" cy="219456"/>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A formal named benchmark will be agreed with you.</a:t>
            </a:r>
          </a:p>
        </p:txBody>
      </p:sp>
      <p:sp>
        <p:nvSpPr>
          <p:cNvPr id="33" name="Rectangle 32"/>
          <p:cNvSpPr/>
          <p:nvPr/>
        </p:nvSpPr>
        <p:spPr>
          <a:xfrm>
            <a:off x="841248" y="5413248"/>
            <a:ext cx="10509199"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504688"/>
            <a:ext cx="10509199" cy="219456"/>
          </a:xfrm>
          <a:prstGeom prst="rect">
            <a:avLst/>
          </a:prstGeom>
          <a:noFill/>
        </p:spPr>
        <p:txBody>
          <a:bodyPr wrap="square" anchor="t" lIns="0" rIns="0" tIns="0" bIns="0">
            <a:spAutoFit/>
          </a:bodyPr>
          <a:lstStyle/>
          <a:p>
            <a:pPr algn="l">
              <a:spcBef>
                <a:spcPts val="0"/>
              </a:spcBef>
              <a:spcAft>
                <a:spcPts val="0"/>
              </a:spcAft>
            </a:pPr>
            <a:r>
              <a:rPr sz="850" b="1" i="0" spc="120">
                <a:solidFill>
                  <a:srgbClr val="6B7280"/>
                </a:solidFill>
                <a:latin typeface="Bahnschrift"/>
              </a:rPr>
              <a:t>HOW EVERY HOLDING IS SCORED</a:t>
            </a:r>
          </a:p>
        </p:txBody>
      </p:sp>
      <p:sp>
        <p:nvSpPr>
          <p:cNvPr id="35" name="TextBox 34"/>
          <p:cNvSpPr txBox="1"/>
          <p:nvPr/>
        </p:nvSpPr>
        <p:spPr>
          <a:xfrm>
            <a:off x="841248" y="5742432"/>
            <a:ext cx="10509199" cy="457200"/>
          </a:xfrm>
          <a:prstGeom prst="rect">
            <a:avLst/>
          </a:prstGeom>
          <a:noFill/>
        </p:spPr>
        <p:txBody>
          <a:bodyPr wrap="square" anchor="t" lIns="0" rIns="0" tIns="0" bIns="0">
            <a:spAutoFit/>
          </a:bodyPr>
          <a:lstStyle/>
          <a:p>
            <a:pPr algn="l">
              <a:lnSpc>
                <a:spcPct val="105000"/>
              </a:lnSpc>
              <a:spcBef>
                <a:spcPts val="0"/>
              </a:spcBef>
              <a:spcAft>
                <a:spcPts val="0"/>
              </a:spcAft>
            </a:pPr>
            <a:r>
              <a:rPr sz="1000" b="0" i="1">
                <a:solidFill>
                  <a:srgbClr val="16233B"/>
                </a:solidFill>
                <a:latin typeface="Georgia"/>
              </a:rPr>
              <a:t>Every holding earns an Ionic Score out of 100, blending the long-term health of the business with how the market is treating it now, with built-in safety checks on debt and liquidity. The score flags; our team decides. Full method in Section 02.</a:t>
            </a:r>
          </a:p>
        </p:txBody>
      </p:sp>
      <p:sp>
        <p:nvSpPr>
          <p:cNvPr id="36" name="TextBox 35"/>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1.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01</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01</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Portfolio X-ray</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Where the book stands today</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Portfolio snapshot</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Allocation vs house view</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Concentration risk</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Sector exposure</a:t>
            </a:r>
          </a:p>
        </p:txBody>
      </p:sp>
      <p:sp>
        <p:nvSpPr>
          <p:cNvPr id="14" name="TextBox 13"/>
          <p:cNvSpPr txBox="1"/>
          <p:nvPr/>
        </p:nvSpPr>
        <p:spPr>
          <a:xfrm>
            <a:off x="841248" y="6080759"/>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Market-cap positioning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Portfolio snapshot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Asset mix and the concentration that drives risk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06</a:t>
            </a:r>
          </a:p>
        </p:txBody>
      </p:sp>
      <p:sp>
        <p:nvSpPr>
          <p:cNvPr id="15" name="TextBox 14"/>
          <p:cNvSpPr txBox="1"/>
          <p:nvPr/>
        </p:nvSpPr>
        <p:spPr>
          <a:xfrm>
            <a:off x="841248"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₹1.61 Cr</a:t>
            </a:r>
          </a:p>
        </p:txBody>
      </p:sp>
      <p:sp>
        <p:nvSpPr>
          <p:cNvPr id="16" name="TextBox 15"/>
          <p:cNvSpPr txBox="1"/>
          <p:nvPr/>
        </p:nvSpPr>
        <p:spPr>
          <a:xfrm>
            <a:off x="841248"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TOTAL AUM</a:t>
            </a:r>
          </a:p>
        </p:txBody>
      </p:sp>
      <p:sp>
        <p:nvSpPr>
          <p:cNvPr id="17" name="TextBox 16"/>
          <p:cNvSpPr txBox="1"/>
          <p:nvPr/>
        </p:nvSpPr>
        <p:spPr>
          <a:xfrm>
            <a:off x="34685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27</a:t>
            </a:r>
          </a:p>
        </p:txBody>
      </p:sp>
      <p:sp>
        <p:nvSpPr>
          <p:cNvPr id="18" name="TextBox 17"/>
          <p:cNvSpPr txBox="1"/>
          <p:nvPr/>
        </p:nvSpPr>
        <p:spPr>
          <a:xfrm>
            <a:off x="34685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DIRECT EQUITY NAMES</a:t>
            </a:r>
          </a:p>
        </p:txBody>
      </p:sp>
      <p:sp>
        <p:nvSpPr>
          <p:cNvPr id="19" name="Rectangle 18"/>
          <p:cNvSpPr/>
          <p:nvPr/>
        </p:nvSpPr>
        <p:spPr>
          <a:xfrm>
            <a:off x="34136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58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25</a:t>
            </a:r>
          </a:p>
        </p:txBody>
      </p:sp>
      <p:sp>
        <p:nvSpPr>
          <p:cNvPr id="21" name="TextBox 20"/>
          <p:cNvSpPr txBox="1"/>
          <p:nvPr/>
        </p:nvSpPr>
        <p:spPr>
          <a:xfrm>
            <a:off x="60958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MUTUAL-FUND SCHEMES</a:t>
            </a:r>
          </a:p>
        </p:txBody>
      </p:sp>
      <p:sp>
        <p:nvSpPr>
          <p:cNvPr id="22" name="Rectangle 21"/>
          <p:cNvSpPr/>
          <p:nvPr/>
        </p:nvSpPr>
        <p:spPr>
          <a:xfrm>
            <a:off x="60409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23147" y="1664208"/>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41%</a:t>
            </a:r>
          </a:p>
        </p:txBody>
      </p:sp>
      <p:sp>
        <p:nvSpPr>
          <p:cNvPr id="24" name="TextBox 23"/>
          <p:cNvSpPr txBox="1"/>
          <p:nvPr/>
        </p:nvSpPr>
        <p:spPr>
          <a:xfrm>
            <a:off x="8723147" y="2139696"/>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IN THE TOP 10 HOLDINGS</a:t>
            </a:r>
          </a:p>
        </p:txBody>
      </p:sp>
      <p:sp>
        <p:nvSpPr>
          <p:cNvPr id="25" name="Rectangle 24"/>
          <p:cNvSpPr/>
          <p:nvPr/>
        </p:nvSpPr>
        <p:spPr>
          <a:xfrm>
            <a:off x="8668283" y="1709928"/>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 y="2670048"/>
            <a:ext cx="10509199" cy="10972"/>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azby_snapshot_donut.png"/>
          <p:cNvPicPr>
            <a:picLocks noChangeAspect="1"/>
          </p:cNvPicPr>
          <p:nvPr/>
        </p:nvPicPr>
        <p:blipFill>
          <a:blip r:embed="rId3"/>
          <a:stretch>
            <a:fillRect/>
          </a:stretch>
        </p:blipFill>
        <p:spPr>
          <a:xfrm>
            <a:off x="841248" y="2887930"/>
            <a:ext cx="3977639" cy="2865218"/>
          </a:xfrm>
          <a:prstGeom prst="rect">
            <a:avLst/>
          </a:prstGeom>
        </p:spPr>
      </p:pic>
      <p:sp>
        <p:nvSpPr>
          <p:cNvPr id="28" name="Rounded Rectangle 27"/>
          <p:cNvSpPr/>
          <p:nvPr/>
        </p:nvSpPr>
        <p:spPr>
          <a:xfrm>
            <a:off x="5276088" y="2880360"/>
            <a:ext cx="6074359" cy="1581912"/>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76088" y="2880360"/>
            <a:ext cx="54864" cy="15819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77255" y="3008376"/>
            <a:ext cx="5708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READ</a:t>
            </a:r>
          </a:p>
        </p:txBody>
      </p:sp>
      <p:sp>
        <p:nvSpPr>
          <p:cNvPr id="31" name="TextBox 30"/>
          <p:cNvSpPr txBox="1"/>
          <p:nvPr/>
        </p:nvSpPr>
        <p:spPr>
          <a:xfrm>
            <a:off x="5477255" y="3282696"/>
            <a:ext cx="5708599" cy="11247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mix itself is healthy: 42% direct equity doing the compounding, 58% in funds for breadth, 0% in cash. What deserves attention sits inside the equity sleeve: the ten largest names carry 41% of the book against an 8% single-name guideline. This review deals with that first, then the funds, then the costs.</a:t>
            </a:r>
          </a:p>
        </p:txBody>
      </p:sp>
      <p:sp>
        <p:nvSpPr>
          <p:cNvPr id="32" name="TextBox 3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Source: client custody statement as of 2026-07-27; Ionic Wealth Portfolio Review. Percentages of total AUM.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Allocation vs house view</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Book positioning against house-view allocation targets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07</a:t>
            </a:r>
          </a:p>
        </p:txBody>
      </p:sp>
      <p:sp>
        <p:nvSpPr>
          <p:cNvPr id="15" name="Rounded Rectangle 14"/>
          <p:cNvSpPr/>
          <p:nvPr/>
        </p:nvSpPr>
        <p:spPr>
          <a:xfrm>
            <a:off x="841248" y="1828800"/>
            <a:ext cx="6126480" cy="324612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828800"/>
            <a:ext cx="54864" cy="324612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1956816"/>
            <a:ext cx="5760720"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ALLOCATION TARGETS</a:t>
            </a:r>
          </a:p>
        </p:txBody>
      </p:sp>
      <p:sp>
        <p:nvSpPr>
          <p:cNvPr id="18" name="TextBox 17"/>
          <p:cNvSpPr txBox="1"/>
          <p:nvPr/>
        </p:nvSpPr>
        <p:spPr>
          <a:xfrm>
            <a:off x="1042416" y="2231136"/>
            <a:ext cx="5760720" cy="27889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No allocation targets are on file for this account yet, this is a first review with no IPS agreed. Once one is in place, the book's mix will be measured against it here.</a:t>
            </a:r>
          </a:p>
        </p:txBody>
      </p:sp>
      <p:sp>
        <p:nvSpPr>
          <p:cNvPr id="19" name="TextBox 18"/>
          <p:cNvSpPr txBox="1"/>
          <p:nvPr/>
        </p:nvSpPr>
        <p:spPr>
          <a:xfrm>
            <a:off x="7196328" y="1783080"/>
            <a:ext cx="4154119" cy="219456"/>
          </a:xfrm>
          <a:prstGeom prst="rect">
            <a:avLst/>
          </a:prstGeom>
          <a:noFill/>
        </p:spPr>
        <p:txBody>
          <a:bodyPr wrap="square" anchor="t" lIns="0" rIns="0" tIns="0" bIns="0">
            <a:spAutoFit/>
          </a:bodyPr>
          <a:lstStyle/>
          <a:p>
            <a:pPr algn="l">
              <a:spcBef>
                <a:spcPts val="0"/>
              </a:spcBef>
              <a:spcAft>
                <a:spcPts val="0"/>
              </a:spcAft>
            </a:pPr>
            <a:r>
              <a:rPr sz="900" b="1" i="0" spc="120">
                <a:solidFill>
                  <a:srgbClr val="6B7280"/>
                </a:solidFill>
                <a:latin typeface="Bahnschrift"/>
              </a:rPr>
              <a:t>HOUSE-VIEW STANCE</a:t>
            </a:r>
          </a:p>
        </p:txBody>
      </p:sp>
      <p:sp>
        <p:nvSpPr>
          <p:cNvPr id="20" name="TextBox 19"/>
          <p:cNvSpPr txBox="1"/>
          <p:nvPr/>
        </p:nvSpPr>
        <p:spPr>
          <a:xfrm>
            <a:off x="7269480" y="2084831"/>
            <a:ext cx="159842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DIMENSION</a:t>
            </a:r>
          </a:p>
        </p:txBody>
      </p:sp>
      <p:sp>
        <p:nvSpPr>
          <p:cNvPr id="21" name="TextBox 20"/>
          <p:cNvSpPr txBox="1"/>
          <p:nvPr/>
        </p:nvSpPr>
        <p:spPr>
          <a:xfrm>
            <a:off x="9014210" y="2084831"/>
            <a:ext cx="226308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OUR STANCE</a:t>
            </a:r>
          </a:p>
        </p:txBody>
      </p:sp>
      <p:sp>
        <p:nvSpPr>
          <p:cNvPr id="22" name="Rectangle 21"/>
          <p:cNvSpPr/>
          <p:nvPr/>
        </p:nvSpPr>
        <p:spPr>
          <a:xfrm>
            <a:off x="7196328" y="2340863"/>
            <a:ext cx="415411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2386584"/>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Domestic equity</a:t>
            </a:r>
          </a:p>
        </p:txBody>
      </p:sp>
      <p:sp>
        <p:nvSpPr>
          <p:cNvPr id="24" name="TextBox 23"/>
          <p:cNvSpPr txBox="1"/>
          <p:nvPr/>
        </p:nvSpPr>
        <p:spPr>
          <a:xfrm>
            <a:off x="9014210" y="2386584"/>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Incrementally positive</a:t>
            </a:r>
          </a:p>
        </p:txBody>
      </p:sp>
      <p:sp>
        <p:nvSpPr>
          <p:cNvPr id="25" name="Rectangle 24"/>
          <p:cNvSpPr/>
          <p:nvPr/>
        </p:nvSpPr>
        <p:spPr>
          <a:xfrm>
            <a:off x="7196328" y="2880360"/>
            <a:ext cx="4154119" cy="51206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69480" y="2898648"/>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Foreign equity</a:t>
            </a:r>
          </a:p>
        </p:txBody>
      </p:sp>
      <p:sp>
        <p:nvSpPr>
          <p:cNvPr id="27" name="TextBox 26"/>
          <p:cNvSpPr txBox="1"/>
          <p:nvPr/>
        </p:nvSpPr>
        <p:spPr>
          <a:xfrm>
            <a:off x="9014210" y="2898648"/>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~15% target, under-owned</a:t>
            </a:r>
          </a:p>
        </p:txBody>
      </p:sp>
      <p:sp>
        <p:nvSpPr>
          <p:cNvPr id="28" name="TextBox 27"/>
          <p:cNvSpPr txBox="1"/>
          <p:nvPr/>
        </p:nvSpPr>
        <p:spPr>
          <a:xfrm>
            <a:off x="7269480" y="3410712"/>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Gold &amp; silver</a:t>
            </a:r>
          </a:p>
        </p:txBody>
      </p:sp>
      <p:sp>
        <p:nvSpPr>
          <p:cNvPr id="29" name="TextBox 28"/>
          <p:cNvSpPr txBox="1"/>
          <p:nvPr/>
        </p:nvSpPr>
        <p:spPr>
          <a:xfrm>
            <a:off x="9014210" y="3410712"/>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Positive, 75:25</a:t>
            </a:r>
          </a:p>
        </p:txBody>
      </p:sp>
      <p:sp>
        <p:nvSpPr>
          <p:cNvPr id="30" name="Rectangle 29"/>
          <p:cNvSpPr/>
          <p:nvPr/>
        </p:nvSpPr>
        <p:spPr>
          <a:xfrm>
            <a:off x="7196328" y="3904488"/>
            <a:ext cx="4154119" cy="512064"/>
          </a:xfrm>
          <a:prstGeom prst="rect">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69480" y="3922776"/>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Momentum</a:t>
            </a:r>
          </a:p>
        </p:txBody>
      </p:sp>
      <p:sp>
        <p:nvSpPr>
          <p:cNvPr id="32" name="TextBox 31"/>
          <p:cNvSpPr txBox="1"/>
          <p:nvPr/>
        </p:nvSpPr>
        <p:spPr>
          <a:xfrm>
            <a:off x="9014210" y="3922776"/>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On hold</a:t>
            </a:r>
          </a:p>
        </p:txBody>
      </p:sp>
      <p:sp>
        <p:nvSpPr>
          <p:cNvPr id="33" name="TextBox 32"/>
          <p:cNvSpPr txBox="1"/>
          <p:nvPr/>
        </p:nvSpPr>
        <p:spPr>
          <a:xfrm>
            <a:off x="7269480" y="4434840"/>
            <a:ext cx="1598426" cy="512064"/>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Low-vol / value</a:t>
            </a:r>
          </a:p>
        </p:txBody>
      </p:sp>
      <p:sp>
        <p:nvSpPr>
          <p:cNvPr id="34" name="TextBox 33"/>
          <p:cNvSpPr txBox="1"/>
          <p:nvPr/>
        </p:nvSpPr>
        <p:spPr>
          <a:xfrm>
            <a:off x="9014210" y="4434840"/>
            <a:ext cx="2263085" cy="512064"/>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Favoured</a:t>
            </a:r>
          </a:p>
        </p:txBody>
      </p:sp>
      <p:sp>
        <p:nvSpPr>
          <p:cNvPr id="35" name="Rounded Rectangle 34"/>
          <p:cNvSpPr/>
          <p:nvPr/>
        </p:nvSpPr>
        <p:spPr>
          <a:xfrm>
            <a:off x="841248" y="5257800"/>
            <a:ext cx="10509199" cy="74980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41248" y="5257800"/>
            <a:ext cx="54864" cy="74980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2416" y="5385816"/>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WHAT IT MEANS</a:t>
            </a:r>
          </a:p>
        </p:txBody>
      </p:sp>
      <p:sp>
        <p:nvSpPr>
          <p:cNvPr id="38" name="TextBox 37"/>
          <p:cNvSpPr txBox="1"/>
          <p:nvPr/>
        </p:nvSpPr>
        <p:spPr>
          <a:xfrm>
            <a:off x="1042416" y="5660136"/>
            <a:ext cx="10143439" cy="29260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Allocation targets versus a house view aren't fully set for this account yet. Closing any gaps will follow once an IPS is agreed.</a:t>
            </a:r>
          </a:p>
        </p:txBody>
      </p:sp>
      <p:sp>
        <p:nvSpPr>
          <p:cNvPr id="39" name="TextBox 38"/>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House-view allocation bands. Gap = current book minus house-view target, in percentage points.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Concentration risk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Single-name concentration against the IPS cap</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08</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2026-07-27</a:t>
            </a:r>
          </a:p>
        </p:txBody>
      </p:sp>
      <p:pic>
        <p:nvPicPr>
          <p:cNvPr id="17" name="Picture 16" descr="azby_conc_tree.png"/>
          <p:cNvPicPr>
            <a:picLocks noChangeAspect="1"/>
          </p:cNvPicPr>
          <p:nvPr/>
        </p:nvPicPr>
        <p:blipFill>
          <a:blip r:embed="rId3"/>
          <a:stretch>
            <a:fillRect/>
          </a:stretch>
        </p:blipFill>
        <p:spPr>
          <a:xfrm>
            <a:off x="841248" y="1874519"/>
            <a:ext cx="6903720" cy="2781547"/>
          </a:xfrm>
          <a:prstGeom prst="rect">
            <a:avLst/>
          </a:prstGeom>
        </p:spPr>
      </p:pic>
      <p:sp>
        <p:nvSpPr>
          <p:cNvPr id="18" name="Rounded Rectangle 17"/>
          <p:cNvSpPr/>
          <p:nvPr/>
        </p:nvSpPr>
        <p:spPr>
          <a:xfrm>
            <a:off x="7973568" y="1874519"/>
            <a:ext cx="3376879" cy="2089404"/>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874519"/>
            <a:ext cx="54864" cy="2089404"/>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74736" y="2002536"/>
            <a:ext cx="30111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SINGLE-NAME CAP</a:t>
            </a:r>
          </a:p>
        </p:txBody>
      </p:sp>
      <p:sp>
        <p:nvSpPr>
          <p:cNvPr id="21" name="TextBox 20"/>
          <p:cNvSpPr txBox="1"/>
          <p:nvPr/>
        </p:nvSpPr>
        <p:spPr>
          <a:xfrm>
            <a:off x="8174736" y="2276856"/>
            <a:ext cx="3011119" cy="1632204"/>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3 names sit above the 8% IPS single-name guideline: RELIANCE (17.9%), HDFCBANK (10.6%) and 1 more, together 37.3% of the book. RELIANCE exits via the sell programme. HDFCBANK, TCS is trimmed toward 8% into strength, sliced across days, never in one print.</a:t>
            </a:r>
          </a:p>
        </p:txBody>
      </p:sp>
      <p:sp>
        <p:nvSpPr>
          <p:cNvPr id="22" name="TextBox 21"/>
          <p:cNvSpPr txBox="1"/>
          <p:nvPr/>
        </p:nvSpPr>
        <p:spPr>
          <a:xfrm>
            <a:off x="841248" y="5074920"/>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28.5%</a:t>
            </a:r>
          </a:p>
        </p:txBody>
      </p:sp>
      <p:sp>
        <p:nvSpPr>
          <p:cNvPr id="23" name="TextBox 22"/>
          <p:cNvSpPr txBox="1"/>
          <p:nvPr/>
        </p:nvSpPr>
        <p:spPr>
          <a:xfrm>
            <a:off x="841248" y="5550408"/>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TOP 2 NAMES</a:t>
            </a:r>
          </a:p>
        </p:txBody>
      </p:sp>
      <p:sp>
        <p:nvSpPr>
          <p:cNvPr id="24" name="TextBox 23"/>
          <p:cNvSpPr txBox="1"/>
          <p:nvPr/>
        </p:nvSpPr>
        <p:spPr>
          <a:xfrm>
            <a:off x="3468547" y="5074920"/>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41%</a:t>
            </a:r>
          </a:p>
        </p:txBody>
      </p:sp>
      <p:sp>
        <p:nvSpPr>
          <p:cNvPr id="25" name="TextBox 24"/>
          <p:cNvSpPr txBox="1"/>
          <p:nvPr/>
        </p:nvSpPr>
        <p:spPr>
          <a:xfrm>
            <a:off x="3468547" y="5550408"/>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TOP 10 NAMES</a:t>
            </a:r>
          </a:p>
        </p:txBody>
      </p:sp>
      <p:sp>
        <p:nvSpPr>
          <p:cNvPr id="26" name="Rectangle 25"/>
          <p:cNvSpPr/>
          <p:nvPr/>
        </p:nvSpPr>
        <p:spPr>
          <a:xfrm>
            <a:off x="3413683" y="5120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95847" y="5074920"/>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8%</a:t>
            </a:r>
          </a:p>
        </p:txBody>
      </p:sp>
      <p:sp>
        <p:nvSpPr>
          <p:cNvPr id="28" name="TextBox 27"/>
          <p:cNvSpPr txBox="1"/>
          <p:nvPr/>
        </p:nvSpPr>
        <p:spPr>
          <a:xfrm>
            <a:off x="6095847" y="5550408"/>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IPS SINGLE-NAME CAP</a:t>
            </a:r>
          </a:p>
        </p:txBody>
      </p:sp>
      <p:sp>
        <p:nvSpPr>
          <p:cNvPr id="29" name="Rectangle 28"/>
          <p:cNvSpPr/>
          <p:nvPr/>
        </p:nvSpPr>
        <p:spPr>
          <a:xfrm>
            <a:off x="6040983" y="5120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23147" y="5074920"/>
            <a:ext cx="2490139" cy="457200"/>
          </a:xfrm>
          <a:prstGeom prst="rect">
            <a:avLst/>
          </a:prstGeom>
          <a:noFill/>
        </p:spPr>
        <p:txBody>
          <a:bodyPr wrap="square" anchor="t" lIns="0" rIns="0" tIns="0" bIns="0">
            <a:spAutoFit/>
          </a:bodyPr>
          <a:lstStyle/>
          <a:p>
            <a:pPr algn="l">
              <a:spcBef>
                <a:spcPts val="0"/>
              </a:spcBef>
              <a:spcAft>
                <a:spcPts val="0"/>
              </a:spcAft>
            </a:pPr>
            <a:r>
              <a:rPr sz="2700" b="0" i="0">
                <a:solidFill>
                  <a:srgbClr val="E0402F"/>
                </a:solidFill>
                <a:latin typeface="Bahnschrift"/>
              </a:rPr>
              <a:t>3</a:t>
            </a:r>
          </a:p>
        </p:txBody>
      </p:sp>
      <p:sp>
        <p:nvSpPr>
          <p:cNvPr id="31" name="TextBox 30"/>
          <p:cNvSpPr txBox="1"/>
          <p:nvPr/>
        </p:nvSpPr>
        <p:spPr>
          <a:xfrm>
            <a:off x="8723147" y="5550408"/>
            <a:ext cx="2490139"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NAMES OVER THE CAP</a:t>
            </a:r>
          </a:p>
        </p:txBody>
      </p:sp>
      <p:sp>
        <p:nvSpPr>
          <p:cNvPr id="32" name="Rectangle 31"/>
          <p:cNvSpPr/>
          <p:nvPr/>
        </p:nvSpPr>
        <p:spPr>
          <a:xfrm>
            <a:off x="8668283" y="5120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Source: client holdings as of 2026-07-27. Weights as % of total AUM; Single-name guideline per house risk policy, no client-specific IPS on file yet.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Sector exposure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Direct-equity sector weights (sleeve basis)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09</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2026-07-27</a:t>
            </a:r>
          </a:p>
        </p:txBody>
      </p:sp>
      <p:pic>
        <p:nvPicPr>
          <p:cNvPr id="17" name="Picture 16" descr="azby_sector.png"/>
          <p:cNvPicPr>
            <a:picLocks noChangeAspect="1"/>
          </p:cNvPicPr>
          <p:nvPr/>
        </p:nvPicPr>
        <p:blipFill>
          <a:blip r:embed="rId3"/>
          <a:stretch>
            <a:fillRect/>
          </a:stretch>
        </p:blipFill>
        <p:spPr>
          <a:xfrm>
            <a:off x="841248" y="1828800"/>
            <a:ext cx="6172200" cy="2509922"/>
          </a:xfrm>
          <a:prstGeom prst="rect">
            <a:avLst/>
          </a:prstGeom>
        </p:spPr>
      </p:pic>
      <p:sp>
        <p:nvSpPr>
          <p:cNvPr id="18" name="Rounded Rectangle 17"/>
          <p:cNvSpPr/>
          <p:nvPr/>
        </p:nvSpPr>
        <p:spPr>
          <a:xfrm>
            <a:off x="7287768" y="1828800"/>
            <a:ext cx="4062679" cy="178308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87768" y="1828800"/>
            <a:ext cx="54864" cy="178308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88936" y="1956816"/>
            <a:ext cx="36969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SCOPE, MF NOT LOOKED THROUGH</a:t>
            </a:r>
          </a:p>
        </p:txBody>
      </p:sp>
      <p:sp>
        <p:nvSpPr>
          <p:cNvPr id="21" name="TextBox 20"/>
          <p:cNvSpPr txBox="1"/>
          <p:nvPr/>
        </p:nvSpPr>
        <p:spPr>
          <a:xfrm>
            <a:off x="7488936" y="2231136"/>
            <a:ext cx="369691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This chart covers direct equity only (42% of AUM). The mutual-fund sleeve (58% of AUM) is not looked through, your true sector exposure, funds included, is higher than shown.</a:t>
            </a:r>
          </a:p>
        </p:txBody>
      </p:sp>
      <p:sp>
        <p:nvSpPr>
          <p:cNvPr id="22" name="Rounded Rectangle 21"/>
          <p:cNvSpPr/>
          <p:nvPr/>
        </p:nvSpPr>
        <p:spPr>
          <a:xfrm>
            <a:off x="7287768" y="3794760"/>
            <a:ext cx="4062679" cy="18288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7768" y="3794760"/>
            <a:ext cx="54864" cy="18288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8936" y="3922776"/>
            <a:ext cx="36969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READ</a:t>
            </a:r>
          </a:p>
        </p:txBody>
      </p:sp>
      <p:sp>
        <p:nvSpPr>
          <p:cNvPr id="25" name="TextBox 24"/>
          <p:cNvSpPr txBox="1"/>
          <p:nvPr/>
        </p:nvSpPr>
        <p:spPr>
          <a:xfrm>
            <a:off x="7488936" y="4197096"/>
            <a:ext cx="3696919" cy="13716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Sleeve tilts to Oil Gas &amp; Consumable Fuels (43%) and Financial Services (34%); top-3 sectors are 98% of the direct book. Sector risk compounds with the single-name concentration flagged earlier · sized together, not in isolation.</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Source: client holdings as of 2026-07-27. Weights as % of the direct-equity sleeve; mutual-fund look-through not included.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01 · PORTFOLIO X-RAY</a:t>
            </a:r>
          </a:p>
        </p:txBody>
      </p:sp>
      <p:sp>
        <p:nvSpPr>
          <p:cNvPr id="6" name="Rectangle 5"/>
          <p:cNvSpPr/>
          <p:nvPr/>
        </p:nvSpPr>
        <p:spPr>
          <a:xfrm>
            <a:off x="854964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Market-cap positioning</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Direct-equity market-cap distribution vs the house view</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10</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2026-07-27</a:t>
            </a:r>
          </a:p>
        </p:txBody>
      </p:sp>
      <p:pic>
        <p:nvPicPr>
          <p:cNvPr id="17" name="Picture 16" descr="azby_mcap.png"/>
          <p:cNvPicPr>
            <a:picLocks noChangeAspect="1"/>
          </p:cNvPicPr>
          <p:nvPr/>
        </p:nvPicPr>
        <p:blipFill>
          <a:blip r:embed="rId3"/>
          <a:stretch>
            <a:fillRect/>
          </a:stretch>
        </p:blipFill>
        <p:spPr>
          <a:xfrm>
            <a:off x="841248" y="1828800"/>
            <a:ext cx="6172200" cy="3436203"/>
          </a:xfrm>
          <a:prstGeom prst="rect">
            <a:avLst/>
          </a:prstGeom>
        </p:spPr>
      </p:pic>
      <p:sp>
        <p:nvSpPr>
          <p:cNvPr id="18" name="Rounded Rectangle 17"/>
          <p:cNvSpPr/>
          <p:nvPr/>
        </p:nvSpPr>
        <p:spPr>
          <a:xfrm>
            <a:off x="7287768" y="1828800"/>
            <a:ext cx="4062679" cy="17830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87768" y="1828800"/>
            <a:ext cx="54864" cy="17830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88936" y="1956816"/>
            <a:ext cx="36969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SEBI MARKET-CAP CUTOFFS</a:t>
            </a:r>
          </a:p>
        </p:txBody>
      </p:sp>
      <p:sp>
        <p:nvSpPr>
          <p:cNvPr id="21" name="TextBox 20"/>
          <p:cNvSpPr txBox="1"/>
          <p:nvPr/>
        </p:nvSpPr>
        <p:spPr>
          <a:xfrm>
            <a:off x="7488936" y="2231136"/>
            <a:ext cx="369691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SEBI / AMFI classify by full-market-cap rank: Large-cap = top 100 listed companies, Mid-cap = 101st–250th, Small-cap = 251st onward. 'Micro' is a sub-bucket we track below the small-cap line.</a:t>
            </a:r>
          </a:p>
        </p:txBody>
      </p:sp>
      <p:sp>
        <p:nvSpPr>
          <p:cNvPr id="22" name="Rounded Rectangle 21"/>
          <p:cNvSpPr/>
          <p:nvPr/>
        </p:nvSpPr>
        <p:spPr>
          <a:xfrm>
            <a:off x="7287768" y="3794760"/>
            <a:ext cx="4062679" cy="18288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7768" y="3794760"/>
            <a:ext cx="54864" cy="18288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8936" y="3922776"/>
            <a:ext cx="36969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MID / SMALL VIEW</a:t>
            </a:r>
          </a:p>
        </p:txBody>
      </p:sp>
      <p:sp>
        <p:nvSpPr>
          <p:cNvPr id="25" name="TextBox 24"/>
          <p:cNvSpPr txBox="1"/>
          <p:nvPr/>
        </p:nvSpPr>
        <p:spPr>
          <a:xfrm>
            <a:off x="7488936" y="4197096"/>
            <a:ext cx="3696919" cy="13716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Mid/small-cap positioning against a target isn't set for this account yet. No allocation targets on file.</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Source: client holdings as of 2026-07-27. Weights as % of the direct-equity sleeve; bands per SEBI/AMFI classification. No micro-cap exposure.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2.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02</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02</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The Equity Book</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Every direct holding, scored and read</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How we score every stock</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book, scored</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book at a glance</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What we would sell</a:t>
            </a:r>
          </a:p>
        </p:txBody>
      </p:sp>
      <p:sp>
        <p:nvSpPr>
          <p:cNvPr id="14" name="TextBox 13"/>
          <p:cNvSpPr txBox="1"/>
          <p:nvPr/>
        </p:nvSpPr>
        <p:spPr>
          <a:xfrm>
            <a:off x="841248" y="6080759"/>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What stays, and why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we score every stock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Two horizons, seven pillars, and one human call</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12</a:t>
            </a:r>
          </a:p>
        </p:txBody>
      </p:sp>
      <p:sp>
        <p:nvSpPr>
          <p:cNvPr id="15" name="Rounded Rectangle 14"/>
          <p:cNvSpPr/>
          <p:nvPr/>
        </p:nvSpPr>
        <p:spPr>
          <a:xfrm>
            <a:off x="841248" y="1664208"/>
            <a:ext cx="3247034" cy="603504"/>
          </a:xfrm>
          <a:prstGeom prst="roundRect">
            <a:avLst>
              <a:gd name="adj" fmla="val 6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664208"/>
            <a:ext cx="54864" cy="60350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1764792"/>
            <a:ext cx="2332634" cy="237744"/>
          </a:xfrm>
          <a:prstGeom prst="rect">
            <a:avLst/>
          </a:prstGeom>
          <a:noFill/>
        </p:spPr>
        <p:txBody>
          <a:bodyPr wrap="square" anchor="t" lIns="0" rIns="0" tIns="0" bIns="0">
            <a:spAutoFit/>
          </a:bodyPr>
          <a:lstStyle/>
          <a:p>
            <a:pPr algn="l">
              <a:spcBef>
                <a:spcPts val="0"/>
              </a:spcBef>
              <a:spcAft>
                <a:spcPts val="0"/>
              </a:spcAft>
            </a:pPr>
            <a:r>
              <a:rPr sz="950" b="1" i="0" spc="40">
                <a:solidFill>
                  <a:srgbClr val="1B27A3"/>
                </a:solidFill>
                <a:latin typeface="Bahnschrift"/>
              </a:rPr>
              <a:t>3-YEAR VIEW</a:t>
            </a:r>
          </a:p>
        </p:txBody>
      </p:sp>
      <p:sp>
        <p:nvSpPr>
          <p:cNvPr id="18" name="TextBox 17"/>
          <p:cNvSpPr txBox="1"/>
          <p:nvPr/>
        </p:nvSpPr>
        <p:spPr>
          <a:xfrm>
            <a:off x="1024128" y="2002536"/>
            <a:ext cx="2332634" cy="219456"/>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Fundamentals-led</a:t>
            </a:r>
          </a:p>
        </p:txBody>
      </p:sp>
      <p:sp>
        <p:nvSpPr>
          <p:cNvPr id="19" name="Rounded Rectangle 18"/>
          <p:cNvSpPr/>
          <p:nvPr/>
        </p:nvSpPr>
        <p:spPr>
          <a:xfrm>
            <a:off x="4472330" y="1664208"/>
            <a:ext cx="3247034" cy="603504"/>
          </a:xfrm>
          <a:prstGeom prst="roundRect">
            <a:avLst>
              <a:gd name="adj" fmla="val 6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72330" y="1664208"/>
            <a:ext cx="54864" cy="60350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55210" y="1764792"/>
            <a:ext cx="2332634" cy="237744"/>
          </a:xfrm>
          <a:prstGeom prst="rect">
            <a:avLst/>
          </a:prstGeom>
          <a:noFill/>
        </p:spPr>
        <p:txBody>
          <a:bodyPr wrap="square" anchor="t" lIns="0" rIns="0" tIns="0" bIns="0">
            <a:spAutoFit/>
          </a:bodyPr>
          <a:lstStyle/>
          <a:p>
            <a:pPr algn="l">
              <a:spcBef>
                <a:spcPts val="0"/>
              </a:spcBef>
              <a:spcAft>
                <a:spcPts val="0"/>
              </a:spcAft>
            </a:pPr>
            <a:r>
              <a:rPr sz="950" b="1" i="0" spc="40">
                <a:solidFill>
                  <a:srgbClr val="1B27A3"/>
                </a:solidFill>
                <a:latin typeface="Bahnschrift"/>
              </a:rPr>
              <a:t>1-YEAR VIEW</a:t>
            </a:r>
          </a:p>
        </p:txBody>
      </p:sp>
      <p:sp>
        <p:nvSpPr>
          <p:cNvPr id="22" name="TextBox 21"/>
          <p:cNvSpPr txBox="1"/>
          <p:nvPr/>
        </p:nvSpPr>
        <p:spPr>
          <a:xfrm>
            <a:off x="4655210" y="2002536"/>
            <a:ext cx="2332634" cy="219456"/>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Market-behaviour-led</a:t>
            </a:r>
          </a:p>
        </p:txBody>
      </p:sp>
      <p:sp>
        <p:nvSpPr>
          <p:cNvPr id="23" name="Rounded Rectangle 22"/>
          <p:cNvSpPr/>
          <p:nvPr/>
        </p:nvSpPr>
        <p:spPr>
          <a:xfrm>
            <a:off x="8103412" y="1664208"/>
            <a:ext cx="3247034" cy="603504"/>
          </a:xfrm>
          <a:prstGeom prst="roundRect">
            <a:avLst>
              <a:gd name="adj" fmla="val 6000"/>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86292" y="1764792"/>
            <a:ext cx="2332634" cy="237744"/>
          </a:xfrm>
          <a:prstGeom prst="rect">
            <a:avLst/>
          </a:prstGeom>
          <a:noFill/>
        </p:spPr>
        <p:txBody>
          <a:bodyPr wrap="square" anchor="t" lIns="0" rIns="0" tIns="0" bIns="0">
            <a:spAutoFit/>
          </a:bodyPr>
          <a:lstStyle/>
          <a:p>
            <a:pPr algn="l">
              <a:spcBef>
                <a:spcPts val="0"/>
              </a:spcBef>
              <a:spcAft>
                <a:spcPts val="0"/>
              </a:spcAft>
            </a:pPr>
            <a:r>
              <a:rPr sz="950" b="1" i="0" spc="40">
                <a:solidFill>
                  <a:srgbClr val="FFFFFF"/>
                </a:solidFill>
                <a:latin typeface="Bahnschrift"/>
              </a:rPr>
              <a:t>IONIC SCORE</a:t>
            </a:r>
          </a:p>
        </p:txBody>
      </p:sp>
      <p:sp>
        <p:nvSpPr>
          <p:cNvPr id="25" name="TextBox 24"/>
          <p:cNvSpPr txBox="1"/>
          <p:nvPr/>
        </p:nvSpPr>
        <p:spPr>
          <a:xfrm>
            <a:off x="8286292" y="2002536"/>
            <a:ext cx="2332634" cy="219456"/>
          </a:xfrm>
          <a:prstGeom prst="rect">
            <a:avLst/>
          </a:prstGeom>
          <a:noFill/>
        </p:spPr>
        <p:txBody>
          <a:bodyPr wrap="square" anchor="t" lIns="0" rIns="0" tIns="0" bIns="0">
            <a:spAutoFit/>
          </a:bodyPr>
          <a:lstStyle/>
          <a:p>
            <a:pPr algn="l">
              <a:spcBef>
                <a:spcPts val="0"/>
              </a:spcBef>
              <a:spcAft>
                <a:spcPts val="0"/>
              </a:spcAft>
            </a:pPr>
            <a:r>
              <a:rPr sz="900" b="0" i="1">
                <a:solidFill>
                  <a:srgbClr val="C9CEF0"/>
                </a:solidFill>
                <a:latin typeface="Georgia"/>
              </a:rPr>
              <a:t>One number, 0 to 100</a:t>
            </a:r>
          </a:p>
        </p:txBody>
      </p:sp>
      <p:sp>
        <p:nvSpPr>
          <p:cNvPr id="26" name="TextBox 25"/>
          <p:cNvSpPr txBox="1"/>
          <p:nvPr/>
        </p:nvSpPr>
        <p:spPr>
          <a:xfrm>
            <a:off x="4088282" y="1664208"/>
            <a:ext cx="384048" cy="603504"/>
          </a:xfrm>
          <a:prstGeom prst="rect">
            <a:avLst/>
          </a:prstGeom>
          <a:noFill/>
        </p:spPr>
        <p:txBody>
          <a:bodyPr wrap="square" anchor="ctr" lIns="0" rIns="0" tIns="0" bIns="0">
            <a:spAutoFit/>
          </a:bodyPr>
          <a:lstStyle/>
          <a:p>
            <a:pPr algn="ctr">
              <a:spcBef>
                <a:spcPts val="0"/>
              </a:spcBef>
              <a:spcAft>
                <a:spcPts val="0"/>
              </a:spcAft>
            </a:pPr>
            <a:r>
              <a:rPr sz="2000" b="1" i="0">
                <a:solidFill>
                  <a:srgbClr val="6B7280"/>
                </a:solidFill>
                <a:latin typeface="Bahnschrift"/>
              </a:rPr>
              <a:t>+</a:t>
            </a:r>
          </a:p>
        </p:txBody>
      </p:sp>
      <p:sp>
        <p:nvSpPr>
          <p:cNvPr id="27" name="TextBox 26"/>
          <p:cNvSpPr txBox="1"/>
          <p:nvPr/>
        </p:nvSpPr>
        <p:spPr>
          <a:xfrm>
            <a:off x="7719364" y="1664208"/>
            <a:ext cx="384048" cy="603504"/>
          </a:xfrm>
          <a:prstGeom prst="rect">
            <a:avLst/>
          </a:prstGeom>
          <a:noFill/>
        </p:spPr>
        <p:txBody>
          <a:bodyPr wrap="square" anchor="ctr" lIns="0" rIns="0" tIns="0" bIns="0">
            <a:spAutoFit/>
          </a:bodyPr>
          <a:lstStyle/>
          <a:p>
            <a:pPr algn="ctr">
              <a:spcBef>
                <a:spcPts val="0"/>
              </a:spcBef>
              <a:spcAft>
                <a:spcPts val="0"/>
              </a:spcAft>
            </a:pPr>
            <a:r>
              <a:rPr sz="2000" b="1" i="0">
                <a:solidFill>
                  <a:srgbClr val="6B7280"/>
                </a:solidFill>
                <a:latin typeface="Bahnschrift"/>
              </a:rPr>
              <a:t>=</a:t>
            </a:r>
          </a:p>
        </p:txBody>
      </p:sp>
      <p:sp>
        <p:nvSpPr>
          <p:cNvPr id="28" name="Rounded Rectangle 27"/>
          <p:cNvSpPr/>
          <p:nvPr/>
        </p:nvSpPr>
        <p:spPr>
          <a:xfrm>
            <a:off x="841248" y="2432304"/>
            <a:ext cx="3332378" cy="1700784"/>
          </a:xfrm>
          <a:prstGeom prst="roundRect">
            <a:avLst>
              <a:gd name="adj" fmla="val 5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41248" y="2432304"/>
            <a:ext cx="3332378" cy="8229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2615184"/>
            <a:ext cx="3039770" cy="256032"/>
          </a:xfrm>
          <a:prstGeom prst="rect">
            <a:avLst/>
          </a:prstGeom>
          <a:noFill/>
        </p:spPr>
        <p:txBody>
          <a:bodyPr wrap="square" anchor="t" lIns="0" rIns="0" tIns="0" bIns="0">
            <a:spAutoFit/>
          </a:bodyPr>
          <a:lstStyle/>
          <a:p>
            <a:pPr algn="l">
              <a:spcBef>
                <a:spcPts val="0"/>
              </a:spcBef>
              <a:spcAft>
                <a:spcPts val="0"/>
              </a:spcAft>
            </a:pPr>
            <a:r>
              <a:rPr sz="1100" b="1" i="0" spc="20">
                <a:solidFill>
                  <a:srgbClr val="16233B"/>
                </a:solidFill>
                <a:latin typeface="Bahnschrift"/>
              </a:rPr>
              <a:t>QUALITY &amp; GROWTH</a:t>
            </a:r>
          </a:p>
        </p:txBody>
      </p:sp>
      <p:sp>
        <p:nvSpPr>
          <p:cNvPr id="31" name="TextBox 30"/>
          <p:cNvSpPr txBox="1"/>
          <p:nvPr/>
        </p:nvSpPr>
        <p:spPr>
          <a:xfrm>
            <a:off x="1005840" y="2871216"/>
            <a:ext cx="3039770" cy="329184"/>
          </a:xfrm>
          <a:prstGeom prst="rect">
            <a:avLst/>
          </a:prstGeom>
          <a:noFill/>
        </p:spPr>
        <p:txBody>
          <a:bodyPr wrap="square" anchor="t" lIns="0" rIns="0" tIns="0" bIns="0">
            <a:spAutoFit/>
          </a:bodyPr>
          <a:lstStyle/>
          <a:p>
            <a:pPr algn="l">
              <a:lnSpc>
                <a:spcPct val="102000"/>
              </a:lnSpc>
              <a:spcBef>
                <a:spcPts val="0"/>
              </a:spcBef>
              <a:spcAft>
                <a:spcPts val="0"/>
              </a:spcAft>
            </a:pPr>
            <a:r>
              <a:rPr sz="900" b="0" i="1">
                <a:solidFill>
                  <a:srgbClr val="6B7280"/>
                </a:solidFill>
                <a:latin typeface="Georgia"/>
              </a:rPr>
              <a:t>What the business earns, and how fast it grows.</a:t>
            </a:r>
          </a:p>
        </p:txBody>
      </p:sp>
      <p:sp>
        <p:nvSpPr>
          <p:cNvPr id="32" name="TextBox 31"/>
          <p:cNvSpPr txBox="1"/>
          <p:nvPr/>
        </p:nvSpPr>
        <p:spPr>
          <a:xfrm>
            <a:off x="1005840" y="3218688"/>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1B27A3"/>
                </a:solidFill>
                <a:latin typeface="Bahnschrift"/>
              </a:rPr>
              <a:t>•  </a:t>
            </a:r>
            <a:r>
              <a:rPr sz="900" b="1" i="0">
                <a:solidFill>
                  <a:srgbClr val="16233B"/>
                </a:solidFill>
                <a:latin typeface="Bahnschrift"/>
              </a:rPr>
              <a:t>Quality</a:t>
            </a:r>
            <a:r>
              <a:rPr sz="800" b="0" i="1">
                <a:solidFill>
                  <a:srgbClr val="6B7280"/>
                </a:solidFill>
                <a:latin typeface="Georgia"/>
              </a:rPr>
              <a:t> · ROE &amp; ROCE vs peers</a:t>
            </a:r>
          </a:p>
        </p:txBody>
      </p:sp>
      <p:sp>
        <p:nvSpPr>
          <p:cNvPr id="33" name="TextBox 32"/>
          <p:cNvSpPr txBox="1"/>
          <p:nvPr/>
        </p:nvSpPr>
        <p:spPr>
          <a:xfrm>
            <a:off x="1005840" y="3415284"/>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1B27A3"/>
                </a:solidFill>
                <a:latin typeface="Bahnschrift"/>
              </a:rPr>
              <a:t>•  </a:t>
            </a:r>
            <a:r>
              <a:rPr sz="900" b="1" i="0">
                <a:solidFill>
                  <a:srgbClr val="16233B"/>
                </a:solidFill>
                <a:latin typeface="Bahnschrift"/>
              </a:rPr>
              <a:t>Growth</a:t>
            </a:r>
            <a:r>
              <a:rPr sz="800" b="0" i="1">
                <a:solidFill>
                  <a:srgbClr val="6B7280"/>
                </a:solidFill>
                <a:latin typeface="Georgia"/>
              </a:rPr>
              <a:t> · revenue growth, 3y &amp; 1y</a:t>
            </a:r>
          </a:p>
        </p:txBody>
      </p:sp>
      <p:sp>
        <p:nvSpPr>
          <p:cNvPr id="34" name="Rounded Rectangle 33"/>
          <p:cNvSpPr/>
          <p:nvPr/>
        </p:nvSpPr>
        <p:spPr>
          <a:xfrm>
            <a:off x="4429658" y="2432304"/>
            <a:ext cx="3332378" cy="1700784"/>
          </a:xfrm>
          <a:prstGeom prst="roundRect">
            <a:avLst>
              <a:gd name="adj" fmla="val 5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29658" y="2432304"/>
            <a:ext cx="3332378" cy="82296"/>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94250" y="2615184"/>
            <a:ext cx="3039770" cy="256032"/>
          </a:xfrm>
          <a:prstGeom prst="rect">
            <a:avLst/>
          </a:prstGeom>
          <a:noFill/>
        </p:spPr>
        <p:txBody>
          <a:bodyPr wrap="square" anchor="t" lIns="0" rIns="0" tIns="0" bIns="0">
            <a:spAutoFit/>
          </a:bodyPr>
          <a:lstStyle/>
          <a:p>
            <a:pPr algn="l">
              <a:spcBef>
                <a:spcPts val="0"/>
              </a:spcBef>
              <a:spcAft>
                <a:spcPts val="0"/>
              </a:spcAft>
            </a:pPr>
            <a:r>
              <a:rPr sz="1100" b="1" i="0" spc="20">
                <a:solidFill>
                  <a:srgbClr val="16233B"/>
                </a:solidFill>
                <a:latin typeface="Bahnschrift"/>
              </a:rPr>
              <a:t>VALUE</a:t>
            </a:r>
          </a:p>
        </p:txBody>
      </p:sp>
      <p:sp>
        <p:nvSpPr>
          <p:cNvPr id="37" name="TextBox 36"/>
          <p:cNvSpPr txBox="1"/>
          <p:nvPr/>
        </p:nvSpPr>
        <p:spPr>
          <a:xfrm>
            <a:off x="4594250" y="2871216"/>
            <a:ext cx="3039770" cy="329184"/>
          </a:xfrm>
          <a:prstGeom prst="rect">
            <a:avLst/>
          </a:prstGeom>
          <a:noFill/>
        </p:spPr>
        <p:txBody>
          <a:bodyPr wrap="square" anchor="t" lIns="0" rIns="0" tIns="0" bIns="0">
            <a:spAutoFit/>
          </a:bodyPr>
          <a:lstStyle/>
          <a:p>
            <a:pPr algn="l">
              <a:lnSpc>
                <a:spcPct val="102000"/>
              </a:lnSpc>
              <a:spcBef>
                <a:spcPts val="0"/>
              </a:spcBef>
              <a:spcAft>
                <a:spcPts val="0"/>
              </a:spcAft>
            </a:pPr>
            <a:r>
              <a:rPr sz="900" b="0" i="1">
                <a:solidFill>
                  <a:srgbClr val="6B7280"/>
                </a:solidFill>
                <a:latin typeface="Georgia"/>
              </a:rPr>
              <a:t>What you pay for those earnings.</a:t>
            </a:r>
          </a:p>
        </p:txBody>
      </p:sp>
      <p:sp>
        <p:nvSpPr>
          <p:cNvPr id="38" name="TextBox 37"/>
          <p:cNvSpPr txBox="1"/>
          <p:nvPr/>
        </p:nvSpPr>
        <p:spPr>
          <a:xfrm>
            <a:off x="4594250" y="3218688"/>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F2A93C"/>
                </a:solidFill>
                <a:latin typeface="Bahnschrift"/>
              </a:rPr>
              <a:t>•  </a:t>
            </a:r>
            <a:r>
              <a:rPr sz="900" b="1" i="0">
                <a:solidFill>
                  <a:srgbClr val="16233B"/>
                </a:solidFill>
                <a:latin typeface="Bahnschrift"/>
              </a:rPr>
              <a:t>Value</a:t>
            </a:r>
            <a:r>
              <a:rPr sz="800" b="0" i="1">
                <a:solidFill>
                  <a:srgbClr val="6B7280"/>
                </a:solidFill>
                <a:latin typeface="Georgia"/>
              </a:rPr>
              <a:t> · P/E, P/B &amp; FCF yield vs sector</a:t>
            </a:r>
          </a:p>
        </p:txBody>
      </p:sp>
      <p:sp>
        <p:nvSpPr>
          <p:cNvPr id="39" name="Rounded Rectangle 38"/>
          <p:cNvSpPr/>
          <p:nvPr/>
        </p:nvSpPr>
        <p:spPr>
          <a:xfrm>
            <a:off x="8018068" y="2432304"/>
            <a:ext cx="3332378" cy="1700784"/>
          </a:xfrm>
          <a:prstGeom prst="roundRect">
            <a:avLst>
              <a:gd name="adj" fmla="val 5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18068" y="2432304"/>
            <a:ext cx="3332378" cy="82296"/>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82660" y="2615184"/>
            <a:ext cx="3039770" cy="256032"/>
          </a:xfrm>
          <a:prstGeom prst="rect">
            <a:avLst/>
          </a:prstGeom>
          <a:noFill/>
        </p:spPr>
        <p:txBody>
          <a:bodyPr wrap="square" anchor="t" lIns="0" rIns="0" tIns="0" bIns="0">
            <a:spAutoFit/>
          </a:bodyPr>
          <a:lstStyle/>
          <a:p>
            <a:pPr algn="l">
              <a:spcBef>
                <a:spcPts val="0"/>
              </a:spcBef>
              <a:spcAft>
                <a:spcPts val="0"/>
              </a:spcAft>
            </a:pPr>
            <a:r>
              <a:rPr sz="1100" b="1" i="0" spc="20">
                <a:solidFill>
                  <a:srgbClr val="16233B"/>
                </a:solidFill>
                <a:latin typeface="Bahnschrift"/>
              </a:rPr>
              <a:t>TREND &amp; FLOW</a:t>
            </a:r>
          </a:p>
        </p:txBody>
      </p:sp>
      <p:sp>
        <p:nvSpPr>
          <p:cNvPr id="42" name="TextBox 41"/>
          <p:cNvSpPr txBox="1"/>
          <p:nvPr/>
        </p:nvSpPr>
        <p:spPr>
          <a:xfrm>
            <a:off x="8182660" y="2871216"/>
            <a:ext cx="3039770" cy="329184"/>
          </a:xfrm>
          <a:prstGeom prst="rect">
            <a:avLst/>
          </a:prstGeom>
          <a:noFill/>
        </p:spPr>
        <p:txBody>
          <a:bodyPr wrap="square" anchor="t" lIns="0" rIns="0" tIns="0" bIns="0">
            <a:spAutoFit/>
          </a:bodyPr>
          <a:lstStyle/>
          <a:p>
            <a:pPr algn="l">
              <a:lnSpc>
                <a:spcPct val="102000"/>
              </a:lnSpc>
              <a:spcBef>
                <a:spcPts val="0"/>
              </a:spcBef>
              <a:spcAft>
                <a:spcPts val="0"/>
              </a:spcAft>
            </a:pPr>
            <a:r>
              <a:rPr sz="900" b="0" i="1">
                <a:solidFill>
                  <a:srgbClr val="6B7280"/>
                </a:solidFill>
                <a:latin typeface="Georgia"/>
              </a:rPr>
              <a:t>What the price and the big investors are actually doing.</a:t>
            </a:r>
          </a:p>
        </p:txBody>
      </p:sp>
      <p:sp>
        <p:nvSpPr>
          <p:cNvPr id="43" name="TextBox 42"/>
          <p:cNvSpPr txBox="1"/>
          <p:nvPr/>
        </p:nvSpPr>
        <p:spPr>
          <a:xfrm>
            <a:off x="8182660" y="3218688"/>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4A57C4"/>
                </a:solidFill>
                <a:latin typeface="Bahnschrift"/>
              </a:rPr>
              <a:t>•  </a:t>
            </a:r>
            <a:r>
              <a:rPr sz="900" b="1" i="0">
                <a:solidFill>
                  <a:srgbClr val="16233B"/>
                </a:solidFill>
                <a:latin typeface="Bahnschrift"/>
              </a:rPr>
              <a:t>Stage / Technical</a:t>
            </a:r>
            <a:r>
              <a:rPr sz="800" b="0" i="1">
                <a:solidFill>
                  <a:srgbClr val="6B7280"/>
                </a:solidFill>
                <a:latin typeface="Georgia"/>
              </a:rPr>
              <a:t> · price trend</a:t>
            </a:r>
          </a:p>
        </p:txBody>
      </p:sp>
      <p:sp>
        <p:nvSpPr>
          <p:cNvPr id="44" name="TextBox 43"/>
          <p:cNvSpPr txBox="1"/>
          <p:nvPr/>
        </p:nvSpPr>
        <p:spPr>
          <a:xfrm>
            <a:off x="8182660" y="3415284"/>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4A57C4"/>
                </a:solidFill>
                <a:latin typeface="Bahnschrift"/>
              </a:rPr>
              <a:t>•  </a:t>
            </a:r>
            <a:r>
              <a:rPr sz="900" b="1" i="0">
                <a:solidFill>
                  <a:srgbClr val="16233B"/>
                </a:solidFill>
                <a:latin typeface="Bahnschrift"/>
              </a:rPr>
              <a:t>Sector &amp; Macro</a:t>
            </a:r>
            <a:r>
              <a:rPr sz="800" b="0" i="1">
                <a:solidFill>
                  <a:srgbClr val="6B7280"/>
                </a:solidFill>
                <a:latin typeface="Georgia"/>
              </a:rPr>
              <a:t> · regime fit</a:t>
            </a:r>
          </a:p>
        </p:txBody>
      </p:sp>
      <p:sp>
        <p:nvSpPr>
          <p:cNvPr id="45" name="TextBox 44"/>
          <p:cNvSpPr txBox="1"/>
          <p:nvPr/>
        </p:nvSpPr>
        <p:spPr>
          <a:xfrm>
            <a:off x="8182660" y="3611879"/>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4A57C4"/>
                </a:solidFill>
                <a:latin typeface="Bahnschrift"/>
              </a:rPr>
              <a:t>•  </a:t>
            </a:r>
            <a:r>
              <a:rPr sz="900" b="1" i="0">
                <a:solidFill>
                  <a:srgbClr val="16233B"/>
                </a:solidFill>
                <a:latin typeface="Bahnschrift"/>
              </a:rPr>
              <a:t>Ownership Flow</a:t>
            </a:r>
            <a:r>
              <a:rPr sz="800" b="0" i="1">
                <a:solidFill>
                  <a:srgbClr val="6B7280"/>
                </a:solidFill>
                <a:latin typeface="Georgia"/>
              </a:rPr>
              <a:t> · FII / DII flows</a:t>
            </a:r>
          </a:p>
        </p:txBody>
      </p:sp>
      <p:sp>
        <p:nvSpPr>
          <p:cNvPr id="46" name="TextBox 45"/>
          <p:cNvSpPr txBox="1"/>
          <p:nvPr/>
        </p:nvSpPr>
        <p:spPr>
          <a:xfrm>
            <a:off x="8182660" y="3808476"/>
            <a:ext cx="3058058" cy="201168"/>
          </a:xfrm>
          <a:prstGeom prst="rect">
            <a:avLst/>
          </a:prstGeom>
          <a:noFill/>
        </p:spPr>
        <p:txBody>
          <a:bodyPr wrap="square" anchor="t" lIns="0" rIns="0" tIns="0" bIns="0">
            <a:spAutoFit/>
          </a:bodyPr>
          <a:lstStyle/>
          <a:p>
            <a:pPr algn="l">
              <a:spcBef>
                <a:spcPts val="0"/>
              </a:spcBef>
              <a:spcAft>
                <a:spcPts val="0"/>
              </a:spcAft>
            </a:pPr>
            <a:r>
              <a:rPr sz="900" b="1" i="0">
                <a:solidFill>
                  <a:srgbClr val="4A57C4"/>
                </a:solidFill>
                <a:latin typeface="Bahnschrift"/>
              </a:rPr>
              <a:t>•  </a:t>
            </a:r>
            <a:r>
              <a:rPr sz="900" b="1" i="0">
                <a:solidFill>
                  <a:srgbClr val="16233B"/>
                </a:solidFill>
                <a:latin typeface="Bahnschrift"/>
              </a:rPr>
              <a:t>Accumulation</a:t>
            </a:r>
            <a:r>
              <a:rPr sz="800" b="0" i="1">
                <a:solidFill>
                  <a:srgbClr val="6B7280"/>
                </a:solidFill>
                <a:latin typeface="Georgia"/>
              </a:rPr>
              <a:t> · smart-money volume trend</a:t>
            </a:r>
          </a:p>
        </p:txBody>
      </p:sp>
      <p:sp>
        <p:nvSpPr>
          <p:cNvPr id="47" name="TextBox 46"/>
          <p:cNvSpPr txBox="1"/>
          <p:nvPr/>
        </p:nvSpPr>
        <p:spPr>
          <a:xfrm>
            <a:off x="841248" y="4279392"/>
            <a:ext cx="10509199" cy="274320"/>
          </a:xfrm>
          <a:prstGeom prst="rect">
            <a:avLst/>
          </a:prstGeom>
          <a:noFill/>
        </p:spPr>
        <p:txBody>
          <a:bodyPr wrap="square" anchor="ctr" lIns="0" rIns="0" tIns="0" bIns="0">
            <a:spAutoFit/>
          </a:bodyPr>
          <a:lstStyle/>
          <a:p>
            <a:pPr algn="l">
              <a:spcBef>
                <a:spcPts val="0"/>
              </a:spcBef>
              <a:spcAft>
                <a:spcPts val="0"/>
              </a:spcAft>
            </a:pPr>
            <a:r>
              <a:rPr sz="900" b="1" i="0" spc="40">
                <a:solidFill>
                  <a:srgbClr val="E0402F"/>
                </a:solidFill>
                <a:latin typeface="Bahnschrift"/>
              </a:rPr>
              <a:t>SAFETY GATES   </a:t>
            </a:r>
            <a:r>
              <a:rPr sz="1000" b="0" i="0">
                <a:solidFill>
                  <a:srgbClr val="16233B"/>
                </a:solidFill>
                <a:latin typeface="Georgia"/>
              </a:rPr>
              <a:t>A weak balance sheet or thin liquidity caps the score at 40. The debt bar is judged in context: by industry norms (utilities and lenders run levered), sovereign or group backing, and access to capital, not one fixed ratio.</a:t>
            </a:r>
          </a:p>
        </p:txBody>
      </p:sp>
      <p:sp>
        <p:nvSpPr>
          <p:cNvPr id="48" name="Rounded Rectangle 47"/>
          <p:cNvSpPr/>
          <p:nvPr/>
        </p:nvSpPr>
        <p:spPr>
          <a:xfrm>
            <a:off x="841248" y="4645152"/>
            <a:ext cx="10509199" cy="932688"/>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41248" y="4645152"/>
            <a:ext cx="54864" cy="932688"/>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2416" y="477316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HUMAN READ</a:t>
            </a:r>
          </a:p>
        </p:txBody>
      </p:sp>
      <p:sp>
        <p:nvSpPr>
          <p:cNvPr id="51" name="TextBox 50"/>
          <p:cNvSpPr txBox="1"/>
          <p:nvPr/>
        </p:nvSpPr>
        <p:spPr>
          <a:xfrm>
            <a:off x="1042416" y="5047488"/>
            <a:ext cx="10143439" cy="475488"/>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Ionic Score ranks and flags candidates; it is the INPUT, not the verdict. Every Sell, Trim and Hold that follows is confirmed by the Portfolio Review team, who override the number when the business case demands it · a low score on a durable franchise can still be a Hold, and vice-versa.</a:t>
            </a:r>
          </a:p>
        </p:txBody>
      </p:sp>
      <p:sp>
        <p:nvSpPr>
          <p:cNvPr id="52" name="Rounded Rectangle 51"/>
          <p:cNvSpPr/>
          <p:nvPr/>
        </p:nvSpPr>
        <p:spPr>
          <a:xfrm>
            <a:off x="841248" y="5687568"/>
            <a:ext cx="3368954" cy="402336"/>
          </a:xfrm>
          <a:prstGeom prst="roundRect">
            <a:avLst>
              <a:gd name="adj" fmla="val 8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69264" y="5687568"/>
            <a:ext cx="2545994" cy="40233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Below 40, either horizon</a:t>
            </a:r>
          </a:p>
        </p:txBody>
      </p:sp>
      <p:sp>
        <p:nvSpPr>
          <p:cNvPr id="54" name="Rounded Rectangle 53"/>
          <p:cNvSpPr/>
          <p:nvPr/>
        </p:nvSpPr>
        <p:spPr>
          <a:xfrm>
            <a:off x="3460394" y="5779008"/>
            <a:ext cx="621792"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460394" y="5773521"/>
            <a:ext cx="621792"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6" name="Rounded Rectangle 55"/>
          <p:cNvSpPr/>
          <p:nvPr/>
        </p:nvSpPr>
        <p:spPr>
          <a:xfrm>
            <a:off x="4411370" y="5687568"/>
            <a:ext cx="3368954" cy="402336"/>
          </a:xfrm>
          <a:prstGeom prst="roundRect">
            <a:avLst>
              <a:gd name="adj" fmla="val 8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39386" y="5687568"/>
            <a:ext cx="2545994" cy="40233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40–50, only with a concentration / risk flag</a:t>
            </a:r>
          </a:p>
        </p:txBody>
      </p:sp>
      <p:sp>
        <p:nvSpPr>
          <p:cNvPr id="58" name="Rounded Rectangle 57"/>
          <p:cNvSpPr/>
          <p:nvPr/>
        </p:nvSpPr>
        <p:spPr>
          <a:xfrm>
            <a:off x="7030516" y="5779008"/>
            <a:ext cx="621792" cy="219456"/>
          </a:xfrm>
          <a:prstGeom prst="roundRect">
            <a:avLst>
              <a:gd name="adj" fmla="val 50000"/>
            </a:avLst>
          </a:prstGeom>
          <a:solidFill>
            <a:srgbClr val="FBEFDC"/>
          </a:solidFill>
          <a:ln w="9525">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030516" y="5773521"/>
            <a:ext cx="621792"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92400E"/>
                </a:solidFill>
                <a:latin typeface="Bahnschrift"/>
              </a:rPr>
              <a:t>TRIM</a:t>
            </a:r>
          </a:p>
        </p:txBody>
      </p:sp>
      <p:sp>
        <p:nvSpPr>
          <p:cNvPr id="60" name="Rounded Rectangle 59"/>
          <p:cNvSpPr/>
          <p:nvPr/>
        </p:nvSpPr>
        <p:spPr>
          <a:xfrm>
            <a:off x="7981492" y="5687568"/>
            <a:ext cx="3368954" cy="402336"/>
          </a:xfrm>
          <a:prstGeom prst="roundRect">
            <a:avLst>
              <a:gd name="adj" fmla="val 8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09508" y="5687568"/>
            <a:ext cx="2545994" cy="402336"/>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50 and above</a:t>
            </a:r>
          </a:p>
        </p:txBody>
      </p:sp>
      <p:sp>
        <p:nvSpPr>
          <p:cNvPr id="62" name="Rounded Rectangle 61"/>
          <p:cNvSpPr/>
          <p:nvPr/>
        </p:nvSpPr>
        <p:spPr>
          <a:xfrm>
            <a:off x="10600639" y="5779008"/>
            <a:ext cx="621792"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600639" y="5773521"/>
            <a:ext cx="621792"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4" name="TextBox 6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scoring methodology (proprietary, held by the desk) · a 40-50 score alone is a watch signal; Trim needs a concentration or risk flag · every call reviewed by the desk.</a:t>
            </a:r>
          </a:p>
        </p:txBody>
      </p:sp>
      <p:sp>
        <p:nvSpPr>
          <p:cNvPr id="65" name="TextBox 6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book,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largest positions, with the analyst's one-line read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13</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2026-07-27</a:t>
            </a:r>
          </a:p>
        </p:txBody>
      </p:sp>
      <p:sp>
        <p:nvSpPr>
          <p:cNvPr id="17" name="TextBox 16"/>
          <p:cNvSpPr txBox="1"/>
          <p:nvPr/>
        </p:nvSpPr>
        <p:spPr>
          <a:xfrm>
            <a:off x="841248" y="1783080"/>
            <a:ext cx="1965960" cy="384048"/>
          </a:xfrm>
          <a:prstGeom prst="rect">
            <a:avLst/>
          </a:prstGeom>
          <a:noFill/>
        </p:spPr>
        <p:txBody>
          <a:bodyPr wrap="square" anchor="ctr" lIns="0" rIns="0" tIns="0" bIns="0">
            <a:spAutoFit/>
          </a:bodyPr>
          <a:lstStyle/>
          <a:p>
            <a:pPr algn="l">
              <a:spcBef>
                <a:spcPts val="0"/>
              </a:spcBef>
              <a:spcAft>
                <a:spcPts val="0"/>
              </a:spcAft>
            </a:pPr>
            <a:r>
              <a:rPr sz="2700" b="0" i="0">
                <a:solidFill>
                  <a:srgbClr val="E0402F"/>
                </a:solidFill>
                <a:latin typeface="Bahnschrift"/>
              </a:rPr>
              <a:t>14</a:t>
            </a:r>
          </a:p>
        </p:txBody>
      </p:sp>
      <p:sp>
        <p:nvSpPr>
          <p:cNvPr id="18" name="TextBox 17"/>
          <p:cNvSpPr txBox="1"/>
          <p:nvPr/>
        </p:nvSpPr>
        <p:spPr>
          <a:xfrm>
            <a:off x="841248" y="2185416"/>
            <a:ext cx="1965960" cy="182880"/>
          </a:xfrm>
          <a:prstGeom prst="rect">
            <a:avLst/>
          </a:prstGeom>
          <a:noFill/>
        </p:spPr>
        <p:txBody>
          <a:bodyPr wrap="square" anchor="t" lIns="0" rIns="0" tIns="0" bIns="0">
            <a:spAutoFit/>
          </a:bodyPr>
          <a:lstStyle/>
          <a:p>
            <a:pPr algn="l">
              <a:spcBef>
                <a:spcPts val="0"/>
              </a:spcBef>
              <a:spcAft>
                <a:spcPts val="0"/>
              </a:spcAft>
            </a:pPr>
            <a:r>
              <a:rPr sz="850" b="1" i="0" spc="150">
                <a:solidFill>
                  <a:srgbClr val="6B7280"/>
                </a:solidFill>
                <a:latin typeface="Bahnschrift"/>
              </a:rPr>
              <a:t>SELL</a:t>
            </a:r>
          </a:p>
        </p:txBody>
      </p:sp>
      <p:sp>
        <p:nvSpPr>
          <p:cNvPr id="19" name="TextBox 18"/>
          <p:cNvSpPr txBox="1"/>
          <p:nvPr/>
        </p:nvSpPr>
        <p:spPr>
          <a:xfrm>
            <a:off x="2990088" y="1783080"/>
            <a:ext cx="1965960" cy="384048"/>
          </a:xfrm>
          <a:prstGeom prst="rect">
            <a:avLst/>
          </a:prstGeom>
          <a:noFill/>
        </p:spPr>
        <p:txBody>
          <a:bodyPr wrap="square" anchor="ctr" lIns="0" rIns="0" tIns="0" bIns="0">
            <a:spAutoFit/>
          </a:bodyPr>
          <a:lstStyle/>
          <a:p>
            <a:pPr algn="l">
              <a:spcBef>
                <a:spcPts val="0"/>
              </a:spcBef>
              <a:spcAft>
                <a:spcPts val="0"/>
              </a:spcAft>
            </a:pPr>
            <a:r>
              <a:rPr sz="2700" b="0" i="0">
                <a:solidFill>
                  <a:srgbClr val="1E9E6A"/>
                </a:solidFill>
                <a:latin typeface="Bahnschrift"/>
              </a:rPr>
              <a:t>13</a:t>
            </a:r>
          </a:p>
        </p:txBody>
      </p:sp>
      <p:sp>
        <p:nvSpPr>
          <p:cNvPr id="20" name="TextBox 19"/>
          <p:cNvSpPr txBox="1"/>
          <p:nvPr/>
        </p:nvSpPr>
        <p:spPr>
          <a:xfrm>
            <a:off x="2990088" y="2185416"/>
            <a:ext cx="1965960" cy="182880"/>
          </a:xfrm>
          <a:prstGeom prst="rect">
            <a:avLst/>
          </a:prstGeom>
          <a:noFill/>
        </p:spPr>
        <p:txBody>
          <a:bodyPr wrap="square" anchor="t" lIns="0" rIns="0" tIns="0" bIns="0">
            <a:spAutoFit/>
          </a:bodyPr>
          <a:lstStyle/>
          <a:p>
            <a:pPr algn="l">
              <a:spcBef>
                <a:spcPts val="0"/>
              </a:spcBef>
              <a:spcAft>
                <a:spcPts val="0"/>
              </a:spcAft>
            </a:pPr>
            <a:r>
              <a:rPr sz="850" b="1" i="0" spc="150">
                <a:solidFill>
                  <a:srgbClr val="6B7280"/>
                </a:solidFill>
                <a:latin typeface="Bahnschrift"/>
              </a:rPr>
              <a:t>HOLD</a:t>
            </a:r>
          </a:p>
        </p:txBody>
      </p:sp>
      <p:sp>
        <p:nvSpPr>
          <p:cNvPr id="21" name="Rectangle 20"/>
          <p:cNvSpPr/>
          <p:nvPr/>
        </p:nvSpPr>
        <p:spPr>
          <a:xfrm>
            <a:off x="2971800" y="1819656"/>
            <a:ext cx="7315" cy="51206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38928" y="1783080"/>
            <a:ext cx="1965960" cy="384048"/>
          </a:xfrm>
          <a:prstGeom prst="rect">
            <a:avLst/>
          </a:prstGeom>
          <a:noFill/>
        </p:spPr>
        <p:txBody>
          <a:bodyPr wrap="square" anchor="ctr" lIns="0" rIns="0" tIns="0" bIns="0">
            <a:spAutoFit/>
          </a:bodyPr>
          <a:lstStyle/>
          <a:p>
            <a:pPr algn="l">
              <a:spcBef>
                <a:spcPts val="0"/>
              </a:spcBef>
              <a:spcAft>
                <a:spcPts val="0"/>
              </a:spcAft>
            </a:pPr>
            <a:r>
              <a:rPr sz="2700" b="0" i="0">
                <a:solidFill>
                  <a:srgbClr val="16233B"/>
                </a:solidFill>
                <a:latin typeface="Bahnschrift"/>
              </a:rPr>
              <a:t>27</a:t>
            </a:r>
          </a:p>
        </p:txBody>
      </p:sp>
      <p:sp>
        <p:nvSpPr>
          <p:cNvPr id="23" name="TextBox 22"/>
          <p:cNvSpPr txBox="1"/>
          <p:nvPr/>
        </p:nvSpPr>
        <p:spPr>
          <a:xfrm>
            <a:off x="5138928" y="2185416"/>
            <a:ext cx="1965960" cy="182880"/>
          </a:xfrm>
          <a:prstGeom prst="rect">
            <a:avLst/>
          </a:prstGeom>
          <a:noFill/>
        </p:spPr>
        <p:txBody>
          <a:bodyPr wrap="square" anchor="t" lIns="0" rIns="0" tIns="0" bIns="0">
            <a:spAutoFit/>
          </a:bodyPr>
          <a:lstStyle/>
          <a:p>
            <a:pPr algn="l">
              <a:spcBef>
                <a:spcPts val="0"/>
              </a:spcBef>
              <a:spcAft>
                <a:spcPts val="0"/>
              </a:spcAft>
            </a:pPr>
            <a:r>
              <a:rPr sz="850" b="1" i="0" spc="150">
                <a:solidFill>
                  <a:srgbClr val="6B7280"/>
                </a:solidFill>
                <a:latin typeface="Bahnschrift"/>
              </a:rPr>
              <a:t>HOLDINGS</a:t>
            </a:r>
          </a:p>
        </p:txBody>
      </p:sp>
      <p:sp>
        <p:nvSpPr>
          <p:cNvPr id="24" name="Rectangle 23"/>
          <p:cNvSpPr/>
          <p:nvPr/>
        </p:nvSpPr>
        <p:spPr>
          <a:xfrm>
            <a:off x="5120640" y="1819656"/>
            <a:ext cx="7315" cy="51206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2432304"/>
            <a:ext cx="10509199" cy="219456"/>
          </a:xfrm>
          <a:prstGeom prst="rect">
            <a:avLst/>
          </a:prstGeom>
          <a:noFill/>
        </p:spPr>
        <p:txBody>
          <a:bodyPr wrap="square" anchor="ctr" lIns="0" rIns="0" tIns="0" bIns="0">
            <a:spAutoFit/>
          </a:bodyPr>
          <a:lstStyle/>
          <a:p>
            <a:pPr algn="l">
              <a:spcBef>
                <a:spcPts val="0"/>
              </a:spcBef>
              <a:spcAft>
                <a:spcPts val="0"/>
              </a:spcAft>
            </a:pPr>
            <a:r>
              <a:rPr sz="800" b="1" i="0" spc="40">
                <a:solidFill>
                  <a:srgbClr val="92400E"/>
                </a:solidFill>
                <a:latin typeface="Bahnschrift"/>
              </a:rPr>
              <a:t>ANALYST OVERRIDE   </a:t>
            </a:r>
            <a:r>
              <a:rPr sz="950" b="0" i="1">
                <a:solidFill>
                  <a:srgbClr val="16233B"/>
                </a:solidFill>
                <a:latin typeface="Georgia"/>
              </a:rPr>
              <a:t>1 name(s) score below 40 yet are held on analyst conviction, the score flags, the desk decides.</a:t>
            </a:r>
          </a:p>
        </p:txBody>
      </p:sp>
      <p:sp>
        <p:nvSpPr>
          <p:cNvPr id="26" name="TextBox 25"/>
          <p:cNvSpPr txBox="1"/>
          <p:nvPr/>
        </p:nvSpPr>
        <p:spPr>
          <a:xfrm>
            <a:off x="914400" y="2724912"/>
            <a:ext cx="216571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27" name="TextBox 26"/>
          <p:cNvSpPr txBox="1"/>
          <p:nvPr/>
        </p:nvSpPr>
        <p:spPr>
          <a:xfrm>
            <a:off x="3226423" y="2724912"/>
            <a:ext cx="589339"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8" name="TextBox 27"/>
          <p:cNvSpPr txBox="1"/>
          <p:nvPr/>
        </p:nvSpPr>
        <p:spPr>
          <a:xfrm>
            <a:off x="3962067" y="2724912"/>
            <a:ext cx="143007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SCORE</a:t>
            </a:r>
          </a:p>
        </p:txBody>
      </p:sp>
      <p:sp>
        <p:nvSpPr>
          <p:cNvPr id="29" name="TextBox 28"/>
          <p:cNvSpPr txBox="1"/>
          <p:nvPr/>
        </p:nvSpPr>
        <p:spPr>
          <a:xfrm>
            <a:off x="5538447" y="2724912"/>
            <a:ext cx="904615"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CALL</a:t>
            </a:r>
          </a:p>
        </p:txBody>
      </p:sp>
      <p:sp>
        <p:nvSpPr>
          <p:cNvPr id="30" name="TextBox 29"/>
          <p:cNvSpPr txBox="1"/>
          <p:nvPr/>
        </p:nvSpPr>
        <p:spPr>
          <a:xfrm>
            <a:off x="6589367" y="2724912"/>
            <a:ext cx="468792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ANALYST READ</a:t>
            </a:r>
          </a:p>
        </p:txBody>
      </p:sp>
      <p:sp>
        <p:nvSpPr>
          <p:cNvPr id="31" name="Rectangle 30"/>
          <p:cNvSpPr/>
          <p:nvPr/>
        </p:nvSpPr>
        <p:spPr>
          <a:xfrm>
            <a:off x="841248" y="2980944"/>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026664"/>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Reliance Industries Ltd.</a:t>
            </a:r>
          </a:p>
        </p:txBody>
      </p:sp>
      <p:sp>
        <p:nvSpPr>
          <p:cNvPr id="33" name="TextBox 32"/>
          <p:cNvSpPr txBox="1"/>
          <p:nvPr/>
        </p:nvSpPr>
        <p:spPr>
          <a:xfrm>
            <a:off x="3226423" y="3026664"/>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17.9</a:t>
            </a:r>
          </a:p>
        </p:txBody>
      </p:sp>
      <p:sp>
        <p:nvSpPr>
          <p:cNvPr id="34" name="Rectangle 33"/>
          <p:cNvSpPr/>
          <p:nvPr/>
        </p:nvSpPr>
        <p:spPr>
          <a:xfrm>
            <a:off x="3962067" y="313639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962067" y="3136392"/>
            <a:ext cx="17474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218099" y="310896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6155" y="305866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27</a:t>
            </a:r>
          </a:p>
        </p:txBody>
      </p:sp>
      <p:sp>
        <p:nvSpPr>
          <p:cNvPr id="38" name="Rounded Rectangle 37"/>
          <p:cNvSpPr/>
          <p:nvPr/>
        </p:nvSpPr>
        <p:spPr>
          <a:xfrm>
            <a:off x="5538447" y="3035808"/>
            <a:ext cx="904615"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538447" y="3030321"/>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40" name="TextBox 39"/>
          <p:cNvSpPr txBox="1"/>
          <p:nvPr/>
        </p:nvSpPr>
        <p:spPr>
          <a:xfrm>
            <a:off x="6589367" y="3026664"/>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Bottom-quartile on quality and value versus large-cap…</a:t>
            </a:r>
          </a:p>
        </p:txBody>
      </p:sp>
      <p:sp>
        <p:nvSpPr>
          <p:cNvPr id="41" name="Rectangle 40"/>
          <p:cNvSpPr/>
          <p:nvPr/>
        </p:nvSpPr>
        <p:spPr>
          <a:xfrm>
            <a:off x="841248" y="326440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3282696"/>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HDFC Bank Ltd.</a:t>
            </a:r>
          </a:p>
        </p:txBody>
      </p:sp>
      <p:sp>
        <p:nvSpPr>
          <p:cNvPr id="43" name="TextBox 42"/>
          <p:cNvSpPr txBox="1"/>
          <p:nvPr/>
        </p:nvSpPr>
        <p:spPr>
          <a:xfrm>
            <a:off x="3226423" y="3282696"/>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10.6</a:t>
            </a:r>
          </a:p>
        </p:txBody>
      </p:sp>
      <p:sp>
        <p:nvSpPr>
          <p:cNvPr id="44" name="Rectangle 43"/>
          <p:cNvSpPr/>
          <p:nvPr/>
        </p:nvSpPr>
        <p:spPr>
          <a:xfrm>
            <a:off x="3962067" y="33924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962067" y="3392424"/>
            <a:ext cx="33924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218099" y="33649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66155" y="33147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53</a:t>
            </a:r>
          </a:p>
        </p:txBody>
      </p:sp>
      <p:sp>
        <p:nvSpPr>
          <p:cNvPr id="48" name="Rounded Rectangle 47"/>
          <p:cNvSpPr/>
          <p:nvPr/>
        </p:nvSpPr>
        <p:spPr>
          <a:xfrm>
            <a:off x="5538447" y="3291840"/>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538447" y="3286353"/>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0" name="TextBox 49"/>
          <p:cNvSpPr txBox="1"/>
          <p:nvPr/>
        </p:nvSpPr>
        <p:spPr>
          <a:xfrm>
            <a:off x="6589367" y="3282696"/>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Scores 53/100 on our quality/value/momentum framework , …</a:t>
            </a:r>
          </a:p>
        </p:txBody>
      </p:sp>
      <p:sp>
        <p:nvSpPr>
          <p:cNvPr id="51" name="Rectangle 50"/>
          <p:cNvSpPr/>
          <p:nvPr/>
        </p:nvSpPr>
        <p:spPr>
          <a:xfrm>
            <a:off x="841248" y="352044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3538728"/>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Tata Consultancy Services Ltd.</a:t>
            </a:r>
          </a:p>
        </p:txBody>
      </p:sp>
      <p:sp>
        <p:nvSpPr>
          <p:cNvPr id="53" name="TextBox 52"/>
          <p:cNvSpPr txBox="1"/>
          <p:nvPr/>
        </p:nvSpPr>
        <p:spPr>
          <a:xfrm>
            <a:off x="3226423" y="3538728"/>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8.7</a:t>
            </a:r>
          </a:p>
        </p:txBody>
      </p:sp>
      <p:sp>
        <p:nvSpPr>
          <p:cNvPr id="54" name="Rectangle 53"/>
          <p:cNvSpPr/>
          <p:nvPr/>
        </p:nvSpPr>
        <p:spPr>
          <a:xfrm>
            <a:off x="3962067" y="364845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962067" y="3648456"/>
            <a:ext cx="32388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218099" y="362102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666155" y="357073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51</a:t>
            </a:r>
          </a:p>
        </p:txBody>
      </p:sp>
      <p:sp>
        <p:nvSpPr>
          <p:cNvPr id="58" name="Rounded Rectangle 57"/>
          <p:cNvSpPr/>
          <p:nvPr/>
        </p:nvSpPr>
        <p:spPr>
          <a:xfrm>
            <a:off x="5538447" y="3547872"/>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538447" y="3542385"/>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0" name="TextBox 59"/>
          <p:cNvSpPr txBox="1"/>
          <p:nvPr/>
        </p:nvSpPr>
        <p:spPr>
          <a:xfrm>
            <a:off x="6589367" y="3538728"/>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Scores 51/100 on our quality/value/momentum framework , …</a:t>
            </a:r>
          </a:p>
        </p:txBody>
      </p:sp>
      <p:sp>
        <p:nvSpPr>
          <p:cNvPr id="61" name="Rectangle 60"/>
          <p:cNvSpPr/>
          <p:nvPr/>
        </p:nvSpPr>
        <p:spPr>
          <a:xfrm>
            <a:off x="841248" y="37764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14400" y="3794760"/>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Jio Financial Services Ltd.</a:t>
            </a:r>
          </a:p>
        </p:txBody>
      </p:sp>
      <p:sp>
        <p:nvSpPr>
          <p:cNvPr id="63" name="TextBox 62"/>
          <p:cNvSpPr txBox="1"/>
          <p:nvPr/>
        </p:nvSpPr>
        <p:spPr>
          <a:xfrm>
            <a:off x="3226423" y="3794760"/>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1.7</a:t>
            </a:r>
          </a:p>
        </p:txBody>
      </p:sp>
      <p:sp>
        <p:nvSpPr>
          <p:cNvPr id="64" name="Rectangle 63"/>
          <p:cNvSpPr/>
          <p:nvPr/>
        </p:nvSpPr>
        <p:spPr>
          <a:xfrm>
            <a:off x="3962067" y="390448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3962067" y="3904488"/>
            <a:ext cx="24259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218099" y="387705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666155" y="382676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38</a:t>
            </a:r>
          </a:p>
        </p:txBody>
      </p:sp>
      <p:sp>
        <p:nvSpPr>
          <p:cNvPr id="68" name="Rounded Rectangle 67"/>
          <p:cNvSpPr/>
          <p:nvPr/>
        </p:nvSpPr>
        <p:spPr>
          <a:xfrm>
            <a:off x="5538447" y="3803904"/>
            <a:ext cx="904615"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538447" y="3798417"/>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70" name="TextBox 69"/>
          <p:cNvSpPr txBox="1"/>
          <p:nvPr/>
        </p:nvSpPr>
        <p:spPr>
          <a:xfrm>
            <a:off x="6589367" y="3794760"/>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Priced at ~1.1x book for a ~14% normalised return on…</a:t>
            </a:r>
          </a:p>
        </p:txBody>
      </p:sp>
      <p:sp>
        <p:nvSpPr>
          <p:cNvPr id="71" name="Rectangle 70"/>
          <p:cNvSpPr/>
          <p:nvPr/>
        </p:nvSpPr>
        <p:spPr>
          <a:xfrm>
            <a:off x="841248" y="40325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4400" y="4050792"/>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ICICI Bank Ltd.</a:t>
            </a:r>
          </a:p>
        </p:txBody>
      </p:sp>
      <p:sp>
        <p:nvSpPr>
          <p:cNvPr id="73" name="TextBox 72"/>
          <p:cNvSpPr txBox="1"/>
          <p:nvPr/>
        </p:nvSpPr>
        <p:spPr>
          <a:xfrm>
            <a:off x="3226423" y="4050792"/>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0.5</a:t>
            </a:r>
          </a:p>
        </p:txBody>
      </p:sp>
      <p:sp>
        <p:nvSpPr>
          <p:cNvPr id="74" name="Rectangle 73"/>
          <p:cNvSpPr/>
          <p:nvPr/>
        </p:nvSpPr>
        <p:spPr>
          <a:xfrm>
            <a:off x="3962067" y="416052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962067" y="4160520"/>
            <a:ext cx="37636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4218099" y="413308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666155" y="40827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59</a:t>
            </a:r>
          </a:p>
        </p:txBody>
      </p:sp>
      <p:sp>
        <p:nvSpPr>
          <p:cNvPr id="78" name="Rounded Rectangle 77"/>
          <p:cNvSpPr/>
          <p:nvPr/>
        </p:nvSpPr>
        <p:spPr>
          <a:xfrm>
            <a:off x="5538447" y="4059936"/>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538447" y="4054449"/>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80" name="TextBox 79"/>
          <p:cNvSpPr txBox="1"/>
          <p:nvPr/>
        </p:nvSpPr>
        <p:spPr>
          <a:xfrm>
            <a:off x="6589367" y="4050792"/>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Scores 59/100 on our quality/value/momentum framework , …</a:t>
            </a:r>
          </a:p>
        </p:txBody>
      </p:sp>
      <p:sp>
        <p:nvSpPr>
          <p:cNvPr id="81" name="Rectangle 80"/>
          <p:cNvSpPr/>
          <p:nvPr/>
        </p:nvSpPr>
        <p:spPr>
          <a:xfrm>
            <a:off x="841248" y="428853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14400" y="4306824"/>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State Bank of India</a:t>
            </a:r>
          </a:p>
        </p:txBody>
      </p:sp>
      <p:sp>
        <p:nvSpPr>
          <p:cNvPr id="83" name="TextBox 82"/>
          <p:cNvSpPr txBox="1"/>
          <p:nvPr/>
        </p:nvSpPr>
        <p:spPr>
          <a:xfrm>
            <a:off x="3226423" y="4306824"/>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0.3</a:t>
            </a:r>
          </a:p>
        </p:txBody>
      </p:sp>
      <p:sp>
        <p:nvSpPr>
          <p:cNvPr id="84" name="Rectangle 83"/>
          <p:cNvSpPr/>
          <p:nvPr/>
        </p:nvSpPr>
        <p:spPr>
          <a:xfrm>
            <a:off x="3962067" y="44165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962067" y="4416552"/>
            <a:ext cx="44741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218099" y="43891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666155" y="43388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70</a:t>
            </a:r>
          </a:p>
        </p:txBody>
      </p:sp>
      <p:sp>
        <p:nvSpPr>
          <p:cNvPr id="88" name="Rounded Rectangle 87"/>
          <p:cNvSpPr/>
          <p:nvPr/>
        </p:nvSpPr>
        <p:spPr>
          <a:xfrm>
            <a:off x="5538447" y="4315968"/>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538447" y="4310481"/>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90" name="TextBox 89"/>
          <p:cNvSpPr txBox="1"/>
          <p:nvPr/>
        </p:nvSpPr>
        <p:spPr>
          <a:xfrm>
            <a:off x="6589367" y="4306824"/>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Scores 70/100 on our quality/value/momentum framework , …</a:t>
            </a:r>
          </a:p>
        </p:txBody>
      </p:sp>
      <p:sp>
        <p:nvSpPr>
          <p:cNvPr id="91" name="Rectangle 90"/>
          <p:cNvSpPr/>
          <p:nvPr/>
        </p:nvSpPr>
        <p:spPr>
          <a:xfrm>
            <a:off x="841248" y="454456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14400" y="4562856"/>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SBFC Finance Ltd.</a:t>
            </a:r>
          </a:p>
        </p:txBody>
      </p:sp>
      <p:sp>
        <p:nvSpPr>
          <p:cNvPr id="93" name="TextBox 92"/>
          <p:cNvSpPr txBox="1"/>
          <p:nvPr/>
        </p:nvSpPr>
        <p:spPr>
          <a:xfrm>
            <a:off x="3226423" y="4562856"/>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0.3</a:t>
            </a:r>
          </a:p>
        </p:txBody>
      </p:sp>
      <p:sp>
        <p:nvSpPr>
          <p:cNvPr id="94" name="Rectangle 93"/>
          <p:cNvSpPr/>
          <p:nvPr/>
        </p:nvSpPr>
        <p:spPr>
          <a:xfrm>
            <a:off x="3962067" y="46725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3962067" y="4672584"/>
            <a:ext cx="16322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4218099" y="46451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666155" y="45948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26</a:t>
            </a:r>
          </a:p>
        </p:txBody>
      </p:sp>
      <p:sp>
        <p:nvSpPr>
          <p:cNvPr id="98" name="Rounded Rectangle 97"/>
          <p:cNvSpPr/>
          <p:nvPr/>
        </p:nvSpPr>
        <p:spPr>
          <a:xfrm>
            <a:off x="5538447" y="4572000"/>
            <a:ext cx="904615"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538447" y="4566513"/>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00" name="TextBox 99"/>
          <p:cNvSpPr txBox="1"/>
          <p:nvPr/>
        </p:nvSpPr>
        <p:spPr>
          <a:xfrm>
            <a:off x="6589367" y="4562856"/>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Fundamentals are intact, profit up ~29% YoY, asset…</a:t>
            </a:r>
          </a:p>
        </p:txBody>
      </p:sp>
      <p:sp>
        <p:nvSpPr>
          <p:cNvPr id="101" name="Rectangle 100"/>
          <p:cNvSpPr/>
          <p:nvPr/>
        </p:nvSpPr>
        <p:spPr>
          <a:xfrm>
            <a:off x="841248" y="480060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914400" y="4818888"/>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IDFC First Bank Ltd.</a:t>
            </a:r>
          </a:p>
        </p:txBody>
      </p:sp>
      <p:sp>
        <p:nvSpPr>
          <p:cNvPr id="103" name="TextBox 102"/>
          <p:cNvSpPr txBox="1"/>
          <p:nvPr/>
        </p:nvSpPr>
        <p:spPr>
          <a:xfrm>
            <a:off x="3226423" y="4818888"/>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0.2</a:t>
            </a:r>
          </a:p>
        </p:txBody>
      </p:sp>
      <p:sp>
        <p:nvSpPr>
          <p:cNvPr id="104" name="Rectangle 103"/>
          <p:cNvSpPr/>
          <p:nvPr/>
        </p:nvSpPr>
        <p:spPr>
          <a:xfrm>
            <a:off x="3962067" y="492861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3962067" y="4928616"/>
            <a:ext cx="31811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4218099" y="490118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666155" y="485089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08" name="Rounded Rectangle 107"/>
          <p:cNvSpPr/>
          <p:nvPr/>
        </p:nvSpPr>
        <p:spPr>
          <a:xfrm>
            <a:off x="5538447" y="4828032"/>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538447" y="4822545"/>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10" name="TextBox 109"/>
          <p:cNvSpPr txBox="1"/>
          <p:nvPr/>
        </p:nvSpPr>
        <p:spPr>
          <a:xfrm>
            <a:off x="6589367" y="4818888"/>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Scores 50/100 on our quality/value/momentum framework , …</a:t>
            </a:r>
          </a:p>
        </p:txBody>
      </p:sp>
      <p:sp>
        <p:nvSpPr>
          <p:cNvPr id="111" name="Rectangle 110"/>
          <p:cNvSpPr/>
          <p:nvPr/>
        </p:nvSpPr>
        <p:spPr>
          <a:xfrm>
            <a:off x="841248" y="505663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14400" y="5074920"/>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Rita Finance and Leasing Ltd.</a:t>
            </a:r>
          </a:p>
        </p:txBody>
      </p:sp>
      <p:sp>
        <p:nvSpPr>
          <p:cNvPr id="113" name="TextBox 112"/>
          <p:cNvSpPr txBox="1"/>
          <p:nvPr/>
        </p:nvSpPr>
        <p:spPr>
          <a:xfrm>
            <a:off x="3226423" y="5074920"/>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0.2</a:t>
            </a:r>
          </a:p>
        </p:txBody>
      </p:sp>
      <p:sp>
        <p:nvSpPr>
          <p:cNvPr id="114" name="Rectangle 113"/>
          <p:cNvSpPr/>
          <p:nvPr/>
        </p:nvSpPr>
        <p:spPr>
          <a:xfrm>
            <a:off x="3962067" y="518464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3962067" y="5184648"/>
            <a:ext cx="9601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4218099" y="515721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666155" y="510692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15</a:t>
            </a:r>
          </a:p>
        </p:txBody>
      </p:sp>
      <p:sp>
        <p:nvSpPr>
          <p:cNvPr id="118" name="Rounded Rectangle 117"/>
          <p:cNvSpPr/>
          <p:nvPr/>
        </p:nvSpPr>
        <p:spPr>
          <a:xfrm>
            <a:off x="5538447" y="5084064"/>
            <a:ext cx="904615"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5538447" y="5078577"/>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20" name="TextBox 119"/>
          <p:cNvSpPr txBox="1"/>
          <p:nvPr/>
        </p:nvSpPr>
        <p:spPr>
          <a:xfrm>
            <a:off x="6589367" y="5074920"/>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A very small listed entity…</a:t>
            </a:r>
          </a:p>
        </p:txBody>
      </p:sp>
      <p:sp>
        <p:nvSpPr>
          <p:cNvPr id="121" name="Rectangle 120"/>
          <p:cNvSpPr/>
          <p:nvPr/>
        </p:nvSpPr>
        <p:spPr>
          <a:xfrm>
            <a:off x="841248" y="531266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914400" y="5330952"/>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Tata Steel Ltd.</a:t>
            </a:r>
          </a:p>
        </p:txBody>
      </p:sp>
      <p:sp>
        <p:nvSpPr>
          <p:cNvPr id="123" name="TextBox 122"/>
          <p:cNvSpPr txBox="1"/>
          <p:nvPr/>
        </p:nvSpPr>
        <p:spPr>
          <a:xfrm>
            <a:off x="3226423" y="5330952"/>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0.2</a:t>
            </a:r>
          </a:p>
        </p:txBody>
      </p:sp>
      <p:sp>
        <p:nvSpPr>
          <p:cNvPr id="124" name="Rectangle 123"/>
          <p:cNvSpPr/>
          <p:nvPr/>
        </p:nvSpPr>
        <p:spPr>
          <a:xfrm>
            <a:off x="3962067" y="544068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3962067" y="5440680"/>
            <a:ext cx="32836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4218099" y="54132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4666155" y="53629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51</a:t>
            </a:r>
          </a:p>
        </p:txBody>
      </p:sp>
      <p:sp>
        <p:nvSpPr>
          <p:cNvPr id="128" name="Rounded Rectangle 127"/>
          <p:cNvSpPr/>
          <p:nvPr/>
        </p:nvSpPr>
        <p:spPr>
          <a:xfrm>
            <a:off x="5538447" y="5340096"/>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5538447" y="5334609"/>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30" name="TextBox 129"/>
          <p:cNvSpPr txBox="1"/>
          <p:nvPr/>
        </p:nvSpPr>
        <p:spPr>
          <a:xfrm>
            <a:off x="6589367" y="5330952"/>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  analyst override of the quant Sell.</a:t>
            </a:r>
          </a:p>
        </p:txBody>
      </p:sp>
      <p:sp>
        <p:nvSpPr>
          <p:cNvPr id="131" name="Rectangle 130"/>
          <p:cNvSpPr/>
          <p:nvPr/>
        </p:nvSpPr>
        <p:spPr>
          <a:xfrm>
            <a:off x="841248" y="556869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914400" y="5586984"/>
            <a:ext cx="2165719" cy="256032"/>
          </a:xfrm>
          <a:prstGeom prst="rect">
            <a:avLst/>
          </a:prstGeom>
          <a:noFill/>
        </p:spPr>
        <p:txBody>
          <a:bodyPr wrap="square" anchor="ctr" lIns="0" rIns="0" tIns="0" bIns="0">
            <a:spAutoFit/>
          </a:bodyPr>
          <a:lstStyle/>
          <a:p>
            <a:pPr algn="l">
              <a:spcBef>
                <a:spcPts val="0"/>
              </a:spcBef>
              <a:spcAft>
                <a:spcPts val="0"/>
              </a:spcAft>
            </a:pPr>
            <a:r>
              <a:rPr sz="900" b="1" i="0">
                <a:solidFill>
                  <a:srgbClr val="16233B"/>
                </a:solidFill>
                <a:latin typeface="Bahnschrift"/>
              </a:rPr>
              <a:t>Manappuram Finance Ltd.</a:t>
            </a:r>
          </a:p>
        </p:txBody>
      </p:sp>
      <p:sp>
        <p:nvSpPr>
          <p:cNvPr id="133" name="TextBox 132"/>
          <p:cNvSpPr txBox="1"/>
          <p:nvPr/>
        </p:nvSpPr>
        <p:spPr>
          <a:xfrm>
            <a:off x="3226423" y="5586984"/>
            <a:ext cx="589339" cy="256032"/>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Bahnschrift"/>
              </a:rPr>
              <a:t>0.1</a:t>
            </a:r>
          </a:p>
        </p:txBody>
      </p:sp>
      <p:sp>
        <p:nvSpPr>
          <p:cNvPr id="134" name="Rectangle 133"/>
          <p:cNvSpPr/>
          <p:nvPr/>
        </p:nvSpPr>
        <p:spPr>
          <a:xfrm>
            <a:off x="3962067" y="569671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3962067" y="5696712"/>
            <a:ext cx="29059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4218099" y="566928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666155" y="561898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45</a:t>
            </a:r>
          </a:p>
        </p:txBody>
      </p:sp>
      <p:sp>
        <p:nvSpPr>
          <p:cNvPr id="138" name="Rounded Rectangle 137"/>
          <p:cNvSpPr/>
          <p:nvPr/>
        </p:nvSpPr>
        <p:spPr>
          <a:xfrm>
            <a:off x="5538447" y="5596128"/>
            <a:ext cx="904615"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538447" y="5590641"/>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40" name="TextBox 139"/>
          <p:cNvSpPr txBox="1"/>
          <p:nvPr/>
        </p:nvSpPr>
        <p:spPr>
          <a:xfrm>
            <a:off x="6589367" y="5586984"/>
            <a:ext cx="4687927" cy="256032"/>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Real tailwinds…</a:t>
            </a:r>
          </a:p>
        </p:txBody>
      </p:sp>
      <p:sp>
        <p:nvSpPr>
          <p:cNvPr id="141" name="Rectangle 140"/>
          <p:cNvSpPr/>
          <p:nvPr/>
        </p:nvSpPr>
        <p:spPr>
          <a:xfrm>
            <a:off x="841248" y="582472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a:hlinkClick action="ppaction://hlinksldjump" r:id="rId3"/>
          </p:cNvPr>
          <p:cNvSpPr/>
          <p:nvPr/>
        </p:nvSpPr>
        <p:spPr>
          <a:xfrm>
            <a:off x="841248" y="3008376"/>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a:hlinkClick action="ppaction://hlinksldjump" r:id="rId4"/>
          </p:cNvPr>
          <p:cNvSpPr/>
          <p:nvPr/>
        </p:nvSpPr>
        <p:spPr>
          <a:xfrm>
            <a:off x="841248" y="3264408"/>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a:hlinkClick action="ppaction://hlinksldjump" r:id="rId5"/>
          </p:cNvPr>
          <p:cNvSpPr/>
          <p:nvPr/>
        </p:nvSpPr>
        <p:spPr>
          <a:xfrm>
            <a:off x="841248" y="3520440"/>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a:hlinkClick action="ppaction://hlinksldjump" r:id="rId6"/>
          </p:cNvPr>
          <p:cNvSpPr/>
          <p:nvPr/>
        </p:nvSpPr>
        <p:spPr>
          <a:xfrm>
            <a:off x="841248" y="3776472"/>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a:hlinkClick action="ppaction://hlinksldjump" r:id="rId7"/>
          </p:cNvPr>
          <p:cNvSpPr/>
          <p:nvPr/>
        </p:nvSpPr>
        <p:spPr>
          <a:xfrm>
            <a:off x="841248" y="4032504"/>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a:hlinkClick action="ppaction://hlinksldjump" r:id="rId7"/>
          </p:cNvPr>
          <p:cNvSpPr/>
          <p:nvPr/>
        </p:nvSpPr>
        <p:spPr>
          <a:xfrm>
            <a:off x="841248" y="4288536"/>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a:hlinkClick action="ppaction://hlinksldjump" r:id="rId8"/>
          </p:cNvPr>
          <p:cNvSpPr/>
          <p:nvPr/>
        </p:nvSpPr>
        <p:spPr>
          <a:xfrm>
            <a:off x="841248" y="4544568"/>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a:hlinkClick action="ppaction://hlinksldjump" r:id="rId7"/>
          </p:cNvPr>
          <p:cNvSpPr/>
          <p:nvPr/>
        </p:nvSpPr>
        <p:spPr>
          <a:xfrm>
            <a:off x="841248" y="4800600"/>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a:hlinkClick action="ppaction://hlinksldjump" r:id="rId9"/>
          </p:cNvPr>
          <p:cNvSpPr/>
          <p:nvPr/>
        </p:nvSpPr>
        <p:spPr>
          <a:xfrm>
            <a:off x="841248" y="5056632"/>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a:hlinkClick action="ppaction://hlinksldjump" r:id="rId7"/>
          </p:cNvPr>
          <p:cNvSpPr/>
          <p:nvPr/>
        </p:nvSpPr>
        <p:spPr>
          <a:xfrm>
            <a:off x="841248" y="5312664"/>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a:hlinkClick action="ppaction://hlinksldjump" r:id="rId10"/>
          </p:cNvPr>
          <p:cNvSpPr/>
          <p:nvPr/>
        </p:nvSpPr>
        <p:spPr>
          <a:xfrm>
            <a:off x="841248" y="5568696"/>
            <a:ext cx="10509199" cy="256032"/>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All 27 holdings are scored; the remaining 16 sit in the annexure. Rows link to each name's page there. Ionic Score: two-horizon composite with safety gates, reviewed by the desk.</a:t>
            </a:r>
          </a:p>
        </p:txBody>
      </p:sp>
      <p:sp>
        <p:nvSpPr>
          <p:cNvPr id="154" name="TextBox 153"/>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book at a glance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equity book at a glance, weight against conviction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14</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2026-07-27</a:t>
            </a:r>
          </a:p>
        </p:txBody>
      </p:sp>
      <p:sp>
        <p:nvSpPr>
          <p:cNvPr id="17" name="TextBox 16"/>
          <p:cNvSpPr txBox="1"/>
          <p:nvPr/>
        </p:nvSpPr>
        <p:spPr>
          <a:xfrm>
            <a:off x="841248" y="1645920"/>
            <a:ext cx="10509199" cy="457200"/>
          </a:xfrm>
          <a:prstGeom prst="rect">
            <a:avLst/>
          </a:prstGeom>
          <a:noFill/>
        </p:spPr>
        <p:txBody>
          <a:bodyPr wrap="square" anchor="t" lIns="0" rIns="0" tIns="0" bIns="0">
            <a:spAutoFit/>
          </a:bodyPr>
          <a:lstStyle/>
          <a:p>
            <a:pPr algn="l">
              <a:lnSpc>
                <a:spcPct val="105000"/>
              </a:lnSpc>
              <a:spcBef>
                <a:spcPts val="0"/>
              </a:spcBef>
              <a:spcAft>
                <a:spcPts val="0"/>
              </a:spcAft>
            </a:pPr>
            <a:r>
              <a:rPr sz="1050" b="0" i="1">
                <a:solidFill>
                  <a:srgbClr val="6B7280"/>
                </a:solidFill>
                <a:latin typeface="Georgia"/>
              </a:rPr>
              <a:t>Each dot is a holding: how much of the book it is (across) against its Ionic Score (up). Dot size is rupee value. Anything in the shaded band scores below the Sell line; the far right, low-scoring dots are the concentration to watch.</a:t>
            </a:r>
          </a:p>
        </p:txBody>
      </p:sp>
      <p:pic>
        <p:nvPicPr>
          <p:cNvPr id="18" name="Picture 17" descr="equity_book_bubble.png"/>
          <p:cNvPicPr>
            <a:picLocks noChangeAspect="1"/>
          </p:cNvPicPr>
          <p:nvPr/>
        </p:nvPicPr>
        <p:blipFill>
          <a:blip r:embed="rId3"/>
          <a:stretch>
            <a:fillRect/>
          </a:stretch>
        </p:blipFill>
        <p:spPr>
          <a:xfrm>
            <a:off x="2526435" y="2240280"/>
            <a:ext cx="7138824" cy="3246120"/>
          </a:xfrm>
          <a:prstGeom prst="rect">
            <a:avLst/>
          </a:prstGeom>
        </p:spPr>
      </p:pic>
      <p:sp>
        <p:nvSpPr>
          <p:cNvPr id="19" name="Oval 18"/>
          <p:cNvSpPr/>
          <p:nvPr/>
        </p:nvSpPr>
        <p:spPr>
          <a:xfrm>
            <a:off x="841248" y="5641848"/>
            <a:ext cx="118872" cy="118872"/>
          </a:xfrm>
          <a:prstGeom prst="ellipse">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5596128"/>
            <a:ext cx="914400" cy="219456"/>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Sell</a:t>
            </a:r>
          </a:p>
        </p:txBody>
      </p:sp>
      <p:sp>
        <p:nvSpPr>
          <p:cNvPr id="21" name="Oval 20"/>
          <p:cNvSpPr/>
          <p:nvPr/>
        </p:nvSpPr>
        <p:spPr>
          <a:xfrm>
            <a:off x="1801368" y="5641848"/>
            <a:ext cx="118872" cy="118872"/>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84248" y="5596128"/>
            <a:ext cx="914400" cy="219456"/>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Hold</a:t>
            </a:r>
          </a:p>
        </p:txBody>
      </p:sp>
      <p:sp>
        <p:nvSpPr>
          <p:cNvPr id="23" name="TextBox 22"/>
          <p:cNvSpPr txBox="1"/>
          <p:nvPr/>
        </p:nvSpPr>
        <p:spPr>
          <a:xfrm>
            <a:off x="2898648" y="5596128"/>
            <a:ext cx="8406079" cy="219456"/>
          </a:xfrm>
          <a:prstGeom prst="rect">
            <a:avLst/>
          </a:prstGeom>
          <a:noFill/>
        </p:spPr>
        <p:txBody>
          <a:bodyPr wrap="square" anchor="ctr" lIns="0" rIns="0" tIns="0" bIns="0">
            <a:spAutoFit/>
          </a:bodyPr>
          <a:lstStyle/>
          <a:p>
            <a:pPr algn="l">
              <a:spcBef>
                <a:spcPts val="0"/>
              </a:spcBef>
              <a:spcAft>
                <a:spcPts val="0"/>
              </a:spcAft>
            </a:pPr>
            <a:r>
              <a:rPr sz="900" b="0" i="1">
                <a:solidFill>
                  <a:srgbClr val="6B7280"/>
                </a:solidFill>
                <a:latin typeface="Georgia"/>
              </a:rPr>
              <a:t>dot size = rupee value held · gold line = Sell threshold (40) · a red dot above the line is an exceptional, documented call</a:t>
            </a:r>
          </a:p>
        </p:txBody>
      </p:sp>
      <p:sp>
        <p:nvSpPr>
          <p:cNvPr id="24" name="TextBox 2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Weight = share of direct-equity book · Ionic Score reflects our full review process, forward-growth adjusted.</a:t>
            </a:r>
          </a:p>
        </p:txBody>
      </p:sp>
      <p:sp>
        <p:nvSpPr>
          <p:cNvPr id="25" name="TextBox 2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we would sell</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names we would sell, and the case for each  (1 of 3)</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15</a:t>
            </a:r>
          </a:p>
        </p:txBody>
      </p:sp>
      <p:sp>
        <p:nvSpPr>
          <p:cNvPr id="15" name="Rounded Rectangle 14"/>
          <p:cNvSpPr/>
          <p:nvPr/>
        </p:nvSpPr>
        <p:spPr>
          <a:xfrm>
            <a:off x="10104120" y="1298448"/>
            <a:ext cx="1243584"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04120" y="1292961"/>
            <a:ext cx="1243584"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 ×14</a:t>
            </a:r>
          </a:p>
        </p:txBody>
      </p:sp>
      <p:sp>
        <p:nvSpPr>
          <p:cNvPr id="17" name="Rounded Rectangle 16"/>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2026-07-27</a:t>
            </a:r>
          </a:p>
        </p:txBody>
      </p:sp>
      <p:sp>
        <p:nvSpPr>
          <p:cNvPr id="19" name="TextBox 18"/>
          <p:cNvSpPr txBox="1"/>
          <p:nvPr/>
        </p:nvSpPr>
        <p:spPr>
          <a:xfrm>
            <a:off x="841248" y="1682496"/>
            <a:ext cx="10509199" cy="219456"/>
          </a:xfrm>
          <a:prstGeom prst="rect">
            <a:avLst/>
          </a:prstGeom>
          <a:noFill/>
        </p:spPr>
        <p:txBody>
          <a:bodyPr wrap="square" anchor="t" lIns="0" rIns="0" tIns="0" bIns="0">
            <a:spAutoFit/>
          </a:bodyPr>
          <a:lstStyle/>
          <a:p>
            <a:pPr algn="l">
              <a:spcBef>
                <a:spcPts val="0"/>
              </a:spcBef>
              <a:spcAft>
                <a:spcPts val="0"/>
              </a:spcAft>
            </a:pPr>
            <a:r>
              <a:rPr sz="1050" b="0" i="1">
                <a:solidFill>
                  <a:srgbClr val="6B7280"/>
                </a:solidFill>
                <a:latin typeface="Georgia"/>
              </a:rPr>
              <a:t>Confirmed Sells only. Two lines carry the case; the linked page carries the full reasoning.</a:t>
            </a:r>
          </a:p>
        </p:txBody>
      </p:sp>
      <p:sp>
        <p:nvSpPr>
          <p:cNvPr id="20" name="TextBox 19"/>
          <p:cNvSpPr txBox="1"/>
          <p:nvPr/>
        </p:nvSpPr>
        <p:spPr>
          <a:xfrm>
            <a:off x="914400" y="2029968"/>
            <a:ext cx="19555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21" name="TextBox 20"/>
          <p:cNvSpPr txBox="1"/>
          <p:nvPr/>
        </p:nvSpPr>
        <p:spPr>
          <a:xfrm>
            <a:off x="3016239"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2" name="TextBox 21"/>
          <p:cNvSpPr txBox="1"/>
          <p:nvPr/>
        </p:nvSpPr>
        <p:spPr>
          <a:xfrm>
            <a:off x="3646791" y="2029968"/>
            <a:ext cx="121989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SCORE</a:t>
            </a:r>
          </a:p>
        </p:txBody>
      </p:sp>
      <p:sp>
        <p:nvSpPr>
          <p:cNvPr id="23" name="TextBox 22"/>
          <p:cNvSpPr txBox="1"/>
          <p:nvPr/>
        </p:nvSpPr>
        <p:spPr>
          <a:xfrm>
            <a:off x="5012987" y="2029968"/>
            <a:ext cx="79952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CALL</a:t>
            </a:r>
          </a:p>
        </p:txBody>
      </p:sp>
      <p:sp>
        <p:nvSpPr>
          <p:cNvPr id="24" name="TextBox 23"/>
          <p:cNvSpPr txBox="1"/>
          <p:nvPr/>
        </p:nvSpPr>
        <p:spPr>
          <a:xfrm>
            <a:off x="5958815" y="2029968"/>
            <a:ext cx="468792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THE CASE</a:t>
            </a:r>
          </a:p>
        </p:txBody>
      </p:sp>
      <p:sp>
        <p:nvSpPr>
          <p:cNvPr id="25" name="TextBox 24"/>
          <p:cNvSpPr txBox="1"/>
          <p:nvPr/>
        </p:nvSpPr>
        <p:spPr>
          <a:xfrm>
            <a:off x="10793047"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DETAIL</a:t>
            </a:r>
          </a:p>
        </p:txBody>
      </p:sp>
      <p:sp>
        <p:nvSpPr>
          <p:cNvPr id="26" name="Rectangle 25"/>
          <p:cNvSpPr/>
          <p:nvPr/>
        </p:nvSpPr>
        <p:spPr>
          <a:xfrm>
            <a:off x="841248" y="228600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2331720"/>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Reliance Industries Ltd.</a:t>
            </a:r>
          </a:p>
        </p:txBody>
      </p:sp>
      <p:sp>
        <p:nvSpPr>
          <p:cNvPr id="28" name="TextBox 27"/>
          <p:cNvSpPr txBox="1"/>
          <p:nvPr/>
        </p:nvSpPr>
        <p:spPr>
          <a:xfrm>
            <a:off x="3016239"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17.9</a:t>
            </a:r>
          </a:p>
        </p:txBody>
      </p:sp>
      <p:sp>
        <p:nvSpPr>
          <p:cNvPr id="29" name="Rectangle 28"/>
          <p:cNvSpPr/>
          <p:nvPr/>
        </p:nvSpPr>
        <p:spPr>
          <a:xfrm>
            <a:off x="3646791" y="25968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46791" y="2596896"/>
            <a:ext cx="17474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902823" y="25694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50879" y="25191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27</a:t>
            </a:r>
          </a:p>
        </p:txBody>
      </p:sp>
      <p:sp>
        <p:nvSpPr>
          <p:cNvPr id="33" name="Rounded Rectangle 32"/>
          <p:cNvSpPr/>
          <p:nvPr/>
        </p:nvSpPr>
        <p:spPr>
          <a:xfrm>
            <a:off x="5012987" y="2496312"/>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12987" y="2490825"/>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5" name="TextBox 34"/>
          <p:cNvSpPr txBox="1"/>
          <p:nvPr/>
        </p:nvSpPr>
        <p:spPr>
          <a:xfrm>
            <a:off x="5958815" y="2331720"/>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36" name="TextBox 35"/>
          <p:cNvSpPr txBox="1"/>
          <p:nvPr/>
        </p:nvSpPr>
        <p:spPr>
          <a:xfrm>
            <a:off x="10793047"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37" name="Rectangle 36"/>
          <p:cNvSpPr/>
          <p:nvPr/>
        </p:nvSpPr>
        <p:spPr>
          <a:xfrm>
            <a:off x="841248" y="28803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2898648"/>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Jio Financial Services Ltd.</a:t>
            </a:r>
          </a:p>
        </p:txBody>
      </p:sp>
      <p:sp>
        <p:nvSpPr>
          <p:cNvPr id="39" name="TextBox 38"/>
          <p:cNvSpPr txBox="1"/>
          <p:nvPr/>
        </p:nvSpPr>
        <p:spPr>
          <a:xfrm>
            <a:off x="3016239"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1.7</a:t>
            </a:r>
          </a:p>
        </p:txBody>
      </p:sp>
      <p:sp>
        <p:nvSpPr>
          <p:cNvPr id="40" name="Rectangle 39"/>
          <p:cNvSpPr/>
          <p:nvPr/>
        </p:nvSpPr>
        <p:spPr>
          <a:xfrm>
            <a:off x="3646791" y="31638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46791" y="3163824"/>
            <a:ext cx="24259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902823" y="31363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50879" y="30861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38</a:t>
            </a:r>
          </a:p>
        </p:txBody>
      </p:sp>
      <p:sp>
        <p:nvSpPr>
          <p:cNvPr id="44" name="Rounded Rectangle 43"/>
          <p:cNvSpPr/>
          <p:nvPr/>
        </p:nvSpPr>
        <p:spPr>
          <a:xfrm>
            <a:off x="5012987" y="3063240"/>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12987" y="3057753"/>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46" name="TextBox 45"/>
          <p:cNvSpPr txBox="1"/>
          <p:nvPr/>
        </p:nvSpPr>
        <p:spPr>
          <a:xfrm>
            <a:off x="5958815" y="2898648"/>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47" name="TextBox 46"/>
          <p:cNvSpPr txBox="1"/>
          <p:nvPr/>
        </p:nvSpPr>
        <p:spPr>
          <a:xfrm>
            <a:off x="10793047"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48" name="Rectangle 47"/>
          <p:cNvSpPr/>
          <p:nvPr/>
        </p:nvSpPr>
        <p:spPr>
          <a:xfrm>
            <a:off x="841248" y="344728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3465576"/>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SBFC Finance Ltd.</a:t>
            </a:r>
          </a:p>
        </p:txBody>
      </p:sp>
      <p:sp>
        <p:nvSpPr>
          <p:cNvPr id="50" name="TextBox 49"/>
          <p:cNvSpPr txBox="1"/>
          <p:nvPr/>
        </p:nvSpPr>
        <p:spPr>
          <a:xfrm>
            <a:off x="3016239"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0.3</a:t>
            </a:r>
          </a:p>
        </p:txBody>
      </p:sp>
      <p:sp>
        <p:nvSpPr>
          <p:cNvPr id="51" name="Rectangle 50"/>
          <p:cNvSpPr/>
          <p:nvPr/>
        </p:nvSpPr>
        <p:spPr>
          <a:xfrm>
            <a:off x="3646791" y="37307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646791" y="3730752"/>
            <a:ext cx="16322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3902823" y="37033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350879" y="36530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26</a:t>
            </a:r>
          </a:p>
        </p:txBody>
      </p:sp>
      <p:sp>
        <p:nvSpPr>
          <p:cNvPr id="55" name="Rounded Rectangle 54"/>
          <p:cNvSpPr/>
          <p:nvPr/>
        </p:nvSpPr>
        <p:spPr>
          <a:xfrm>
            <a:off x="5012987" y="3630168"/>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12987" y="3624681"/>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7" name="TextBox 56"/>
          <p:cNvSpPr txBox="1"/>
          <p:nvPr/>
        </p:nvSpPr>
        <p:spPr>
          <a:xfrm>
            <a:off x="5958815" y="3465576"/>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58" name="TextBox 57"/>
          <p:cNvSpPr txBox="1"/>
          <p:nvPr/>
        </p:nvSpPr>
        <p:spPr>
          <a:xfrm>
            <a:off x="10793047"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59" name="Rectangle 58"/>
          <p:cNvSpPr/>
          <p:nvPr/>
        </p:nvSpPr>
        <p:spPr>
          <a:xfrm>
            <a:off x="841248" y="401421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4400" y="4032504"/>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Rita Finance and Leasing Ltd.</a:t>
            </a:r>
          </a:p>
        </p:txBody>
      </p:sp>
      <p:sp>
        <p:nvSpPr>
          <p:cNvPr id="61" name="TextBox 60"/>
          <p:cNvSpPr txBox="1"/>
          <p:nvPr/>
        </p:nvSpPr>
        <p:spPr>
          <a:xfrm>
            <a:off x="3016239"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0.2</a:t>
            </a:r>
          </a:p>
        </p:txBody>
      </p:sp>
      <p:sp>
        <p:nvSpPr>
          <p:cNvPr id="62" name="Rectangle 61"/>
          <p:cNvSpPr/>
          <p:nvPr/>
        </p:nvSpPr>
        <p:spPr>
          <a:xfrm>
            <a:off x="3646791" y="429768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646791" y="4297680"/>
            <a:ext cx="9601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902823" y="42702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350879" y="42199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15</a:t>
            </a:r>
          </a:p>
        </p:txBody>
      </p:sp>
      <p:sp>
        <p:nvSpPr>
          <p:cNvPr id="66" name="Rounded Rectangle 65"/>
          <p:cNvSpPr/>
          <p:nvPr/>
        </p:nvSpPr>
        <p:spPr>
          <a:xfrm>
            <a:off x="5012987" y="4197096"/>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12987" y="4191609"/>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68" name="TextBox 67"/>
          <p:cNvSpPr txBox="1"/>
          <p:nvPr/>
        </p:nvSpPr>
        <p:spPr>
          <a:xfrm>
            <a:off x="5958815" y="4032504"/>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69" name="TextBox 68"/>
          <p:cNvSpPr txBox="1"/>
          <p:nvPr/>
        </p:nvSpPr>
        <p:spPr>
          <a:xfrm>
            <a:off x="10793047"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70" name="Rectangle 69"/>
          <p:cNvSpPr/>
          <p:nvPr/>
        </p:nvSpPr>
        <p:spPr>
          <a:xfrm>
            <a:off x="841248" y="45811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14400" y="4599432"/>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Manappuram Finance Ltd.</a:t>
            </a:r>
          </a:p>
        </p:txBody>
      </p:sp>
      <p:sp>
        <p:nvSpPr>
          <p:cNvPr id="72" name="TextBox 71"/>
          <p:cNvSpPr txBox="1"/>
          <p:nvPr/>
        </p:nvSpPr>
        <p:spPr>
          <a:xfrm>
            <a:off x="3016239" y="4599432"/>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0.1</a:t>
            </a:r>
          </a:p>
        </p:txBody>
      </p:sp>
      <p:sp>
        <p:nvSpPr>
          <p:cNvPr id="73" name="Rectangle 72"/>
          <p:cNvSpPr/>
          <p:nvPr/>
        </p:nvSpPr>
        <p:spPr>
          <a:xfrm>
            <a:off x="3646791" y="48646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3646791" y="4864608"/>
            <a:ext cx="29059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902823" y="48371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350879" y="47868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45</a:t>
            </a:r>
          </a:p>
        </p:txBody>
      </p:sp>
      <p:sp>
        <p:nvSpPr>
          <p:cNvPr id="77" name="Rounded Rectangle 76"/>
          <p:cNvSpPr/>
          <p:nvPr/>
        </p:nvSpPr>
        <p:spPr>
          <a:xfrm>
            <a:off x="5012987" y="4764024"/>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012987" y="4758537"/>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79" name="TextBox 78"/>
          <p:cNvSpPr txBox="1"/>
          <p:nvPr/>
        </p:nvSpPr>
        <p:spPr>
          <a:xfrm>
            <a:off x="5958815" y="4599432"/>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80" name="TextBox 79"/>
          <p:cNvSpPr txBox="1"/>
          <p:nvPr/>
        </p:nvSpPr>
        <p:spPr>
          <a:xfrm>
            <a:off x="10793047" y="4599432"/>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81" name="Rectangle 80"/>
          <p:cNvSpPr/>
          <p:nvPr/>
        </p:nvSpPr>
        <p:spPr>
          <a:xfrm>
            <a:off x="841248" y="51480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958815" y="2386584"/>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Bottom-quartile on quality and value versus large-cap peers; momentum has turned negative even as segment EBITDA hit a record.</a:t>
            </a:r>
          </a:p>
        </p:txBody>
      </p:sp>
      <p:sp>
        <p:nvSpPr>
          <p:cNvPr id="83" name="TextBox 82">
            <a:hlinkClick action="ppaction://hlinksldjump" r:id="rId3"/>
          </p:cNvPr>
          <p:cNvSpPr txBox="1"/>
          <p:nvPr/>
        </p:nvSpPr>
        <p:spPr>
          <a:xfrm>
            <a:off x="10719895" y="2532888"/>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p.42</a:t>
            </a:r>
          </a:p>
        </p:txBody>
      </p:sp>
      <p:sp>
        <p:nvSpPr>
          <p:cNvPr id="84" name="Rectangle 83">
            <a:hlinkClick action="ppaction://hlinksldjump" r:id="rId3"/>
          </p:cNvPr>
          <p:cNvSpPr/>
          <p:nvPr/>
        </p:nvSpPr>
        <p:spPr>
          <a:xfrm>
            <a:off x="841248" y="2313432"/>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958815" y="2953512"/>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Priced at ~1.1x book for a ~14% normalised return on equity the business is currently earning only 1-2% of, leaving little margin of safety.</a:t>
            </a:r>
          </a:p>
        </p:txBody>
      </p:sp>
      <p:sp>
        <p:nvSpPr>
          <p:cNvPr id="86" name="TextBox 85">
            <a:hlinkClick action="ppaction://hlinksldjump" r:id="rId4"/>
          </p:cNvPr>
          <p:cNvSpPr txBox="1"/>
          <p:nvPr/>
        </p:nvSpPr>
        <p:spPr>
          <a:xfrm>
            <a:off x="10719895" y="3099816"/>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p.43</a:t>
            </a:r>
          </a:p>
        </p:txBody>
      </p:sp>
      <p:sp>
        <p:nvSpPr>
          <p:cNvPr id="87" name="Rectangle 86">
            <a:hlinkClick action="ppaction://hlinksldjump" r:id="rId4"/>
          </p:cNvPr>
          <p:cNvSpPr/>
          <p:nvPr/>
        </p:nvSpPr>
        <p:spPr>
          <a:xfrm>
            <a:off x="841248" y="2880360"/>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958815" y="3520440"/>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Fundamentals are intact, profit up ~29% YoY, asset quality stable, but at ~29x earnings the stock isn't cheap enough to justify holding through the recent price fall.</a:t>
            </a:r>
          </a:p>
        </p:txBody>
      </p:sp>
      <p:sp>
        <p:nvSpPr>
          <p:cNvPr id="89" name="TextBox 88">
            <a:hlinkClick action="ppaction://hlinksldjump" r:id="rId5"/>
          </p:cNvPr>
          <p:cNvSpPr txBox="1"/>
          <p:nvPr/>
        </p:nvSpPr>
        <p:spPr>
          <a:xfrm>
            <a:off x="10719895" y="3666744"/>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p.44</a:t>
            </a:r>
          </a:p>
        </p:txBody>
      </p:sp>
      <p:sp>
        <p:nvSpPr>
          <p:cNvPr id="90" name="Rectangle 89">
            <a:hlinkClick action="ppaction://hlinksldjump" r:id="rId5"/>
          </p:cNvPr>
          <p:cNvSpPr/>
          <p:nvPr/>
        </p:nvSpPr>
        <p:spPr>
          <a:xfrm>
            <a:off x="841248" y="3447288"/>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958815" y="4087368"/>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A very small listed entity (~Rs13cr market cap on ~Rs1.3cr of sales) with the large majority of promoter holding pledged and an exchange query on unusual price movement. Exit on limit orders, not market orders.</a:t>
            </a:r>
          </a:p>
        </p:txBody>
      </p:sp>
      <p:sp>
        <p:nvSpPr>
          <p:cNvPr id="92" name="TextBox 91">
            <a:hlinkClick action="ppaction://hlinksldjump" r:id="rId6"/>
          </p:cNvPr>
          <p:cNvSpPr txBox="1"/>
          <p:nvPr/>
        </p:nvSpPr>
        <p:spPr>
          <a:xfrm>
            <a:off x="10719895" y="4233672"/>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p.48</a:t>
            </a:r>
          </a:p>
        </p:txBody>
      </p:sp>
      <p:sp>
        <p:nvSpPr>
          <p:cNvPr id="93" name="Rectangle 92">
            <a:hlinkClick action="ppaction://hlinksldjump" r:id="rId6"/>
          </p:cNvPr>
          <p:cNvSpPr/>
          <p:nvPr/>
        </p:nvSpPr>
        <p:spPr>
          <a:xfrm>
            <a:off x="841248" y="4014216"/>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958815" y="4654296"/>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Real tailwinds (a large institutional stake approval, easier gold-loan rules) are already more than priced in at ~29x earnings against revenue that is still falling.</a:t>
            </a:r>
          </a:p>
        </p:txBody>
      </p:sp>
      <p:sp>
        <p:nvSpPr>
          <p:cNvPr id="95" name="TextBox 94">
            <a:hlinkClick action="ppaction://hlinksldjump" r:id="rId7"/>
          </p:cNvPr>
          <p:cNvSpPr txBox="1"/>
          <p:nvPr/>
        </p:nvSpPr>
        <p:spPr>
          <a:xfrm>
            <a:off x="10719895" y="4800600"/>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p.45</a:t>
            </a:r>
          </a:p>
        </p:txBody>
      </p:sp>
      <p:sp>
        <p:nvSpPr>
          <p:cNvPr id="96" name="Rectangle 95">
            <a:hlinkClick action="ppaction://hlinksldjump" r:id="rId7"/>
          </p:cNvPr>
          <p:cNvSpPr/>
          <p:nvPr/>
        </p:nvSpPr>
        <p:spPr>
          <a:xfrm>
            <a:off x="841248" y="4581144"/>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646791" y="4965192"/>
            <a:ext cx="1274755" cy="146304"/>
          </a:xfrm>
          <a:prstGeom prst="rect">
            <a:avLst/>
          </a:prstGeom>
          <a:noFill/>
        </p:spPr>
        <p:txBody>
          <a:bodyPr wrap="square" anchor="t" lIns="0" rIns="0" tIns="0" bIns="0">
            <a:spAutoFit/>
          </a:bodyPr>
          <a:lstStyle/>
          <a:p>
            <a:pPr algn="l">
              <a:spcBef>
                <a:spcPts val="0"/>
              </a:spcBef>
              <a:spcAft>
                <a:spcPts val="0"/>
              </a:spcAft>
            </a:pPr>
            <a:r>
              <a:rPr sz="650" b="1" i="0" spc="80">
                <a:solidFill>
                  <a:srgbClr val="92400E"/>
                </a:solidFill>
                <a:latin typeface="Bahnschrift"/>
              </a:rPr>
              <a:t>EXCEPTIONAL</a:t>
            </a:r>
          </a:p>
        </p:txBody>
      </p:sp>
      <p:sp>
        <p:nvSpPr>
          <p:cNvPr id="98" name="TextBox 97"/>
          <p:cNvSpPr txBox="1"/>
          <p:nvPr/>
        </p:nvSpPr>
        <p:spPr>
          <a:xfrm>
            <a:off x="841248" y="5239512"/>
            <a:ext cx="10509199" cy="182880"/>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Names selling above the 40 score line are exceptional, high-conviction calls; the linked page documents each case in full.</a:t>
            </a:r>
          </a:p>
        </p:txBody>
      </p:sp>
      <p:sp>
        <p:nvSpPr>
          <p:cNvPr id="99" name="TextBox 98"/>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Each row links to the name's full rationale page (score panel, the case, the bull we rejected, valuation check).</a:t>
            </a:r>
          </a:p>
        </p:txBody>
      </p:sp>
      <p:sp>
        <p:nvSpPr>
          <p:cNvPr id="100" name="TextBox 99"/>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we would sell</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names we would sell, and the case for each  (2 of 3)</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16</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2026-07-27</a:t>
            </a:r>
          </a:p>
        </p:txBody>
      </p:sp>
      <p:sp>
        <p:nvSpPr>
          <p:cNvPr id="17" name="TextBox 16"/>
          <p:cNvSpPr txBox="1"/>
          <p:nvPr/>
        </p:nvSpPr>
        <p:spPr>
          <a:xfrm>
            <a:off x="841248" y="1682496"/>
            <a:ext cx="10509199" cy="219456"/>
          </a:xfrm>
          <a:prstGeom prst="rect">
            <a:avLst/>
          </a:prstGeom>
          <a:noFill/>
        </p:spPr>
        <p:txBody>
          <a:bodyPr wrap="square" anchor="t" lIns="0" rIns="0" tIns="0" bIns="0">
            <a:spAutoFit/>
          </a:bodyPr>
          <a:lstStyle/>
          <a:p>
            <a:pPr algn="l">
              <a:spcBef>
                <a:spcPts val="0"/>
              </a:spcBef>
              <a:spcAft>
                <a:spcPts val="0"/>
              </a:spcAft>
            </a:pPr>
            <a:r>
              <a:rPr sz="1050" b="0" i="1">
                <a:solidFill>
                  <a:srgbClr val="6B7280"/>
                </a:solidFill>
                <a:latin typeface="Georgia"/>
              </a:rPr>
              <a:t>Confirmed Sells only. Two lines carry the case; the linked page carries the full reasoning.</a:t>
            </a:r>
          </a:p>
        </p:txBody>
      </p:sp>
      <p:sp>
        <p:nvSpPr>
          <p:cNvPr id="18" name="TextBox 17"/>
          <p:cNvSpPr txBox="1"/>
          <p:nvPr/>
        </p:nvSpPr>
        <p:spPr>
          <a:xfrm>
            <a:off x="914400" y="2029968"/>
            <a:ext cx="19555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19" name="TextBox 18"/>
          <p:cNvSpPr txBox="1"/>
          <p:nvPr/>
        </p:nvSpPr>
        <p:spPr>
          <a:xfrm>
            <a:off x="3016239"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0" name="TextBox 19"/>
          <p:cNvSpPr txBox="1"/>
          <p:nvPr/>
        </p:nvSpPr>
        <p:spPr>
          <a:xfrm>
            <a:off x="3646791" y="2029968"/>
            <a:ext cx="121989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SCORE</a:t>
            </a:r>
          </a:p>
        </p:txBody>
      </p:sp>
      <p:sp>
        <p:nvSpPr>
          <p:cNvPr id="21" name="TextBox 20"/>
          <p:cNvSpPr txBox="1"/>
          <p:nvPr/>
        </p:nvSpPr>
        <p:spPr>
          <a:xfrm>
            <a:off x="5012987" y="2029968"/>
            <a:ext cx="79952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CALL</a:t>
            </a:r>
          </a:p>
        </p:txBody>
      </p:sp>
      <p:sp>
        <p:nvSpPr>
          <p:cNvPr id="22" name="TextBox 21"/>
          <p:cNvSpPr txBox="1"/>
          <p:nvPr/>
        </p:nvSpPr>
        <p:spPr>
          <a:xfrm>
            <a:off x="5958815" y="2029968"/>
            <a:ext cx="468792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THE CASE</a:t>
            </a:r>
          </a:p>
        </p:txBody>
      </p:sp>
      <p:sp>
        <p:nvSpPr>
          <p:cNvPr id="23" name="TextBox 22"/>
          <p:cNvSpPr txBox="1"/>
          <p:nvPr/>
        </p:nvSpPr>
        <p:spPr>
          <a:xfrm>
            <a:off x="10793047"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DETAIL</a:t>
            </a:r>
          </a:p>
        </p:txBody>
      </p:sp>
      <p:sp>
        <p:nvSpPr>
          <p:cNvPr id="24" name="Rectangle 23"/>
          <p:cNvSpPr/>
          <p:nvPr/>
        </p:nvSpPr>
        <p:spPr>
          <a:xfrm>
            <a:off x="841248" y="228600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331720"/>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Lancor Holdings Ltd.</a:t>
            </a:r>
          </a:p>
        </p:txBody>
      </p:sp>
      <p:sp>
        <p:nvSpPr>
          <p:cNvPr id="26" name="TextBox 25"/>
          <p:cNvSpPr txBox="1"/>
          <p:nvPr/>
        </p:nvSpPr>
        <p:spPr>
          <a:xfrm>
            <a:off x="3016239"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0.1</a:t>
            </a:r>
          </a:p>
        </p:txBody>
      </p:sp>
      <p:sp>
        <p:nvSpPr>
          <p:cNvPr id="27" name="Rectangle 26"/>
          <p:cNvSpPr/>
          <p:nvPr/>
        </p:nvSpPr>
        <p:spPr>
          <a:xfrm>
            <a:off x="3646791" y="25968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46791" y="2596896"/>
            <a:ext cx="17922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02823" y="25694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50879" y="25191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28</a:t>
            </a:r>
          </a:p>
        </p:txBody>
      </p:sp>
      <p:sp>
        <p:nvSpPr>
          <p:cNvPr id="31" name="Rounded Rectangle 30"/>
          <p:cNvSpPr/>
          <p:nvPr/>
        </p:nvSpPr>
        <p:spPr>
          <a:xfrm>
            <a:off x="5012987" y="2496312"/>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2987" y="2490825"/>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3" name="TextBox 32"/>
          <p:cNvSpPr txBox="1"/>
          <p:nvPr/>
        </p:nvSpPr>
        <p:spPr>
          <a:xfrm>
            <a:off x="5958815" y="2331720"/>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34" name="TextBox 33"/>
          <p:cNvSpPr txBox="1"/>
          <p:nvPr/>
        </p:nvSpPr>
        <p:spPr>
          <a:xfrm>
            <a:off x="10793047"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35" name="Rectangle 34"/>
          <p:cNvSpPr/>
          <p:nvPr/>
        </p:nvSpPr>
        <p:spPr>
          <a:xfrm>
            <a:off x="841248" y="28803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2898648"/>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Summit Securities Ltd.</a:t>
            </a:r>
          </a:p>
        </p:txBody>
      </p:sp>
      <p:sp>
        <p:nvSpPr>
          <p:cNvPr id="37" name="TextBox 36"/>
          <p:cNvSpPr txBox="1"/>
          <p:nvPr/>
        </p:nvSpPr>
        <p:spPr>
          <a:xfrm>
            <a:off x="3016239"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0.1</a:t>
            </a:r>
          </a:p>
        </p:txBody>
      </p:sp>
      <p:sp>
        <p:nvSpPr>
          <p:cNvPr id="38" name="Rectangle 37"/>
          <p:cNvSpPr/>
          <p:nvPr/>
        </p:nvSpPr>
        <p:spPr>
          <a:xfrm>
            <a:off x="3646791" y="31638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46791" y="3163824"/>
            <a:ext cx="19202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02823" y="31363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50879" y="30861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30</a:t>
            </a:r>
          </a:p>
        </p:txBody>
      </p:sp>
      <p:sp>
        <p:nvSpPr>
          <p:cNvPr id="42" name="Rounded Rectangle 41"/>
          <p:cNvSpPr/>
          <p:nvPr/>
        </p:nvSpPr>
        <p:spPr>
          <a:xfrm>
            <a:off x="5012987" y="3063240"/>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12987" y="3057753"/>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44" name="TextBox 43"/>
          <p:cNvSpPr txBox="1"/>
          <p:nvPr/>
        </p:nvSpPr>
        <p:spPr>
          <a:xfrm>
            <a:off x="5958815" y="2898648"/>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45" name="TextBox 44"/>
          <p:cNvSpPr txBox="1"/>
          <p:nvPr/>
        </p:nvSpPr>
        <p:spPr>
          <a:xfrm>
            <a:off x="10793047"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46" name="Rectangle 45"/>
          <p:cNvSpPr/>
          <p:nvPr/>
        </p:nvSpPr>
        <p:spPr>
          <a:xfrm>
            <a:off x="841248" y="344728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400" y="3465576"/>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Network18 Media &amp; Investments Ltd.</a:t>
            </a:r>
          </a:p>
        </p:txBody>
      </p:sp>
      <p:sp>
        <p:nvSpPr>
          <p:cNvPr id="48" name="TextBox 47"/>
          <p:cNvSpPr txBox="1"/>
          <p:nvPr/>
        </p:nvSpPr>
        <p:spPr>
          <a:xfrm>
            <a:off x="3016239"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0.1</a:t>
            </a:r>
          </a:p>
        </p:txBody>
      </p:sp>
      <p:sp>
        <p:nvSpPr>
          <p:cNvPr id="49" name="Rectangle 48"/>
          <p:cNvSpPr/>
          <p:nvPr/>
        </p:nvSpPr>
        <p:spPr>
          <a:xfrm>
            <a:off x="3646791" y="37307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646791" y="3730752"/>
            <a:ext cx="14081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902823" y="37033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50879" y="36530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22</a:t>
            </a:r>
          </a:p>
        </p:txBody>
      </p:sp>
      <p:sp>
        <p:nvSpPr>
          <p:cNvPr id="53" name="Rounded Rectangle 52"/>
          <p:cNvSpPr/>
          <p:nvPr/>
        </p:nvSpPr>
        <p:spPr>
          <a:xfrm>
            <a:off x="5012987" y="3630168"/>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12987" y="3624681"/>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5" name="TextBox 54"/>
          <p:cNvSpPr txBox="1"/>
          <p:nvPr/>
        </p:nvSpPr>
        <p:spPr>
          <a:xfrm>
            <a:off x="5958815" y="3465576"/>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56" name="TextBox 55"/>
          <p:cNvSpPr txBox="1"/>
          <p:nvPr/>
        </p:nvSpPr>
        <p:spPr>
          <a:xfrm>
            <a:off x="10793047"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57" name="Rectangle 56"/>
          <p:cNvSpPr/>
          <p:nvPr/>
        </p:nvSpPr>
        <p:spPr>
          <a:xfrm>
            <a:off x="841248" y="401421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4400" y="4032504"/>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MosChip Technologies Ltd.</a:t>
            </a:r>
          </a:p>
        </p:txBody>
      </p:sp>
      <p:sp>
        <p:nvSpPr>
          <p:cNvPr id="59" name="TextBox 58"/>
          <p:cNvSpPr txBox="1"/>
          <p:nvPr/>
        </p:nvSpPr>
        <p:spPr>
          <a:xfrm>
            <a:off x="3016239"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0.0</a:t>
            </a:r>
          </a:p>
        </p:txBody>
      </p:sp>
      <p:sp>
        <p:nvSpPr>
          <p:cNvPr id="60" name="Rectangle 59"/>
          <p:cNvSpPr/>
          <p:nvPr/>
        </p:nvSpPr>
        <p:spPr>
          <a:xfrm>
            <a:off x="3646791" y="429768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646791" y="4297680"/>
            <a:ext cx="11521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902823" y="42702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350879" y="42199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18</a:t>
            </a:r>
          </a:p>
        </p:txBody>
      </p:sp>
      <p:sp>
        <p:nvSpPr>
          <p:cNvPr id="64" name="Rounded Rectangle 63"/>
          <p:cNvSpPr/>
          <p:nvPr/>
        </p:nvSpPr>
        <p:spPr>
          <a:xfrm>
            <a:off x="5012987" y="4197096"/>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12987" y="4191609"/>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66" name="TextBox 65"/>
          <p:cNvSpPr txBox="1"/>
          <p:nvPr/>
        </p:nvSpPr>
        <p:spPr>
          <a:xfrm>
            <a:off x="5958815" y="4032504"/>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67" name="TextBox 66"/>
          <p:cNvSpPr txBox="1"/>
          <p:nvPr/>
        </p:nvSpPr>
        <p:spPr>
          <a:xfrm>
            <a:off x="10793047"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68" name="Rectangle 67"/>
          <p:cNvSpPr/>
          <p:nvPr/>
        </p:nvSpPr>
        <p:spPr>
          <a:xfrm>
            <a:off x="841248" y="45811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4400" y="4599432"/>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SJVN Ltd.</a:t>
            </a:r>
          </a:p>
        </p:txBody>
      </p:sp>
      <p:sp>
        <p:nvSpPr>
          <p:cNvPr id="70" name="TextBox 69"/>
          <p:cNvSpPr txBox="1"/>
          <p:nvPr/>
        </p:nvSpPr>
        <p:spPr>
          <a:xfrm>
            <a:off x="3016239" y="4599432"/>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0.0</a:t>
            </a:r>
          </a:p>
        </p:txBody>
      </p:sp>
      <p:sp>
        <p:nvSpPr>
          <p:cNvPr id="71" name="Rectangle 70"/>
          <p:cNvSpPr/>
          <p:nvPr/>
        </p:nvSpPr>
        <p:spPr>
          <a:xfrm>
            <a:off x="3646791" y="48646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646791" y="4864608"/>
            <a:ext cx="20098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902823" y="48371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350879" y="47868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31</a:t>
            </a:r>
          </a:p>
        </p:txBody>
      </p:sp>
      <p:sp>
        <p:nvSpPr>
          <p:cNvPr id="75" name="Rounded Rectangle 74"/>
          <p:cNvSpPr/>
          <p:nvPr/>
        </p:nvSpPr>
        <p:spPr>
          <a:xfrm>
            <a:off x="5012987" y="4764024"/>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12987" y="4758537"/>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77" name="TextBox 76"/>
          <p:cNvSpPr txBox="1"/>
          <p:nvPr/>
        </p:nvSpPr>
        <p:spPr>
          <a:xfrm>
            <a:off x="5958815" y="4599432"/>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78" name="TextBox 77"/>
          <p:cNvSpPr txBox="1"/>
          <p:nvPr/>
        </p:nvSpPr>
        <p:spPr>
          <a:xfrm>
            <a:off x="10793047" y="4599432"/>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79" name="Rectangle 78"/>
          <p:cNvSpPr/>
          <p:nvPr/>
        </p:nvSpPr>
        <p:spPr>
          <a:xfrm>
            <a:off x="841248" y="51480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958815" y="2386584"/>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Reported profit is being carried almost entirely by a one-off litigation recovery, not the underlying business, core operating margin has collapsed and working-capital days have blown out.</a:t>
            </a:r>
          </a:p>
        </p:txBody>
      </p:sp>
      <p:sp>
        <p:nvSpPr>
          <p:cNvPr id="81" name="TextBox 80">
            <a:hlinkClick action="ppaction://hlinksldjump" r:id="rId3"/>
          </p:cNvPr>
          <p:cNvSpPr txBox="1"/>
          <p:nvPr/>
        </p:nvSpPr>
        <p:spPr>
          <a:xfrm>
            <a:off x="10719895" y="2532888"/>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p.49</a:t>
            </a:r>
          </a:p>
        </p:txBody>
      </p:sp>
      <p:sp>
        <p:nvSpPr>
          <p:cNvPr id="82" name="Rectangle 81">
            <a:hlinkClick action="ppaction://hlinksldjump" r:id="rId3"/>
          </p:cNvPr>
          <p:cNvSpPr/>
          <p:nvPr/>
        </p:nvSpPr>
        <p:spPr>
          <a:xfrm>
            <a:off x="841248" y="2313432"/>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958815" y="2953512"/>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A holding company trading at a steep discount to its investment book with no debt, but no catalyst to close that discount and no dividend history, too small a position to justify the wait.</a:t>
            </a:r>
          </a:p>
        </p:txBody>
      </p:sp>
      <p:sp>
        <p:nvSpPr>
          <p:cNvPr id="84" name="TextBox 83">
            <a:hlinkClick action="ppaction://hlinksldjump" r:id="rId4"/>
          </p:cNvPr>
          <p:cNvSpPr txBox="1"/>
          <p:nvPr/>
        </p:nvSpPr>
        <p:spPr>
          <a:xfrm>
            <a:off x="10719895" y="3099816"/>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p.50</a:t>
            </a:r>
          </a:p>
        </p:txBody>
      </p:sp>
      <p:sp>
        <p:nvSpPr>
          <p:cNvPr id="85" name="Rectangle 84">
            <a:hlinkClick action="ppaction://hlinksldjump" r:id="rId4"/>
          </p:cNvPr>
          <p:cNvSpPr/>
          <p:nvPr/>
        </p:nvSpPr>
        <p:spPr>
          <a:xfrm>
            <a:off x="841248" y="2880360"/>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958815" y="3520440"/>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Still loss-making over the last two quarters with negative return on equity; the bull case rests on an unlisted media stake with no public valuation, a story, not yet a thesis.</a:t>
            </a:r>
          </a:p>
        </p:txBody>
      </p:sp>
      <p:sp>
        <p:nvSpPr>
          <p:cNvPr id="87" name="TextBox 86">
            <a:hlinkClick action="ppaction://hlinksldjump" r:id="rId5"/>
          </p:cNvPr>
          <p:cNvSpPr txBox="1"/>
          <p:nvPr/>
        </p:nvSpPr>
        <p:spPr>
          <a:xfrm>
            <a:off x="10719895" y="3666744"/>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p.51</a:t>
            </a:r>
          </a:p>
        </p:txBody>
      </p:sp>
      <p:sp>
        <p:nvSpPr>
          <p:cNvPr id="88" name="Rectangle 87">
            <a:hlinkClick action="ppaction://hlinksldjump" r:id="rId5"/>
          </p:cNvPr>
          <p:cNvSpPr/>
          <p:nvPr/>
        </p:nvSpPr>
        <p:spPr>
          <a:xfrm>
            <a:off x="841248" y="3447288"/>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958815" y="4087368"/>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Trading at a rich ~129x earnings against an 11% return on equity, with promoter holding diluted through repeated share issuances and both revenue and profit declining quarter-on-quarter.</a:t>
            </a:r>
          </a:p>
        </p:txBody>
      </p:sp>
      <p:sp>
        <p:nvSpPr>
          <p:cNvPr id="90" name="TextBox 89">
            <a:hlinkClick action="ppaction://hlinksldjump" r:id="rId6"/>
          </p:cNvPr>
          <p:cNvSpPr txBox="1"/>
          <p:nvPr/>
        </p:nvSpPr>
        <p:spPr>
          <a:xfrm>
            <a:off x="10719895" y="4233672"/>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p.52</a:t>
            </a:r>
          </a:p>
        </p:txBody>
      </p:sp>
      <p:sp>
        <p:nvSpPr>
          <p:cNvPr id="91" name="Rectangle 90">
            <a:hlinkClick action="ppaction://hlinksldjump" r:id="rId6"/>
          </p:cNvPr>
          <p:cNvSpPr/>
          <p:nvPr/>
        </p:nvSpPr>
        <p:spPr>
          <a:xfrm>
            <a:off x="841248" y="4014216"/>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958815" y="4654296"/>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A large expansion programme (over 5,000MW under construction against ~3,100MW already live) is funded at a stretched debt-to-equity of ~2.3x, while the stock trades near 43x earnings, priced for flawless execution.</a:t>
            </a:r>
          </a:p>
        </p:txBody>
      </p:sp>
      <p:sp>
        <p:nvSpPr>
          <p:cNvPr id="93" name="TextBox 92">
            <a:hlinkClick action="ppaction://hlinksldjump" r:id="rId7"/>
          </p:cNvPr>
          <p:cNvSpPr txBox="1"/>
          <p:nvPr/>
        </p:nvSpPr>
        <p:spPr>
          <a:xfrm>
            <a:off x="10719895" y="4800600"/>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p.46</a:t>
            </a:r>
          </a:p>
        </p:txBody>
      </p:sp>
      <p:sp>
        <p:nvSpPr>
          <p:cNvPr id="94" name="Rectangle 93">
            <a:hlinkClick action="ppaction://hlinksldjump" r:id="rId7"/>
          </p:cNvPr>
          <p:cNvSpPr/>
          <p:nvPr/>
        </p:nvSpPr>
        <p:spPr>
          <a:xfrm>
            <a:off x="841248" y="4581144"/>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Each row links to the name's full rationale page (score panel, the case, the bull we rejected, valuation check).</a:t>
            </a:r>
          </a:p>
        </p:txBody>
      </p:sp>
      <p:sp>
        <p:nvSpPr>
          <p:cNvPr id="96" name="TextBox 95"/>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we would sell</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names we would sell, and the case for each  (3 of 3)</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17</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2026-07-27</a:t>
            </a:r>
          </a:p>
        </p:txBody>
      </p:sp>
      <p:sp>
        <p:nvSpPr>
          <p:cNvPr id="17" name="TextBox 16"/>
          <p:cNvSpPr txBox="1"/>
          <p:nvPr/>
        </p:nvSpPr>
        <p:spPr>
          <a:xfrm>
            <a:off x="841248" y="1682496"/>
            <a:ext cx="10509199" cy="219456"/>
          </a:xfrm>
          <a:prstGeom prst="rect">
            <a:avLst/>
          </a:prstGeom>
          <a:noFill/>
        </p:spPr>
        <p:txBody>
          <a:bodyPr wrap="square" anchor="t" lIns="0" rIns="0" tIns="0" bIns="0">
            <a:spAutoFit/>
          </a:bodyPr>
          <a:lstStyle/>
          <a:p>
            <a:pPr algn="l">
              <a:spcBef>
                <a:spcPts val="0"/>
              </a:spcBef>
              <a:spcAft>
                <a:spcPts val="0"/>
              </a:spcAft>
            </a:pPr>
            <a:r>
              <a:rPr sz="1050" b="0" i="1">
                <a:solidFill>
                  <a:srgbClr val="6B7280"/>
                </a:solidFill>
                <a:latin typeface="Georgia"/>
              </a:rPr>
              <a:t>Confirmed Sells only. Two lines carry the case; the linked page carries the full reasoning.</a:t>
            </a:r>
          </a:p>
        </p:txBody>
      </p:sp>
      <p:sp>
        <p:nvSpPr>
          <p:cNvPr id="18" name="TextBox 17"/>
          <p:cNvSpPr txBox="1"/>
          <p:nvPr/>
        </p:nvSpPr>
        <p:spPr>
          <a:xfrm>
            <a:off x="914400" y="2029968"/>
            <a:ext cx="19555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19" name="TextBox 18"/>
          <p:cNvSpPr txBox="1"/>
          <p:nvPr/>
        </p:nvSpPr>
        <p:spPr>
          <a:xfrm>
            <a:off x="3016239"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0" name="TextBox 19"/>
          <p:cNvSpPr txBox="1"/>
          <p:nvPr/>
        </p:nvSpPr>
        <p:spPr>
          <a:xfrm>
            <a:off x="3646791" y="2029968"/>
            <a:ext cx="121989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SCORE</a:t>
            </a:r>
          </a:p>
        </p:txBody>
      </p:sp>
      <p:sp>
        <p:nvSpPr>
          <p:cNvPr id="21" name="TextBox 20"/>
          <p:cNvSpPr txBox="1"/>
          <p:nvPr/>
        </p:nvSpPr>
        <p:spPr>
          <a:xfrm>
            <a:off x="5012987" y="2029968"/>
            <a:ext cx="79952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CALL</a:t>
            </a:r>
          </a:p>
        </p:txBody>
      </p:sp>
      <p:sp>
        <p:nvSpPr>
          <p:cNvPr id="22" name="TextBox 21"/>
          <p:cNvSpPr txBox="1"/>
          <p:nvPr/>
        </p:nvSpPr>
        <p:spPr>
          <a:xfrm>
            <a:off x="5958815" y="2029968"/>
            <a:ext cx="4687927"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THE CASE</a:t>
            </a:r>
          </a:p>
        </p:txBody>
      </p:sp>
      <p:sp>
        <p:nvSpPr>
          <p:cNvPr id="23" name="TextBox 22"/>
          <p:cNvSpPr txBox="1"/>
          <p:nvPr/>
        </p:nvSpPr>
        <p:spPr>
          <a:xfrm>
            <a:off x="10793047" y="2029968"/>
            <a:ext cx="48424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DETAIL</a:t>
            </a:r>
          </a:p>
        </p:txBody>
      </p:sp>
      <p:sp>
        <p:nvSpPr>
          <p:cNvPr id="24" name="Rectangle 23"/>
          <p:cNvSpPr/>
          <p:nvPr/>
        </p:nvSpPr>
        <p:spPr>
          <a:xfrm>
            <a:off x="841248" y="228600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331720"/>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Mufin Green Finance Ltd.</a:t>
            </a:r>
          </a:p>
        </p:txBody>
      </p:sp>
      <p:sp>
        <p:nvSpPr>
          <p:cNvPr id="26" name="TextBox 25"/>
          <p:cNvSpPr txBox="1"/>
          <p:nvPr/>
        </p:nvSpPr>
        <p:spPr>
          <a:xfrm>
            <a:off x="3016239"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0.0</a:t>
            </a:r>
          </a:p>
        </p:txBody>
      </p:sp>
      <p:sp>
        <p:nvSpPr>
          <p:cNvPr id="27" name="Rectangle 26"/>
          <p:cNvSpPr/>
          <p:nvPr/>
        </p:nvSpPr>
        <p:spPr>
          <a:xfrm>
            <a:off x="3646791" y="25968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46791" y="2596896"/>
            <a:ext cx="12801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02823" y="25694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50879" y="25191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20</a:t>
            </a:r>
          </a:p>
        </p:txBody>
      </p:sp>
      <p:sp>
        <p:nvSpPr>
          <p:cNvPr id="31" name="Rounded Rectangle 30"/>
          <p:cNvSpPr/>
          <p:nvPr/>
        </p:nvSpPr>
        <p:spPr>
          <a:xfrm>
            <a:off x="5012987" y="2496312"/>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12987" y="2490825"/>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3" name="TextBox 32"/>
          <p:cNvSpPr txBox="1"/>
          <p:nvPr/>
        </p:nvSpPr>
        <p:spPr>
          <a:xfrm>
            <a:off x="5958815" y="2331720"/>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34" name="TextBox 33"/>
          <p:cNvSpPr txBox="1"/>
          <p:nvPr/>
        </p:nvSpPr>
        <p:spPr>
          <a:xfrm>
            <a:off x="10793047" y="2331720"/>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35" name="Rectangle 34"/>
          <p:cNvSpPr/>
          <p:nvPr/>
        </p:nvSpPr>
        <p:spPr>
          <a:xfrm>
            <a:off x="841248" y="28803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2898648"/>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ICICI Prudential Nifty 200 Momentum 30 ETF</a:t>
            </a:r>
          </a:p>
        </p:txBody>
      </p:sp>
      <p:sp>
        <p:nvSpPr>
          <p:cNvPr id="37" name="TextBox 36"/>
          <p:cNvSpPr txBox="1"/>
          <p:nvPr/>
        </p:nvSpPr>
        <p:spPr>
          <a:xfrm>
            <a:off x="3016239"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0.0</a:t>
            </a:r>
          </a:p>
        </p:txBody>
      </p:sp>
      <p:sp>
        <p:nvSpPr>
          <p:cNvPr id="38" name="Rectangle 37"/>
          <p:cNvSpPr/>
          <p:nvPr/>
        </p:nvSpPr>
        <p:spPr>
          <a:xfrm>
            <a:off x="3646791" y="31638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46791" y="3163824"/>
            <a:ext cx="22402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02823" y="31363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50879" y="30861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35</a:t>
            </a:r>
          </a:p>
        </p:txBody>
      </p:sp>
      <p:sp>
        <p:nvSpPr>
          <p:cNvPr id="42" name="Rounded Rectangle 41"/>
          <p:cNvSpPr/>
          <p:nvPr/>
        </p:nvSpPr>
        <p:spPr>
          <a:xfrm>
            <a:off x="5012987" y="3063240"/>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12987" y="3057753"/>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44" name="TextBox 43"/>
          <p:cNvSpPr txBox="1"/>
          <p:nvPr/>
        </p:nvSpPr>
        <p:spPr>
          <a:xfrm>
            <a:off x="5958815" y="2898648"/>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45" name="TextBox 44"/>
          <p:cNvSpPr txBox="1"/>
          <p:nvPr/>
        </p:nvSpPr>
        <p:spPr>
          <a:xfrm>
            <a:off x="10793047" y="2898648"/>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46" name="Rectangle 45"/>
          <p:cNvSpPr/>
          <p:nvPr/>
        </p:nvSpPr>
        <p:spPr>
          <a:xfrm>
            <a:off x="841248" y="344728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400" y="3465576"/>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Prag Bosimi Synthetics Ltd.</a:t>
            </a:r>
          </a:p>
        </p:txBody>
      </p:sp>
      <p:sp>
        <p:nvSpPr>
          <p:cNvPr id="48" name="TextBox 47"/>
          <p:cNvSpPr txBox="1"/>
          <p:nvPr/>
        </p:nvSpPr>
        <p:spPr>
          <a:xfrm>
            <a:off x="3016239"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0.0</a:t>
            </a:r>
          </a:p>
        </p:txBody>
      </p:sp>
      <p:sp>
        <p:nvSpPr>
          <p:cNvPr id="49" name="Rectangle 48"/>
          <p:cNvSpPr/>
          <p:nvPr/>
        </p:nvSpPr>
        <p:spPr>
          <a:xfrm>
            <a:off x="3646791" y="37307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646791" y="3730752"/>
            <a:ext cx="3200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902823" y="37033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50879" y="36530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a:t>
            </a:r>
          </a:p>
        </p:txBody>
      </p:sp>
      <p:sp>
        <p:nvSpPr>
          <p:cNvPr id="53" name="Rounded Rectangle 52"/>
          <p:cNvSpPr/>
          <p:nvPr/>
        </p:nvSpPr>
        <p:spPr>
          <a:xfrm>
            <a:off x="5012987" y="3630168"/>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12987" y="3624681"/>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5" name="TextBox 54"/>
          <p:cNvSpPr txBox="1"/>
          <p:nvPr/>
        </p:nvSpPr>
        <p:spPr>
          <a:xfrm>
            <a:off x="5958815" y="3465576"/>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56" name="TextBox 55"/>
          <p:cNvSpPr txBox="1"/>
          <p:nvPr/>
        </p:nvSpPr>
        <p:spPr>
          <a:xfrm>
            <a:off x="10793047" y="3465576"/>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57" name="Rectangle 56"/>
          <p:cNvSpPr/>
          <p:nvPr/>
        </p:nvSpPr>
        <p:spPr>
          <a:xfrm>
            <a:off x="841248" y="401421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4400" y="4032504"/>
            <a:ext cx="1955535"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Reliance Power Ltd.</a:t>
            </a:r>
          </a:p>
        </p:txBody>
      </p:sp>
      <p:sp>
        <p:nvSpPr>
          <p:cNvPr id="59" name="TextBox 58"/>
          <p:cNvSpPr txBox="1"/>
          <p:nvPr/>
        </p:nvSpPr>
        <p:spPr>
          <a:xfrm>
            <a:off x="3016239"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Bahnschrift"/>
              </a:rPr>
              <a:t>0.0</a:t>
            </a:r>
          </a:p>
        </p:txBody>
      </p:sp>
      <p:sp>
        <p:nvSpPr>
          <p:cNvPr id="60" name="Rectangle 59"/>
          <p:cNvSpPr/>
          <p:nvPr/>
        </p:nvSpPr>
        <p:spPr>
          <a:xfrm>
            <a:off x="3646791" y="429768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646791" y="4297680"/>
            <a:ext cx="24515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3902823" y="42702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350879" y="42199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38</a:t>
            </a:r>
          </a:p>
        </p:txBody>
      </p:sp>
      <p:sp>
        <p:nvSpPr>
          <p:cNvPr id="64" name="Rounded Rectangle 63"/>
          <p:cNvSpPr/>
          <p:nvPr/>
        </p:nvSpPr>
        <p:spPr>
          <a:xfrm>
            <a:off x="5012987" y="4197096"/>
            <a:ext cx="799523"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12987" y="4191609"/>
            <a:ext cx="799523"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66" name="TextBox 65"/>
          <p:cNvSpPr txBox="1"/>
          <p:nvPr/>
        </p:nvSpPr>
        <p:spPr>
          <a:xfrm>
            <a:off x="5958815" y="4032504"/>
            <a:ext cx="4687927"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67" name="TextBox 66"/>
          <p:cNvSpPr txBox="1"/>
          <p:nvPr/>
        </p:nvSpPr>
        <p:spPr>
          <a:xfrm>
            <a:off x="10793047" y="4032504"/>
            <a:ext cx="484247" cy="566928"/>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
            </a:r>
          </a:p>
        </p:txBody>
      </p:sp>
      <p:sp>
        <p:nvSpPr>
          <p:cNvPr id="68" name="Rectangle 67"/>
          <p:cNvSpPr/>
          <p:nvPr/>
        </p:nvSpPr>
        <p:spPr>
          <a:xfrm>
            <a:off x="841248" y="45811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958815" y="2386584"/>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A steep mismatch between price (~88x earnings) and quality (under 7% return on equity), with negative operating cash flow despite a reported accounting profit.</a:t>
            </a:r>
          </a:p>
        </p:txBody>
      </p:sp>
      <p:sp>
        <p:nvSpPr>
          <p:cNvPr id="70" name="TextBox 69">
            <a:hlinkClick action="ppaction://hlinksldjump" r:id="rId3"/>
          </p:cNvPr>
          <p:cNvSpPr txBox="1"/>
          <p:nvPr/>
        </p:nvSpPr>
        <p:spPr>
          <a:xfrm>
            <a:off x="10719895" y="2532888"/>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p.53</a:t>
            </a:r>
          </a:p>
        </p:txBody>
      </p:sp>
      <p:sp>
        <p:nvSpPr>
          <p:cNvPr id="71" name="Rectangle 70">
            <a:hlinkClick action="ppaction://hlinksldjump" r:id="rId3"/>
          </p:cNvPr>
          <p:cNvSpPr/>
          <p:nvPr/>
        </p:nvSpPr>
        <p:spPr>
          <a:xfrm>
            <a:off x="841248" y="2313432"/>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958815" y="2953512"/>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A liquid, well-tracked momentum ETF; momentum factors carry a regime-dependent risk our house view treats as a standing exception, so this one stays a Sell while other factor funds in this account are Held.</a:t>
            </a:r>
          </a:p>
        </p:txBody>
      </p:sp>
      <p:sp>
        <p:nvSpPr>
          <p:cNvPr id="73" name="TextBox 72">
            <a:hlinkClick action="ppaction://hlinksldjump" r:id="rId4"/>
          </p:cNvPr>
          <p:cNvSpPr txBox="1"/>
          <p:nvPr/>
        </p:nvSpPr>
        <p:spPr>
          <a:xfrm>
            <a:off x="10719895" y="3099816"/>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p.55</a:t>
            </a:r>
          </a:p>
        </p:txBody>
      </p:sp>
      <p:sp>
        <p:nvSpPr>
          <p:cNvPr id="74" name="Rectangle 73">
            <a:hlinkClick action="ppaction://hlinksldjump" r:id="rId4"/>
          </p:cNvPr>
          <p:cNvSpPr/>
          <p:nvPr/>
        </p:nvSpPr>
        <p:spPr>
          <a:xfrm>
            <a:off x="841248" y="2880360"/>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958815" y="3520440"/>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Negative net worth and negative return on capital, and the company's own auditors have flagged material doubt over its ability to continue as a going concern.</a:t>
            </a:r>
          </a:p>
        </p:txBody>
      </p:sp>
      <p:sp>
        <p:nvSpPr>
          <p:cNvPr id="76" name="TextBox 75">
            <a:hlinkClick action="ppaction://hlinksldjump" r:id="rId5"/>
          </p:cNvPr>
          <p:cNvSpPr txBox="1"/>
          <p:nvPr/>
        </p:nvSpPr>
        <p:spPr>
          <a:xfrm>
            <a:off x="10719895" y="3666744"/>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p.54</a:t>
            </a:r>
          </a:p>
        </p:txBody>
      </p:sp>
      <p:sp>
        <p:nvSpPr>
          <p:cNvPr id="77" name="Rectangle 76">
            <a:hlinkClick action="ppaction://hlinksldjump" r:id="rId5"/>
          </p:cNvPr>
          <p:cNvSpPr/>
          <p:nvPr/>
        </p:nvSpPr>
        <p:spPr>
          <a:xfrm>
            <a:off x="841248" y="3447288"/>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958815" y="4087368"/>
            <a:ext cx="4687927" cy="457200"/>
          </a:xfrm>
          <a:prstGeom prst="rect">
            <a:avLst/>
          </a:prstGeom>
          <a:noFill/>
        </p:spPr>
        <p:txBody>
          <a:bodyPr wrap="square" anchor="ctr" lIns="0" rIns="0" tIns="0" bIns="0">
            <a:spAutoFit/>
          </a:bodyPr>
          <a:lstStyle/>
          <a:p>
            <a:pPr algn="l">
              <a:lnSpc>
                <a:spcPct val="105000"/>
              </a:lnSpc>
              <a:spcBef>
                <a:spcPts val="0"/>
              </a:spcBef>
              <a:spcAft>
                <a:spcPts val="0"/>
              </a:spcAft>
            </a:pPr>
            <a:r>
              <a:rPr sz="900" b="0" i="0">
                <a:solidFill>
                  <a:srgbClr val="16233B"/>
                </a:solidFill>
                <a:latin typeface="Georgia"/>
              </a:rPr>
              <a:t>The weakest quality score of the names reviewed, negative earnings, three years of flat revenue and a 62% price decline over the past year; balance-sheet risk flagged.</a:t>
            </a:r>
          </a:p>
        </p:txBody>
      </p:sp>
      <p:sp>
        <p:nvSpPr>
          <p:cNvPr id="79" name="TextBox 78">
            <a:hlinkClick action="ppaction://hlinksldjump" r:id="rId6"/>
          </p:cNvPr>
          <p:cNvSpPr txBox="1"/>
          <p:nvPr/>
        </p:nvSpPr>
        <p:spPr>
          <a:xfrm>
            <a:off x="10719895" y="4233672"/>
            <a:ext cx="575687" cy="182880"/>
          </a:xfrm>
          <a:prstGeom prst="rect">
            <a:avLst/>
          </a:prstGeom>
          <a:noFill/>
        </p:spPr>
        <p:txBody>
          <a:bodyPr wrap="none" anchor="t" lIns="0" rIns="0" tIns="0" bIns="0">
            <a:spAutoFit/>
          </a:bodyPr>
          <a:lstStyle/>
          <a:p>
            <a:pPr algn="r">
              <a:spcBef>
                <a:spcPts val="0"/>
              </a:spcBef>
              <a:spcAft>
                <a:spcPts val="0"/>
              </a:spcAft>
            </a:pPr>
            <a:r>
              <a:rPr sz="800" b="1" i="0">
                <a:solidFill>
                  <a:srgbClr val="8C95DE"/>
                </a:solidFill>
                <a:latin typeface="Bahnschrift"/>
              </a:rPr>
              <a:t>p.47</a:t>
            </a:r>
          </a:p>
        </p:txBody>
      </p:sp>
      <p:sp>
        <p:nvSpPr>
          <p:cNvPr id="80" name="Rectangle 79">
            <a:hlinkClick action="ppaction://hlinksldjump" r:id="rId6"/>
          </p:cNvPr>
          <p:cNvSpPr/>
          <p:nvPr/>
        </p:nvSpPr>
        <p:spPr>
          <a:xfrm>
            <a:off x="841248" y="4014216"/>
            <a:ext cx="10509199" cy="566928"/>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Each row links to the name's full rationale page (score panel, the case, the bull we rejected, valuation check).</a:t>
            </a:r>
          </a:p>
        </p:txBody>
      </p:sp>
      <p:sp>
        <p:nvSpPr>
          <p:cNvPr id="82" name="TextBox 81"/>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02 · EQUITY</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stays, and why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stays, and why, core conviction versus watch</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18</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2026-07-27</a:t>
            </a:r>
          </a:p>
        </p:txBody>
      </p:sp>
      <p:sp>
        <p:nvSpPr>
          <p:cNvPr id="17" name="TextBox 16"/>
          <p:cNvSpPr txBox="1"/>
          <p:nvPr/>
        </p:nvSpPr>
        <p:spPr>
          <a:xfrm>
            <a:off x="841248" y="1645920"/>
            <a:ext cx="10509199" cy="237744"/>
          </a:xfrm>
          <a:prstGeom prst="rect">
            <a:avLst/>
          </a:prstGeom>
          <a:noFill/>
        </p:spPr>
        <p:txBody>
          <a:bodyPr wrap="square" anchor="t" lIns="0" rIns="0" tIns="0" bIns="0">
            <a:spAutoFit/>
          </a:bodyPr>
          <a:lstStyle/>
          <a:p>
            <a:pPr algn="l">
              <a:spcBef>
                <a:spcPts val="0"/>
              </a:spcBef>
              <a:spcAft>
                <a:spcPts val="0"/>
              </a:spcAft>
            </a:pPr>
            <a:r>
              <a:rPr sz="1050" b="0" i="1">
                <a:solidFill>
                  <a:srgbClr val="6B7280"/>
                </a:solidFill>
                <a:latin typeface="Georgia"/>
              </a:rPr>
              <a:t>Our Holds, grouped by conviction. Each name pairs its Ionic Score with a one-line read.</a:t>
            </a:r>
          </a:p>
        </p:txBody>
      </p:sp>
      <p:sp>
        <p:nvSpPr>
          <p:cNvPr id="18" name="Rectangle 17"/>
          <p:cNvSpPr/>
          <p:nvPr/>
        </p:nvSpPr>
        <p:spPr>
          <a:xfrm>
            <a:off x="6095847" y="2048256"/>
            <a:ext cx="7315" cy="379476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1248" y="2048256"/>
            <a:ext cx="109728" cy="182880"/>
          </a:xfrm>
          <a:prstGeom prst="roundRect">
            <a:avLst>
              <a:gd name="adj" fmla="val 20000"/>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2029968"/>
            <a:ext cx="4843119" cy="219456"/>
          </a:xfrm>
          <a:prstGeom prst="rect">
            <a:avLst/>
          </a:prstGeom>
          <a:noFill/>
        </p:spPr>
        <p:txBody>
          <a:bodyPr wrap="square" anchor="ctr" lIns="0" rIns="0" tIns="0" bIns="0">
            <a:spAutoFit/>
          </a:bodyPr>
          <a:lstStyle/>
          <a:p>
            <a:pPr algn="l">
              <a:spcBef>
                <a:spcPts val="0"/>
              </a:spcBef>
              <a:spcAft>
                <a:spcPts val="0"/>
              </a:spcAft>
            </a:pPr>
            <a:r>
              <a:rPr sz="1000" b="1" i="0" spc="40">
                <a:solidFill>
                  <a:srgbClr val="1E9E6A"/>
                </a:solidFill>
                <a:latin typeface="Bahnschrift"/>
              </a:rPr>
              <a:t>CORE, high conviction</a:t>
            </a:r>
          </a:p>
        </p:txBody>
      </p:sp>
      <p:sp>
        <p:nvSpPr>
          <p:cNvPr id="21" name="TextBox 20"/>
          <p:cNvSpPr txBox="1"/>
          <p:nvPr/>
        </p:nvSpPr>
        <p:spPr>
          <a:xfrm>
            <a:off x="841248" y="2066544"/>
            <a:ext cx="5025999" cy="182880"/>
          </a:xfrm>
          <a:prstGeom prst="rect">
            <a:avLst/>
          </a:prstGeom>
          <a:noFill/>
        </p:spPr>
        <p:txBody>
          <a:bodyPr wrap="square" anchor="t" lIns="0" rIns="0" tIns="0" bIns="0">
            <a:spAutoFit/>
          </a:bodyPr>
          <a:lstStyle/>
          <a:p>
            <a:pPr algn="r">
              <a:spcBef>
                <a:spcPts val="0"/>
              </a:spcBef>
              <a:spcAft>
                <a:spcPts val="0"/>
              </a:spcAft>
            </a:pPr>
            <a:r>
              <a:rPr sz="1000" b="1" i="0">
                <a:solidFill>
                  <a:srgbClr val="6B7280"/>
                </a:solidFill>
                <a:latin typeface="Bahnschrift"/>
              </a:rPr>
              <a:t>4</a:t>
            </a:r>
          </a:p>
        </p:txBody>
      </p:sp>
      <p:sp>
        <p:nvSpPr>
          <p:cNvPr id="22" name="TextBox 21"/>
          <p:cNvSpPr txBox="1"/>
          <p:nvPr/>
        </p:nvSpPr>
        <p:spPr>
          <a:xfrm>
            <a:off x="841248" y="237744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ICICI Bank Ltd.</a:t>
            </a:r>
            <a:r>
              <a:rPr sz="900" b="0" i="0">
                <a:solidFill>
                  <a:srgbClr val="6B7280"/>
                </a:solidFill>
                <a:latin typeface="Bahnschrift"/>
              </a:rPr>
              <a:t>   0.49%</a:t>
            </a:r>
          </a:p>
        </p:txBody>
      </p:sp>
      <p:sp>
        <p:nvSpPr>
          <p:cNvPr id="23" name="Rectangle 22"/>
          <p:cNvSpPr/>
          <p:nvPr/>
        </p:nvSpPr>
        <p:spPr>
          <a:xfrm>
            <a:off x="4678527" y="242316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78527" y="2423160"/>
            <a:ext cx="40325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952847" y="239572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28335" y="234543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59</a:t>
            </a:r>
          </a:p>
        </p:txBody>
      </p:sp>
      <p:sp>
        <p:nvSpPr>
          <p:cNvPr id="27" name="TextBox 26"/>
          <p:cNvSpPr txBox="1"/>
          <p:nvPr/>
        </p:nvSpPr>
        <p:spPr>
          <a:xfrm>
            <a:off x="841248" y="260146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Scores 59/100 on our quality/value/momentum framework, comfortably…</a:t>
            </a:r>
          </a:p>
        </p:txBody>
      </p:sp>
      <p:sp>
        <p:nvSpPr>
          <p:cNvPr id="28" name="Rectangle 27"/>
          <p:cNvSpPr/>
          <p:nvPr/>
        </p:nvSpPr>
        <p:spPr>
          <a:xfrm>
            <a:off x="841248" y="281178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 y="288036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State Bank of India</a:t>
            </a:r>
            <a:r>
              <a:rPr sz="900" b="0" i="0">
                <a:solidFill>
                  <a:srgbClr val="6B7280"/>
                </a:solidFill>
                <a:latin typeface="Bahnschrift"/>
              </a:rPr>
              <a:t>   0.32%</a:t>
            </a:r>
          </a:p>
        </p:txBody>
      </p:sp>
      <p:sp>
        <p:nvSpPr>
          <p:cNvPr id="30" name="Rectangle 29"/>
          <p:cNvSpPr/>
          <p:nvPr/>
        </p:nvSpPr>
        <p:spPr>
          <a:xfrm>
            <a:off x="4678527" y="292608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78527" y="2926080"/>
            <a:ext cx="47937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952847" y="28986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28335" y="28483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70</a:t>
            </a:r>
          </a:p>
        </p:txBody>
      </p:sp>
      <p:sp>
        <p:nvSpPr>
          <p:cNvPr id="34" name="TextBox 33"/>
          <p:cNvSpPr txBox="1"/>
          <p:nvPr/>
        </p:nvSpPr>
        <p:spPr>
          <a:xfrm>
            <a:off x="841248" y="310438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Scores 70/100 on our quality/value/momentum framework, comfortably…</a:t>
            </a:r>
          </a:p>
        </p:txBody>
      </p:sp>
      <p:sp>
        <p:nvSpPr>
          <p:cNvPr id="35" name="Rectangle 34"/>
          <p:cNvSpPr/>
          <p:nvPr/>
        </p:nvSpPr>
        <p:spPr>
          <a:xfrm>
            <a:off x="841248" y="331470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 y="338328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Bank of Maharashtra</a:t>
            </a:r>
            <a:r>
              <a:rPr sz="900" b="0" i="0">
                <a:solidFill>
                  <a:srgbClr val="6B7280"/>
                </a:solidFill>
                <a:latin typeface="Bahnschrift"/>
              </a:rPr>
              <a:t>   0.10%</a:t>
            </a:r>
          </a:p>
        </p:txBody>
      </p:sp>
      <p:sp>
        <p:nvSpPr>
          <p:cNvPr id="37" name="Rectangle 36"/>
          <p:cNvSpPr/>
          <p:nvPr/>
        </p:nvSpPr>
        <p:spPr>
          <a:xfrm>
            <a:off x="4678527" y="342900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678527" y="3429000"/>
            <a:ext cx="53903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952847" y="340156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28335" y="335127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79</a:t>
            </a:r>
          </a:p>
        </p:txBody>
      </p:sp>
      <p:sp>
        <p:nvSpPr>
          <p:cNvPr id="41" name="TextBox 40"/>
          <p:cNvSpPr txBox="1"/>
          <p:nvPr/>
        </p:nvSpPr>
        <p:spPr>
          <a:xfrm>
            <a:off x="841248" y="360730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Scores 79/100 on our quality/value/momentum framework, comfortably…</a:t>
            </a:r>
          </a:p>
        </p:txBody>
      </p:sp>
      <p:sp>
        <p:nvSpPr>
          <p:cNvPr id="42" name="Rectangle 41"/>
          <p:cNvSpPr/>
          <p:nvPr/>
        </p:nvSpPr>
        <p:spPr>
          <a:xfrm>
            <a:off x="841248" y="381762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1248" y="388620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ITC Ltd.</a:t>
            </a:r>
            <a:r>
              <a:rPr sz="900" b="0" i="0">
                <a:solidFill>
                  <a:srgbClr val="6B7280"/>
                </a:solidFill>
                <a:latin typeface="Bahnschrift"/>
              </a:rPr>
              <a:t>   0.01%</a:t>
            </a:r>
          </a:p>
        </p:txBody>
      </p:sp>
      <p:sp>
        <p:nvSpPr>
          <p:cNvPr id="44" name="Rectangle 43"/>
          <p:cNvSpPr/>
          <p:nvPr/>
        </p:nvSpPr>
        <p:spPr>
          <a:xfrm>
            <a:off x="4678527" y="393192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678527" y="3931920"/>
            <a:ext cx="40942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952847" y="3904487"/>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28335" y="38541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60</a:t>
            </a:r>
          </a:p>
        </p:txBody>
      </p:sp>
      <p:sp>
        <p:nvSpPr>
          <p:cNvPr id="48" name="TextBox 47"/>
          <p:cNvSpPr txBox="1"/>
          <p:nvPr/>
        </p:nvSpPr>
        <p:spPr>
          <a:xfrm>
            <a:off x="841248" y="411022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Scores 60/100 on our quality/value/momentum framework, comfortably…</a:t>
            </a:r>
          </a:p>
        </p:txBody>
      </p:sp>
      <p:sp>
        <p:nvSpPr>
          <p:cNvPr id="49" name="Rectangle 48"/>
          <p:cNvSpPr/>
          <p:nvPr/>
        </p:nvSpPr>
        <p:spPr>
          <a:xfrm>
            <a:off x="841248" y="432054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324447" y="2048256"/>
            <a:ext cx="109728" cy="182880"/>
          </a:xfrm>
          <a:prstGeom prst="roundRect">
            <a:avLst>
              <a:gd name="adj" fmla="val 20000"/>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07327" y="2029968"/>
            <a:ext cx="4843119" cy="219456"/>
          </a:xfrm>
          <a:prstGeom prst="rect">
            <a:avLst/>
          </a:prstGeom>
          <a:noFill/>
        </p:spPr>
        <p:txBody>
          <a:bodyPr wrap="square" anchor="ctr" lIns="0" rIns="0" tIns="0" bIns="0">
            <a:spAutoFit/>
          </a:bodyPr>
          <a:lstStyle/>
          <a:p>
            <a:pPr algn="l">
              <a:spcBef>
                <a:spcPts val="0"/>
              </a:spcBef>
              <a:spcAft>
                <a:spcPts val="0"/>
              </a:spcAft>
            </a:pPr>
            <a:r>
              <a:rPr sz="1000" b="1" i="0" spc="40">
                <a:solidFill>
                  <a:srgbClr val="6B7280"/>
                </a:solidFill>
                <a:latin typeface="Bahnschrift"/>
              </a:rPr>
              <a:t>WATCH, held, monitoring</a:t>
            </a:r>
          </a:p>
        </p:txBody>
      </p:sp>
      <p:sp>
        <p:nvSpPr>
          <p:cNvPr id="52" name="TextBox 51"/>
          <p:cNvSpPr txBox="1"/>
          <p:nvPr/>
        </p:nvSpPr>
        <p:spPr>
          <a:xfrm>
            <a:off x="6324447" y="2066544"/>
            <a:ext cx="5025999" cy="182880"/>
          </a:xfrm>
          <a:prstGeom prst="rect">
            <a:avLst/>
          </a:prstGeom>
          <a:noFill/>
        </p:spPr>
        <p:txBody>
          <a:bodyPr wrap="square" anchor="t" lIns="0" rIns="0" tIns="0" bIns="0">
            <a:spAutoFit/>
          </a:bodyPr>
          <a:lstStyle/>
          <a:p>
            <a:pPr algn="r">
              <a:spcBef>
                <a:spcPts val="0"/>
              </a:spcBef>
              <a:spcAft>
                <a:spcPts val="0"/>
              </a:spcAft>
            </a:pPr>
            <a:r>
              <a:rPr sz="1000" b="1" i="0">
                <a:solidFill>
                  <a:srgbClr val="6B7280"/>
                </a:solidFill>
                <a:latin typeface="Bahnschrift"/>
              </a:rPr>
              <a:t>7</a:t>
            </a:r>
          </a:p>
        </p:txBody>
      </p:sp>
      <p:sp>
        <p:nvSpPr>
          <p:cNvPr id="53" name="TextBox 52"/>
          <p:cNvSpPr txBox="1"/>
          <p:nvPr/>
        </p:nvSpPr>
        <p:spPr>
          <a:xfrm>
            <a:off x="6324447" y="237744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HDFC Bank Ltd.</a:t>
            </a:r>
            <a:r>
              <a:rPr sz="900" b="0" i="0">
                <a:solidFill>
                  <a:srgbClr val="6B7280"/>
                </a:solidFill>
                <a:latin typeface="Bahnschrift"/>
              </a:rPr>
              <a:t>   10.59%</a:t>
            </a:r>
          </a:p>
        </p:txBody>
      </p:sp>
      <p:sp>
        <p:nvSpPr>
          <p:cNvPr id="54" name="Rectangle 53"/>
          <p:cNvSpPr/>
          <p:nvPr/>
        </p:nvSpPr>
        <p:spPr>
          <a:xfrm>
            <a:off x="10161727" y="242316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161727" y="2423160"/>
            <a:ext cx="36347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436047" y="239572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911535" y="234543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53</a:t>
            </a:r>
          </a:p>
        </p:txBody>
      </p:sp>
      <p:sp>
        <p:nvSpPr>
          <p:cNvPr id="58" name="TextBox 57"/>
          <p:cNvSpPr txBox="1"/>
          <p:nvPr/>
        </p:nvSpPr>
        <p:spPr>
          <a:xfrm>
            <a:off x="6324447" y="260146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Scores 53/100 on our quality/value/momentum framework, comfortably…</a:t>
            </a:r>
          </a:p>
        </p:txBody>
      </p:sp>
      <p:sp>
        <p:nvSpPr>
          <p:cNvPr id="59" name="Rectangle 58"/>
          <p:cNvSpPr/>
          <p:nvPr/>
        </p:nvSpPr>
        <p:spPr>
          <a:xfrm>
            <a:off x="6324447" y="281178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324447" y="288036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Tata Consultancy Services Ltd.</a:t>
            </a:r>
            <a:r>
              <a:rPr sz="900" b="0" i="0">
                <a:solidFill>
                  <a:srgbClr val="6B7280"/>
                </a:solidFill>
                <a:latin typeface="Bahnschrift"/>
              </a:rPr>
              <a:t>   8.74%</a:t>
            </a:r>
          </a:p>
        </p:txBody>
      </p:sp>
      <p:sp>
        <p:nvSpPr>
          <p:cNvPr id="61" name="Rectangle 60"/>
          <p:cNvSpPr/>
          <p:nvPr/>
        </p:nvSpPr>
        <p:spPr>
          <a:xfrm>
            <a:off x="10161727" y="292608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161727" y="2926080"/>
            <a:ext cx="34701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436047" y="289864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911535" y="284835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51</a:t>
            </a:r>
          </a:p>
        </p:txBody>
      </p:sp>
      <p:sp>
        <p:nvSpPr>
          <p:cNvPr id="65" name="TextBox 64"/>
          <p:cNvSpPr txBox="1"/>
          <p:nvPr/>
        </p:nvSpPr>
        <p:spPr>
          <a:xfrm>
            <a:off x="6324447" y="310438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Scores 51/100 on our quality/value/momentum framework, comfortably…</a:t>
            </a:r>
          </a:p>
        </p:txBody>
      </p:sp>
      <p:sp>
        <p:nvSpPr>
          <p:cNvPr id="66" name="Rectangle 65"/>
          <p:cNvSpPr/>
          <p:nvPr/>
        </p:nvSpPr>
        <p:spPr>
          <a:xfrm>
            <a:off x="6324447" y="331470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24447" y="338328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IDFC First Bank Ltd.</a:t>
            </a:r>
            <a:r>
              <a:rPr sz="900" b="0" i="0">
                <a:solidFill>
                  <a:srgbClr val="6B7280"/>
                </a:solidFill>
                <a:latin typeface="Bahnschrift"/>
              </a:rPr>
              <a:t>   0.25%</a:t>
            </a:r>
          </a:p>
        </p:txBody>
      </p:sp>
      <p:sp>
        <p:nvSpPr>
          <p:cNvPr id="68" name="Rectangle 67"/>
          <p:cNvSpPr/>
          <p:nvPr/>
        </p:nvSpPr>
        <p:spPr>
          <a:xfrm>
            <a:off x="10161727" y="342900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10161727" y="3429000"/>
            <a:ext cx="34084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0436047" y="340156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911535" y="335127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72" name="TextBox 71"/>
          <p:cNvSpPr txBox="1"/>
          <p:nvPr/>
        </p:nvSpPr>
        <p:spPr>
          <a:xfrm>
            <a:off x="6324447" y="360730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Scores 50/100 on our quality/value/momentum framework, comfortably…</a:t>
            </a:r>
          </a:p>
        </p:txBody>
      </p:sp>
      <p:sp>
        <p:nvSpPr>
          <p:cNvPr id="73" name="Rectangle 72"/>
          <p:cNvSpPr/>
          <p:nvPr/>
        </p:nvSpPr>
        <p:spPr>
          <a:xfrm>
            <a:off x="6324447" y="381762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324447" y="388620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Tata Steel Ltd.</a:t>
            </a:r>
            <a:r>
              <a:rPr sz="900" b="0" i="0">
                <a:solidFill>
                  <a:srgbClr val="6B7280"/>
                </a:solidFill>
                <a:latin typeface="Bahnschrift"/>
              </a:rPr>
              <a:t>   0.17%</a:t>
            </a:r>
          </a:p>
        </p:txBody>
      </p:sp>
      <p:sp>
        <p:nvSpPr>
          <p:cNvPr id="75" name="Rectangle 74"/>
          <p:cNvSpPr/>
          <p:nvPr/>
        </p:nvSpPr>
        <p:spPr>
          <a:xfrm>
            <a:off x="10161727" y="393192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161727" y="3931920"/>
            <a:ext cx="35181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436047" y="3904487"/>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911535" y="38541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51</a:t>
            </a:r>
          </a:p>
        </p:txBody>
      </p:sp>
      <p:sp>
        <p:nvSpPr>
          <p:cNvPr id="79" name="TextBox 78"/>
          <p:cNvSpPr txBox="1"/>
          <p:nvPr/>
        </p:nvSpPr>
        <p:spPr>
          <a:xfrm>
            <a:off x="6324447" y="411022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  analyst override of the quant Sell.</a:t>
            </a:r>
          </a:p>
        </p:txBody>
      </p:sp>
      <p:sp>
        <p:nvSpPr>
          <p:cNvPr id="80" name="Rectangle 79"/>
          <p:cNvSpPr/>
          <p:nvPr/>
        </p:nvSpPr>
        <p:spPr>
          <a:xfrm>
            <a:off x="6324447" y="4320540"/>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324447" y="438912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NTPC Ltd.</a:t>
            </a:r>
            <a:r>
              <a:rPr sz="900" b="0" i="0">
                <a:solidFill>
                  <a:srgbClr val="6B7280"/>
                </a:solidFill>
                <a:latin typeface="Bahnschrift"/>
              </a:rPr>
              <a:t>   0.11%</a:t>
            </a:r>
          </a:p>
        </p:txBody>
      </p:sp>
      <p:sp>
        <p:nvSpPr>
          <p:cNvPr id="82" name="Rectangle 81"/>
          <p:cNvSpPr/>
          <p:nvPr/>
        </p:nvSpPr>
        <p:spPr>
          <a:xfrm>
            <a:off x="10161727" y="4434840"/>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0161727" y="4434840"/>
            <a:ext cx="30998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10436047" y="4407407"/>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911535" y="435711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45</a:t>
            </a:r>
          </a:p>
        </p:txBody>
      </p:sp>
      <p:sp>
        <p:nvSpPr>
          <p:cNvPr id="86" name="TextBox 85"/>
          <p:cNvSpPr txBox="1"/>
          <p:nvPr/>
        </p:nvSpPr>
        <p:spPr>
          <a:xfrm>
            <a:off x="6324447" y="461314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  analyst override of the quant Sell.</a:t>
            </a:r>
          </a:p>
        </p:txBody>
      </p:sp>
      <p:sp>
        <p:nvSpPr>
          <p:cNvPr id="87" name="Rectangle 86"/>
          <p:cNvSpPr/>
          <p:nvPr/>
        </p:nvSpPr>
        <p:spPr>
          <a:xfrm>
            <a:off x="6324447" y="4823459"/>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324447" y="4892040"/>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Bharat Electronics Ltd.</a:t>
            </a:r>
            <a:r>
              <a:rPr sz="900" b="0" i="0">
                <a:solidFill>
                  <a:srgbClr val="6B7280"/>
                </a:solidFill>
                <a:latin typeface="Bahnschrift"/>
              </a:rPr>
              <a:t>   0.07%</a:t>
            </a:r>
          </a:p>
        </p:txBody>
      </p:sp>
      <p:sp>
        <p:nvSpPr>
          <p:cNvPr id="89" name="Rectangle 88"/>
          <p:cNvSpPr/>
          <p:nvPr/>
        </p:nvSpPr>
        <p:spPr>
          <a:xfrm>
            <a:off x="10161727" y="4937759"/>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161727" y="4937759"/>
            <a:ext cx="39707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0436047" y="4910327"/>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0911535" y="486003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58</a:t>
            </a:r>
          </a:p>
        </p:txBody>
      </p:sp>
      <p:sp>
        <p:nvSpPr>
          <p:cNvPr id="93" name="TextBox 92"/>
          <p:cNvSpPr txBox="1"/>
          <p:nvPr/>
        </p:nvSpPr>
        <p:spPr>
          <a:xfrm>
            <a:off x="6324447" y="511606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Scores 58/100 on our quality/value/momentum framework, comfortably…</a:t>
            </a:r>
          </a:p>
        </p:txBody>
      </p:sp>
      <p:sp>
        <p:nvSpPr>
          <p:cNvPr id="94" name="Rectangle 93"/>
          <p:cNvSpPr/>
          <p:nvPr/>
        </p:nvSpPr>
        <p:spPr>
          <a:xfrm>
            <a:off x="6324447" y="5326379"/>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24447" y="5394959"/>
            <a:ext cx="3654399" cy="219456"/>
          </a:xfrm>
          <a:prstGeom prst="rect">
            <a:avLst/>
          </a:prstGeom>
          <a:noFill/>
        </p:spPr>
        <p:txBody>
          <a:bodyPr wrap="square" anchor="ctr" lIns="0" rIns="0" tIns="0" bIns="0">
            <a:spAutoFit/>
          </a:bodyPr>
          <a:lstStyle/>
          <a:p>
            <a:pPr algn="l">
              <a:spcBef>
                <a:spcPts val="0"/>
              </a:spcBef>
              <a:spcAft>
                <a:spcPts val="0"/>
              </a:spcAft>
            </a:pPr>
            <a:r>
              <a:rPr sz="1050" b="1" i="0">
                <a:solidFill>
                  <a:srgbClr val="16233B"/>
                </a:solidFill>
                <a:latin typeface="Bahnschrift"/>
              </a:rPr>
              <a:t>IDBI Bank Ltd.</a:t>
            </a:r>
            <a:r>
              <a:rPr sz="900" b="0" i="0">
                <a:solidFill>
                  <a:srgbClr val="6B7280"/>
                </a:solidFill>
                <a:latin typeface="Bahnschrift"/>
              </a:rPr>
              <a:t>   0.05%</a:t>
            </a:r>
          </a:p>
        </p:txBody>
      </p:sp>
      <p:sp>
        <p:nvSpPr>
          <p:cNvPr id="96" name="Rectangle 95"/>
          <p:cNvSpPr/>
          <p:nvPr/>
        </p:nvSpPr>
        <p:spPr>
          <a:xfrm>
            <a:off x="10161727" y="5440679"/>
            <a:ext cx="68580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0161727" y="5440679"/>
            <a:ext cx="35798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0436047" y="5413247"/>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911535" y="5362955"/>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52</a:t>
            </a:r>
          </a:p>
        </p:txBody>
      </p:sp>
      <p:sp>
        <p:nvSpPr>
          <p:cNvPr id="100" name="TextBox 99"/>
          <p:cNvSpPr txBox="1"/>
          <p:nvPr/>
        </p:nvSpPr>
        <p:spPr>
          <a:xfrm>
            <a:off x="6324447" y="5618988"/>
            <a:ext cx="5025999" cy="201168"/>
          </a:xfrm>
          <a:prstGeom prst="rect">
            <a:avLst/>
          </a:prstGeom>
          <a:noFill/>
        </p:spPr>
        <p:txBody>
          <a:bodyPr wrap="square" anchor="t" lIns="0" rIns="0" tIns="0" bIns="0">
            <a:spAutoFit/>
          </a:bodyPr>
          <a:lstStyle/>
          <a:p>
            <a:pPr algn="l">
              <a:spcBef>
                <a:spcPts val="0"/>
              </a:spcBef>
              <a:spcAft>
                <a:spcPts val="0"/>
              </a:spcAft>
            </a:pPr>
            <a:r>
              <a:rPr sz="900" b="0" i="1">
                <a:solidFill>
                  <a:srgbClr val="6B7280"/>
                </a:solidFill>
                <a:latin typeface="Georgia"/>
              </a:rPr>
              <a:t>9.9x PE prices real privatization deal uncertainty…</a:t>
            </a:r>
          </a:p>
        </p:txBody>
      </p:sp>
      <p:sp>
        <p:nvSpPr>
          <p:cNvPr id="101" name="Rectangle 100"/>
          <p:cNvSpPr/>
          <p:nvPr/>
        </p:nvSpPr>
        <p:spPr>
          <a:xfrm>
            <a:off x="6324447" y="5829299"/>
            <a:ext cx="50259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2 further Holds scored and read in the annexure · Conviction tier from Ionic Score × position size · reads are the analyst summary.</a:t>
            </a:r>
          </a:p>
        </p:txBody>
      </p:sp>
      <p:sp>
        <p:nvSpPr>
          <p:cNvPr id="103" name="TextBox 102"/>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3.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03</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03</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The Fund Book</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Upside, downside and consistency, not just returns</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The fund book, scored</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Equity funds vs benchmark</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Hybrid funds</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Fund actions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fund book,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400" b="1" i="0">
                <a:solidFill>
                  <a:srgbClr val="F2A93C"/>
                </a:solidFill>
                <a:latin typeface="Bahnschrift"/>
              </a:rPr>
              <a:t>A 0-100 quality score on every scheme · the score is the input, the desk sets the verdict (1 of 3)</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20</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MF sleeve only, Direct-plan NAV, each scheme vs its own SEBI category benchmark (TRI) · as of 2026-07-27</a:t>
            </a:r>
          </a:p>
        </p:txBody>
      </p:sp>
      <p:sp>
        <p:nvSpPr>
          <p:cNvPr id="17" name="TextBox 16"/>
          <p:cNvSpPr txBox="1"/>
          <p:nvPr/>
        </p:nvSpPr>
        <p:spPr>
          <a:xfrm>
            <a:off x="914400" y="1828800"/>
            <a:ext cx="230244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SCHEME</a:t>
            </a:r>
          </a:p>
        </p:txBody>
      </p:sp>
      <p:sp>
        <p:nvSpPr>
          <p:cNvPr id="18" name="TextBox 17"/>
          <p:cNvSpPr txBox="1"/>
          <p:nvPr/>
        </p:nvSpPr>
        <p:spPr>
          <a:xfrm>
            <a:off x="3363145" y="1828800"/>
            <a:ext cx="87400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CATEGORY</a:t>
            </a:r>
          </a:p>
        </p:txBody>
      </p:sp>
      <p:sp>
        <p:nvSpPr>
          <p:cNvPr id="19" name="TextBox 18"/>
          <p:cNvSpPr txBox="1"/>
          <p:nvPr/>
        </p:nvSpPr>
        <p:spPr>
          <a:xfrm>
            <a:off x="4383456" y="1828800"/>
            <a:ext cx="56791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PLAN</a:t>
            </a:r>
          </a:p>
        </p:txBody>
      </p:sp>
      <p:sp>
        <p:nvSpPr>
          <p:cNvPr id="20" name="TextBox 19"/>
          <p:cNvSpPr txBox="1"/>
          <p:nvPr/>
        </p:nvSpPr>
        <p:spPr>
          <a:xfrm>
            <a:off x="5097673" y="1828800"/>
            <a:ext cx="465882"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1" name="TextBox 20"/>
          <p:cNvSpPr txBox="1"/>
          <p:nvPr/>
        </p:nvSpPr>
        <p:spPr>
          <a:xfrm>
            <a:off x="5709859" y="1828800"/>
            <a:ext cx="118009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FUND SCORE /100</a:t>
            </a:r>
          </a:p>
        </p:txBody>
      </p:sp>
      <p:sp>
        <p:nvSpPr>
          <p:cNvPr id="22" name="TextBox 21"/>
          <p:cNvSpPr txBox="1"/>
          <p:nvPr/>
        </p:nvSpPr>
        <p:spPr>
          <a:xfrm>
            <a:off x="7036263" y="1828800"/>
            <a:ext cx="56791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GRADE</a:t>
            </a:r>
          </a:p>
        </p:txBody>
      </p:sp>
      <p:sp>
        <p:nvSpPr>
          <p:cNvPr id="23" name="TextBox 22"/>
          <p:cNvSpPr txBox="1"/>
          <p:nvPr/>
        </p:nvSpPr>
        <p:spPr>
          <a:xfrm>
            <a:off x="7750481" y="1828800"/>
            <a:ext cx="2200410"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WATCH-OUTS</a:t>
            </a:r>
          </a:p>
        </p:txBody>
      </p:sp>
      <p:sp>
        <p:nvSpPr>
          <p:cNvPr id="24" name="TextBox 23"/>
          <p:cNvSpPr txBox="1"/>
          <p:nvPr/>
        </p:nvSpPr>
        <p:spPr>
          <a:xfrm>
            <a:off x="10097195" y="1828800"/>
            <a:ext cx="1180099"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VERDICT</a:t>
            </a:r>
          </a:p>
        </p:txBody>
      </p:sp>
      <p:sp>
        <p:nvSpPr>
          <p:cNvPr id="25" name="Rectangle 24"/>
          <p:cNvSpPr/>
          <p:nvPr/>
        </p:nvSpPr>
        <p:spPr>
          <a:xfrm>
            <a:off x="841248" y="208483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213055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Mirae Asset Midcap - Direct</a:t>
            </a:r>
          </a:p>
        </p:txBody>
      </p:sp>
      <p:sp>
        <p:nvSpPr>
          <p:cNvPr id="27" name="TextBox 26"/>
          <p:cNvSpPr txBox="1"/>
          <p:nvPr/>
        </p:nvSpPr>
        <p:spPr>
          <a:xfrm>
            <a:off x="3363145" y="213055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Mid</a:t>
            </a:r>
          </a:p>
        </p:txBody>
      </p:sp>
      <p:sp>
        <p:nvSpPr>
          <p:cNvPr id="28" name="TextBox 27"/>
          <p:cNvSpPr txBox="1"/>
          <p:nvPr/>
        </p:nvSpPr>
        <p:spPr>
          <a:xfrm>
            <a:off x="4383456" y="213055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29" name="TextBox 28"/>
          <p:cNvSpPr txBox="1"/>
          <p:nvPr/>
        </p:nvSpPr>
        <p:spPr>
          <a:xfrm>
            <a:off x="5097673" y="213055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5.2</a:t>
            </a:r>
          </a:p>
        </p:txBody>
      </p:sp>
      <p:sp>
        <p:nvSpPr>
          <p:cNvPr id="30" name="Rectangle 29"/>
          <p:cNvSpPr/>
          <p:nvPr/>
        </p:nvSpPr>
        <p:spPr>
          <a:xfrm>
            <a:off x="5709859" y="22951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709859" y="2295144"/>
            <a:ext cx="35844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65891" y="22677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13947" y="22174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56</a:t>
            </a:r>
          </a:p>
        </p:txBody>
      </p:sp>
      <p:sp>
        <p:nvSpPr>
          <p:cNvPr id="34" name="TextBox 33"/>
          <p:cNvSpPr txBox="1"/>
          <p:nvPr/>
        </p:nvSpPr>
        <p:spPr>
          <a:xfrm>
            <a:off x="7036263" y="213055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35" name="TextBox 34"/>
          <p:cNvSpPr txBox="1"/>
          <p:nvPr/>
        </p:nvSpPr>
        <p:spPr>
          <a:xfrm>
            <a:off x="7750481" y="213055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36" name="Rounded Rectangle 35"/>
          <p:cNvSpPr/>
          <p:nvPr/>
        </p:nvSpPr>
        <p:spPr>
          <a:xfrm>
            <a:off x="10097195" y="219456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7195" y="218907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8" name="Rectangle 37"/>
          <p:cNvSpPr/>
          <p:nvPr/>
        </p:nvSpPr>
        <p:spPr>
          <a:xfrm>
            <a:off x="841248" y="24780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249631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NIFTY 50 Index</a:t>
            </a:r>
          </a:p>
        </p:txBody>
      </p:sp>
      <p:sp>
        <p:nvSpPr>
          <p:cNvPr id="40" name="TextBox 39"/>
          <p:cNvSpPr txBox="1"/>
          <p:nvPr/>
        </p:nvSpPr>
        <p:spPr>
          <a:xfrm>
            <a:off x="3363145" y="249631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Passive</a:t>
            </a:r>
          </a:p>
        </p:txBody>
      </p:sp>
      <p:sp>
        <p:nvSpPr>
          <p:cNvPr id="41" name="TextBox 40"/>
          <p:cNvSpPr txBox="1"/>
          <p:nvPr/>
        </p:nvSpPr>
        <p:spPr>
          <a:xfrm>
            <a:off x="4383456" y="249631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42" name="TextBox 41"/>
          <p:cNvSpPr txBox="1"/>
          <p:nvPr/>
        </p:nvSpPr>
        <p:spPr>
          <a:xfrm>
            <a:off x="5097673" y="249631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4.8</a:t>
            </a:r>
          </a:p>
        </p:txBody>
      </p:sp>
      <p:sp>
        <p:nvSpPr>
          <p:cNvPr id="43" name="Rectangle 42"/>
          <p:cNvSpPr/>
          <p:nvPr/>
        </p:nvSpPr>
        <p:spPr>
          <a:xfrm>
            <a:off x="5709859" y="266090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709859" y="2660904"/>
            <a:ext cx="32004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965891" y="263347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13947" y="258318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47" name="TextBox 46"/>
          <p:cNvSpPr txBox="1"/>
          <p:nvPr/>
        </p:nvSpPr>
        <p:spPr>
          <a:xfrm>
            <a:off x="7036263" y="249631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92400E"/>
                </a:solidFill>
                <a:latin typeface="Bahnschrift"/>
              </a:rPr>
              <a:t>C</a:t>
            </a:r>
          </a:p>
        </p:txBody>
      </p:sp>
      <p:sp>
        <p:nvSpPr>
          <p:cNvPr id="48" name="TextBox 47"/>
          <p:cNvSpPr txBox="1"/>
          <p:nvPr/>
        </p:nvSpPr>
        <p:spPr>
          <a:xfrm>
            <a:off x="7750481" y="249631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49" name="Rounded Rectangle 48"/>
          <p:cNvSpPr/>
          <p:nvPr/>
        </p:nvSpPr>
        <p:spPr>
          <a:xfrm>
            <a:off x="10097195" y="2560320"/>
            <a:ext cx="1180099"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97195" y="255483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1" name="Rectangle 50"/>
          <p:cNvSpPr/>
          <p:nvPr/>
        </p:nvSpPr>
        <p:spPr>
          <a:xfrm>
            <a:off x="841248" y="28437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286207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Hybrid Equity - Direct</a:t>
            </a:r>
          </a:p>
        </p:txBody>
      </p:sp>
      <p:sp>
        <p:nvSpPr>
          <p:cNvPr id="53" name="TextBox 52"/>
          <p:cNvSpPr txBox="1"/>
          <p:nvPr/>
        </p:nvSpPr>
        <p:spPr>
          <a:xfrm>
            <a:off x="3363145" y="286207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Hybrid</a:t>
            </a:r>
          </a:p>
        </p:txBody>
      </p:sp>
      <p:sp>
        <p:nvSpPr>
          <p:cNvPr id="54" name="TextBox 53"/>
          <p:cNvSpPr txBox="1"/>
          <p:nvPr/>
        </p:nvSpPr>
        <p:spPr>
          <a:xfrm>
            <a:off x="4383456" y="286207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55" name="TextBox 54"/>
          <p:cNvSpPr txBox="1"/>
          <p:nvPr/>
        </p:nvSpPr>
        <p:spPr>
          <a:xfrm>
            <a:off x="5097673" y="286207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4.0</a:t>
            </a:r>
          </a:p>
        </p:txBody>
      </p:sp>
      <p:sp>
        <p:nvSpPr>
          <p:cNvPr id="56" name="Rectangle 55"/>
          <p:cNvSpPr/>
          <p:nvPr/>
        </p:nvSpPr>
        <p:spPr>
          <a:xfrm>
            <a:off x="5709859" y="30266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709859" y="3026664"/>
            <a:ext cx="21122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965891" y="2999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13947" y="2948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33</a:t>
            </a:r>
          </a:p>
        </p:txBody>
      </p:sp>
      <p:sp>
        <p:nvSpPr>
          <p:cNvPr id="60" name="TextBox 59"/>
          <p:cNvSpPr txBox="1"/>
          <p:nvPr/>
        </p:nvSpPr>
        <p:spPr>
          <a:xfrm>
            <a:off x="7036263" y="286207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E0402F"/>
                </a:solidFill>
                <a:latin typeface="Bahnschrift"/>
              </a:rPr>
              <a:t>D</a:t>
            </a:r>
          </a:p>
        </p:txBody>
      </p:sp>
      <p:sp>
        <p:nvSpPr>
          <p:cNvPr id="61" name="TextBox 60"/>
          <p:cNvSpPr txBox="1"/>
          <p:nvPr/>
        </p:nvSpPr>
        <p:spPr>
          <a:xfrm>
            <a:off x="7750481" y="286207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62" name="Rounded Rectangle 61"/>
          <p:cNvSpPr/>
          <p:nvPr/>
        </p:nvSpPr>
        <p:spPr>
          <a:xfrm>
            <a:off x="10097195" y="2926080"/>
            <a:ext cx="1180099" cy="219456"/>
          </a:xfrm>
          <a:prstGeom prst="roundRect">
            <a:avLst>
              <a:gd name="adj" fmla="val 50000"/>
            </a:avLst>
          </a:prstGeom>
          <a:solidFill>
            <a:srgbClr val="F5F6FC"/>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097195" y="292059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6B7280"/>
                </a:solidFill>
                <a:latin typeface="Bahnschrift"/>
              </a:rPr>
              <a:t>WATCH</a:t>
            </a:r>
          </a:p>
        </p:txBody>
      </p:sp>
      <p:sp>
        <p:nvSpPr>
          <p:cNvPr id="64" name="Rectangle 63"/>
          <p:cNvSpPr/>
          <p:nvPr/>
        </p:nvSpPr>
        <p:spPr>
          <a:xfrm>
            <a:off x="841248" y="32095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14400" y="322783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Mirae Asset ELSS Tax Saver</a:t>
            </a:r>
          </a:p>
        </p:txBody>
      </p:sp>
      <p:sp>
        <p:nvSpPr>
          <p:cNvPr id="66" name="TextBox 65"/>
          <p:cNvSpPr txBox="1"/>
          <p:nvPr/>
        </p:nvSpPr>
        <p:spPr>
          <a:xfrm>
            <a:off x="3363145" y="322783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Elss</a:t>
            </a:r>
          </a:p>
        </p:txBody>
      </p:sp>
      <p:sp>
        <p:nvSpPr>
          <p:cNvPr id="67" name="TextBox 66"/>
          <p:cNvSpPr txBox="1"/>
          <p:nvPr/>
        </p:nvSpPr>
        <p:spPr>
          <a:xfrm>
            <a:off x="4383456" y="322783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68" name="TextBox 67"/>
          <p:cNvSpPr txBox="1"/>
          <p:nvPr/>
        </p:nvSpPr>
        <p:spPr>
          <a:xfrm>
            <a:off x="5097673" y="322783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3.0</a:t>
            </a:r>
          </a:p>
        </p:txBody>
      </p:sp>
      <p:sp>
        <p:nvSpPr>
          <p:cNvPr id="69" name="Rectangle 68"/>
          <p:cNvSpPr/>
          <p:nvPr/>
        </p:nvSpPr>
        <p:spPr>
          <a:xfrm>
            <a:off x="5709859" y="33924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709859" y="3392424"/>
            <a:ext cx="37124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965891" y="33649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13947" y="33147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58</a:t>
            </a:r>
          </a:p>
        </p:txBody>
      </p:sp>
      <p:sp>
        <p:nvSpPr>
          <p:cNvPr id="73" name="TextBox 72"/>
          <p:cNvSpPr txBox="1"/>
          <p:nvPr/>
        </p:nvSpPr>
        <p:spPr>
          <a:xfrm>
            <a:off x="7036263" y="322783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74" name="TextBox 73"/>
          <p:cNvSpPr txBox="1"/>
          <p:nvPr/>
        </p:nvSpPr>
        <p:spPr>
          <a:xfrm>
            <a:off x="7750481" y="322783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75" name="Rounded Rectangle 74"/>
          <p:cNvSpPr/>
          <p:nvPr/>
        </p:nvSpPr>
        <p:spPr>
          <a:xfrm>
            <a:off x="10097195" y="329184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097195" y="328635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7" name="Rectangle 76"/>
          <p:cNvSpPr/>
          <p:nvPr/>
        </p:nvSpPr>
        <p:spPr>
          <a:xfrm>
            <a:off x="841248" y="3575303"/>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14400" y="3593591"/>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ICICI Prudential Dividend</a:t>
            </a:r>
          </a:p>
        </p:txBody>
      </p:sp>
      <p:sp>
        <p:nvSpPr>
          <p:cNvPr id="79" name="TextBox 78"/>
          <p:cNvSpPr txBox="1"/>
          <p:nvPr/>
        </p:nvSpPr>
        <p:spPr>
          <a:xfrm>
            <a:off x="3363145" y="3593591"/>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Dividend Yield</a:t>
            </a:r>
          </a:p>
        </p:txBody>
      </p:sp>
      <p:sp>
        <p:nvSpPr>
          <p:cNvPr id="80" name="TextBox 79"/>
          <p:cNvSpPr txBox="1"/>
          <p:nvPr/>
        </p:nvSpPr>
        <p:spPr>
          <a:xfrm>
            <a:off x="4383456" y="3593591"/>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81" name="TextBox 80"/>
          <p:cNvSpPr txBox="1"/>
          <p:nvPr/>
        </p:nvSpPr>
        <p:spPr>
          <a:xfrm>
            <a:off x="5097673" y="3593591"/>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2.9</a:t>
            </a:r>
          </a:p>
        </p:txBody>
      </p:sp>
      <p:sp>
        <p:nvSpPr>
          <p:cNvPr id="82" name="Rectangle 81"/>
          <p:cNvSpPr/>
          <p:nvPr/>
        </p:nvSpPr>
        <p:spPr>
          <a:xfrm>
            <a:off x="5709859" y="37581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709859" y="3758184"/>
            <a:ext cx="46085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965891" y="37307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413947" y="36804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72</a:t>
            </a:r>
          </a:p>
        </p:txBody>
      </p:sp>
      <p:sp>
        <p:nvSpPr>
          <p:cNvPr id="86" name="TextBox 85"/>
          <p:cNvSpPr txBox="1"/>
          <p:nvPr/>
        </p:nvSpPr>
        <p:spPr>
          <a:xfrm>
            <a:off x="7036263" y="3593591"/>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E9E6A"/>
                </a:solidFill>
                <a:latin typeface="Bahnschrift"/>
              </a:rPr>
              <a:t>A</a:t>
            </a:r>
          </a:p>
        </p:txBody>
      </p:sp>
      <p:sp>
        <p:nvSpPr>
          <p:cNvPr id="87" name="TextBox 86"/>
          <p:cNvSpPr txBox="1"/>
          <p:nvPr/>
        </p:nvSpPr>
        <p:spPr>
          <a:xfrm>
            <a:off x="7750481" y="3593591"/>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88" name="Rounded Rectangle 87"/>
          <p:cNvSpPr/>
          <p:nvPr/>
        </p:nvSpPr>
        <p:spPr>
          <a:xfrm>
            <a:off x="10097195" y="365760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097195" y="365211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90" name="Rectangle 89"/>
          <p:cNvSpPr/>
          <p:nvPr/>
        </p:nvSpPr>
        <p:spPr>
          <a:xfrm>
            <a:off x="841248" y="394106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14400" y="395935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Edelweiss Small Cap</a:t>
            </a:r>
          </a:p>
        </p:txBody>
      </p:sp>
      <p:sp>
        <p:nvSpPr>
          <p:cNvPr id="92" name="TextBox 91"/>
          <p:cNvSpPr txBox="1"/>
          <p:nvPr/>
        </p:nvSpPr>
        <p:spPr>
          <a:xfrm>
            <a:off x="3363145" y="395935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Small</a:t>
            </a:r>
          </a:p>
        </p:txBody>
      </p:sp>
      <p:sp>
        <p:nvSpPr>
          <p:cNvPr id="93" name="TextBox 92"/>
          <p:cNvSpPr txBox="1"/>
          <p:nvPr/>
        </p:nvSpPr>
        <p:spPr>
          <a:xfrm>
            <a:off x="4383456" y="395935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94" name="TextBox 93"/>
          <p:cNvSpPr txBox="1"/>
          <p:nvPr/>
        </p:nvSpPr>
        <p:spPr>
          <a:xfrm>
            <a:off x="5097673" y="395935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2.9</a:t>
            </a:r>
          </a:p>
        </p:txBody>
      </p:sp>
      <p:sp>
        <p:nvSpPr>
          <p:cNvPr id="95" name="Rectangle 94"/>
          <p:cNvSpPr/>
          <p:nvPr/>
        </p:nvSpPr>
        <p:spPr>
          <a:xfrm>
            <a:off x="5709859" y="41239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5709859" y="4123944"/>
            <a:ext cx="36484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965891" y="40965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413947" y="40462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57</a:t>
            </a:r>
          </a:p>
        </p:txBody>
      </p:sp>
      <p:sp>
        <p:nvSpPr>
          <p:cNvPr id="99" name="TextBox 98"/>
          <p:cNvSpPr txBox="1"/>
          <p:nvPr/>
        </p:nvSpPr>
        <p:spPr>
          <a:xfrm>
            <a:off x="7036263" y="395935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100" name="TextBox 99"/>
          <p:cNvSpPr txBox="1"/>
          <p:nvPr/>
        </p:nvSpPr>
        <p:spPr>
          <a:xfrm>
            <a:off x="7750481" y="395935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01" name="Rounded Rectangle 100"/>
          <p:cNvSpPr/>
          <p:nvPr/>
        </p:nvSpPr>
        <p:spPr>
          <a:xfrm>
            <a:off x="10097195" y="402336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97195" y="401787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03" name="Rectangle 102"/>
          <p:cNvSpPr/>
          <p:nvPr/>
        </p:nvSpPr>
        <p:spPr>
          <a:xfrm>
            <a:off x="841248" y="43068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14400" y="432511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Bandhan Small Cap - Direct</a:t>
            </a:r>
          </a:p>
        </p:txBody>
      </p:sp>
      <p:sp>
        <p:nvSpPr>
          <p:cNvPr id="105" name="TextBox 104"/>
          <p:cNvSpPr txBox="1"/>
          <p:nvPr/>
        </p:nvSpPr>
        <p:spPr>
          <a:xfrm>
            <a:off x="3363145" y="432511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Small</a:t>
            </a:r>
          </a:p>
        </p:txBody>
      </p:sp>
      <p:sp>
        <p:nvSpPr>
          <p:cNvPr id="106" name="TextBox 105"/>
          <p:cNvSpPr txBox="1"/>
          <p:nvPr/>
        </p:nvSpPr>
        <p:spPr>
          <a:xfrm>
            <a:off x="4383456" y="432511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107" name="TextBox 106"/>
          <p:cNvSpPr txBox="1"/>
          <p:nvPr/>
        </p:nvSpPr>
        <p:spPr>
          <a:xfrm>
            <a:off x="5097673" y="432511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2.7</a:t>
            </a:r>
          </a:p>
        </p:txBody>
      </p:sp>
      <p:sp>
        <p:nvSpPr>
          <p:cNvPr id="108" name="Rectangle 107"/>
          <p:cNvSpPr/>
          <p:nvPr/>
        </p:nvSpPr>
        <p:spPr>
          <a:xfrm>
            <a:off x="5709859" y="448970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5709859" y="4489704"/>
            <a:ext cx="56967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5965891" y="446227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413947" y="441198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89</a:t>
            </a:r>
          </a:p>
        </p:txBody>
      </p:sp>
      <p:sp>
        <p:nvSpPr>
          <p:cNvPr id="112" name="TextBox 111"/>
          <p:cNvSpPr txBox="1"/>
          <p:nvPr/>
        </p:nvSpPr>
        <p:spPr>
          <a:xfrm>
            <a:off x="7036263" y="432511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E9E6A"/>
                </a:solidFill>
                <a:latin typeface="Bahnschrift"/>
              </a:rPr>
              <a:t>A</a:t>
            </a:r>
          </a:p>
        </p:txBody>
      </p:sp>
      <p:sp>
        <p:nvSpPr>
          <p:cNvPr id="113" name="TextBox 112"/>
          <p:cNvSpPr txBox="1"/>
          <p:nvPr/>
        </p:nvSpPr>
        <p:spPr>
          <a:xfrm>
            <a:off x="7750481" y="432511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14" name="Rounded Rectangle 113"/>
          <p:cNvSpPr/>
          <p:nvPr/>
        </p:nvSpPr>
        <p:spPr>
          <a:xfrm>
            <a:off x="10097195" y="438912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097195" y="438363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16" name="Rectangle 115"/>
          <p:cNvSpPr/>
          <p:nvPr/>
        </p:nvSpPr>
        <p:spPr>
          <a:xfrm>
            <a:off x="841248" y="46725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914400" y="469087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Aditya Birla Sun Life</a:t>
            </a:r>
          </a:p>
        </p:txBody>
      </p:sp>
      <p:sp>
        <p:nvSpPr>
          <p:cNvPr id="118" name="TextBox 117"/>
          <p:cNvSpPr txBox="1"/>
          <p:nvPr/>
        </p:nvSpPr>
        <p:spPr>
          <a:xfrm>
            <a:off x="3363145" y="469087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Conservative Hybrid</a:t>
            </a:r>
          </a:p>
        </p:txBody>
      </p:sp>
      <p:sp>
        <p:nvSpPr>
          <p:cNvPr id="119" name="TextBox 118"/>
          <p:cNvSpPr txBox="1"/>
          <p:nvPr/>
        </p:nvSpPr>
        <p:spPr>
          <a:xfrm>
            <a:off x="4383456" y="469087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120" name="TextBox 119"/>
          <p:cNvSpPr txBox="1"/>
          <p:nvPr/>
        </p:nvSpPr>
        <p:spPr>
          <a:xfrm>
            <a:off x="5097673" y="469087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2.5</a:t>
            </a:r>
          </a:p>
        </p:txBody>
      </p:sp>
      <p:sp>
        <p:nvSpPr>
          <p:cNvPr id="121" name="Rectangle 120"/>
          <p:cNvSpPr/>
          <p:nvPr/>
        </p:nvSpPr>
        <p:spPr>
          <a:xfrm>
            <a:off x="5709859" y="48554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5709859" y="4855464"/>
            <a:ext cx="39044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5965891" y="48280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413947" y="47777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61</a:t>
            </a:r>
          </a:p>
        </p:txBody>
      </p:sp>
      <p:sp>
        <p:nvSpPr>
          <p:cNvPr id="125" name="TextBox 124"/>
          <p:cNvSpPr txBox="1"/>
          <p:nvPr/>
        </p:nvSpPr>
        <p:spPr>
          <a:xfrm>
            <a:off x="7036263" y="469087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126" name="TextBox 125"/>
          <p:cNvSpPr txBox="1"/>
          <p:nvPr/>
        </p:nvSpPr>
        <p:spPr>
          <a:xfrm>
            <a:off x="7750481" y="469087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27" name="Rounded Rectangle 126"/>
          <p:cNvSpPr/>
          <p:nvPr/>
        </p:nvSpPr>
        <p:spPr>
          <a:xfrm>
            <a:off x="10097195" y="4754880"/>
            <a:ext cx="1180099"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0097195" y="474939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29" name="Rectangle 128"/>
          <p:cNvSpPr/>
          <p:nvPr/>
        </p:nvSpPr>
        <p:spPr>
          <a:xfrm>
            <a:off x="841248" y="50383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14400" y="505663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Canara Robeco Flexi Cap</a:t>
            </a:r>
          </a:p>
        </p:txBody>
      </p:sp>
      <p:sp>
        <p:nvSpPr>
          <p:cNvPr id="131" name="TextBox 130"/>
          <p:cNvSpPr txBox="1"/>
          <p:nvPr/>
        </p:nvSpPr>
        <p:spPr>
          <a:xfrm>
            <a:off x="3363145" y="505663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Flexi</a:t>
            </a:r>
          </a:p>
        </p:txBody>
      </p:sp>
      <p:sp>
        <p:nvSpPr>
          <p:cNvPr id="132" name="TextBox 131"/>
          <p:cNvSpPr txBox="1"/>
          <p:nvPr/>
        </p:nvSpPr>
        <p:spPr>
          <a:xfrm>
            <a:off x="4383456" y="505663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133" name="TextBox 132"/>
          <p:cNvSpPr txBox="1"/>
          <p:nvPr/>
        </p:nvSpPr>
        <p:spPr>
          <a:xfrm>
            <a:off x="5097673" y="505663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2.4</a:t>
            </a:r>
          </a:p>
        </p:txBody>
      </p:sp>
      <p:sp>
        <p:nvSpPr>
          <p:cNvPr id="134" name="Rectangle 133"/>
          <p:cNvSpPr/>
          <p:nvPr/>
        </p:nvSpPr>
        <p:spPr>
          <a:xfrm>
            <a:off x="5709859" y="52212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709859" y="5221224"/>
            <a:ext cx="32004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965891" y="51937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6413947" y="51435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38" name="TextBox 137"/>
          <p:cNvSpPr txBox="1"/>
          <p:nvPr/>
        </p:nvSpPr>
        <p:spPr>
          <a:xfrm>
            <a:off x="7036263" y="505663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92400E"/>
                </a:solidFill>
                <a:latin typeface="Bahnschrift"/>
              </a:rPr>
              <a:t>C</a:t>
            </a:r>
          </a:p>
        </p:txBody>
      </p:sp>
      <p:sp>
        <p:nvSpPr>
          <p:cNvPr id="139" name="TextBox 138"/>
          <p:cNvSpPr txBox="1"/>
          <p:nvPr/>
        </p:nvSpPr>
        <p:spPr>
          <a:xfrm>
            <a:off x="7750481" y="505663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40" name="Rounded Rectangle 139"/>
          <p:cNvSpPr/>
          <p:nvPr/>
        </p:nvSpPr>
        <p:spPr>
          <a:xfrm>
            <a:off x="10097195" y="512064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0097195" y="511515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42" name="Rectangle 141"/>
          <p:cNvSpPr/>
          <p:nvPr/>
        </p:nvSpPr>
        <p:spPr>
          <a:xfrm>
            <a:off x="841248" y="54041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fund-quality framework · Direct-plan NAV vs each scheme's own SEBI category benchmark (TRI) · structural watch-outs flagged per scheme.</a:t>
            </a:r>
          </a:p>
        </p:txBody>
      </p:sp>
      <p:sp>
        <p:nvSpPr>
          <p:cNvPr id="144" name="TextBox 143"/>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fund book,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400" b="1" i="0">
                <a:solidFill>
                  <a:srgbClr val="F2A93C"/>
                </a:solidFill>
                <a:latin typeface="Bahnschrift"/>
              </a:rPr>
              <a:t>A 0-100 quality score on every scheme · the score is the input, the desk sets the verdict (2 of 3)</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21</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MF sleeve only, Direct-plan NAV, each scheme vs its own SEBI category benchmark (TRI) · as of 2026-07-27</a:t>
            </a:r>
          </a:p>
        </p:txBody>
      </p:sp>
      <p:sp>
        <p:nvSpPr>
          <p:cNvPr id="17" name="TextBox 16"/>
          <p:cNvSpPr txBox="1"/>
          <p:nvPr/>
        </p:nvSpPr>
        <p:spPr>
          <a:xfrm>
            <a:off x="914400" y="1828800"/>
            <a:ext cx="230244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SCHEME</a:t>
            </a:r>
          </a:p>
        </p:txBody>
      </p:sp>
      <p:sp>
        <p:nvSpPr>
          <p:cNvPr id="18" name="TextBox 17"/>
          <p:cNvSpPr txBox="1"/>
          <p:nvPr/>
        </p:nvSpPr>
        <p:spPr>
          <a:xfrm>
            <a:off x="3363145" y="1828800"/>
            <a:ext cx="87400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CATEGORY</a:t>
            </a:r>
          </a:p>
        </p:txBody>
      </p:sp>
      <p:sp>
        <p:nvSpPr>
          <p:cNvPr id="19" name="TextBox 18"/>
          <p:cNvSpPr txBox="1"/>
          <p:nvPr/>
        </p:nvSpPr>
        <p:spPr>
          <a:xfrm>
            <a:off x="4383456" y="1828800"/>
            <a:ext cx="56791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PLAN</a:t>
            </a:r>
          </a:p>
        </p:txBody>
      </p:sp>
      <p:sp>
        <p:nvSpPr>
          <p:cNvPr id="20" name="TextBox 19"/>
          <p:cNvSpPr txBox="1"/>
          <p:nvPr/>
        </p:nvSpPr>
        <p:spPr>
          <a:xfrm>
            <a:off x="5097673" y="1828800"/>
            <a:ext cx="465882"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1" name="TextBox 20"/>
          <p:cNvSpPr txBox="1"/>
          <p:nvPr/>
        </p:nvSpPr>
        <p:spPr>
          <a:xfrm>
            <a:off x="5709859" y="1828800"/>
            <a:ext cx="118009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FUND SCORE /100</a:t>
            </a:r>
          </a:p>
        </p:txBody>
      </p:sp>
      <p:sp>
        <p:nvSpPr>
          <p:cNvPr id="22" name="TextBox 21"/>
          <p:cNvSpPr txBox="1"/>
          <p:nvPr/>
        </p:nvSpPr>
        <p:spPr>
          <a:xfrm>
            <a:off x="7036263" y="1828800"/>
            <a:ext cx="56791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GRADE</a:t>
            </a:r>
          </a:p>
        </p:txBody>
      </p:sp>
      <p:sp>
        <p:nvSpPr>
          <p:cNvPr id="23" name="TextBox 22"/>
          <p:cNvSpPr txBox="1"/>
          <p:nvPr/>
        </p:nvSpPr>
        <p:spPr>
          <a:xfrm>
            <a:off x="7750481" y="1828800"/>
            <a:ext cx="2200410"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WATCH-OUTS</a:t>
            </a:r>
          </a:p>
        </p:txBody>
      </p:sp>
      <p:sp>
        <p:nvSpPr>
          <p:cNvPr id="24" name="TextBox 23"/>
          <p:cNvSpPr txBox="1"/>
          <p:nvPr/>
        </p:nvSpPr>
        <p:spPr>
          <a:xfrm>
            <a:off x="10097195" y="1828800"/>
            <a:ext cx="1180099"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VERDICT</a:t>
            </a:r>
          </a:p>
        </p:txBody>
      </p:sp>
      <p:sp>
        <p:nvSpPr>
          <p:cNvPr id="25" name="Rectangle 24"/>
          <p:cNvSpPr/>
          <p:nvPr/>
        </p:nvSpPr>
        <p:spPr>
          <a:xfrm>
            <a:off x="841248" y="208483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213055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SBI Equity Hybrid - Direct</a:t>
            </a:r>
          </a:p>
        </p:txBody>
      </p:sp>
      <p:sp>
        <p:nvSpPr>
          <p:cNvPr id="27" name="TextBox 26"/>
          <p:cNvSpPr txBox="1"/>
          <p:nvPr/>
        </p:nvSpPr>
        <p:spPr>
          <a:xfrm>
            <a:off x="3363145" y="213055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Hybrid</a:t>
            </a:r>
          </a:p>
        </p:txBody>
      </p:sp>
      <p:sp>
        <p:nvSpPr>
          <p:cNvPr id="28" name="TextBox 27"/>
          <p:cNvSpPr txBox="1"/>
          <p:nvPr/>
        </p:nvSpPr>
        <p:spPr>
          <a:xfrm>
            <a:off x="4383456" y="213055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29" name="TextBox 28"/>
          <p:cNvSpPr txBox="1"/>
          <p:nvPr/>
        </p:nvSpPr>
        <p:spPr>
          <a:xfrm>
            <a:off x="5097673" y="213055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1.8</a:t>
            </a:r>
          </a:p>
        </p:txBody>
      </p:sp>
      <p:sp>
        <p:nvSpPr>
          <p:cNvPr id="30" name="Rectangle 29"/>
          <p:cNvSpPr/>
          <p:nvPr/>
        </p:nvSpPr>
        <p:spPr>
          <a:xfrm>
            <a:off x="5709859" y="22951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709859" y="2295144"/>
            <a:ext cx="45445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65891" y="22677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13947" y="22174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71</a:t>
            </a:r>
          </a:p>
        </p:txBody>
      </p:sp>
      <p:sp>
        <p:nvSpPr>
          <p:cNvPr id="34" name="TextBox 33"/>
          <p:cNvSpPr txBox="1"/>
          <p:nvPr/>
        </p:nvSpPr>
        <p:spPr>
          <a:xfrm>
            <a:off x="7036263" y="213055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E9E6A"/>
                </a:solidFill>
                <a:latin typeface="Bahnschrift"/>
              </a:rPr>
              <a:t>A</a:t>
            </a:r>
          </a:p>
        </p:txBody>
      </p:sp>
      <p:sp>
        <p:nvSpPr>
          <p:cNvPr id="35" name="TextBox 34"/>
          <p:cNvSpPr txBox="1"/>
          <p:nvPr/>
        </p:nvSpPr>
        <p:spPr>
          <a:xfrm>
            <a:off x="7750481" y="213055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36" name="Rounded Rectangle 35"/>
          <p:cNvSpPr/>
          <p:nvPr/>
        </p:nvSpPr>
        <p:spPr>
          <a:xfrm>
            <a:off x="10097195" y="219456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7195" y="218907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38" name="Rectangle 37"/>
          <p:cNvSpPr/>
          <p:nvPr/>
        </p:nvSpPr>
        <p:spPr>
          <a:xfrm>
            <a:off x="841248" y="24780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249631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Hybrid Debt - Direct</a:t>
            </a:r>
          </a:p>
        </p:txBody>
      </p:sp>
      <p:sp>
        <p:nvSpPr>
          <p:cNvPr id="40" name="TextBox 39"/>
          <p:cNvSpPr txBox="1"/>
          <p:nvPr/>
        </p:nvSpPr>
        <p:spPr>
          <a:xfrm>
            <a:off x="3363145" y="249631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Conservative Hybrid</a:t>
            </a:r>
          </a:p>
        </p:txBody>
      </p:sp>
      <p:sp>
        <p:nvSpPr>
          <p:cNvPr id="41" name="TextBox 40"/>
          <p:cNvSpPr txBox="1"/>
          <p:nvPr/>
        </p:nvSpPr>
        <p:spPr>
          <a:xfrm>
            <a:off x="4383456" y="249631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42" name="TextBox 41"/>
          <p:cNvSpPr txBox="1"/>
          <p:nvPr/>
        </p:nvSpPr>
        <p:spPr>
          <a:xfrm>
            <a:off x="5097673" y="249631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1.6</a:t>
            </a:r>
          </a:p>
        </p:txBody>
      </p:sp>
      <p:sp>
        <p:nvSpPr>
          <p:cNvPr id="43" name="Rectangle 42"/>
          <p:cNvSpPr/>
          <p:nvPr/>
        </p:nvSpPr>
        <p:spPr>
          <a:xfrm>
            <a:off x="5709859" y="266090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709859" y="2660904"/>
            <a:ext cx="35844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965891" y="263347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13947" y="258318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56</a:t>
            </a:r>
          </a:p>
        </p:txBody>
      </p:sp>
      <p:sp>
        <p:nvSpPr>
          <p:cNvPr id="47" name="TextBox 46"/>
          <p:cNvSpPr txBox="1"/>
          <p:nvPr/>
        </p:nvSpPr>
        <p:spPr>
          <a:xfrm>
            <a:off x="7036263" y="249631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48" name="TextBox 47"/>
          <p:cNvSpPr txBox="1"/>
          <p:nvPr/>
        </p:nvSpPr>
        <p:spPr>
          <a:xfrm>
            <a:off x="7750481" y="249631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49" name="Rounded Rectangle 48"/>
          <p:cNvSpPr/>
          <p:nvPr/>
        </p:nvSpPr>
        <p:spPr>
          <a:xfrm>
            <a:off x="10097195" y="2560320"/>
            <a:ext cx="1180099"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97195" y="255483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1" name="Rectangle 50"/>
          <p:cNvSpPr/>
          <p:nvPr/>
        </p:nvSpPr>
        <p:spPr>
          <a:xfrm>
            <a:off x="841248" y="28437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286207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SBI Gilt - Direct Plan</a:t>
            </a:r>
          </a:p>
        </p:txBody>
      </p:sp>
      <p:sp>
        <p:nvSpPr>
          <p:cNvPr id="53" name="TextBox 52"/>
          <p:cNvSpPr txBox="1"/>
          <p:nvPr/>
        </p:nvSpPr>
        <p:spPr>
          <a:xfrm>
            <a:off x="3363145" y="286207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Gilt</a:t>
            </a:r>
          </a:p>
        </p:txBody>
      </p:sp>
      <p:sp>
        <p:nvSpPr>
          <p:cNvPr id="54" name="TextBox 53"/>
          <p:cNvSpPr txBox="1"/>
          <p:nvPr/>
        </p:nvSpPr>
        <p:spPr>
          <a:xfrm>
            <a:off x="4383456" y="286207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55" name="TextBox 54"/>
          <p:cNvSpPr txBox="1"/>
          <p:nvPr/>
        </p:nvSpPr>
        <p:spPr>
          <a:xfrm>
            <a:off x="5097673" y="286207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1.5</a:t>
            </a:r>
          </a:p>
        </p:txBody>
      </p:sp>
      <p:sp>
        <p:nvSpPr>
          <p:cNvPr id="56" name="Rectangle 55"/>
          <p:cNvSpPr/>
          <p:nvPr/>
        </p:nvSpPr>
        <p:spPr>
          <a:xfrm>
            <a:off x="5709859" y="30266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709859" y="3026664"/>
            <a:ext cx="32004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965891" y="2999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13947" y="2948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60" name="TextBox 59"/>
          <p:cNvSpPr txBox="1"/>
          <p:nvPr/>
        </p:nvSpPr>
        <p:spPr>
          <a:xfrm>
            <a:off x="7036263" y="286207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92400E"/>
                </a:solidFill>
                <a:latin typeface="Bahnschrift"/>
              </a:rPr>
              <a:t>C</a:t>
            </a:r>
          </a:p>
        </p:txBody>
      </p:sp>
      <p:sp>
        <p:nvSpPr>
          <p:cNvPr id="61" name="TextBox 60"/>
          <p:cNvSpPr txBox="1"/>
          <p:nvPr/>
        </p:nvSpPr>
        <p:spPr>
          <a:xfrm>
            <a:off x="7750481" y="286207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62" name="Rounded Rectangle 61"/>
          <p:cNvSpPr/>
          <p:nvPr/>
        </p:nvSpPr>
        <p:spPr>
          <a:xfrm>
            <a:off x="10097195" y="2926080"/>
            <a:ext cx="1180099"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097195" y="292059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64" name="Rectangle 63"/>
          <p:cNvSpPr/>
          <p:nvPr/>
        </p:nvSpPr>
        <p:spPr>
          <a:xfrm>
            <a:off x="841248" y="32095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14400" y="322783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ICICI Prudential Equity &amp;</a:t>
            </a:r>
          </a:p>
        </p:txBody>
      </p:sp>
      <p:sp>
        <p:nvSpPr>
          <p:cNvPr id="66" name="TextBox 65"/>
          <p:cNvSpPr txBox="1"/>
          <p:nvPr/>
        </p:nvSpPr>
        <p:spPr>
          <a:xfrm>
            <a:off x="3363145" y="322783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Hybrid</a:t>
            </a:r>
          </a:p>
        </p:txBody>
      </p:sp>
      <p:sp>
        <p:nvSpPr>
          <p:cNvPr id="67" name="TextBox 66"/>
          <p:cNvSpPr txBox="1"/>
          <p:nvPr/>
        </p:nvSpPr>
        <p:spPr>
          <a:xfrm>
            <a:off x="4383456" y="322783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68" name="TextBox 67"/>
          <p:cNvSpPr txBox="1"/>
          <p:nvPr/>
        </p:nvSpPr>
        <p:spPr>
          <a:xfrm>
            <a:off x="5097673" y="322783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1.4</a:t>
            </a:r>
          </a:p>
        </p:txBody>
      </p:sp>
      <p:sp>
        <p:nvSpPr>
          <p:cNvPr id="69" name="Rectangle 68"/>
          <p:cNvSpPr/>
          <p:nvPr/>
        </p:nvSpPr>
        <p:spPr>
          <a:xfrm>
            <a:off x="5709859" y="33924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709859" y="3392424"/>
            <a:ext cx="51206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965891" y="33649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13947" y="33147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80</a:t>
            </a:r>
          </a:p>
        </p:txBody>
      </p:sp>
      <p:sp>
        <p:nvSpPr>
          <p:cNvPr id="73" name="TextBox 72"/>
          <p:cNvSpPr txBox="1"/>
          <p:nvPr/>
        </p:nvSpPr>
        <p:spPr>
          <a:xfrm>
            <a:off x="7036263" y="322783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E9E6A"/>
                </a:solidFill>
                <a:latin typeface="Bahnschrift"/>
              </a:rPr>
              <a:t>A</a:t>
            </a:r>
          </a:p>
        </p:txBody>
      </p:sp>
      <p:sp>
        <p:nvSpPr>
          <p:cNvPr id="74" name="TextBox 73"/>
          <p:cNvSpPr txBox="1"/>
          <p:nvPr/>
        </p:nvSpPr>
        <p:spPr>
          <a:xfrm>
            <a:off x="7750481" y="322783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75" name="Rounded Rectangle 74"/>
          <p:cNvSpPr/>
          <p:nvPr/>
        </p:nvSpPr>
        <p:spPr>
          <a:xfrm>
            <a:off x="10097195" y="329184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097195" y="328635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7" name="Rectangle 76"/>
          <p:cNvSpPr/>
          <p:nvPr/>
        </p:nvSpPr>
        <p:spPr>
          <a:xfrm>
            <a:off x="841248" y="3575303"/>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14400" y="3593591"/>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Gilt - Direct Plan</a:t>
            </a:r>
          </a:p>
        </p:txBody>
      </p:sp>
      <p:sp>
        <p:nvSpPr>
          <p:cNvPr id="79" name="TextBox 78"/>
          <p:cNvSpPr txBox="1"/>
          <p:nvPr/>
        </p:nvSpPr>
        <p:spPr>
          <a:xfrm>
            <a:off x="3363145" y="3593591"/>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Gilt</a:t>
            </a:r>
          </a:p>
        </p:txBody>
      </p:sp>
      <p:sp>
        <p:nvSpPr>
          <p:cNvPr id="80" name="TextBox 79"/>
          <p:cNvSpPr txBox="1"/>
          <p:nvPr/>
        </p:nvSpPr>
        <p:spPr>
          <a:xfrm>
            <a:off x="4383456" y="3593591"/>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81" name="TextBox 80"/>
          <p:cNvSpPr txBox="1"/>
          <p:nvPr/>
        </p:nvSpPr>
        <p:spPr>
          <a:xfrm>
            <a:off x="5097673" y="3593591"/>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1.3</a:t>
            </a:r>
          </a:p>
        </p:txBody>
      </p:sp>
      <p:sp>
        <p:nvSpPr>
          <p:cNvPr id="82" name="Rectangle 81"/>
          <p:cNvSpPr/>
          <p:nvPr/>
        </p:nvSpPr>
        <p:spPr>
          <a:xfrm>
            <a:off x="5709859" y="37581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709859" y="3758184"/>
            <a:ext cx="32004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965891" y="37307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413947" y="36804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86" name="TextBox 85"/>
          <p:cNvSpPr txBox="1"/>
          <p:nvPr/>
        </p:nvSpPr>
        <p:spPr>
          <a:xfrm>
            <a:off x="7036263" y="3593591"/>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92400E"/>
                </a:solidFill>
                <a:latin typeface="Bahnschrift"/>
              </a:rPr>
              <a:t>C</a:t>
            </a:r>
          </a:p>
        </p:txBody>
      </p:sp>
      <p:sp>
        <p:nvSpPr>
          <p:cNvPr id="87" name="TextBox 86"/>
          <p:cNvSpPr txBox="1"/>
          <p:nvPr/>
        </p:nvSpPr>
        <p:spPr>
          <a:xfrm>
            <a:off x="7750481" y="3593591"/>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88" name="Rounded Rectangle 87"/>
          <p:cNvSpPr/>
          <p:nvPr/>
        </p:nvSpPr>
        <p:spPr>
          <a:xfrm>
            <a:off x="10097195" y="3657600"/>
            <a:ext cx="1180099"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097195" y="365211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90" name="Rectangle 89"/>
          <p:cNvSpPr/>
          <p:nvPr/>
        </p:nvSpPr>
        <p:spPr>
          <a:xfrm>
            <a:off x="841248" y="394106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14400" y="395935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ICICI Prudential Large Cap</a:t>
            </a:r>
          </a:p>
        </p:txBody>
      </p:sp>
      <p:sp>
        <p:nvSpPr>
          <p:cNvPr id="92" name="TextBox 91"/>
          <p:cNvSpPr txBox="1"/>
          <p:nvPr/>
        </p:nvSpPr>
        <p:spPr>
          <a:xfrm>
            <a:off x="3363145" y="395935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Large</a:t>
            </a:r>
          </a:p>
        </p:txBody>
      </p:sp>
      <p:sp>
        <p:nvSpPr>
          <p:cNvPr id="93" name="TextBox 92"/>
          <p:cNvSpPr txBox="1"/>
          <p:nvPr/>
        </p:nvSpPr>
        <p:spPr>
          <a:xfrm>
            <a:off x="4383456" y="395935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94" name="TextBox 93"/>
          <p:cNvSpPr txBox="1"/>
          <p:nvPr/>
        </p:nvSpPr>
        <p:spPr>
          <a:xfrm>
            <a:off x="5097673" y="395935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1.1</a:t>
            </a:r>
          </a:p>
        </p:txBody>
      </p:sp>
      <p:sp>
        <p:nvSpPr>
          <p:cNvPr id="95" name="Rectangle 94"/>
          <p:cNvSpPr/>
          <p:nvPr/>
        </p:nvSpPr>
        <p:spPr>
          <a:xfrm>
            <a:off x="5709859" y="41239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5709859" y="4123944"/>
            <a:ext cx="37764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965891" y="40965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413947" y="40462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59</a:t>
            </a:r>
          </a:p>
        </p:txBody>
      </p:sp>
      <p:sp>
        <p:nvSpPr>
          <p:cNvPr id="99" name="TextBox 98"/>
          <p:cNvSpPr txBox="1"/>
          <p:nvPr/>
        </p:nvSpPr>
        <p:spPr>
          <a:xfrm>
            <a:off x="7036263" y="395935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100" name="TextBox 99"/>
          <p:cNvSpPr txBox="1"/>
          <p:nvPr/>
        </p:nvSpPr>
        <p:spPr>
          <a:xfrm>
            <a:off x="7750481" y="395935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01" name="Rounded Rectangle 100"/>
          <p:cNvSpPr/>
          <p:nvPr/>
        </p:nvSpPr>
        <p:spPr>
          <a:xfrm>
            <a:off x="10097195" y="402336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97195" y="401787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03" name="Rectangle 102"/>
          <p:cNvSpPr/>
          <p:nvPr/>
        </p:nvSpPr>
        <p:spPr>
          <a:xfrm>
            <a:off x="841248" y="43068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14400" y="432511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UTI Flexi Cap - Direct Plan</a:t>
            </a:r>
          </a:p>
        </p:txBody>
      </p:sp>
      <p:sp>
        <p:nvSpPr>
          <p:cNvPr id="105" name="TextBox 104"/>
          <p:cNvSpPr txBox="1"/>
          <p:nvPr/>
        </p:nvSpPr>
        <p:spPr>
          <a:xfrm>
            <a:off x="3363145" y="432511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Flexi</a:t>
            </a:r>
          </a:p>
        </p:txBody>
      </p:sp>
      <p:sp>
        <p:nvSpPr>
          <p:cNvPr id="106" name="TextBox 105"/>
          <p:cNvSpPr txBox="1"/>
          <p:nvPr/>
        </p:nvSpPr>
        <p:spPr>
          <a:xfrm>
            <a:off x="4383456" y="432511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107" name="TextBox 106"/>
          <p:cNvSpPr txBox="1"/>
          <p:nvPr/>
        </p:nvSpPr>
        <p:spPr>
          <a:xfrm>
            <a:off x="5097673" y="432511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0.6</a:t>
            </a:r>
          </a:p>
        </p:txBody>
      </p:sp>
      <p:sp>
        <p:nvSpPr>
          <p:cNvPr id="108" name="Rectangle 107"/>
          <p:cNvSpPr/>
          <p:nvPr/>
        </p:nvSpPr>
        <p:spPr>
          <a:xfrm>
            <a:off x="5709859" y="448970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5709859" y="4489704"/>
            <a:ext cx="23682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5965891" y="446227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413947" y="441198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37</a:t>
            </a:r>
          </a:p>
        </p:txBody>
      </p:sp>
      <p:sp>
        <p:nvSpPr>
          <p:cNvPr id="112" name="TextBox 111"/>
          <p:cNvSpPr txBox="1"/>
          <p:nvPr/>
        </p:nvSpPr>
        <p:spPr>
          <a:xfrm>
            <a:off x="7036263" y="432511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E0402F"/>
                </a:solidFill>
                <a:latin typeface="Bahnschrift"/>
              </a:rPr>
              <a:t>D</a:t>
            </a:r>
          </a:p>
        </p:txBody>
      </p:sp>
      <p:sp>
        <p:nvSpPr>
          <p:cNvPr id="113" name="TextBox 112"/>
          <p:cNvSpPr txBox="1"/>
          <p:nvPr/>
        </p:nvSpPr>
        <p:spPr>
          <a:xfrm>
            <a:off x="7750481" y="432511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14" name="Rounded Rectangle 113"/>
          <p:cNvSpPr/>
          <p:nvPr/>
        </p:nvSpPr>
        <p:spPr>
          <a:xfrm>
            <a:off x="10097195" y="4389120"/>
            <a:ext cx="1180099" cy="219456"/>
          </a:xfrm>
          <a:prstGeom prst="roundRect">
            <a:avLst>
              <a:gd name="adj" fmla="val 50000"/>
            </a:avLst>
          </a:prstGeom>
          <a:solidFill>
            <a:srgbClr val="F5F6FC"/>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097195" y="438363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6B7280"/>
                </a:solidFill>
                <a:latin typeface="Bahnschrift"/>
              </a:rPr>
              <a:t>WATCH</a:t>
            </a:r>
          </a:p>
        </p:txBody>
      </p:sp>
      <p:sp>
        <p:nvSpPr>
          <p:cNvPr id="116" name="Rectangle 115"/>
          <p:cNvSpPr/>
          <p:nvPr/>
        </p:nvSpPr>
        <p:spPr>
          <a:xfrm>
            <a:off x="841248" y="46725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914400" y="469087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UTI Mid Cap - Direct Plan</a:t>
            </a:r>
          </a:p>
        </p:txBody>
      </p:sp>
      <p:sp>
        <p:nvSpPr>
          <p:cNvPr id="118" name="TextBox 117"/>
          <p:cNvSpPr txBox="1"/>
          <p:nvPr/>
        </p:nvSpPr>
        <p:spPr>
          <a:xfrm>
            <a:off x="3363145" y="469087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Mid</a:t>
            </a:r>
          </a:p>
        </p:txBody>
      </p:sp>
      <p:sp>
        <p:nvSpPr>
          <p:cNvPr id="119" name="TextBox 118"/>
          <p:cNvSpPr txBox="1"/>
          <p:nvPr/>
        </p:nvSpPr>
        <p:spPr>
          <a:xfrm>
            <a:off x="4383456" y="469087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120" name="TextBox 119"/>
          <p:cNvSpPr txBox="1"/>
          <p:nvPr/>
        </p:nvSpPr>
        <p:spPr>
          <a:xfrm>
            <a:off x="5097673" y="469087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0.4</a:t>
            </a:r>
          </a:p>
        </p:txBody>
      </p:sp>
      <p:sp>
        <p:nvSpPr>
          <p:cNvPr id="121" name="Rectangle 120"/>
          <p:cNvSpPr/>
          <p:nvPr/>
        </p:nvSpPr>
        <p:spPr>
          <a:xfrm>
            <a:off x="5709859" y="48554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5709859" y="4855464"/>
            <a:ext cx="19202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5965891" y="48280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413947" y="47777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30</a:t>
            </a:r>
          </a:p>
        </p:txBody>
      </p:sp>
      <p:sp>
        <p:nvSpPr>
          <p:cNvPr id="125" name="TextBox 124"/>
          <p:cNvSpPr txBox="1"/>
          <p:nvPr/>
        </p:nvSpPr>
        <p:spPr>
          <a:xfrm>
            <a:off x="7036263" y="469087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E0402F"/>
                </a:solidFill>
                <a:latin typeface="Bahnschrift"/>
              </a:rPr>
              <a:t>D</a:t>
            </a:r>
          </a:p>
        </p:txBody>
      </p:sp>
      <p:sp>
        <p:nvSpPr>
          <p:cNvPr id="126" name="TextBox 125"/>
          <p:cNvSpPr txBox="1"/>
          <p:nvPr/>
        </p:nvSpPr>
        <p:spPr>
          <a:xfrm>
            <a:off x="7750481" y="469087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27" name="Rounded Rectangle 126"/>
          <p:cNvSpPr/>
          <p:nvPr/>
        </p:nvSpPr>
        <p:spPr>
          <a:xfrm>
            <a:off x="10097195" y="4754880"/>
            <a:ext cx="1180099" cy="219456"/>
          </a:xfrm>
          <a:prstGeom prst="roundRect">
            <a:avLst>
              <a:gd name="adj" fmla="val 50000"/>
            </a:avLst>
          </a:prstGeom>
          <a:solidFill>
            <a:srgbClr val="F5F6FC"/>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0097195" y="474939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6B7280"/>
                </a:solidFill>
                <a:latin typeface="Bahnschrift"/>
              </a:rPr>
              <a:t>WATCH</a:t>
            </a:r>
          </a:p>
        </p:txBody>
      </p:sp>
      <p:sp>
        <p:nvSpPr>
          <p:cNvPr id="129" name="Rectangle 128"/>
          <p:cNvSpPr/>
          <p:nvPr/>
        </p:nvSpPr>
        <p:spPr>
          <a:xfrm>
            <a:off x="841248" y="50383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914400" y="505663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Aditya Birla Sun Life MNC</a:t>
            </a:r>
          </a:p>
        </p:txBody>
      </p:sp>
      <p:sp>
        <p:nvSpPr>
          <p:cNvPr id="131" name="TextBox 130"/>
          <p:cNvSpPr txBox="1"/>
          <p:nvPr/>
        </p:nvSpPr>
        <p:spPr>
          <a:xfrm>
            <a:off x="3363145" y="505663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Thematic Mnc</a:t>
            </a:r>
          </a:p>
        </p:txBody>
      </p:sp>
      <p:sp>
        <p:nvSpPr>
          <p:cNvPr id="132" name="TextBox 131"/>
          <p:cNvSpPr txBox="1"/>
          <p:nvPr/>
        </p:nvSpPr>
        <p:spPr>
          <a:xfrm>
            <a:off x="4383456" y="505663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133" name="TextBox 132"/>
          <p:cNvSpPr txBox="1"/>
          <p:nvPr/>
        </p:nvSpPr>
        <p:spPr>
          <a:xfrm>
            <a:off x="5097673" y="505663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0.4</a:t>
            </a:r>
          </a:p>
        </p:txBody>
      </p:sp>
      <p:sp>
        <p:nvSpPr>
          <p:cNvPr id="134" name="Rectangle 133"/>
          <p:cNvSpPr/>
          <p:nvPr/>
        </p:nvSpPr>
        <p:spPr>
          <a:xfrm>
            <a:off x="5709859" y="52212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5709859" y="5221224"/>
            <a:ext cx="16002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5965891" y="51937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6413947" y="51435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25</a:t>
            </a:r>
          </a:p>
        </p:txBody>
      </p:sp>
      <p:sp>
        <p:nvSpPr>
          <p:cNvPr id="138" name="TextBox 137"/>
          <p:cNvSpPr txBox="1"/>
          <p:nvPr/>
        </p:nvSpPr>
        <p:spPr>
          <a:xfrm>
            <a:off x="7036263" y="505663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E0402F"/>
                </a:solidFill>
                <a:latin typeface="Bahnschrift"/>
              </a:rPr>
              <a:t>D</a:t>
            </a:r>
          </a:p>
        </p:txBody>
      </p:sp>
      <p:sp>
        <p:nvSpPr>
          <p:cNvPr id="139" name="TextBox 138"/>
          <p:cNvSpPr txBox="1"/>
          <p:nvPr/>
        </p:nvSpPr>
        <p:spPr>
          <a:xfrm>
            <a:off x="7750481" y="505663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40" name="Rounded Rectangle 139"/>
          <p:cNvSpPr/>
          <p:nvPr/>
        </p:nvSpPr>
        <p:spPr>
          <a:xfrm>
            <a:off x="10097195" y="5120640"/>
            <a:ext cx="1180099" cy="219456"/>
          </a:xfrm>
          <a:prstGeom prst="roundRect">
            <a:avLst>
              <a:gd name="adj" fmla="val 50000"/>
            </a:avLst>
          </a:prstGeom>
          <a:solidFill>
            <a:srgbClr val="F5F6FC"/>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0097195" y="511515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6B7280"/>
                </a:solidFill>
                <a:latin typeface="Bahnschrift"/>
              </a:rPr>
              <a:t>WATCH</a:t>
            </a:r>
          </a:p>
        </p:txBody>
      </p:sp>
      <p:sp>
        <p:nvSpPr>
          <p:cNvPr id="142" name="Rectangle 141"/>
          <p:cNvSpPr/>
          <p:nvPr/>
        </p:nvSpPr>
        <p:spPr>
          <a:xfrm>
            <a:off x="841248" y="54041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fund-quality framework · Direct-plan NAV vs each scheme's own SEBI category benchmark (TRI) · structural watch-outs flagged per scheme.</a:t>
            </a:r>
          </a:p>
        </p:txBody>
      </p:sp>
      <p:sp>
        <p:nvSpPr>
          <p:cNvPr id="144" name="TextBox 143"/>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The fund book,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400" b="1" i="0">
                <a:solidFill>
                  <a:srgbClr val="F2A93C"/>
                </a:solidFill>
                <a:latin typeface="Bahnschrift"/>
              </a:rPr>
              <a:t>A 0-100 quality score on every scheme · the score is the input, the desk sets the verdict (3 of 3)</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22</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MF sleeve only, Direct-plan NAV, each scheme vs its own SEBI category benchmark (TRI) · as of 2026-07-27</a:t>
            </a:r>
          </a:p>
        </p:txBody>
      </p:sp>
      <p:sp>
        <p:nvSpPr>
          <p:cNvPr id="17" name="TextBox 16"/>
          <p:cNvSpPr txBox="1"/>
          <p:nvPr/>
        </p:nvSpPr>
        <p:spPr>
          <a:xfrm>
            <a:off x="914400" y="1828800"/>
            <a:ext cx="230244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SCHEME</a:t>
            </a:r>
          </a:p>
        </p:txBody>
      </p:sp>
      <p:sp>
        <p:nvSpPr>
          <p:cNvPr id="18" name="TextBox 17"/>
          <p:cNvSpPr txBox="1"/>
          <p:nvPr/>
        </p:nvSpPr>
        <p:spPr>
          <a:xfrm>
            <a:off x="3363145" y="1828800"/>
            <a:ext cx="874006"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CATEGORY</a:t>
            </a:r>
          </a:p>
        </p:txBody>
      </p:sp>
      <p:sp>
        <p:nvSpPr>
          <p:cNvPr id="19" name="TextBox 18"/>
          <p:cNvSpPr txBox="1"/>
          <p:nvPr/>
        </p:nvSpPr>
        <p:spPr>
          <a:xfrm>
            <a:off x="4383456" y="1828800"/>
            <a:ext cx="56791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PLAN</a:t>
            </a:r>
          </a:p>
        </p:txBody>
      </p:sp>
      <p:sp>
        <p:nvSpPr>
          <p:cNvPr id="20" name="TextBox 19"/>
          <p:cNvSpPr txBox="1"/>
          <p:nvPr/>
        </p:nvSpPr>
        <p:spPr>
          <a:xfrm>
            <a:off x="5097673" y="1828800"/>
            <a:ext cx="465882"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WT %</a:t>
            </a:r>
          </a:p>
        </p:txBody>
      </p:sp>
      <p:sp>
        <p:nvSpPr>
          <p:cNvPr id="21" name="TextBox 20"/>
          <p:cNvSpPr txBox="1"/>
          <p:nvPr/>
        </p:nvSpPr>
        <p:spPr>
          <a:xfrm>
            <a:off x="5709859" y="1828800"/>
            <a:ext cx="118009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FUND SCORE /100</a:t>
            </a:r>
          </a:p>
        </p:txBody>
      </p:sp>
      <p:sp>
        <p:nvSpPr>
          <p:cNvPr id="22" name="TextBox 21"/>
          <p:cNvSpPr txBox="1"/>
          <p:nvPr/>
        </p:nvSpPr>
        <p:spPr>
          <a:xfrm>
            <a:off x="7036263" y="1828800"/>
            <a:ext cx="56791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GRADE</a:t>
            </a:r>
          </a:p>
        </p:txBody>
      </p:sp>
      <p:sp>
        <p:nvSpPr>
          <p:cNvPr id="23" name="TextBox 22"/>
          <p:cNvSpPr txBox="1"/>
          <p:nvPr/>
        </p:nvSpPr>
        <p:spPr>
          <a:xfrm>
            <a:off x="7750481" y="1828800"/>
            <a:ext cx="2200410"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WATCH-OUTS</a:t>
            </a:r>
          </a:p>
        </p:txBody>
      </p:sp>
      <p:sp>
        <p:nvSpPr>
          <p:cNvPr id="24" name="TextBox 23"/>
          <p:cNvSpPr txBox="1"/>
          <p:nvPr/>
        </p:nvSpPr>
        <p:spPr>
          <a:xfrm>
            <a:off x="10097195" y="1828800"/>
            <a:ext cx="1180099"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VERDICT</a:t>
            </a:r>
          </a:p>
        </p:txBody>
      </p:sp>
      <p:sp>
        <p:nvSpPr>
          <p:cNvPr id="25" name="Rectangle 24"/>
          <p:cNvSpPr/>
          <p:nvPr/>
        </p:nvSpPr>
        <p:spPr>
          <a:xfrm>
            <a:off x="841248" y="208483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213055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Floating Rate Debt</a:t>
            </a:r>
          </a:p>
        </p:txBody>
      </p:sp>
      <p:sp>
        <p:nvSpPr>
          <p:cNvPr id="27" name="TextBox 26"/>
          <p:cNvSpPr txBox="1"/>
          <p:nvPr/>
        </p:nvSpPr>
        <p:spPr>
          <a:xfrm>
            <a:off x="3363145" y="213055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Debt Short</a:t>
            </a:r>
          </a:p>
        </p:txBody>
      </p:sp>
      <p:sp>
        <p:nvSpPr>
          <p:cNvPr id="28" name="TextBox 27"/>
          <p:cNvSpPr txBox="1"/>
          <p:nvPr/>
        </p:nvSpPr>
        <p:spPr>
          <a:xfrm>
            <a:off x="4383456" y="213055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29" name="TextBox 28"/>
          <p:cNvSpPr txBox="1"/>
          <p:nvPr/>
        </p:nvSpPr>
        <p:spPr>
          <a:xfrm>
            <a:off x="5097673" y="213055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0.0</a:t>
            </a:r>
          </a:p>
        </p:txBody>
      </p:sp>
      <p:sp>
        <p:nvSpPr>
          <p:cNvPr id="30" name="Rectangle 29"/>
          <p:cNvSpPr/>
          <p:nvPr/>
        </p:nvSpPr>
        <p:spPr>
          <a:xfrm>
            <a:off x="5709859" y="22951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709859" y="2295144"/>
            <a:ext cx="32004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965891" y="22677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13947" y="22174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34" name="TextBox 33"/>
          <p:cNvSpPr txBox="1"/>
          <p:nvPr/>
        </p:nvSpPr>
        <p:spPr>
          <a:xfrm>
            <a:off x="7036263" y="213055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92400E"/>
                </a:solidFill>
                <a:latin typeface="Bahnschrift"/>
              </a:rPr>
              <a:t>C</a:t>
            </a:r>
          </a:p>
        </p:txBody>
      </p:sp>
      <p:sp>
        <p:nvSpPr>
          <p:cNvPr id="35" name="TextBox 34"/>
          <p:cNvSpPr txBox="1"/>
          <p:nvPr/>
        </p:nvSpPr>
        <p:spPr>
          <a:xfrm>
            <a:off x="7750481" y="213055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36" name="Rounded Rectangle 35"/>
          <p:cNvSpPr/>
          <p:nvPr/>
        </p:nvSpPr>
        <p:spPr>
          <a:xfrm>
            <a:off x="10097195" y="2194560"/>
            <a:ext cx="1180099"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97195" y="218907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8" name="Rectangle 37"/>
          <p:cNvSpPr/>
          <p:nvPr/>
        </p:nvSpPr>
        <p:spPr>
          <a:xfrm>
            <a:off x="841248" y="24780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249631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Overnight - Direct</a:t>
            </a:r>
          </a:p>
        </p:txBody>
      </p:sp>
      <p:sp>
        <p:nvSpPr>
          <p:cNvPr id="40" name="TextBox 39"/>
          <p:cNvSpPr txBox="1"/>
          <p:nvPr/>
        </p:nvSpPr>
        <p:spPr>
          <a:xfrm>
            <a:off x="3363145" y="249631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Overnight</a:t>
            </a:r>
          </a:p>
        </p:txBody>
      </p:sp>
      <p:sp>
        <p:nvSpPr>
          <p:cNvPr id="41" name="TextBox 40"/>
          <p:cNvSpPr txBox="1"/>
          <p:nvPr/>
        </p:nvSpPr>
        <p:spPr>
          <a:xfrm>
            <a:off x="4383456" y="249631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42" name="TextBox 41"/>
          <p:cNvSpPr txBox="1"/>
          <p:nvPr/>
        </p:nvSpPr>
        <p:spPr>
          <a:xfrm>
            <a:off x="5097673" y="249631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0.0</a:t>
            </a:r>
          </a:p>
        </p:txBody>
      </p:sp>
      <p:sp>
        <p:nvSpPr>
          <p:cNvPr id="43" name="Rectangle 42"/>
          <p:cNvSpPr/>
          <p:nvPr/>
        </p:nvSpPr>
        <p:spPr>
          <a:xfrm>
            <a:off x="5709859" y="266090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709859" y="2660904"/>
            <a:ext cx="31363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965891" y="263347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13947" y="258318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49</a:t>
            </a:r>
          </a:p>
        </p:txBody>
      </p:sp>
      <p:sp>
        <p:nvSpPr>
          <p:cNvPr id="47" name="TextBox 46"/>
          <p:cNvSpPr txBox="1"/>
          <p:nvPr/>
        </p:nvSpPr>
        <p:spPr>
          <a:xfrm>
            <a:off x="7036263" y="249631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92400E"/>
                </a:solidFill>
                <a:latin typeface="Bahnschrift"/>
              </a:rPr>
              <a:t>C</a:t>
            </a:r>
          </a:p>
        </p:txBody>
      </p:sp>
      <p:sp>
        <p:nvSpPr>
          <p:cNvPr id="48" name="TextBox 47"/>
          <p:cNvSpPr txBox="1"/>
          <p:nvPr/>
        </p:nvSpPr>
        <p:spPr>
          <a:xfrm>
            <a:off x="7750481" y="249631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49" name="Rounded Rectangle 48"/>
          <p:cNvSpPr/>
          <p:nvPr/>
        </p:nvSpPr>
        <p:spPr>
          <a:xfrm>
            <a:off x="10097195" y="2560320"/>
            <a:ext cx="1180099"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97195" y="255483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1" name="Rectangle 50"/>
          <p:cNvSpPr/>
          <p:nvPr/>
        </p:nvSpPr>
        <p:spPr>
          <a:xfrm>
            <a:off x="841248" y="28437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286207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Templeton India Value</a:t>
            </a:r>
          </a:p>
        </p:txBody>
      </p:sp>
      <p:sp>
        <p:nvSpPr>
          <p:cNvPr id="53" name="TextBox 52"/>
          <p:cNvSpPr txBox="1"/>
          <p:nvPr/>
        </p:nvSpPr>
        <p:spPr>
          <a:xfrm>
            <a:off x="3363145" y="286207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Value</a:t>
            </a:r>
          </a:p>
        </p:txBody>
      </p:sp>
      <p:sp>
        <p:nvSpPr>
          <p:cNvPr id="54" name="TextBox 53"/>
          <p:cNvSpPr txBox="1"/>
          <p:nvPr/>
        </p:nvSpPr>
        <p:spPr>
          <a:xfrm>
            <a:off x="4383456" y="286207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55" name="TextBox 54"/>
          <p:cNvSpPr txBox="1"/>
          <p:nvPr/>
        </p:nvSpPr>
        <p:spPr>
          <a:xfrm>
            <a:off x="5097673" y="286207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4.7</a:t>
            </a:r>
          </a:p>
        </p:txBody>
      </p:sp>
      <p:sp>
        <p:nvSpPr>
          <p:cNvPr id="56" name="Rectangle 55"/>
          <p:cNvSpPr/>
          <p:nvPr/>
        </p:nvSpPr>
        <p:spPr>
          <a:xfrm>
            <a:off x="5709859" y="30266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709859" y="3026664"/>
            <a:ext cx="43525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965891" y="2999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13947" y="2948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68</a:t>
            </a:r>
          </a:p>
        </p:txBody>
      </p:sp>
      <p:sp>
        <p:nvSpPr>
          <p:cNvPr id="60" name="TextBox 59"/>
          <p:cNvSpPr txBox="1"/>
          <p:nvPr/>
        </p:nvSpPr>
        <p:spPr>
          <a:xfrm>
            <a:off x="7036263" y="286207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61" name="TextBox 60"/>
          <p:cNvSpPr txBox="1"/>
          <p:nvPr/>
        </p:nvSpPr>
        <p:spPr>
          <a:xfrm>
            <a:off x="7750481" y="286207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62" name="Rounded Rectangle 61"/>
          <p:cNvSpPr/>
          <p:nvPr/>
        </p:nvSpPr>
        <p:spPr>
          <a:xfrm>
            <a:off x="10097195" y="292608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097195" y="292059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4" name="Rectangle 63"/>
          <p:cNvSpPr/>
          <p:nvPr/>
        </p:nvSpPr>
        <p:spPr>
          <a:xfrm>
            <a:off x="841248" y="32095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14400" y="322783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360 ONE Focused - Direct</a:t>
            </a:r>
          </a:p>
        </p:txBody>
      </p:sp>
      <p:sp>
        <p:nvSpPr>
          <p:cNvPr id="66" name="TextBox 65"/>
          <p:cNvSpPr txBox="1"/>
          <p:nvPr/>
        </p:nvSpPr>
        <p:spPr>
          <a:xfrm>
            <a:off x="3363145" y="322783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Focused</a:t>
            </a:r>
          </a:p>
        </p:txBody>
      </p:sp>
      <p:sp>
        <p:nvSpPr>
          <p:cNvPr id="67" name="TextBox 66"/>
          <p:cNvSpPr txBox="1"/>
          <p:nvPr/>
        </p:nvSpPr>
        <p:spPr>
          <a:xfrm>
            <a:off x="4383456" y="322783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68" name="TextBox 67"/>
          <p:cNvSpPr txBox="1"/>
          <p:nvPr/>
        </p:nvSpPr>
        <p:spPr>
          <a:xfrm>
            <a:off x="5097673" y="322783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4.6</a:t>
            </a:r>
          </a:p>
        </p:txBody>
      </p:sp>
      <p:sp>
        <p:nvSpPr>
          <p:cNvPr id="69" name="Rectangle 68"/>
          <p:cNvSpPr/>
          <p:nvPr/>
        </p:nvSpPr>
        <p:spPr>
          <a:xfrm>
            <a:off x="5709859" y="33924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709859" y="3392424"/>
            <a:ext cx="43525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965891" y="33649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13947" y="33147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68</a:t>
            </a:r>
          </a:p>
        </p:txBody>
      </p:sp>
      <p:sp>
        <p:nvSpPr>
          <p:cNvPr id="73" name="TextBox 72"/>
          <p:cNvSpPr txBox="1"/>
          <p:nvPr/>
        </p:nvSpPr>
        <p:spPr>
          <a:xfrm>
            <a:off x="7036263" y="322783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74" name="TextBox 73"/>
          <p:cNvSpPr txBox="1"/>
          <p:nvPr/>
        </p:nvSpPr>
        <p:spPr>
          <a:xfrm>
            <a:off x="7750481" y="322783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75" name="Rounded Rectangle 74"/>
          <p:cNvSpPr/>
          <p:nvPr/>
        </p:nvSpPr>
        <p:spPr>
          <a:xfrm>
            <a:off x="10097195" y="329184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097195" y="328635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77" name="Rectangle 76"/>
          <p:cNvSpPr/>
          <p:nvPr/>
        </p:nvSpPr>
        <p:spPr>
          <a:xfrm>
            <a:off x="841248" y="3575303"/>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14400" y="3593591"/>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Parag Parikh Flexi Cap</a:t>
            </a:r>
          </a:p>
        </p:txBody>
      </p:sp>
      <p:sp>
        <p:nvSpPr>
          <p:cNvPr id="79" name="TextBox 78"/>
          <p:cNvSpPr txBox="1"/>
          <p:nvPr/>
        </p:nvSpPr>
        <p:spPr>
          <a:xfrm>
            <a:off x="3363145" y="3593591"/>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Flexi</a:t>
            </a:r>
          </a:p>
        </p:txBody>
      </p:sp>
      <p:sp>
        <p:nvSpPr>
          <p:cNvPr id="80" name="TextBox 79"/>
          <p:cNvSpPr txBox="1"/>
          <p:nvPr/>
        </p:nvSpPr>
        <p:spPr>
          <a:xfrm>
            <a:off x="4383456" y="3593591"/>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81" name="TextBox 80"/>
          <p:cNvSpPr txBox="1"/>
          <p:nvPr/>
        </p:nvSpPr>
        <p:spPr>
          <a:xfrm>
            <a:off x="5097673" y="3593591"/>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4.3</a:t>
            </a:r>
          </a:p>
        </p:txBody>
      </p:sp>
      <p:sp>
        <p:nvSpPr>
          <p:cNvPr id="82" name="Rectangle 81"/>
          <p:cNvSpPr/>
          <p:nvPr/>
        </p:nvSpPr>
        <p:spPr>
          <a:xfrm>
            <a:off x="5709859" y="37581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5709859" y="3758184"/>
            <a:ext cx="43525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965891" y="37307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413947" y="36804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68</a:t>
            </a:r>
          </a:p>
        </p:txBody>
      </p:sp>
      <p:sp>
        <p:nvSpPr>
          <p:cNvPr id="86" name="TextBox 85"/>
          <p:cNvSpPr txBox="1"/>
          <p:nvPr/>
        </p:nvSpPr>
        <p:spPr>
          <a:xfrm>
            <a:off x="7036263" y="3593591"/>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87" name="TextBox 86"/>
          <p:cNvSpPr txBox="1"/>
          <p:nvPr/>
        </p:nvSpPr>
        <p:spPr>
          <a:xfrm>
            <a:off x="7750481" y="3593591"/>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88" name="Rounded Rectangle 87"/>
          <p:cNvSpPr/>
          <p:nvPr/>
        </p:nvSpPr>
        <p:spPr>
          <a:xfrm>
            <a:off x="10097195" y="365760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097195" y="365211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90" name="Rectangle 89"/>
          <p:cNvSpPr/>
          <p:nvPr/>
        </p:nvSpPr>
        <p:spPr>
          <a:xfrm>
            <a:off x="841248" y="394106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14400" y="395935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Nippon India Multi Cap</a:t>
            </a:r>
          </a:p>
        </p:txBody>
      </p:sp>
      <p:sp>
        <p:nvSpPr>
          <p:cNvPr id="92" name="TextBox 91"/>
          <p:cNvSpPr txBox="1"/>
          <p:nvPr/>
        </p:nvSpPr>
        <p:spPr>
          <a:xfrm>
            <a:off x="3363145" y="395935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Multi</a:t>
            </a:r>
          </a:p>
        </p:txBody>
      </p:sp>
      <p:sp>
        <p:nvSpPr>
          <p:cNvPr id="93" name="TextBox 92"/>
          <p:cNvSpPr txBox="1"/>
          <p:nvPr/>
        </p:nvSpPr>
        <p:spPr>
          <a:xfrm>
            <a:off x="4383456" y="395935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94" name="TextBox 93"/>
          <p:cNvSpPr txBox="1"/>
          <p:nvPr/>
        </p:nvSpPr>
        <p:spPr>
          <a:xfrm>
            <a:off x="5097673" y="395935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2.8</a:t>
            </a:r>
          </a:p>
        </p:txBody>
      </p:sp>
      <p:sp>
        <p:nvSpPr>
          <p:cNvPr id="95" name="Rectangle 94"/>
          <p:cNvSpPr/>
          <p:nvPr/>
        </p:nvSpPr>
        <p:spPr>
          <a:xfrm>
            <a:off x="5709859" y="41239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5709859" y="4123944"/>
            <a:ext cx="43525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5965891" y="40965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413947" y="40462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68</a:t>
            </a:r>
          </a:p>
        </p:txBody>
      </p:sp>
      <p:sp>
        <p:nvSpPr>
          <p:cNvPr id="99" name="TextBox 98"/>
          <p:cNvSpPr txBox="1"/>
          <p:nvPr/>
        </p:nvSpPr>
        <p:spPr>
          <a:xfrm>
            <a:off x="7036263" y="395935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100" name="TextBox 99"/>
          <p:cNvSpPr txBox="1"/>
          <p:nvPr/>
        </p:nvSpPr>
        <p:spPr>
          <a:xfrm>
            <a:off x="7750481" y="395935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01" name="Rounded Rectangle 100"/>
          <p:cNvSpPr/>
          <p:nvPr/>
        </p:nvSpPr>
        <p:spPr>
          <a:xfrm>
            <a:off x="10097195" y="402336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0097195" y="401787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03" name="Rectangle 102"/>
          <p:cNvSpPr/>
          <p:nvPr/>
        </p:nvSpPr>
        <p:spPr>
          <a:xfrm>
            <a:off x="841248" y="43068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14400" y="4325112"/>
            <a:ext cx="2302441"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Tata Small Cap - Direct</a:t>
            </a:r>
          </a:p>
        </p:txBody>
      </p:sp>
      <p:sp>
        <p:nvSpPr>
          <p:cNvPr id="105" name="TextBox 104"/>
          <p:cNvSpPr txBox="1"/>
          <p:nvPr/>
        </p:nvSpPr>
        <p:spPr>
          <a:xfrm>
            <a:off x="3363145" y="4325112"/>
            <a:ext cx="874006" cy="36576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Small</a:t>
            </a:r>
          </a:p>
        </p:txBody>
      </p:sp>
      <p:sp>
        <p:nvSpPr>
          <p:cNvPr id="106" name="TextBox 105"/>
          <p:cNvSpPr txBox="1"/>
          <p:nvPr/>
        </p:nvSpPr>
        <p:spPr>
          <a:xfrm>
            <a:off x="4383456" y="4325112"/>
            <a:ext cx="567913" cy="365760"/>
          </a:xfrm>
          <a:prstGeom prst="rect">
            <a:avLst/>
          </a:prstGeom>
          <a:noFill/>
        </p:spPr>
        <p:txBody>
          <a:bodyPr wrap="square" anchor="ctr" lIns="0" rIns="0" tIns="0" bIns="0">
            <a:spAutoFit/>
          </a:bodyPr>
          <a:lstStyle/>
          <a:p>
            <a:pPr algn="ctr">
              <a:spcBef>
                <a:spcPts val="0"/>
              </a:spcBef>
              <a:spcAft>
                <a:spcPts val="0"/>
              </a:spcAft>
            </a:pPr>
            <a:r>
              <a:rPr sz="950" b="0" i="0">
                <a:solidFill>
                  <a:srgbClr val="16233B"/>
                </a:solidFill>
                <a:latin typeface="Georgia"/>
              </a:rPr>
              <a:t>Dir</a:t>
            </a:r>
          </a:p>
        </p:txBody>
      </p:sp>
      <p:sp>
        <p:nvSpPr>
          <p:cNvPr id="107" name="TextBox 106"/>
          <p:cNvSpPr txBox="1"/>
          <p:nvPr/>
        </p:nvSpPr>
        <p:spPr>
          <a:xfrm>
            <a:off x="5097673" y="4325112"/>
            <a:ext cx="465882" cy="36576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1.6</a:t>
            </a:r>
          </a:p>
        </p:txBody>
      </p:sp>
      <p:sp>
        <p:nvSpPr>
          <p:cNvPr id="108" name="Rectangle 107"/>
          <p:cNvSpPr/>
          <p:nvPr/>
        </p:nvSpPr>
        <p:spPr>
          <a:xfrm>
            <a:off x="5709859" y="448970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5709859" y="4489704"/>
            <a:ext cx="43525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5965891" y="446227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413947" y="441198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68</a:t>
            </a:r>
          </a:p>
        </p:txBody>
      </p:sp>
      <p:sp>
        <p:nvSpPr>
          <p:cNvPr id="112" name="TextBox 111"/>
          <p:cNvSpPr txBox="1"/>
          <p:nvPr/>
        </p:nvSpPr>
        <p:spPr>
          <a:xfrm>
            <a:off x="7036263" y="4325112"/>
            <a:ext cx="567913" cy="365760"/>
          </a:xfrm>
          <a:prstGeom prst="rect">
            <a:avLst/>
          </a:prstGeom>
          <a:noFill/>
        </p:spPr>
        <p:txBody>
          <a:bodyPr wrap="square" anchor="ctr" lIns="0" rIns="0" tIns="0" bIns="0">
            <a:spAutoFit/>
          </a:bodyPr>
          <a:lstStyle/>
          <a:p>
            <a:pPr algn="ctr">
              <a:spcBef>
                <a:spcPts val="0"/>
              </a:spcBef>
              <a:spcAft>
                <a:spcPts val="0"/>
              </a:spcAft>
            </a:pPr>
            <a:r>
              <a:rPr sz="950" b="1" i="0">
                <a:solidFill>
                  <a:srgbClr val="1B27A3"/>
                </a:solidFill>
                <a:latin typeface="Bahnschrift"/>
              </a:rPr>
              <a:t>B</a:t>
            </a:r>
          </a:p>
        </p:txBody>
      </p:sp>
      <p:sp>
        <p:nvSpPr>
          <p:cNvPr id="113" name="TextBox 112"/>
          <p:cNvSpPr txBox="1"/>
          <p:nvPr/>
        </p:nvSpPr>
        <p:spPr>
          <a:xfrm>
            <a:off x="7750481" y="4325112"/>
            <a:ext cx="2200410" cy="365760"/>
          </a:xfrm>
          <a:prstGeom prst="rect">
            <a:avLst/>
          </a:prstGeom>
          <a:noFill/>
        </p:spPr>
        <p:txBody>
          <a:bodyPr wrap="square" anchor="ctr" lIns="0" rIns="0" tIns="0" bIns="0">
            <a:spAutoFit/>
          </a:bodyPr>
          <a:lstStyle/>
          <a:p>
            <a:pPr algn="l">
              <a:spcBef>
                <a:spcPts val="0"/>
              </a:spcBef>
              <a:spcAft>
                <a:spcPts val="0"/>
              </a:spcAft>
            </a:pPr>
            <a:r>
              <a:rPr sz="950" b="0" i="0">
                <a:solidFill>
                  <a:srgbClr val="6B7280"/>
                </a:solidFill>
                <a:latin typeface="Bahnschrift"/>
              </a:rPr>
              <a:t>-</a:t>
            </a:r>
          </a:p>
        </p:txBody>
      </p:sp>
      <p:sp>
        <p:nvSpPr>
          <p:cNvPr id="114" name="Rounded Rectangle 113"/>
          <p:cNvSpPr/>
          <p:nvPr/>
        </p:nvSpPr>
        <p:spPr>
          <a:xfrm>
            <a:off x="10097195" y="4389120"/>
            <a:ext cx="118009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0097195" y="4383633"/>
            <a:ext cx="118009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16" name="Rectangle 115"/>
          <p:cNvSpPr/>
          <p:nvPr/>
        </p:nvSpPr>
        <p:spPr>
          <a:xfrm>
            <a:off x="841248" y="46725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41248" y="5504688"/>
            <a:ext cx="10509199" cy="457200"/>
          </a:xfrm>
          <a:prstGeom prst="rect">
            <a:avLst/>
          </a:prstGeom>
          <a:noFill/>
        </p:spPr>
        <p:txBody>
          <a:bodyPr wrap="square" anchor="t" lIns="0" rIns="0" tIns="0" bIns="0">
            <a:spAutoFit/>
          </a:bodyPr>
          <a:lstStyle/>
          <a:p>
            <a:pPr algn="l">
              <a:lnSpc>
                <a:spcPct val="105000"/>
              </a:lnSpc>
              <a:spcBef>
                <a:spcPts val="0"/>
              </a:spcBef>
              <a:spcAft>
                <a:spcPts val="0"/>
              </a:spcAft>
            </a:pPr>
            <a:r>
              <a:rPr sz="950" b="0" i="1">
                <a:solidFill>
                  <a:srgbClr val="16233B"/>
                </a:solidFill>
                <a:latin typeface="Georgia"/>
              </a:rPr>
              <a:t>The desk read: the fund score ranks the scheme; the Portfolio Review team sets the verdict. 7 of 25 schemes carry an action, mostly on cost and structure (plan, mandate rigidity, scale, consistency) rather than performance alone; 18 are Holds on merit.</a:t>
            </a:r>
          </a:p>
        </p:txBody>
      </p:sp>
      <p:sp>
        <p:nvSpPr>
          <p:cNvPr id="118" name="TextBox 117"/>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fund-quality framework · Direct-plan NAV vs each scheme's own SEBI category benchmark (TRI) · structural watch-outs flagged per scheme.</a:t>
            </a:r>
          </a:p>
        </p:txBody>
      </p:sp>
      <p:sp>
        <p:nvSpPr>
          <p:cNvPr id="119" name="TextBox 118"/>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Equity funds vs benchmark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Three-year record against the index, and the desk's call</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23</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MF sleeve · equity &amp; index schemes · as of 2026-07-27</a:t>
            </a:r>
          </a:p>
        </p:txBody>
      </p:sp>
      <p:sp>
        <p:nvSpPr>
          <p:cNvPr id="17" name="TextBox 16"/>
          <p:cNvSpPr txBox="1"/>
          <p:nvPr/>
        </p:nvSpPr>
        <p:spPr>
          <a:xfrm>
            <a:off x="841248" y="1810512"/>
            <a:ext cx="5943600" cy="182880"/>
          </a:xfrm>
          <a:prstGeom prst="rect">
            <a:avLst/>
          </a:prstGeom>
          <a:noFill/>
        </p:spPr>
        <p:txBody>
          <a:bodyPr wrap="square" anchor="t" lIns="0" rIns="0" tIns="0" bIns="0">
            <a:spAutoFit/>
          </a:bodyPr>
          <a:lstStyle/>
          <a:p>
            <a:pPr algn="l">
              <a:spcBef>
                <a:spcPts val="0"/>
              </a:spcBef>
              <a:spcAft>
                <a:spcPts val="0"/>
              </a:spcAft>
            </a:pPr>
            <a:r>
              <a:rPr sz="800" b="1" i="0" spc="80">
                <a:solidFill>
                  <a:srgbClr val="1B27A3"/>
                </a:solidFill>
                <a:latin typeface="Bahnschrift"/>
              </a:rPr>
              <a:t>THE LONG-TERM TEST · 3-YEAR RECORD VS OWN CATEGORY BENCHMARK</a:t>
            </a:r>
          </a:p>
        </p:txBody>
      </p:sp>
      <p:sp>
        <p:nvSpPr>
          <p:cNvPr id="18" name="Rounded Rectangle 17"/>
          <p:cNvSpPr/>
          <p:nvPr/>
        </p:nvSpPr>
        <p:spPr>
          <a:xfrm>
            <a:off x="841248" y="2011680"/>
            <a:ext cx="5943600" cy="17830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1248" y="2011680"/>
            <a:ext cx="54864" cy="17830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2139696"/>
            <a:ext cx="5577840"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NO FUNDS SCORED YET</a:t>
            </a:r>
          </a:p>
        </p:txBody>
      </p:sp>
      <p:sp>
        <p:nvSpPr>
          <p:cNvPr id="21" name="TextBox 20"/>
          <p:cNvSpPr txBox="1"/>
          <p:nvPr/>
        </p:nvSpPr>
        <p:spPr>
          <a:xfrm>
            <a:off x="1042416" y="2414016"/>
            <a:ext cx="5577840"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No equity or index-style funds are scored under this category yet.</a:t>
            </a:r>
          </a:p>
        </p:txBody>
      </p:sp>
      <p:sp>
        <p:nvSpPr>
          <p:cNvPr id="22" name="TextBox 21"/>
          <p:cNvSpPr txBox="1"/>
          <p:nvPr/>
        </p:nvSpPr>
        <p:spPr>
          <a:xfrm>
            <a:off x="841248" y="4005072"/>
            <a:ext cx="5943600" cy="182880"/>
          </a:xfrm>
          <a:prstGeom prst="rect">
            <a:avLst/>
          </a:prstGeom>
          <a:noFill/>
        </p:spPr>
        <p:txBody>
          <a:bodyPr wrap="square" anchor="t" lIns="0" rIns="0" tIns="0" bIns="0">
            <a:spAutoFit/>
          </a:bodyPr>
          <a:lstStyle/>
          <a:p>
            <a:pPr algn="l">
              <a:spcBef>
                <a:spcPts val="0"/>
              </a:spcBef>
              <a:spcAft>
                <a:spcPts val="0"/>
              </a:spcAft>
            </a:pPr>
            <a:r>
              <a:rPr sz="800" b="1" i="0" spc="80">
                <a:solidFill>
                  <a:srgbClr val="1B27A3"/>
                </a:solidFill>
                <a:latin typeface="Bahnschrift"/>
              </a:rPr>
              <a:t>THE SHORT-HORIZON TEST · PARTICIPATION IN FALLS VS THE CUTOFF</a:t>
            </a:r>
          </a:p>
        </p:txBody>
      </p:sp>
      <p:sp>
        <p:nvSpPr>
          <p:cNvPr id="23" name="Rounded Rectangle 22"/>
          <p:cNvSpPr/>
          <p:nvPr/>
        </p:nvSpPr>
        <p:spPr>
          <a:xfrm>
            <a:off x="841248" y="4206240"/>
            <a:ext cx="5943600" cy="16916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1248" y="4206240"/>
            <a:ext cx="54864" cy="16916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416" y="4334255"/>
            <a:ext cx="5577840"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NO ACTIVELY-MANAGED FUNDS TO TEST</a:t>
            </a:r>
          </a:p>
        </p:txBody>
      </p:sp>
      <p:sp>
        <p:nvSpPr>
          <p:cNvPr id="26" name="TextBox 25"/>
          <p:cNvSpPr txBox="1"/>
          <p:nvPr/>
        </p:nvSpPr>
        <p:spPr>
          <a:xfrm>
            <a:off x="1042416" y="4608576"/>
            <a:ext cx="5577840" cy="12344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No actively-managed equity-style funds are scored under this category yet.</a:t>
            </a:r>
          </a:p>
        </p:txBody>
      </p:sp>
      <p:sp>
        <p:nvSpPr>
          <p:cNvPr id="27" name="TextBox 26"/>
          <p:cNvSpPr txBox="1"/>
          <p:nvPr/>
        </p:nvSpPr>
        <p:spPr>
          <a:xfrm>
            <a:off x="7068312" y="1828800"/>
            <a:ext cx="1595810"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SCHEME</a:t>
            </a:r>
          </a:p>
        </p:txBody>
      </p:sp>
      <p:sp>
        <p:nvSpPr>
          <p:cNvPr id="28" name="TextBox 27"/>
          <p:cNvSpPr txBox="1"/>
          <p:nvPr/>
        </p:nvSpPr>
        <p:spPr>
          <a:xfrm>
            <a:off x="8810426" y="1828800"/>
            <a:ext cx="637647"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3Y CAGR</a:t>
            </a:r>
          </a:p>
        </p:txBody>
      </p:sp>
      <p:sp>
        <p:nvSpPr>
          <p:cNvPr id="29" name="TextBox 28"/>
          <p:cNvSpPr txBox="1"/>
          <p:nvPr/>
        </p:nvSpPr>
        <p:spPr>
          <a:xfrm>
            <a:off x="9594378" y="1828800"/>
            <a:ext cx="550541"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VS BM</a:t>
            </a:r>
          </a:p>
        </p:txBody>
      </p:sp>
      <p:sp>
        <p:nvSpPr>
          <p:cNvPr id="30" name="TextBox 29"/>
          <p:cNvSpPr txBox="1"/>
          <p:nvPr/>
        </p:nvSpPr>
        <p:spPr>
          <a:xfrm>
            <a:off x="10291224" y="1828800"/>
            <a:ext cx="986070"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DESK CALL</a:t>
            </a:r>
          </a:p>
        </p:txBody>
      </p:sp>
      <p:sp>
        <p:nvSpPr>
          <p:cNvPr id="31" name="Rectangle 30"/>
          <p:cNvSpPr/>
          <p:nvPr/>
        </p:nvSpPr>
        <p:spPr>
          <a:xfrm>
            <a:off x="6995160" y="2084832"/>
            <a:ext cx="4355287"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68312" y="2130552"/>
            <a:ext cx="1595810" cy="365760"/>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HDFC NIFTY 50</a:t>
            </a:r>
          </a:p>
        </p:txBody>
      </p:sp>
      <p:sp>
        <p:nvSpPr>
          <p:cNvPr id="33" name="TextBox 32"/>
          <p:cNvSpPr txBox="1"/>
          <p:nvPr/>
        </p:nvSpPr>
        <p:spPr>
          <a:xfrm>
            <a:off x="8810426" y="2130552"/>
            <a:ext cx="637647" cy="365760"/>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n/a</a:t>
            </a:r>
          </a:p>
        </p:txBody>
      </p:sp>
      <p:sp>
        <p:nvSpPr>
          <p:cNvPr id="34" name="TextBox 33"/>
          <p:cNvSpPr txBox="1"/>
          <p:nvPr/>
        </p:nvSpPr>
        <p:spPr>
          <a:xfrm>
            <a:off x="9594378" y="2130552"/>
            <a:ext cx="550541" cy="365760"/>
          </a:xfrm>
          <a:prstGeom prst="rect">
            <a:avLst/>
          </a:prstGeom>
          <a:noFill/>
        </p:spPr>
        <p:txBody>
          <a:bodyPr wrap="square" anchor="ctr" lIns="0" rIns="0" tIns="0" bIns="0">
            <a:spAutoFit/>
          </a:bodyPr>
          <a:lstStyle/>
          <a:p>
            <a:pPr algn="r">
              <a:spcBef>
                <a:spcPts val="0"/>
              </a:spcBef>
              <a:spcAft>
                <a:spcPts val="0"/>
              </a:spcAft>
            </a:pPr>
            <a:r>
              <a:rPr sz="900" b="0" i="0">
                <a:solidFill>
                  <a:srgbClr val="6B7280"/>
                </a:solidFill>
                <a:latin typeface="Bahnschrift"/>
              </a:rPr>
              <a:t>n/a</a:t>
            </a:r>
          </a:p>
        </p:txBody>
      </p:sp>
      <p:sp>
        <p:nvSpPr>
          <p:cNvPr id="35" name="Rounded Rectangle 34"/>
          <p:cNvSpPr/>
          <p:nvPr/>
        </p:nvSpPr>
        <p:spPr>
          <a:xfrm>
            <a:off x="10291224" y="2194560"/>
            <a:ext cx="98607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1224" y="2189073"/>
            <a:ext cx="98607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7" name="Rectangle 36"/>
          <p:cNvSpPr/>
          <p:nvPr/>
        </p:nvSpPr>
        <p:spPr>
          <a:xfrm>
            <a:off x="6995160" y="2478024"/>
            <a:ext cx="435528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995160" y="2660904"/>
            <a:ext cx="4355287" cy="12344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995160" y="2660904"/>
            <a:ext cx="54864" cy="12344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96328" y="2788920"/>
            <a:ext cx="398952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WHERE THE CALLS COME FROM</a:t>
            </a:r>
          </a:p>
        </p:txBody>
      </p:sp>
      <p:sp>
        <p:nvSpPr>
          <p:cNvPr id="41" name="TextBox 40"/>
          <p:cNvSpPr txBox="1"/>
          <p:nvPr/>
        </p:nvSpPr>
        <p:spPr>
          <a:xfrm>
            <a:off x="7196328" y="3063240"/>
            <a:ext cx="3989527" cy="7772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Fund calls follow our fund-quality frameworks, a long-term view and a short-horizon overlay, refreshed regularly. This review applies those calls to your holdings; it does not re-score the funds.</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3y CAGR and down-capture vs each scheme's own SEBI category benchmark (TRI), Direct-plan NAV, common 3y window · fund recommendations per the Ionic MF desk (long-term + short-term frameworks).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1800" b="1" i="0">
                <a:solidFill>
                  <a:srgbClr val="1B27A3"/>
                </a:solidFill>
                <a:latin typeface="Bahnschrift"/>
              </a:rPr>
              <a:t>Hybrid funds · return-for-risk, drawdown, worst year</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 hybrid earns its keep in the bad year, not the good one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24</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MF sleeve only: hybrid schemes · as of 2026-07-27</a:t>
            </a:r>
          </a:p>
        </p:txBody>
      </p:sp>
      <p:sp>
        <p:nvSpPr>
          <p:cNvPr id="17" name="TextBox 16"/>
          <p:cNvSpPr txBox="1"/>
          <p:nvPr/>
        </p:nvSpPr>
        <p:spPr>
          <a:xfrm>
            <a:off x="914400" y="1737360"/>
            <a:ext cx="216571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SCHEME</a:t>
            </a:r>
          </a:p>
        </p:txBody>
      </p:sp>
      <p:sp>
        <p:nvSpPr>
          <p:cNvPr id="18" name="TextBox 17"/>
          <p:cNvSpPr txBox="1"/>
          <p:nvPr/>
        </p:nvSpPr>
        <p:spPr>
          <a:xfrm>
            <a:off x="3226423" y="1737360"/>
            <a:ext cx="904615"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SORTINO</a:t>
            </a:r>
          </a:p>
        </p:txBody>
      </p:sp>
      <p:sp>
        <p:nvSpPr>
          <p:cNvPr id="19" name="TextBox 18"/>
          <p:cNvSpPr txBox="1"/>
          <p:nvPr/>
        </p:nvSpPr>
        <p:spPr>
          <a:xfrm>
            <a:off x="4277343" y="1737360"/>
            <a:ext cx="904615"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CALMAR</a:t>
            </a:r>
          </a:p>
        </p:txBody>
      </p:sp>
      <p:sp>
        <p:nvSpPr>
          <p:cNvPr id="20" name="TextBox 19"/>
          <p:cNvSpPr txBox="1"/>
          <p:nvPr/>
        </p:nvSpPr>
        <p:spPr>
          <a:xfrm>
            <a:off x="5328263" y="1737360"/>
            <a:ext cx="1114799"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MAX DD (3Y)</a:t>
            </a:r>
          </a:p>
        </p:txBody>
      </p:sp>
      <p:sp>
        <p:nvSpPr>
          <p:cNvPr id="21" name="TextBox 20"/>
          <p:cNvSpPr txBox="1"/>
          <p:nvPr/>
        </p:nvSpPr>
        <p:spPr>
          <a:xfrm>
            <a:off x="6589367" y="1737360"/>
            <a:ext cx="1114799"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WORST 1-YR</a:t>
            </a:r>
          </a:p>
        </p:txBody>
      </p:sp>
      <p:sp>
        <p:nvSpPr>
          <p:cNvPr id="22" name="TextBox 21"/>
          <p:cNvSpPr txBox="1"/>
          <p:nvPr/>
        </p:nvSpPr>
        <p:spPr>
          <a:xfrm>
            <a:off x="7850471" y="1737360"/>
            <a:ext cx="1114799"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DOWN-CAP VS BM</a:t>
            </a:r>
          </a:p>
        </p:txBody>
      </p:sp>
      <p:sp>
        <p:nvSpPr>
          <p:cNvPr id="23" name="TextBox 22"/>
          <p:cNvSpPr txBox="1"/>
          <p:nvPr/>
        </p:nvSpPr>
        <p:spPr>
          <a:xfrm>
            <a:off x="9111575" y="1737360"/>
            <a:ext cx="1114799"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FALLS VS EQUITY</a:t>
            </a:r>
          </a:p>
        </p:txBody>
      </p:sp>
      <p:sp>
        <p:nvSpPr>
          <p:cNvPr id="24" name="TextBox 23"/>
          <p:cNvSpPr txBox="1"/>
          <p:nvPr/>
        </p:nvSpPr>
        <p:spPr>
          <a:xfrm>
            <a:off x="10372679" y="1737360"/>
            <a:ext cx="904615"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VERDICT</a:t>
            </a:r>
          </a:p>
        </p:txBody>
      </p:sp>
      <p:sp>
        <p:nvSpPr>
          <p:cNvPr id="25" name="Rectangle 24"/>
          <p:cNvSpPr/>
          <p:nvPr/>
        </p:nvSpPr>
        <p:spPr>
          <a:xfrm>
            <a:off x="841248" y="1993391"/>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2039112"/>
            <a:ext cx="2165719"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Hybrid Equity - Direct</a:t>
            </a:r>
          </a:p>
        </p:txBody>
      </p:sp>
      <p:sp>
        <p:nvSpPr>
          <p:cNvPr id="27" name="TextBox 26"/>
          <p:cNvSpPr txBox="1"/>
          <p:nvPr/>
        </p:nvSpPr>
        <p:spPr>
          <a:xfrm>
            <a:off x="3226423" y="2039112"/>
            <a:ext cx="904615"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1.01</a:t>
            </a:r>
          </a:p>
        </p:txBody>
      </p:sp>
      <p:sp>
        <p:nvSpPr>
          <p:cNvPr id="28" name="TextBox 27"/>
          <p:cNvSpPr txBox="1"/>
          <p:nvPr/>
        </p:nvSpPr>
        <p:spPr>
          <a:xfrm>
            <a:off x="4277343" y="2039112"/>
            <a:ext cx="904615"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0.55</a:t>
            </a:r>
          </a:p>
        </p:txBody>
      </p:sp>
      <p:sp>
        <p:nvSpPr>
          <p:cNvPr id="29" name="TextBox 28"/>
          <p:cNvSpPr txBox="1"/>
          <p:nvPr/>
        </p:nvSpPr>
        <p:spPr>
          <a:xfrm>
            <a:off x="5328263" y="2039112"/>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92400E"/>
                </a:solidFill>
                <a:latin typeface="Bahnschrift"/>
              </a:rPr>
              <a:t>-12.6%</a:t>
            </a:r>
          </a:p>
        </p:txBody>
      </p:sp>
      <p:sp>
        <p:nvSpPr>
          <p:cNvPr id="30" name="TextBox 29"/>
          <p:cNvSpPr txBox="1"/>
          <p:nvPr/>
        </p:nvSpPr>
        <p:spPr>
          <a:xfrm>
            <a:off x="6589367" y="2039112"/>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E0402F"/>
                </a:solidFill>
                <a:latin typeface="Bahnschrift"/>
              </a:rPr>
              <a:t>-7.8%</a:t>
            </a:r>
          </a:p>
        </p:txBody>
      </p:sp>
      <p:sp>
        <p:nvSpPr>
          <p:cNvPr id="31" name="TextBox 30"/>
          <p:cNvSpPr txBox="1"/>
          <p:nvPr/>
        </p:nvSpPr>
        <p:spPr>
          <a:xfrm>
            <a:off x="7850471" y="2039112"/>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n/a</a:t>
            </a:r>
          </a:p>
        </p:txBody>
      </p:sp>
      <p:sp>
        <p:nvSpPr>
          <p:cNvPr id="32" name="TextBox 31"/>
          <p:cNvSpPr txBox="1"/>
          <p:nvPr/>
        </p:nvSpPr>
        <p:spPr>
          <a:xfrm>
            <a:off x="9111575" y="2039112"/>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n/a</a:t>
            </a:r>
          </a:p>
        </p:txBody>
      </p:sp>
      <p:sp>
        <p:nvSpPr>
          <p:cNvPr id="33" name="Rounded Rectangle 32"/>
          <p:cNvSpPr/>
          <p:nvPr/>
        </p:nvSpPr>
        <p:spPr>
          <a:xfrm>
            <a:off x="10372679" y="2075688"/>
            <a:ext cx="904615" cy="219456"/>
          </a:xfrm>
          <a:prstGeom prst="roundRect">
            <a:avLst>
              <a:gd name="adj" fmla="val 50000"/>
            </a:avLst>
          </a:prstGeom>
          <a:solidFill>
            <a:srgbClr val="F5F6FC"/>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72679" y="2070201"/>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6B7280"/>
                </a:solidFill>
                <a:latin typeface="Bahnschrift"/>
              </a:rPr>
              <a:t>WATCH</a:t>
            </a:r>
          </a:p>
        </p:txBody>
      </p:sp>
      <p:sp>
        <p:nvSpPr>
          <p:cNvPr id="35" name="Rectangle 34"/>
          <p:cNvSpPr/>
          <p:nvPr/>
        </p:nvSpPr>
        <p:spPr>
          <a:xfrm>
            <a:off x="841248" y="233172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2350008"/>
            <a:ext cx="2165719"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SBI Equity Hybrid - Direct</a:t>
            </a:r>
          </a:p>
        </p:txBody>
      </p:sp>
      <p:sp>
        <p:nvSpPr>
          <p:cNvPr id="37" name="TextBox 36"/>
          <p:cNvSpPr txBox="1"/>
          <p:nvPr/>
        </p:nvSpPr>
        <p:spPr>
          <a:xfrm>
            <a:off x="3226423" y="2350008"/>
            <a:ext cx="904615"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1.90</a:t>
            </a:r>
          </a:p>
        </p:txBody>
      </p:sp>
      <p:sp>
        <p:nvSpPr>
          <p:cNvPr id="38" name="TextBox 37"/>
          <p:cNvSpPr txBox="1"/>
          <p:nvPr/>
        </p:nvSpPr>
        <p:spPr>
          <a:xfrm>
            <a:off x="4277343" y="2350008"/>
            <a:ext cx="904615"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1.31</a:t>
            </a:r>
          </a:p>
        </p:txBody>
      </p:sp>
      <p:sp>
        <p:nvSpPr>
          <p:cNvPr id="39" name="TextBox 38"/>
          <p:cNvSpPr txBox="1"/>
          <p:nvPr/>
        </p:nvSpPr>
        <p:spPr>
          <a:xfrm>
            <a:off x="5328263" y="2350008"/>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-9.9%</a:t>
            </a:r>
          </a:p>
        </p:txBody>
      </p:sp>
      <p:sp>
        <p:nvSpPr>
          <p:cNvPr id="40" name="TextBox 39"/>
          <p:cNvSpPr txBox="1"/>
          <p:nvPr/>
        </p:nvSpPr>
        <p:spPr>
          <a:xfrm>
            <a:off x="6589367" y="2350008"/>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+1.0%</a:t>
            </a:r>
          </a:p>
        </p:txBody>
      </p:sp>
      <p:sp>
        <p:nvSpPr>
          <p:cNvPr id="41" name="TextBox 40"/>
          <p:cNvSpPr txBox="1"/>
          <p:nvPr/>
        </p:nvSpPr>
        <p:spPr>
          <a:xfrm>
            <a:off x="7850471" y="2350008"/>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n/a</a:t>
            </a:r>
          </a:p>
        </p:txBody>
      </p:sp>
      <p:sp>
        <p:nvSpPr>
          <p:cNvPr id="42" name="TextBox 41"/>
          <p:cNvSpPr txBox="1"/>
          <p:nvPr/>
        </p:nvSpPr>
        <p:spPr>
          <a:xfrm>
            <a:off x="9111575" y="2350008"/>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n/a</a:t>
            </a:r>
          </a:p>
        </p:txBody>
      </p:sp>
      <p:sp>
        <p:nvSpPr>
          <p:cNvPr id="43" name="Rounded Rectangle 42"/>
          <p:cNvSpPr/>
          <p:nvPr/>
        </p:nvSpPr>
        <p:spPr>
          <a:xfrm>
            <a:off x="10372679" y="2386584"/>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372679" y="2381097"/>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5" name="Rectangle 44"/>
          <p:cNvSpPr/>
          <p:nvPr/>
        </p:nvSpPr>
        <p:spPr>
          <a:xfrm>
            <a:off x="841248" y="2642615"/>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2660903"/>
            <a:ext cx="2165719" cy="310896"/>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ICICI Prudential Equity &amp;</a:t>
            </a:r>
          </a:p>
        </p:txBody>
      </p:sp>
      <p:sp>
        <p:nvSpPr>
          <p:cNvPr id="47" name="TextBox 46"/>
          <p:cNvSpPr txBox="1"/>
          <p:nvPr/>
        </p:nvSpPr>
        <p:spPr>
          <a:xfrm>
            <a:off x="3226423" y="2660903"/>
            <a:ext cx="904615"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2.14</a:t>
            </a:r>
          </a:p>
        </p:txBody>
      </p:sp>
      <p:sp>
        <p:nvSpPr>
          <p:cNvPr id="48" name="TextBox 47"/>
          <p:cNvSpPr txBox="1"/>
          <p:nvPr/>
        </p:nvSpPr>
        <p:spPr>
          <a:xfrm>
            <a:off x="4277343" y="2660903"/>
            <a:ext cx="904615"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1.33</a:t>
            </a:r>
          </a:p>
        </p:txBody>
      </p:sp>
      <p:sp>
        <p:nvSpPr>
          <p:cNvPr id="49" name="TextBox 48"/>
          <p:cNvSpPr txBox="1"/>
          <p:nvPr/>
        </p:nvSpPr>
        <p:spPr>
          <a:xfrm>
            <a:off x="5328263" y="2660903"/>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-11.2%</a:t>
            </a:r>
          </a:p>
        </p:txBody>
      </p:sp>
      <p:sp>
        <p:nvSpPr>
          <p:cNvPr id="50" name="TextBox 49"/>
          <p:cNvSpPr txBox="1"/>
          <p:nvPr/>
        </p:nvSpPr>
        <p:spPr>
          <a:xfrm>
            <a:off x="6589367" y="2660903"/>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E9E6A"/>
                </a:solidFill>
                <a:latin typeface="Bahnschrift"/>
              </a:rPr>
              <a:t>+0.3%</a:t>
            </a:r>
          </a:p>
        </p:txBody>
      </p:sp>
      <p:sp>
        <p:nvSpPr>
          <p:cNvPr id="51" name="TextBox 50"/>
          <p:cNvSpPr txBox="1"/>
          <p:nvPr/>
        </p:nvSpPr>
        <p:spPr>
          <a:xfrm>
            <a:off x="7850471" y="2660903"/>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n/a</a:t>
            </a:r>
          </a:p>
        </p:txBody>
      </p:sp>
      <p:sp>
        <p:nvSpPr>
          <p:cNvPr id="52" name="TextBox 51"/>
          <p:cNvSpPr txBox="1"/>
          <p:nvPr/>
        </p:nvSpPr>
        <p:spPr>
          <a:xfrm>
            <a:off x="9111575" y="2660903"/>
            <a:ext cx="1114799" cy="310896"/>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n/a</a:t>
            </a:r>
          </a:p>
        </p:txBody>
      </p:sp>
      <p:sp>
        <p:nvSpPr>
          <p:cNvPr id="53" name="Rounded Rectangle 52"/>
          <p:cNvSpPr/>
          <p:nvPr/>
        </p:nvSpPr>
        <p:spPr>
          <a:xfrm>
            <a:off x="10372679" y="2697479"/>
            <a:ext cx="904615"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372679" y="2691993"/>
            <a:ext cx="904615"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55" name="Rectangle 54"/>
          <p:cNvSpPr/>
          <p:nvPr/>
        </p:nvSpPr>
        <p:spPr>
          <a:xfrm>
            <a:off x="841248" y="2953511"/>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1248" y="3081527"/>
            <a:ext cx="10509199" cy="182880"/>
          </a:xfrm>
          <a:prstGeom prst="rect">
            <a:avLst/>
          </a:prstGeom>
          <a:noFill/>
        </p:spPr>
        <p:txBody>
          <a:bodyPr wrap="square" anchor="t" lIns="0" rIns="0" tIns="0" bIns="0">
            <a:spAutoFit/>
          </a:bodyPr>
          <a:lstStyle/>
          <a:p>
            <a:pPr algn="l">
              <a:spcBef>
                <a:spcPts val="0"/>
              </a:spcBef>
              <a:spcAft>
                <a:spcPts val="0"/>
              </a:spcAft>
            </a:pPr>
            <a:r>
              <a:rPr sz="850" b="1" i="0" spc="60">
                <a:solidFill>
                  <a:srgbClr val="1B27A3"/>
                </a:solidFill>
                <a:latin typeface="Bahnschrift"/>
              </a:rPr>
              <a:t>OUR BIAS, FUND BY FUND   </a:t>
            </a:r>
            <a:r>
              <a:rPr sz="900" b="0" i="1">
                <a:solidFill>
                  <a:srgbClr val="6B7280"/>
                </a:solidFill>
                <a:latin typeface="Georgia"/>
              </a:rPr>
              <a:t>why each verdict stands</a:t>
            </a:r>
          </a:p>
        </p:txBody>
      </p:sp>
      <p:sp>
        <p:nvSpPr>
          <p:cNvPr id="57" name="Rounded Rectangle 56"/>
          <p:cNvSpPr/>
          <p:nvPr/>
        </p:nvSpPr>
        <p:spPr>
          <a:xfrm>
            <a:off x="841248" y="3355847"/>
            <a:ext cx="3411626" cy="17830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41248" y="3355847"/>
            <a:ext cx="54864" cy="17830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42416" y="3483863"/>
            <a:ext cx="3045866"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HDFC HYBRID EQUITY - · WATCH</a:t>
            </a:r>
          </a:p>
        </p:txBody>
      </p:sp>
      <p:sp>
        <p:nvSpPr>
          <p:cNvPr id="60" name="TextBox 59"/>
          <p:cNvSpPr txBox="1"/>
          <p:nvPr/>
        </p:nvSpPr>
        <p:spPr>
          <a:xfrm>
            <a:off x="1042416" y="3758183"/>
            <a:ext cx="3045866"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bias is Watch. Worst year -7.8% at n/a% down-capture, Sortino 1.01. Behind 3.6pp/3y and 5.7pp/1y, the clearest laggard in the book.</a:t>
            </a:r>
          </a:p>
        </p:txBody>
      </p:sp>
      <p:sp>
        <p:nvSpPr>
          <p:cNvPr id="61" name="Rounded Rectangle 60"/>
          <p:cNvSpPr/>
          <p:nvPr/>
        </p:nvSpPr>
        <p:spPr>
          <a:xfrm>
            <a:off x="4390034" y="3355847"/>
            <a:ext cx="3411626" cy="1783080"/>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390034" y="3355847"/>
            <a:ext cx="54864" cy="1783080"/>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91202" y="3483863"/>
            <a:ext cx="3045866"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ICICI PRUDENTIAL EQUITY &amp; · HOLD</a:t>
            </a:r>
          </a:p>
        </p:txBody>
      </p:sp>
      <p:sp>
        <p:nvSpPr>
          <p:cNvPr id="64" name="TextBox 63"/>
          <p:cNvSpPr txBox="1"/>
          <p:nvPr/>
        </p:nvSpPr>
        <p:spPr>
          <a:xfrm>
            <a:off x="4591202" y="3758183"/>
            <a:ext cx="3045866"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Stays a Hold. Ahead of its own hybrid benchmark with a +0.3% worst year (Sortino 2.14), and it takes only n/a% of pure-equity falls, exactly the trade a hybrid is hired for.</a:t>
            </a:r>
          </a:p>
        </p:txBody>
      </p:sp>
      <p:sp>
        <p:nvSpPr>
          <p:cNvPr id="65" name="Rounded Rectangle 64"/>
          <p:cNvSpPr/>
          <p:nvPr/>
        </p:nvSpPr>
        <p:spPr>
          <a:xfrm>
            <a:off x="7938820" y="3355847"/>
            <a:ext cx="3411626" cy="1783080"/>
          </a:xfrm>
          <a:prstGeom prst="roundRect">
            <a:avLst>
              <a:gd name="adj" fmla="val 4000"/>
            </a:avLst>
          </a:prstGeom>
          <a:solidFill>
            <a:srgbClr val="E0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938820" y="3355847"/>
            <a:ext cx="54864" cy="1783080"/>
          </a:xfrm>
          <a:prstGeom prst="rect">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139988" y="3483863"/>
            <a:ext cx="3045866"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E9E6A"/>
                </a:solidFill>
                <a:latin typeface="Bahnschrift"/>
              </a:rPr>
              <a:t>SBI EQUITY HYBRID - DIRECT · HOLD</a:t>
            </a:r>
          </a:p>
        </p:txBody>
      </p:sp>
      <p:sp>
        <p:nvSpPr>
          <p:cNvPr id="68" name="TextBox 67"/>
          <p:cNvSpPr txBox="1"/>
          <p:nvPr/>
        </p:nvSpPr>
        <p:spPr>
          <a:xfrm>
            <a:off x="8139988" y="3758183"/>
            <a:ext cx="3045866"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Stays a Hold. Ahead of its own hybrid benchmark with a +1.0% worst year (Sortino 1.90), and it takes only n/a% of pure-equity falls, exactly the trade a hybrid is hired for.</a:t>
            </a:r>
          </a:p>
        </p:txBody>
      </p:sp>
      <p:sp>
        <p:nvSpPr>
          <p:cNvPr id="69" name="TextBox 68"/>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Sortino / Calmar / max drawdown / worst 1-yr on a COMMON 3y window (funds launched at different dates are never compared on since-inception drawdowns); down-capture vs the scheme's own 65:35 hybrid benchmark (TRI); 'falls vs equity' = share of pure-equity falls taken. Direct-plan NAV.</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THE FUND BOOK</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overlap &amp; redundancy</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funds re-buy the same exposure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25</a:t>
            </a:r>
          </a:p>
        </p:txBody>
      </p:sp>
      <p:pic>
        <p:nvPicPr>
          <p:cNvPr id="15" name="Picture 14" descr="annex_overlap.png"/>
          <p:cNvPicPr>
            <a:picLocks noChangeAspect="1"/>
          </p:cNvPicPr>
          <p:nvPr/>
        </p:nvPicPr>
        <p:blipFill>
          <a:blip r:embed="rId3"/>
          <a:stretch>
            <a:fillRect/>
          </a:stretch>
        </p:blipFill>
        <p:spPr>
          <a:xfrm>
            <a:off x="841248" y="1737360"/>
            <a:ext cx="6766560" cy="4112683"/>
          </a:xfrm>
          <a:prstGeom prst="rect">
            <a:avLst/>
          </a:prstGeom>
        </p:spPr>
      </p:pic>
      <p:sp>
        <p:nvSpPr>
          <p:cNvPr id="16" name="Rounded Rectangle 15"/>
          <p:cNvSpPr/>
          <p:nvPr/>
        </p:nvSpPr>
        <p:spPr>
          <a:xfrm>
            <a:off x="7836408" y="1828800"/>
            <a:ext cx="3514039" cy="182880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36408" y="1828800"/>
            <a:ext cx="54864" cy="18288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37576" y="1956816"/>
            <a:ext cx="3148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TO READ IT</a:t>
            </a:r>
          </a:p>
        </p:txBody>
      </p:sp>
      <p:sp>
        <p:nvSpPr>
          <p:cNvPr id="19" name="TextBox 18"/>
          <p:cNvSpPr txBox="1"/>
          <p:nvPr/>
        </p:nvSpPr>
        <p:spPr>
          <a:xfrm>
            <a:off x="8037576" y="2231136"/>
            <a:ext cx="3148279" cy="13716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Each cell is the weighted common holding between two schemes: OVERLAP(A,B) = Σ min(w-A, w-B). Darker = more duplication · you pay two active fees for one underlying exposure.</a:t>
            </a:r>
          </a:p>
        </p:txBody>
      </p:sp>
      <p:sp>
        <p:nvSpPr>
          <p:cNvPr id="20" name="Rounded Rectangle 19"/>
          <p:cNvSpPr/>
          <p:nvPr/>
        </p:nvSpPr>
        <p:spPr>
          <a:xfrm>
            <a:off x="7836408" y="3749039"/>
            <a:ext cx="3514039" cy="178308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36408" y="3749039"/>
            <a:ext cx="54864" cy="178308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37576" y="3877055"/>
            <a:ext cx="3148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ILLUSTRATIVE, NOT FINAL</a:t>
            </a:r>
          </a:p>
        </p:txBody>
      </p:sp>
      <p:sp>
        <p:nvSpPr>
          <p:cNvPr id="23" name="TextBox 22"/>
          <p:cNvSpPr txBox="1"/>
          <p:nvPr/>
        </p:nvSpPr>
        <p:spPr>
          <a:xfrm>
            <a:off x="8037576" y="4151376"/>
            <a:ext cx="314827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These values are illustrative. The exact map needs each fund's point-in-time look-through holdings, which we build from the funds' published portfolio disclosures.</a:t>
            </a:r>
          </a:p>
        </p:txBody>
      </p:sp>
      <p:sp>
        <p:nvSpPr>
          <p:cNvPr id="24" name="TextBox 2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overlap placeholder · full pairwise look-through pending the funds' published portfolio disclosures. MF sleeve only.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03 · FUNDS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Fund actions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Every action is structural, never a performance sale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26</a:t>
            </a:r>
          </a:p>
        </p:txBody>
      </p:sp>
      <p:sp>
        <p:nvSpPr>
          <p:cNvPr id="15" name="TextBox 14"/>
          <p:cNvSpPr txBox="1"/>
          <p:nvPr/>
        </p:nvSpPr>
        <p:spPr>
          <a:xfrm>
            <a:off x="841248" y="1481328"/>
            <a:ext cx="10509199" cy="365760"/>
          </a:xfrm>
          <a:prstGeom prst="rect">
            <a:avLst/>
          </a:prstGeom>
          <a:noFill/>
        </p:spPr>
        <p:txBody>
          <a:bodyPr wrap="square" anchor="t" lIns="0" rIns="0" tIns="0" bIns="0">
            <a:spAutoFit/>
          </a:bodyPr>
          <a:lstStyle/>
          <a:p>
            <a:pPr algn="l">
              <a:lnSpc>
                <a:spcPct val="104000"/>
              </a:lnSpc>
              <a:spcBef>
                <a:spcPts val="0"/>
              </a:spcBef>
              <a:spcAft>
                <a:spcPts val="0"/>
              </a:spcAft>
            </a:pPr>
            <a:r>
              <a:rPr sz="1000" b="0" i="1">
                <a:solidFill>
                  <a:srgbClr val="6B7280"/>
                </a:solidFill>
                <a:latin typeface="Georgia"/>
              </a:rPr>
              <a:t>No fund here is sold on performance alone. Each action is structural: mandate, cost, scale or consistency. Where a scheme mostly re-buys index names you already hold directly, the cleaner replacement is a low-cost index sleeve (Nifty 50 / Nifty 500 class) rather than paying an active fee twice.</a:t>
            </a:r>
          </a:p>
        </p:txBody>
      </p:sp>
      <p:sp>
        <p:nvSpPr>
          <p:cNvPr id="16" name="Rounded Rectangle 15"/>
          <p:cNvSpPr/>
          <p:nvPr/>
        </p:nvSpPr>
        <p:spPr>
          <a:xfrm>
            <a:off x="841248" y="1920240"/>
            <a:ext cx="3320186" cy="1200912"/>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 y="1920240"/>
            <a:ext cx="54864" cy="1200912"/>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5840" y="2048256"/>
            <a:ext cx="123444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204276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0" name="TextBox 19"/>
          <p:cNvSpPr txBox="1"/>
          <p:nvPr/>
        </p:nvSpPr>
        <p:spPr>
          <a:xfrm>
            <a:off x="2322576" y="2039112"/>
            <a:ext cx="1719986"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HDFC NIFTY 50 Index - Direct</a:t>
            </a:r>
          </a:p>
        </p:txBody>
      </p:sp>
      <p:sp>
        <p:nvSpPr>
          <p:cNvPr id="21" name="TextBox 20"/>
          <p:cNvSpPr txBox="1"/>
          <p:nvPr/>
        </p:nvSpPr>
        <p:spPr>
          <a:xfrm>
            <a:off x="1005840" y="2340864"/>
            <a:ext cx="3045866"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structural</a:t>
            </a:r>
          </a:p>
        </p:txBody>
      </p:sp>
      <p:sp>
        <p:nvSpPr>
          <p:cNvPr id="22" name="TextBox 21"/>
          <p:cNvSpPr txBox="1"/>
          <p:nvPr/>
        </p:nvSpPr>
        <p:spPr>
          <a:xfrm>
            <a:off x="1005840" y="2542032"/>
            <a:ext cx="3009290" cy="377952"/>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Tracking is clean, the gap versus benchmark is essentially just the expense ratio.</a:t>
            </a:r>
          </a:p>
        </p:txBody>
      </p:sp>
      <p:sp>
        <p:nvSpPr>
          <p:cNvPr id="23" name="Rounded Rectangle 22"/>
          <p:cNvSpPr/>
          <p:nvPr/>
        </p:nvSpPr>
        <p:spPr>
          <a:xfrm>
            <a:off x="841248" y="3230880"/>
            <a:ext cx="3320186" cy="1200912"/>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1248" y="3230880"/>
            <a:ext cx="54864" cy="1200912"/>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05840" y="3358896"/>
            <a:ext cx="123444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335340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7" name="TextBox 26"/>
          <p:cNvSpPr txBox="1"/>
          <p:nvPr/>
        </p:nvSpPr>
        <p:spPr>
          <a:xfrm>
            <a:off x="2322576" y="3349752"/>
            <a:ext cx="1719986"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Aditya Birla Sun Life Regular</a:t>
            </a:r>
          </a:p>
        </p:txBody>
      </p:sp>
      <p:sp>
        <p:nvSpPr>
          <p:cNvPr id="28" name="TextBox 27"/>
          <p:cNvSpPr txBox="1"/>
          <p:nvPr/>
        </p:nvSpPr>
        <p:spPr>
          <a:xfrm>
            <a:off x="1005840" y="3651504"/>
            <a:ext cx="3045866"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structural</a:t>
            </a:r>
          </a:p>
        </p:txBody>
      </p:sp>
      <p:sp>
        <p:nvSpPr>
          <p:cNvPr id="29" name="TextBox 28"/>
          <p:cNvSpPr txBox="1"/>
          <p:nvPr/>
        </p:nvSpPr>
        <p:spPr>
          <a:xfrm>
            <a:off x="1005840" y="3852672"/>
            <a:ext cx="3009290" cy="377952"/>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Ahead ~2.4pp/3y, ~3.5pp/1y on performance. Sell reflects the Principal's 2026-07-29 client-specific…</a:t>
            </a:r>
          </a:p>
        </p:txBody>
      </p:sp>
      <p:sp>
        <p:nvSpPr>
          <p:cNvPr id="30" name="Rounded Rectangle 29"/>
          <p:cNvSpPr/>
          <p:nvPr/>
        </p:nvSpPr>
        <p:spPr>
          <a:xfrm>
            <a:off x="841248" y="4541520"/>
            <a:ext cx="3320186" cy="1200912"/>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41248" y="4541520"/>
            <a:ext cx="54864" cy="1200912"/>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05840" y="4669536"/>
            <a:ext cx="123444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466404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4" name="TextBox 33"/>
          <p:cNvSpPr txBox="1"/>
          <p:nvPr/>
        </p:nvSpPr>
        <p:spPr>
          <a:xfrm>
            <a:off x="2322576" y="4660392"/>
            <a:ext cx="1719986"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HDFC Hybrid Debt - Direct Plan</a:t>
            </a:r>
          </a:p>
        </p:txBody>
      </p:sp>
      <p:sp>
        <p:nvSpPr>
          <p:cNvPr id="35" name="TextBox 34"/>
          <p:cNvSpPr txBox="1"/>
          <p:nvPr/>
        </p:nvSpPr>
        <p:spPr>
          <a:xfrm>
            <a:off x="1005840" y="4962144"/>
            <a:ext cx="3045866"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structural</a:t>
            </a:r>
          </a:p>
        </p:txBody>
      </p:sp>
      <p:sp>
        <p:nvSpPr>
          <p:cNvPr id="36" name="TextBox 35"/>
          <p:cNvSpPr txBox="1"/>
          <p:nvPr/>
        </p:nvSpPr>
        <p:spPr>
          <a:xfrm>
            <a:off x="1005840" y="5163312"/>
            <a:ext cx="3009290" cy="377952"/>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Ahead ~1.75pp/3y vs its own stated benchmark on performance.</a:t>
            </a:r>
          </a:p>
        </p:txBody>
      </p:sp>
      <p:sp>
        <p:nvSpPr>
          <p:cNvPr id="37" name="Rounded Rectangle 36"/>
          <p:cNvSpPr/>
          <p:nvPr/>
        </p:nvSpPr>
        <p:spPr>
          <a:xfrm>
            <a:off x="4435754" y="1920240"/>
            <a:ext cx="3320186" cy="1200912"/>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435754" y="1920240"/>
            <a:ext cx="54864" cy="1200912"/>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600346" y="2048256"/>
            <a:ext cx="123444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00346" y="204276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41" name="TextBox 40"/>
          <p:cNvSpPr txBox="1"/>
          <p:nvPr/>
        </p:nvSpPr>
        <p:spPr>
          <a:xfrm>
            <a:off x="5917082" y="2039112"/>
            <a:ext cx="1719986"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SBI Gilt - Direct Plan</a:t>
            </a:r>
          </a:p>
        </p:txBody>
      </p:sp>
      <p:sp>
        <p:nvSpPr>
          <p:cNvPr id="42" name="TextBox 41"/>
          <p:cNvSpPr txBox="1"/>
          <p:nvPr/>
        </p:nvSpPr>
        <p:spPr>
          <a:xfrm>
            <a:off x="4600346" y="2340864"/>
            <a:ext cx="3045866"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structural</a:t>
            </a:r>
          </a:p>
        </p:txBody>
      </p:sp>
      <p:sp>
        <p:nvSpPr>
          <p:cNvPr id="43" name="TextBox 42"/>
          <p:cNvSpPr txBox="1"/>
          <p:nvPr/>
        </p:nvSpPr>
        <p:spPr>
          <a:xfrm>
            <a:off x="4600346" y="2542032"/>
            <a:ext cx="3009290" cy="377952"/>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Sitting exactly on the category median on performance…</a:t>
            </a:r>
          </a:p>
        </p:txBody>
      </p:sp>
      <p:sp>
        <p:nvSpPr>
          <p:cNvPr id="44" name="Rounded Rectangle 43"/>
          <p:cNvSpPr/>
          <p:nvPr/>
        </p:nvSpPr>
        <p:spPr>
          <a:xfrm>
            <a:off x="4435754" y="3230880"/>
            <a:ext cx="3320186" cy="1200912"/>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435754" y="3230880"/>
            <a:ext cx="54864" cy="1200912"/>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600346" y="3358896"/>
            <a:ext cx="123444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00346" y="335340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48" name="TextBox 47"/>
          <p:cNvSpPr txBox="1"/>
          <p:nvPr/>
        </p:nvSpPr>
        <p:spPr>
          <a:xfrm>
            <a:off x="5917082" y="3349752"/>
            <a:ext cx="1719986"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HDFC Gilt - Direct Plan</a:t>
            </a:r>
          </a:p>
        </p:txBody>
      </p:sp>
      <p:sp>
        <p:nvSpPr>
          <p:cNvPr id="49" name="TextBox 48"/>
          <p:cNvSpPr txBox="1"/>
          <p:nvPr/>
        </p:nvSpPr>
        <p:spPr>
          <a:xfrm>
            <a:off x="4600346" y="3651504"/>
            <a:ext cx="3045866"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structural</a:t>
            </a:r>
          </a:p>
        </p:txBody>
      </p:sp>
      <p:sp>
        <p:nvSpPr>
          <p:cNvPr id="50" name="TextBox 49"/>
          <p:cNvSpPr txBox="1"/>
          <p:nvPr/>
        </p:nvSpPr>
        <p:spPr>
          <a:xfrm>
            <a:off x="4600346" y="3852672"/>
            <a:ext cx="3009290" cy="377952"/>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A whisker above category median both windows on performance, held alongside SBI Gilt Fund, same…</a:t>
            </a:r>
          </a:p>
        </p:txBody>
      </p:sp>
      <p:sp>
        <p:nvSpPr>
          <p:cNvPr id="51" name="Rounded Rectangle 50"/>
          <p:cNvSpPr/>
          <p:nvPr/>
        </p:nvSpPr>
        <p:spPr>
          <a:xfrm>
            <a:off x="4435754" y="4541520"/>
            <a:ext cx="3320186" cy="1200912"/>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435754" y="4541520"/>
            <a:ext cx="54864" cy="1200912"/>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4600346" y="4669536"/>
            <a:ext cx="123444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00346" y="466404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55" name="TextBox 54"/>
          <p:cNvSpPr txBox="1"/>
          <p:nvPr/>
        </p:nvSpPr>
        <p:spPr>
          <a:xfrm>
            <a:off x="5917082" y="4660392"/>
            <a:ext cx="1719986"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HDFC Floating Rate Debt - Direct</a:t>
            </a:r>
          </a:p>
        </p:txBody>
      </p:sp>
      <p:sp>
        <p:nvSpPr>
          <p:cNvPr id="56" name="TextBox 55"/>
          <p:cNvSpPr txBox="1"/>
          <p:nvPr/>
        </p:nvSpPr>
        <p:spPr>
          <a:xfrm>
            <a:off x="4600346" y="4962144"/>
            <a:ext cx="3045866"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structural</a:t>
            </a:r>
          </a:p>
        </p:txBody>
      </p:sp>
      <p:sp>
        <p:nvSpPr>
          <p:cNvPr id="57" name="TextBox 56"/>
          <p:cNvSpPr txBox="1"/>
          <p:nvPr/>
        </p:nvSpPr>
        <p:spPr>
          <a:xfrm>
            <a:off x="4600346" y="5163312"/>
            <a:ext cx="3009290" cy="377952"/>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Sell reflects the Principal's 2026-07-29 client-specific instruction to exit all…</a:t>
            </a:r>
          </a:p>
        </p:txBody>
      </p:sp>
      <p:sp>
        <p:nvSpPr>
          <p:cNvPr id="58" name="Rounded Rectangle 57"/>
          <p:cNvSpPr/>
          <p:nvPr/>
        </p:nvSpPr>
        <p:spPr>
          <a:xfrm>
            <a:off x="8030260" y="1920240"/>
            <a:ext cx="3320186" cy="1200912"/>
          </a:xfrm>
          <a:prstGeom prst="roundRect">
            <a:avLst>
              <a:gd name="adj" fmla="val 5000"/>
            </a:avLst>
          </a:prstGeom>
          <a:solidFill>
            <a:srgbClr val="F5F6FC"/>
          </a:solidFill>
          <a:ln w="12700">
            <a:solidFill>
              <a:srgbClr val="9240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030260" y="1920240"/>
            <a:ext cx="54864" cy="1200912"/>
          </a:xfrm>
          <a:prstGeom prst="rect">
            <a:avLst/>
          </a:prstGeom>
          <a:solidFill>
            <a:srgbClr val="924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8194852" y="2048256"/>
            <a:ext cx="123444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94852" y="2042769"/>
            <a:ext cx="123444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62" name="TextBox 61"/>
          <p:cNvSpPr txBox="1"/>
          <p:nvPr/>
        </p:nvSpPr>
        <p:spPr>
          <a:xfrm>
            <a:off x="9511588" y="2039112"/>
            <a:ext cx="1719986" cy="237744"/>
          </a:xfrm>
          <a:prstGeom prst="rect">
            <a:avLst/>
          </a:prstGeom>
          <a:noFill/>
        </p:spPr>
        <p:txBody>
          <a:bodyPr wrap="square" anchor="t" lIns="0" rIns="0" tIns="0" bIns="0">
            <a:spAutoFit/>
          </a:bodyPr>
          <a:lstStyle/>
          <a:p>
            <a:pPr algn="l">
              <a:spcBef>
                <a:spcPts val="0"/>
              </a:spcBef>
              <a:spcAft>
                <a:spcPts val="0"/>
              </a:spcAft>
            </a:pPr>
            <a:r>
              <a:rPr sz="1100" b="1" i="0">
                <a:solidFill>
                  <a:srgbClr val="16233B"/>
                </a:solidFill>
                <a:latin typeface="Bahnschrift"/>
              </a:rPr>
              <a:t>HDFC Overnight - Direct Plan</a:t>
            </a:r>
          </a:p>
        </p:txBody>
      </p:sp>
      <p:sp>
        <p:nvSpPr>
          <p:cNvPr id="63" name="TextBox 62"/>
          <p:cNvSpPr txBox="1"/>
          <p:nvPr/>
        </p:nvSpPr>
        <p:spPr>
          <a:xfrm>
            <a:off x="8194852" y="2340864"/>
            <a:ext cx="3045866" cy="182880"/>
          </a:xfrm>
          <a:prstGeom prst="rect">
            <a:avLst/>
          </a:prstGeom>
          <a:noFill/>
        </p:spPr>
        <p:txBody>
          <a:bodyPr wrap="square" anchor="t" lIns="0" rIns="0" tIns="0" bIns="0">
            <a:spAutoFit/>
          </a:bodyPr>
          <a:lstStyle/>
          <a:p>
            <a:pPr algn="l">
              <a:spcBef>
                <a:spcPts val="0"/>
              </a:spcBef>
              <a:spcAft>
                <a:spcPts val="0"/>
              </a:spcAft>
            </a:pPr>
            <a:r>
              <a:rPr sz="750" b="1" i="0" spc="30">
                <a:solidFill>
                  <a:srgbClr val="92400E"/>
                </a:solidFill>
                <a:latin typeface="Bahnschrift"/>
              </a:rPr>
              <a:t>structural</a:t>
            </a:r>
          </a:p>
        </p:txBody>
      </p:sp>
      <p:sp>
        <p:nvSpPr>
          <p:cNvPr id="64" name="TextBox 63"/>
          <p:cNvSpPr txBox="1"/>
          <p:nvPr/>
        </p:nvSpPr>
        <p:spPr>
          <a:xfrm>
            <a:off x="8194852" y="2542032"/>
            <a:ext cx="3009290" cy="377952"/>
          </a:xfrm>
          <a:prstGeom prst="rect">
            <a:avLst/>
          </a:prstGeom>
          <a:noFill/>
        </p:spPr>
        <p:txBody>
          <a:bodyPr wrap="square" anchor="t" lIns="0" rIns="0" tIns="0" bIns="0">
            <a:spAutoFit/>
          </a:bodyPr>
          <a:lstStyle/>
          <a:p>
            <a:pPr algn="l">
              <a:lnSpc>
                <a:spcPct val="104000"/>
              </a:lnSpc>
              <a:spcBef>
                <a:spcPts val="0"/>
              </a:spcBef>
              <a:spcAft>
                <a:spcPts val="0"/>
              </a:spcAft>
            </a:pPr>
            <a:r>
              <a:rPr sz="950" b="0" i="0">
                <a:solidFill>
                  <a:srgbClr val="16233B"/>
                </a:solidFill>
                <a:latin typeface="Georgia"/>
              </a:rPr>
              <a:t>Tracking the overnight category within the expected ~0.1-0.6pp drag at 0.11% TER on performance , …</a:t>
            </a:r>
          </a:p>
        </p:txBody>
      </p:sp>
      <p:sp>
        <p:nvSpPr>
          <p:cNvPr id="65" name="TextBox 6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Category exemplar = the fund our quality framework ranks best in the category, used as the measuring stick, not a recommendation to buy it. Whether a replacement is named is a compliance decision.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4.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04</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04</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What We Would Do</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The calls, the cost and the tax</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House-view fit</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Tax impact</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Your priority actions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House-view fit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the plan aligns with Ionic's positioning · and where a gap stays open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28</a:t>
            </a:r>
          </a:p>
        </p:txBody>
      </p:sp>
      <p:sp>
        <p:nvSpPr>
          <p:cNvPr id="15" name="TextBox 14"/>
          <p:cNvSpPr txBox="1"/>
          <p:nvPr/>
        </p:nvSpPr>
        <p:spPr>
          <a:xfrm>
            <a:off x="841248" y="1572768"/>
            <a:ext cx="10509199" cy="274320"/>
          </a:xfrm>
          <a:prstGeom prst="rect">
            <a:avLst/>
          </a:prstGeom>
          <a:noFill/>
        </p:spPr>
        <p:txBody>
          <a:bodyPr wrap="square" anchor="t" lIns="0" rIns="0" tIns="0" bIns="0">
            <a:spAutoFit/>
          </a:bodyPr>
          <a:lstStyle/>
          <a:p>
            <a:pPr algn="l">
              <a:spcBef>
                <a:spcPts val="0"/>
              </a:spcBef>
              <a:spcAft>
                <a:spcPts val="0"/>
              </a:spcAft>
            </a:pPr>
            <a:r>
              <a:rPr sz="1100" b="0" i="1">
                <a:solidFill>
                  <a:srgbClr val="6B7280"/>
                </a:solidFill>
                <a:latin typeface="Georgia"/>
              </a:rPr>
              <a:t>Each recommendation, checked against how Ionic is currently positioned.</a:t>
            </a:r>
          </a:p>
        </p:txBody>
      </p:sp>
      <p:sp>
        <p:nvSpPr>
          <p:cNvPr id="16" name="TextBox 15"/>
          <p:cNvSpPr txBox="1"/>
          <p:nvPr/>
        </p:nvSpPr>
        <p:spPr>
          <a:xfrm>
            <a:off x="914400" y="1938528"/>
            <a:ext cx="185044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DIMENSION</a:t>
            </a:r>
          </a:p>
        </p:txBody>
      </p:sp>
      <p:sp>
        <p:nvSpPr>
          <p:cNvPr id="17" name="TextBox 16"/>
          <p:cNvSpPr txBox="1"/>
          <p:nvPr/>
        </p:nvSpPr>
        <p:spPr>
          <a:xfrm>
            <a:off x="2911147" y="1938528"/>
            <a:ext cx="2165719"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IONIC HOUSE VIEW</a:t>
            </a:r>
          </a:p>
        </p:txBody>
      </p:sp>
      <p:sp>
        <p:nvSpPr>
          <p:cNvPr id="18" name="TextBox 17"/>
          <p:cNvSpPr txBox="1"/>
          <p:nvPr/>
        </p:nvSpPr>
        <p:spPr>
          <a:xfrm>
            <a:off x="5223171" y="1938528"/>
            <a:ext cx="45828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THE PLAN DOES</a:t>
            </a:r>
          </a:p>
        </p:txBody>
      </p:sp>
      <p:sp>
        <p:nvSpPr>
          <p:cNvPr id="19" name="TextBox 18"/>
          <p:cNvSpPr txBox="1"/>
          <p:nvPr/>
        </p:nvSpPr>
        <p:spPr>
          <a:xfrm>
            <a:off x="9952311" y="1938528"/>
            <a:ext cx="1324983" cy="219456"/>
          </a:xfrm>
          <a:prstGeom prst="rect">
            <a:avLst/>
          </a:prstGeom>
          <a:noFill/>
        </p:spPr>
        <p:txBody>
          <a:bodyPr wrap="square" anchor="ctr" lIns="0" rIns="0" tIns="0" bIns="0">
            <a:spAutoFit/>
          </a:bodyPr>
          <a:lstStyle/>
          <a:p>
            <a:pPr algn="ctr">
              <a:spcBef>
                <a:spcPts val="0"/>
              </a:spcBef>
              <a:spcAft>
                <a:spcPts val="0"/>
              </a:spcAft>
            </a:pPr>
            <a:r>
              <a:rPr sz="800" b="1" i="0" spc="200">
                <a:solidFill>
                  <a:srgbClr val="6B7280"/>
                </a:solidFill>
                <a:latin typeface="Bahnschrift"/>
              </a:rPr>
              <a:t>FIT</a:t>
            </a:r>
          </a:p>
        </p:txBody>
      </p:sp>
      <p:sp>
        <p:nvSpPr>
          <p:cNvPr id="20" name="Rectangle 19"/>
          <p:cNvSpPr/>
          <p:nvPr/>
        </p:nvSpPr>
        <p:spPr>
          <a:xfrm>
            <a:off x="841248" y="2194560"/>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2240280"/>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Domestic equity</a:t>
            </a:r>
          </a:p>
        </p:txBody>
      </p:sp>
      <p:sp>
        <p:nvSpPr>
          <p:cNvPr id="22" name="TextBox 21"/>
          <p:cNvSpPr txBox="1"/>
          <p:nvPr/>
        </p:nvSpPr>
        <p:spPr>
          <a:xfrm>
            <a:off x="2911147" y="2240280"/>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Incrementally positive</a:t>
            </a:r>
          </a:p>
        </p:txBody>
      </p:sp>
      <p:sp>
        <p:nvSpPr>
          <p:cNvPr id="23" name="TextBox 22"/>
          <p:cNvSpPr txBox="1"/>
          <p:nvPr/>
        </p:nvSpPr>
        <p:spPr>
          <a:xfrm>
            <a:off x="5223171" y="2240280"/>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14 equity name(s) sold on quality/value grounds; no position currently sits far enough over guideline to warrant a trim.</a:t>
            </a:r>
          </a:p>
        </p:txBody>
      </p:sp>
      <p:sp>
        <p:nvSpPr>
          <p:cNvPr id="24" name="Rounded Rectangle 23"/>
          <p:cNvSpPr/>
          <p:nvPr/>
        </p:nvSpPr>
        <p:spPr>
          <a:xfrm>
            <a:off x="9952311" y="240487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52311" y="239938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ALIGNED</a:t>
            </a:r>
          </a:p>
        </p:txBody>
      </p:sp>
      <p:sp>
        <p:nvSpPr>
          <p:cNvPr id="26" name="Rectangle 25"/>
          <p:cNvSpPr/>
          <p:nvPr/>
        </p:nvSpPr>
        <p:spPr>
          <a:xfrm>
            <a:off x="841248" y="278892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2807208"/>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Foreign equity</a:t>
            </a:r>
          </a:p>
        </p:txBody>
      </p:sp>
      <p:sp>
        <p:nvSpPr>
          <p:cNvPr id="28" name="TextBox 27"/>
          <p:cNvSpPr txBox="1"/>
          <p:nvPr/>
        </p:nvSpPr>
        <p:spPr>
          <a:xfrm>
            <a:off x="2911147" y="2807208"/>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~15% target, under-owned</a:t>
            </a:r>
          </a:p>
        </p:txBody>
      </p:sp>
      <p:sp>
        <p:nvSpPr>
          <p:cNvPr id="29" name="TextBox 28"/>
          <p:cNvSpPr txBox="1"/>
          <p:nvPr/>
        </p:nvSpPr>
        <p:spPr>
          <a:xfrm>
            <a:off x="5223171" y="2807208"/>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No foreign sleeve funded yet, proceeds are held in cash pending your goals and IPS discussion.</a:t>
            </a:r>
          </a:p>
        </p:txBody>
      </p:sp>
      <p:sp>
        <p:nvSpPr>
          <p:cNvPr id="30" name="Rounded Rectangle 29"/>
          <p:cNvSpPr/>
          <p:nvPr/>
        </p:nvSpPr>
        <p:spPr>
          <a:xfrm>
            <a:off x="9952311" y="297180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52311" y="296631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GAP</a:t>
            </a:r>
          </a:p>
        </p:txBody>
      </p:sp>
      <p:sp>
        <p:nvSpPr>
          <p:cNvPr id="32" name="Rectangle 31"/>
          <p:cNvSpPr/>
          <p:nvPr/>
        </p:nvSpPr>
        <p:spPr>
          <a:xfrm>
            <a:off x="841248" y="335584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3374136"/>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Gold &amp; silver</a:t>
            </a:r>
          </a:p>
        </p:txBody>
      </p:sp>
      <p:sp>
        <p:nvSpPr>
          <p:cNvPr id="34" name="TextBox 33"/>
          <p:cNvSpPr txBox="1"/>
          <p:nvPr/>
        </p:nvSpPr>
        <p:spPr>
          <a:xfrm>
            <a:off x="2911147" y="3374136"/>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Positive, 75:25</a:t>
            </a:r>
          </a:p>
        </p:txBody>
      </p:sp>
      <p:sp>
        <p:nvSpPr>
          <p:cNvPr id="35" name="TextBox 34"/>
          <p:cNvSpPr txBox="1"/>
          <p:nvPr/>
        </p:nvSpPr>
        <p:spPr>
          <a:xfrm>
            <a:off x="5223171" y="3374136"/>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No gold/silver sleeve funded yet, proceeds are held in cash pending your goals and IPS discussion.</a:t>
            </a:r>
          </a:p>
        </p:txBody>
      </p:sp>
      <p:sp>
        <p:nvSpPr>
          <p:cNvPr id="36" name="Rounded Rectangle 35"/>
          <p:cNvSpPr/>
          <p:nvPr/>
        </p:nvSpPr>
        <p:spPr>
          <a:xfrm>
            <a:off x="9952311" y="353872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52311" y="353324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GAP</a:t>
            </a:r>
          </a:p>
        </p:txBody>
      </p:sp>
      <p:sp>
        <p:nvSpPr>
          <p:cNvPr id="38" name="Rectangle 37"/>
          <p:cNvSpPr/>
          <p:nvPr/>
        </p:nvSpPr>
        <p:spPr>
          <a:xfrm>
            <a:off x="841248" y="392277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3941064"/>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Momentum</a:t>
            </a:r>
          </a:p>
        </p:txBody>
      </p:sp>
      <p:sp>
        <p:nvSpPr>
          <p:cNvPr id="40" name="TextBox 39"/>
          <p:cNvSpPr txBox="1"/>
          <p:nvPr/>
        </p:nvSpPr>
        <p:spPr>
          <a:xfrm>
            <a:off x="2911147" y="3941064"/>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On hold</a:t>
            </a:r>
          </a:p>
        </p:txBody>
      </p:sp>
      <p:sp>
        <p:nvSpPr>
          <p:cNvPr id="41" name="TextBox 40"/>
          <p:cNvSpPr txBox="1"/>
          <p:nvPr/>
        </p:nvSpPr>
        <p:spPr>
          <a:xfrm>
            <a:off x="5223171" y="3941064"/>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No momentum chase, every sell/hold call here is fundamentals-driven, not a price-trend call.</a:t>
            </a:r>
          </a:p>
        </p:txBody>
      </p:sp>
      <p:sp>
        <p:nvSpPr>
          <p:cNvPr id="42" name="Rounded Rectangle 41"/>
          <p:cNvSpPr/>
          <p:nvPr/>
        </p:nvSpPr>
        <p:spPr>
          <a:xfrm>
            <a:off x="9952311" y="4105656"/>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952311" y="410016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ALIGNED</a:t>
            </a:r>
          </a:p>
        </p:txBody>
      </p:sp>
      <p:sp>
        <p:nvSpPr>
          <p:cNvPr id="44" name="Rectangle 43"/>
          <p:cNvSpPr/>
          <p:nvPr/>
        </p:nvSpPr>
        <p:spPr>
          <a:xfrm>
            <a:off x="841248" y="44897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4400" y="4507992"/>
            <a:ext cx="1850443" cy="566928"/>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Low-vol / value</a:t>
            </a:r>
          </a:p>
        </p:txBody>
      </p:sp>
      <p:sp>
        <p:nvSpPr>
          <p:cNvPr id="46" name="TextBox 45"/>
          <p:cNvSpPr txBox="1"/>
          <p:nvPr/>
        </p:nvSpPr>
        <p:spPr>
          <a:xfrm>
            <a:off x="2911147" y="4507992"/>
            <a:ext cx="2165719"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Favoured</a:t>
            </a:r>
          </a:p>
        </p:txBody>
      </p:sp>
      <p:sp>
        <p:nvSpPr>
          <p:cNvPr id="47" name="TextBox 46"/>
          <p:cNvSpPr txBox="1"/>
          <p:nvPr/>
        </p:nvSpPr>
        <p:spPr>
          <a:xfrm>
            <a:off x="5223171" y="4507992"/>
            <a:ext cx="4582835" cy="566928"/>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No redeployment sleeve funded yet, proceeds are held in cash pending your goals and IPS discussion.</a:t>
            </a:r>
          </a:p>
        </p:txBody>
      </p:sp>
      <p:sp>
        <p:nvSpPr>
          <p:cNvPr id="48" name="Rounded Rectangle 47"/>
          <p:cNvSpPr/>
          <p:nvPr/>
        </p:nvSpPr>
        <p:spPr>
          <a:xfrm>
            <a:off x="9952311" y="4672584"/>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52311" y="466709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GAP</a:t>
            </a:r>
          </a:p>
        </p:txBody>
      </p:sp>
      <p:sp>
        <p:nvSpPr>
          <p:cNvPr id="50" name="Rectangle 49"/>
          <p:cNvSpPr/>
          <p:nvPr/>
        </p:nvSpPr>
        <p:spPr>
          <a:xfrm>
            <a:off x="841248" y="505663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841248" y="5193792"/>
            <a:ext cx="10509199" cy="74980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41248" y="5193792"/>
            <a:ext cx="54864" cy="74980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42416" y="5321807"/>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READ</a:t>
            </a:r>
          </a:p>
        </p:txBody>
      </p:sp>
      <p:sp>
        <p:nvSpPr>
          <p:cNvPr id="54" name="TextBox 53"/>
          <p:cNvSpPr txBox="1"/>
          <p:nvPr/>
        </p:nvSpPr>
        <p:spPr>
          <a:xfrm>
            <a:off x="1042416" y="5596128"/>
            <a:ext cx="10143439" cy="29260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plan pulls the book toward the house view where it is off. Two gaps stay open by design, foreign and gold are built in steps, not funded in a single cycle.</a:t>
            </a:r>
          </a:p>
        </p:txBody>
      </p:sp>
      <p:sp>
        <p:nvSpPr>
          <p:cNvPr id="55" name="TextBox 5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house view · as of 2026-07-27.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Tax impact of this plan</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the recommended moves trigger · before you authorise anything</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29</a:t>
            </a:r>
          </a:p>
        </p:txBody>
      </p:sp>
      <p:sp>
        <p:nvSpPr>
          <p:cNvPr id="15" name="TextBox 14"/>
          <p:cNvSpPr txBox="1"/>
          <p:nvPr/>
        </p:nvSpPr>
        <p:spPr>
          <a:xfrm>
            <a:off x="841248" y="1572768"/>
            <a:ext cx="6355080" cy="219456"/>
          </a:xfrm>
          <a:prstGeom prst="rect">
            <a:avLst/>
          </a:prstGeom>
          <a:noFill/>
        </p:spPr>
        <p:txBody>
          <a:bodyPr wrap="square" anchor="t" lIns="0" rIns="0" tIns="0" bIns="0">
            <a:spAutoFit/>
          </a:bodyPr>
          <a:lstStyle/>
          <a:p>
            <a:pPr algn="l">
              <a:spcBef>
                <a:spcPts val="0"/>
              </a:spcBef>
              <a:spcAft>
                <a:spcPts val="0"/>
              </a:spcAft>
            </a:pPr>
            <a:r>
              <a:rPr sz="800" b="1" i="0" spc="80">
                <a:solidFill>
                  <a:srgbClr val="6B7280"/>
                </a:solidFill>
                <a:latin typeface="Bahnschrift"/>
              </a:rPr>
              <a:t>MUTUAL-FUND ACTIONS · EST. TAX CHARACTER PER MOVE</a:t>
            </a:r>
          </a:p>
        </p:txBody>
      </p:sp>
      <p:sp>
        <p:nvSpPr>
          <p:cNvPr id="16" name="TextBox 15"/>
          <p:cNvSpPr txBox="1"/>
          <p:nvPr/>
        </p:nvSpPr>
        <p:spPr>
          <a:xfrm>
            <a:off x="914400" y="1847088"/>
            <a:ext cx="870508"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ACTION</a:t>
            </a:r>
          </a:p>
        </p:txBody>
      </p:sp>
      <p:sp>
        <p:nvSpPr>
          <p:cNvPr id="17" name="TextBox 16"/>
          <p:cNvSpPr txBox="1"/>
          <p:nvPr/>
        </p:nvSpPr>
        <p:spPr>
          <a:xfrm>
            <a:off x="1931212" y="1847088"/>
            <a:ext cx="2649931"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SCHEME</a:t>
            </a:r>
          </a:p>
        </p:txBody>
      </p:sp>
      <p:sp>
        <p:nvSpPr>
          <p:cNvPr id="18" name="TextBox 17"/>
          <p:cNvSpPr txBox="1"/>
          <p:nvPr/>
        </p:nvSpPr>
        <p:spPr>
          <a:xfrm>
            <a:off x="4727448" y="1847088"/>
            <a:ext cx="997610"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AMOUNT</a:t>
            </a:r>
          </a:p>
        </p:txBody>
      </p:sp>
      <p:sp>
        <p:nvSpPr>
          <p:cNvPr id="19" name="TextBox 18"/>
          <p:cNvSpPr txBox="1"/>
          <p:nvPr/>
        </p:nvSpPr>
        <p:spPr>
          <a:xfrm>
            <a:off x="5871362" y="1847088"/>
            <a:ext cx="125181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TAX CHARACTER</a:t>
            </a:r>
          </a:p>
        </p:txBody>
      </p:sp>
      <p:sp>
        <p:nvSpPr>
          <p:cNvPr id="20" name="Rectangle 19"/>
          <p:cNvSpPr/>
          <p:nvPr/>
        </p:nvSpPr>
        <p:spPr>
          <a:xfrm>
            <a:off x="841248" y="2103120"/>
            <a:ext cx="6355080"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2201418"/>
            <a:ext cx="8705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2195931"/>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23" name="TextBox 22"/>
          <p:cNvSpPr txBox="1"/>
          <p:nvPr/>
        </p:nvSpPr>
        <p:spPr>
          <a:xfrm>
            <a:off x="1931212" y="2148840"/>
            <a:ext cx="2649931"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NIFTY 50 Index - Direct</a:t>
            </a:r>
          </a:p>
        </p:txBody>
      </p:sp>
      <p:sp>
        <p:nvSpPr>
          <p:cNvPr id="24" name="TextBox 23"/>
          <p:cNvSpPr txBox="1"/>
          <p:nvPr/>
        </p:nvSpPr>
        <p:spPr>
          <a:xfrm>
            <a:off x="4727448" y="2148840"/>
            <a:ext cx="997610" cy="34290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7.8 L</a:t>
            </a:r>
          </a:p>
        </p:txBody>
      </p:sp>
      <p:sp>
        <p:nvSpPr>
          <p:cNvPr id="25" name="TextBox 24"/>
          <p:cNvSpPr txBox="1"/>
          <p:nvPr/>
        </p:nvSpPr>
        <p:spPr>
          <a:xfrm>
            <a:off x="5871362" y="2148840"/>
            <a:ext cx="1251813"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 (assumed)</a:t>
            </a:r>
          </a:p>
        </p:txBody>
      </p:sp>
      <p:sp>
        <p:nvSpPr>
          <p:cNvPr id="26" name="Rectangle 25"/>
          <p:cNvSpPr/>
          <p:nvPr/>
        </p:nvSpPr>
        <p:spPr>
          <a:xfrm>
            <a:off x="841248" y="2473452"/>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4400" y="2544318"/>
            <a:ext cx="8705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2538831"/>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29" name="TextBox 28"/>
          <p:cNvSpPr txBox="1"/>
          <p:nvPr/>
        </p:nvSpPr>
        <p:spPr>
          <a:xfrm>
            <a:off x="1931212" y="2491740"/>
            <a:ext cx="2649931"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Aditya Birla Sun Life Regular</a:t>
            </a:r>
          </a:p>
        </p:txBody>
      </p:sp>
      <p:sp>
        <p:nvSpPr>
          <p:cNvPr id="30" name="TextBox 29"/>
          <p:cNvSpPr txBox="1"/>
          <p:nvPr/>
        </p:nvSpPr>
        <p:spPr>
          <a:xfrm>
            <a:off x="4727448" y="2491740"/>
            <a:ext cx="997610" cy="34290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4.0 L</a:t>
            </a:r>
          </a:p>
        </p:txBody>
      </p:sp>
      <p:sp>
        <p:nvSpPr>
          <p:cNvPr id="31" name="TextBox 30"/>
          <p:cNvSpPr txBox="1"/>
          <p:nvPr/>
        </p:nvSpPr>
        <p:spPr>
          <a:xfrm>
            <a:off x="5871362" y="2491740"/>
            <a:ext cx="1251813"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 (assumed)</a:t>
            </a:r>
          </a:p>
        </p:txBody>
      </p:sp>
      <p:sp>
        <p:nvSpPr>
          <p:cNvPr id="32" name="Rectangle 31"/>
          <p:cNvSpPr/>
          <p:nvPr/>
        </p:nvSpPr>
        <p:spPr>
          <a:xfrm>
            <a:off x="841248" y="2816352"/>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14400" y="2887218"/>
            <a:ext cx="8705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2881731"/>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35" name="TextBox 34"/>
          <p:cNvSpPr txBox="1"/>
          <p:nvPr/>
        </p:nvSpPr>
        <p:spPr>
          <a:xfrm>
            <a:off x="1931212" y="2834640"/>
            <a:ext cx="2649931"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Hybrid Debt - Direct Plan</a:t>
            </a:r>
          </a:p>
        </p:txBody>
      </p:sp>
      <p:sp>
        <p:nvSpPr>
          <p:cNvPr id="36" name="TextBox 35"/>
          <p:cNvSpPr txBox="1"/>
          <p:nvPr/>
        </p:nvSpPr>
        <p:spPr>
          <a:xfrm>
            <a:off x="4727448" y="2834640"/>
            <a:ext cx="997610" cy="34290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2.6 L</a:t>
            </a:r>
          </a:p>
        </p:txBody>
      </p:sp>
      <p:sp>
        <p:nvSpPr>
          <p:cNvPr id="37" name="TextBox 36"/>
          <p:cNvSpPr txBox="1"/>
          <p:nvPr/>
        </p:nvSpPr>
        <p:spPr>
          <a:xfrm>
            <a:off x="5871362" y="2834640"/>
            <a:ext cx="1251813"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 (assumed)</a:t>
            </a:r>
          </a:p>
        </p:txBody>
      </p:sp>
      <p:sp>
        <p:nvSpPr>
          <p:cNvPr id="38" name="Rectangle 37"/>
          <p:cNvSpPr/>
          <p:nvPr/>
        </p:nvSpPr>
        <p:spPr>
          <a:xfrm>
            <a:off x="841248" y="3159252"/>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14400" y="3230118"/>
            <a:ext cx="8705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3224631"/>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41" name="TextBox 40"/>
          <p:cNvSpPr txBox="1"/>
          <p:nvPr/>
        </p:nvSpPr>
        <p:spPr>
          <a:xfrm>
            <a:off x="1931212" y="3177540"/>
            <a:ext cx="2649931"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SBI Gilt - Direct Plan</a:t>
            </a:r>
          </a:p>
        </p:txBody>
      </p:sp>
      <p:sp>
        <p:nvSpPr>
          <p:cNvPr id="42" name="TextBox 41"/>
          <p:cNvSpPr txBox="1"/>
          <p:nvPr/>
        </p:nvSpPr>
        <p:spPr>
          <a:xfrm>
            <a:off x="4727448" y="3177540"/>
            <a:ext cx="997610" cy="34290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2.4 L</a:t>
            </a:r>
          </a:p>
        </p:txBody>
      </p:sp>
      <p:sp>
        <p:nvSpPr>
          <p:cNvPr id="43" name="TextBox 42"/>
          <p:cNvSpPr txBox="1"/>
          <p:nvPr/>
        </p:nvSpPr>
        <p:spPr>
          <a:xfrm>
            <a:off x="5871362" y="3177540"/>
            <a:ext cx="1251813"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 (assumed)</a:t>
            </a:r>
          </a:p>
        </p:txBody>
      </p:sp>
      <p:sp>
        <p:nvSpPr>
          <p:cNvPr id="44" name="Rectangle 43"/>
          <p:cNvSpPr/>
          <p:nvPr/>
        </p:nvSpPr>
        <p:spPr>
          <a:xfrm>
            <a:off x="841248" y="3502152"/>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14400" y="3573018"/>
            <a:ext cx="8705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3567531"/>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47" name="TextBox 46"/>
          <p:cNvSpPr txBox="1"/>
          <p:nvPr/>
        </p:nvSpPr>
        <p:spPr>
          <a:xfrm>
            <a:off x="1931212" y="3520440"/>
            <a:ext cx="2649931"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Gilt - Direct Plan</a:t>
            </a:r>
          </a:p>
        </p:txBody>
      </p:sp>
      <p:sp>
        <p:nvSpPr>
          <p:cNvPr id="48" name="TextBox 47"/>
          <p:cNvSpPr txBox="1"/>
          <p:nvPr/>
        </p:nvSpPr>
        <p:spPr>
          <a:xfrm>
            <a:off x="4727448" y="3520440"/>
            <a:ext cx="997610" cy="34290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2.0 L</a:t>
            </a:r>
          </a:p>
        </p:txBody>
      </p:sp>
      <p:sp>
        <p:nvSpPr>
          <p:cNvPr id="49" name="TextBox 48"/>
          <p:cNvSpPr txBox="1"/>
          <p:nvPr/>
        </p:nvSpPr>
        <p:spPr>
          <a:xfrm>
            <a:off x="5871362" y="3520440"/>
            <a:ext cx="1251813"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 (assumed)</a:t>
            </a:r>
          </a:p>
        </p:txBody>
      </p:sp>
      <p:sp>
        <p:nvSpPr>
          <p:cNvPr id="50" name="Rectangle 49"/>
          <p:cNvSpPr/>
          <p:nvPr/>
        </p:nvSpPr>
        <p:spPr>
          <a:xfrm>
            <a:off x="841248" y="3845052"/>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914400" y="3915918"/>
            <a:ext cx="8705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 y="3910431"/>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53" name="TextBox 52"/>
          <p:cNvSpPr txBox="1"/>
          <p:nvPr/>
        </p:nvSpPr>
        <p:spPr>
          <a:xfrm>
            <a:off x="1931212" y="3863339"/>
            <a:ext cx="2649931"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Floating Rate Debt</a:t>
            </a:r>
          </a:p>
        </p:txBody>
      </p:sp>
      <p:sp>
        <p:nvSpPr>
          <p:cNvPr id="54" name="TextBox 53"/>
          <p:cNvSpPr txBox="1"/>
          <p:nvPr/>
        </p:nvSpPr>
        <p:spPr>
          <a:xfrm>
            <a:off x="4727448" y="3863339"/>
            <a:ext cx="997610" cy="34290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0.0 L</a:t>
            </a:r>
          </a:p>
        </p:txBody>
      </p:sp>
      <p:sp>
        <p:nvSpPr>
          <p:cNvPr id="55" name="TextBox 54"/>
          <p:cNvSpPr txBox="1"/>
          <p:nvPr/>
        </p:nvSpPr>
        <p:spPr>
          <a:xfrm>
            <a:off x="5871362" y="3863339"/>
            <a:ext cx="1251813"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 (assumed)</a:t>
            </a:r>
          </a:p>
        </p:txBody>
      </p:sp>
      <p:sp>
        <p:nvSpPr>
          <p:cNvPr id="56" name="Rectangle 55"/>
          <p:cNvSpPr/>
          <p:nvPr/>
        </p:nvSpPr>
        <p:spPr>
          <a:xfrm>
            <a:off x="841248" y="4187952"/>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914400" y="4258818"/>
            <a:ext cx="870508"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4400" y="4253331"/>
            <a:ext cx="870508"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EXIT</a:t>
            </a:r>
          </a:p>
        </p:txBody>
      </p:sp>
      <p:sp>
        <p:nvSpPr>
          <p:cNvPr id="59" name="TextBox 58"/>
          <p:cNvSpPr txBox="1"/>
          <p:nvPr/>
        </p:nvSpPr>
        <p:spPr>
          <a:xfrm>
            <a:off x="1931212" y="4206240"/>
            <a:ext cx="2649931"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HDFC Overnight - Direct Plan</a:t>
            </a:r>
          </a:p>
        </p:txBody>
      </p:sp>
      <p:sp>
        <p:nvSpPr>
          <p:cNvPr id="60" name="TextBox 59"/>
          <p:cNvSpPr txBox="1"/>
          <p:nvPr/>
        </p:nvSpPr>
        <p:spPr>
          <a:xfrm>
            <a:off x="4727448" y="4206240"/>
            <a:ext cx="997610" cy="342900"/>
          </a:xfrm>
          <a:prstGeom prst="rect">
            <a:avLst/>
          </a:prstGeom>
          <a:noFill/>
        </p:spPr>
        <p:txBody>
          <a:bodyPr wrap="square" anchor="ctr" lIns="0" rIns="0" tIns="0" bIns="0">
            <a:spAutoFit/>
          </a:bodyPr>
          <a:lstStyle/>
          <a:p>
            <a:pPr algn="r">
              <a:spcBef>
                <a:spcPts val="0"/>
              </a:spcBef>
              <a:spcAft>
                <a:spcPts val="0"/>
              </a:spcAft>
            </a:pPr>
            <a:r>
              <a:rPr sz="950" b="0" i="0">
                <a:solidFill>
                  <a:srgbClr val="16233B"/>
                </a:solidFill>
                <a:latin typeface="Georgia"/>
              </a:rPr>
              <a:t>Rs 0.0 L</a:t>
            </a:r>
          </a:p>
        </p:txBody>
      </p:sp>
      <p:sp>
        <p:nvSpPr>
          <p:cNvPr id="61" name="TextBox 60"/>
          <p:cNvSpPr txBox="1"/>
          <p:nvPr/>
        </p:nvSpPr>
        <p:spPr>
          <a:xfrm>
            <a:off x="5871362" y="4206240"/>
            <a:ext cx="1251813"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LTCG (assumed)</a:t>
            </a:r>
          </a:p>
        </p:txBody>
      </p:sp>
      <p:sp>
        <p:nvSpPr>
          <p:cNvPr id="62" name="Rectangle 61"/>
          <p:cNvSpPr/>
          <p:nvPr/>
        </p:nvSpPr>
        <p:spPr>
          <a:xfrm>
            <a:off x="841248" y="4530852"/>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14400" y="4549140"/>
            <a:ext cx="870508"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64" name="TextBox 63"/>
          <p:cNvSpPr txBox="1"/>
          <p:nvPr/>
        </p:nvSpPr>
        <p:spPr>
          <a:xfrm>
            <a:off x="1931212" y="4549140"/>
            <a:ext cx="2649931" cy="342900"/>
          </a:xfrm>
          <a:prstGeom prst="rect">
            <a:avLst/>
          </a:prstGeom>
          <a:noFill/>
        </p:spPr>
        <p:txBody>
          <a:bodyPr wrap="square" anchor="ctr" lIns="0" rIns="0" tIns="0" bIns="0">
            <a:spAutoFit/>
          </a:bodyPr>
          <a:lstStyle/>
          <a:p>
            <a:pPr algn="l">
              <a:spcBef>
                <a:spcPts val="0"/>
              </a:spcBef>
              <a:spcAft>
                <a:spcPts val="0"/>
              </a:spcAft>
            </a:pPr>
            <a:r>
              <a:rPr sz="950" b="1" i="0">
                <a:solidFill>
                  <a:srgbClr val="16233B"/>
                </a:solidFill>
                <a:latin typeface="Bahnschrift"/>
              </a:rPr>
              <a:t>Total fund actions</a:t>
            </a:r>
          </a:p>
        </p:txBody>
      </p:sp>
      <p:sp>
        <p:nvSpPr>
          <p:cNvPr id="65" name="TextBox 64"/>
          <p:cNvSpPr txBox="1"/>
          <p:nvPr/>
        </p:nvSpPr>
        <p:spPr>
          <a:xfrm>
            <a:off x="4727448" y="4549140"/>
            <a:ext cx="997610" cy="342900"/>
          </a:xfrm>
          <a:prstGeom prst="rect">
            <a:avLst/>
          </a:prstGeom>
          <a:noFill/>
        </p:spPr>
        <p:txBody>
          <a:bodyPr wrap="square" anchor="ctr" lIns="0" rIns="0" tIns="0" bIns="0">
            <a:spAutoFit/>
          </a:bodyPr>
          <a:lstStyle/>
          <a:p>
            <a:pPr algn="r">
              <a:spcBef>
                <a:spcPts val="0"/>
              </a:spcBef>
              <a:spcAft>
                <a:spcPts val="0"/>
              </a:spcAft>
            </a:pPr>
            <a:r>
              <a:rPr sz="950" b="1" i="0">
                <a:solidFill>
                  <a:srgbClr val="16233B"/>
                </a:solidFill>
                <a:latin typeface="Bahnschrift"/>
              </a:rPr>
              <a:t>Rs 18.8 L</a:t>
            </a:r>
          </a:p>
        </p:txBody>
      </p:sp>
      <p:sp>
        <p:nvSpPr>
          <p:cNvPr id="66" name="TextBox 65"/>
          <p:cNvSpPr txBox="1"/>
          <p:nvPr/>
        </p:nvSpPr>
        <p:spPr>
          <a:xfrm>
            <a:off x="5871362" y="4549140"/>
            <a:ext cx="1251813" cy="342900"/>
          </a:xfrm>
          <a:prstGeom prst="rect">
            <a:avLst/>
          </a:prstGeom>
          <a:noFill/>
        </p:spPr>
        <p:txBody>
          <a:bodyPr wrap="square" anchor="ctr" lIns="0" rIns="0" tIns="0" bIns="0">
            <a:spAutoFit/>
          </a:bodyPr>
          <a:lstStyle/>
          <a:p>
            <a:pPr algn="l">
              <a:spcBef>
                <a:spcPts val="0"/>
              </a:spcBef>
              <a:spcAft>
                <a:spcPts val="0"/>
              </a:spcAft>
            </a:pPr>
            <a:r>
              <a:rPr sz="950" b="0" i="0">
                <a:solidFill>
                  <a:srgbClr val="16233B"/>
                </a:solidFill>
                <a:latin typeface="Georgia"/>
              </a:rPr>
              <a:t/>
            </a:r>
          </a:p>
        </p:txBody>
      </p:sp>
      <p:sp>
        <p:nvSpPr>
          <p:cNvPr id="67" name="Rectangle 66"/>
          <p:cNvSpPr/>
          <p:nvPr/>
        </p:nvSpPr>
        <p:spPr>
          <a:xfrm>
            <a:off x="841248" y="4873752"/>
            <a:ext cx="6355080"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379208" y="1572768"/>
            <a:ext cx="3971239" cy="457200"/>
          </a:xfrm>
          <a:prstGeom prst="rect">
            <a:avLst/>
          </a:prstGeom>
          <a:noFill/>
        </p:spPr>
        <p:txBody>
          <a:bodyPr wrap="square" anchor="t" lIns="0" rIns="0" tIns="0" bIns="0">
            <a:spAutoFit/>
          </a:bodyPr>
          <a:lstStyle/>
          <a:p>
            <a:pPr algn="l">
              <a:lnSpc>
                <a:spcPct val="105000"/>
              </a:lnSpc>
              <a:spcBef>
                <a:spcPts val="0"/>
              </a:spcBef>
              <a:spcAft>
                <a:spcPts val="0"/>
              </a:spcAft>
            </a:pPr>
            <a:r>
              <a:rPr sz="800" b="1" i="0" spc="80">
                <a:solidFill>
                  <a:srgbClr val="6B7280"/>
                </a:solidFill>
                <a:latin typeface="Bahnschrift"/>
              </a:rPr>
              <a:t>DIRECT-EQUITY SELLS &amp; TRIMS · NET OF EST. TAX</a:t>
            </a:r>
          </a:p>
        </p:txBody>
      </p:sp>
      <p:pic>
        <p:nvPicPr>
          <p:cNvPr id="69" name="Picture 68" descr="azby_tax_bridge.png"/>
          <p:cNvPicPr>
            <a:picLocks noChangeAspect="1"/>
          </p:cNvPicPr>
          <p:nvPr/>
        </p:nvPicPr>
        <p:blipFill>
          <a:blip r:embed="rId3"/>
          <a:stretch>
            <a:fillRect/>
          </a:stretch>
        </p:blipFill>
        <p:spPr>
          <a:xfrm>
            <a:off x="7379208" y="2371148"/>
            <a:ext cx="3971239" cy="2115703"/>
          </a:xfrm>
          <a:prstGeom prst="rect">
            <a:avLst/>
          </a:prstGeom>
        </p:spPr>
      </p:pic>
      <p:sp>
        <p:nvSpPr>
          <p:cNvPr id="70" name="TextBox 69"/>
          <p:cNvSpPr txBox="1"/>
          <p:nvPr/>
        </p:nvSpPr>
        <p:spPr>
          <a:xfrm>
            <a:off x="7379208" y="4617720"/>
            <a:ext cx="3971239" cy="219456"/>
          </a:xfrm>
          <a:prstGeom prst="rect">
            <a:avLst/>
          </a:prstGeom>
          <a:noFill/>
        </p:spPr>
        <p:txBody>
          <a:bodyPr wrap="square" anchor="t" lIns="0" rIns="0" tIns="0" bIns="0">
            <a:spAutoFit/>
          </a:bodyPr>
          <a:lstStyle/>
          <a:p>
            <a:pPr algn="l">
              <a:spcBef>
                <a:spcPts val="0"/>
              </a:spcBef>
              <a:spcAft>
                <a:spcPts val="0"/>
              </a:spcAft>
            </a:pPr>
            <a:r>
              <a:rPr sz="900" b="0" i="1">
                <a:solidFill>
                  <a:srgbClr val="8C95DE"/>
                </a:solidFill>
                <a:latin typeface="Georgia"/>
              </a:rPr>
              <a:t>Net after est. tax feeds the deployment plan.</a:t>
            </a:r>
          </a:p>
        </p:txBody>
      </p:sp>
      <p:sp>
        <p:nvSpPr>
          <p:cNvPr id="71" name="Rounded Rectangle 70"/>
          <p:cNvSpPr/>
          <p:nvPr/>
        </p:nvSpPr>
        <p:spPr>
          <a:xfrm>
            <a:off x="841248" y="5029200"/>
            <a:ext cx="5117439" cy="96012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41248" y="5029200"/>
            <a:ext cx="54864" cy="96012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42416" y="51572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DIRECT-EQUITY TAX: ESTIMATE FOR NOW</a:t>
            </a:r>
          </a:p>
        </p:txBody>
      </p:sp>
      <p:sp>
        <p:nvSpPr>
          <p:cNvPr id="74" name="TextBox 73"/>
          <p:cNvSpPr txBox="1"/>
          <p:nvPr/>
        </p:nvSpPr>
        <p:spPr>
          <a:xfrm>
            <a:off x="1042416" y="5431536"/>
            <a:ext cx="4751679" cy="5029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15 sell-list shares net to a real LOSS (Rs 1.94L), equity tax is clearly Rs0. The 7 fund exits: LTCG assumed (no cost data), confirm with your adviser.</a:t>
            </a:r>
          </a:p>
        </p:txBody>
      </p:sp>
      <p:sp>
        <p:nvSpPr>
          <p:cNvPr id="75" name="Rounded Rectangle 74"/>
          <p:cNvSpPr/>
          <p:nvPr/>
        </p:nvSpPr>
        <p:spPr>
          <a:xfrm>
            <a:off x="6233007" y="5029200"/>
            <a:ext cx="5117439" cy="896112"/>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33007" y="5029200"/>
            <a:ext cx="54864" cy="896112"/>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434175" y="51572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LONG-HELD UNITS: A HIGHER BAR TO SELL</a:t>
            </a:r>
          </a:p>
        </p:txBody>
      </p:sp>
      <p:sp>
        <p:nvSpPr>
          <p:cNvPr id="78" name="TextBox 77"/>
          <p:cNvSpPr txBox="1"/>
          <p:nvPr/>
        </p:nvSpPr>
        <p:spPr>
          <a:xfrm>
            <a:off x="6434175" y="5431536"/>
            <a:ext cx="4751679" cy="4389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Units held &gt;5y (&gt;10y more so) carry gains that offset switching alpha; their bar rises to structural-only. Stocks get no such pass.</a:t>
            </a:r>
          </a:p>
        </p:txBody>
      </p:sp>
      <p:sp>
        <p:nvSpPr>
          <p:cNvPr id="79" name="TextBox 78"/>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Left: mutual-fund actions. Right: direct-equity sell/trim plan. Tax characterisations are indicative and preliminary, confirm holding period, character and applicable rates with the client's tax adviser before dealing. Illustrative.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Your priority actions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we'd do next · in order, with amounts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30</a:t>
            </a:r>
          </a:p>
        </p:txBody>
      </p:sp>
      <p:sp>
        <p:nvSpPr>
          <p:cNvPr id="15" name="TextBox 14"/>
          <p:cNvSpPr txBox="1"/>
          <p:nvPr/>
        </p:nvSpPr>
        <p:spPr>
          <a:xfrm>
            <a:off x="841248" y="164592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Rs 57.5 L</a:t>
            </a:r>
          </a:p>
        </p:txBody>
      </p:sp>
      <p:sp>
        <p:nvSpPr>
          <p:cNvPr id="16" name="TextBox 15"/>
          <p:cNvSpPr txBox="1"/>
          <p:nvPr/>
        </p:nvSpPr>
        <p:spPr>
          <a:xfrm>
            <a:off x="841248" y="212140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GROSS FREED</a:t>
            </a:r>
          </a:p>
        </p:txBody>
      </p:sp>
      <p:sp>
        <p:nvSpPr>
          <p:cNvPr id="17" name="TextBox 16"/>
          <p:cNvSpPr txBox="1"/>
          <p:nvPr/>
        </p:nvSpPr>
        <p:spPr>
          <a:xfrm>
            <a:off x="841248" y="2304288"/>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sells + trim</a:t>
            </a:r>
          </a:p>
        </p:txBody>
      </p:sp>
      <p:sp>
        <p:nvSpPr>
          <p:cNvPr id="18" name="TextBox 17"/>
          <p:cNvSpPr txBox="1"/>
          <p:nvPr/>
        </p:nvSpPr>
        <p:spPr>
          <a:xfrm>
            <a:off x="4344314" y="164592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8C95DE"/>
                </a:solidFill>
                <a:latin typeface="Bahnschrift"/>
              </a:rPr>
              <a:t>7</a:t>
            </a:r>
          </a:p>
        </p:txBody>
      </p:sp>
      <p:sp>
        <p:nvSpPr>
          <p:cNvPr id="19" name="TextBox 18"/>
          <p:cNvSpPr txBox="1"/>
          <p:nvPr/>
        </p:nvSpPr>
        <p:spPr>
          <a:xfrm>
            <a:off x="4344314" y="212140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ACTIONS</a:t>
            </a:r>
          </a:p>
        </p:txBody>
      </p:sp>
      <p:sp>
        <p:nvSpPr>
          <p:cNvPr id="20" name="TextBox 19"/>
          <p:cNvSpPr txBox="1"/>
          <p:nvPr/>
        </p:nvSpPr>
        <p:spPr>
          <a:xfrm>
            <a:off x="4344314" y="2304288"/>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exit</a:t>
            </a:r>
          </a:p>
        </p:txBody>
      </p:sp>
      <p:sp>
        <p:nvSpPr>
          <p:cNvPr id="21" name="Rectangle 20"/>
          <p:cNvSpPr/>
          <p:nvPr/>
        </p:nvSpPr>
        <p:spPr>
          <a:xfrm>
            <a:off x="4289450"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47380" y="1645920"/>
            <a:ext cx="3365906" cy="457200"/>
          </a:xfrm>
          <a:prstGeom prst="rect">
            <a:avLst/>
          </a:prstGeom>
          <a:noFill/>
        </p:spPr>
        <p:txBody>
          <a:bodyPr wrap="square" anchor="t" lIns="0" rIns="0" tIns="0" bIns="0">
            <a:spAutoFit/>
          </a:bodyPr>
          <a:lstStyle/>
          <a:p>
            <a:pPr algn="l">
              <a:spcBef>
                <a:spcPts val="0"/>
              </a:spcBef>
              <a:spcAft>
                <a:spcPts val="0"/>
              </a:spcAft>
            </a:pPr>
            <a:r>
              <a:rPr sz="2700" b="0" i="0">
                <a:solidFill>
                  <a:srgbClr val="1B27A3"/>
                </a:solidFill>
                <a:latin typeface="Bahnschrift"/>
              </a:rPr>
              <a:t>Rs 57.5 L</a:t>
            </a:r>
          </a:p>
        </p:txBody>
      </p:sp>
      <p:sp>
        <p:nvSpPr>
          <p:cNvPr id="23" name="TextBox 22"/>
          <p:cNvSpPr txBox="1"/>
          <p:nvPr/>
        </p:nvSpPr>
        <p:spPr>
          <a:xfrm>
            <a:off x="7847380" y="2121408"/>
            <a:ext cx="3365906"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PROCEEDS</a:t>
            </a:r>
          </a:p>
        </p:txBody>
      </p:sp>
      <p:sp>
        <p:nvSpPr>
          <p:cNvPr id="24" name="TextBox 23"/>
          <p:cNvSpPr txBox="1"/>
          <p:nvPr/>
        </p:nvSpPr>
        <p:spPr>
          <a:xfrm>
            <a:off x="7847380" y="2304288"/>
            <a:ext cx="3365906" cy="182880"/>
          </a:xfrm>
          <a:prstGeom prst="rect">
            <a:avLst/>
          </a:prstGeom>
          <a:noFill/>
        </p:spPr>
        <p:txBody>
          <a:bodyPr wrap="square" anchor="t" lIns="0" rIns="0" tIns="0" bIns="0">
            <a:spAutoFit/>
          </a:bodyPr>
          <a:lstStyle/>
          <a:p>
            <a:pPr algn="l">
              <a:spcBef>
                <a:spcPts val="0"/>
              </a:spcBef>
              <a:spcAft>
                <a:spcPts val="0"/>
              </a:spcAft>
            </a:pPr>
            <a:r>
              <a:rPr sz="800" b="0" i="0">
                <a:solidFill>
                  <a:srgbClr val="8C95DE"/>
                </a:solidFill>
                <a:latin typeface="Bahnschrift"/>
              </a:rPr>
              <a:t>to cash, after est. tax</a:t>
            </a:r>
          </a:p>
        </p:txBody>
      </p:sp>
      <p:sp>
        <p:nvSpPr>
          <p:cNvPr id="25" name="Rectangle 24"/>
          <p:cNvSpPr/>
          <p:nvPr/>
        </p:nvSpPr>
        <p:spPr>
          <a:xfrm>
            <a:off x="7792516" y="169164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1248" y="2761488"/>
            <a:ext cx="384048" cy="384048"/>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2761488"/>
            <a:ext cx="384048" cy="384048"/>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Bahnschrift"/>
              </a:rPr>
              <a:t>1</a:t>
            </a:r>
          </a:p>
        </p:txBody>
      </p:sp>
      <p:sp>
        <p:nvSpPr>
          <p:cNvPr id="28" name="TextBox 27"/>
          <p:cNvSpPr txBox="1"/>
          <p:nvPr/>
        </p:nvSpPr>
        <p:spPr>
          <a:xfrm>
            <a:off x="1408176" y="2724912"/>
            <a:ext cx="7315200" cy="274320"/>
          </a:xfrm>
          <a:prstGeom prst="rect">
            <a:avLst/>
          </a:prstGeom>
          <a:noFill/>
        </p:spPr>
        <p:txBody>
          <a:bodyPr wrap="square" anchor="t" lIns="0" rIns="0" tIns="0" bIns="0">
            <a:spAutoFit/>
          </a:bodyPr>
          <a:lstStyle/>
          <a:p>
            <a:pPr algn="l">
              <a:spcBef>
                <a:spcPts val="0"/>
              </a:spcBef>
              <a:spcAft>
                <a:spcPts val="0"/>
              </a:spcAft>
            </a:pPr>
            <a:r>
              <a:rPr sz="1300" b="1" i="0">
                <a:solidFill>
                  <a:srgbClr val="16233B"/>
                </a:solidFill>
                <a:latin typeface="Bahnschrift"/>
              </a:rPr>
              <a:t>Sell programme</a:t>
            </a:r>
          </a:p>
        </p:txBody>
      </p:sp>
      <p:sp>
        <p:nvSpPr>
          <p:cNvPr id="29" name="TextBox 28"/>
          <p:cNvSpPr txBox="1"/>
          <p:nvPr/>
        </p:nvSpPr>
        <p:spPr>
          <a:xfrm>
            <a:off x="1408176" y="3008376"/>
            <a:ext cx="7315200" cy="310896"/>
          </a:xfrm>
          <a:prstGeom prst="rect">
            <a:avLst/>
          </a:prstGeom>
          <a:noFill/>
        </p:spPr>
        <p:txBody>
          <a:bodyPr wrap="square" anchor="t" lIns="0" rIns="0" tIns="0" bIns="0">
            <a:spAutoFit/>
          </a:bodyPr>
          <a:lstStyle/>
          <a:p>
            <a:pPr algn="l">
              <a:lnSpc>
                <a:spcPct val="102000"/>
              </a:lnSpc>
              <a:spcBef>
                <a:spcPts val="0"/>
              </a:spcBef>
              <a:spcAft>
                <a:spcPts val="0"/>
              </a:spcAft>
            </a:pPr>
            <a:r>
              <a:rPr sz="950" b="0" i="1">
                <a:solidFill>
                  <a:srgbClr val="6B7280"/>
                </a:solidFill>
                <a:latin typeface="Georgia"/>
              </a:rPr>
              <a:t>14 names scored below the gate, staged in slices at &lt;=10% ADV.</a:t>
            </a:r>
          </a:p>
        </p:txBody>
      </p:sp>
      <p:sp>
        <p:nvSpPr>
          <p:cNvPr id="30" name="TextBox 29"/>
          <p:cNvSpPr txBox="1"/>
          <p:nvPr/>
        </p:nvSpPr>
        <p:spPr>
          <a:xfrm>
            <a:off x="9018727" y="2743200"/>
            <a:ext cx="2331720" cy="274320"/>
          </a:xfrm>
          <a:prstGeom prst="rect">
            <a:avLst/>
          </a:prstGeom>
          <a:noFill/>
        </p:spPr>
        <p:txBody>
          <a:bodyPr wrap="square" anchor="t" lIns="0" rIns="0" tIns="0" bIns="0">
            <a:spAutoFit/>
          </a:bodyPr>
          <a:lstStyle/>
          <a:p>
            <a:pPr algn="r">
              <a:spcBef>
                <a:spcPts val="0"/>
              </a:spcBef>
              <a:spcAft>
                <a:spcPts val="0"/>
              </a:spcAft>
            </a:pPr>
            <a:r>
              <a:rPr sz="1500" b="1" i="0">
                <a:solidFill>
                  <a:srgbClr val="F2A93C"/>
                </a:solidFill>
                <a:latin typeface="Bahnschrift"/>
              </a:rPr>
              <a:t>Rs 33.3 L</a:t>
            </a:r>
          </a:p>
        </p:txBody>
      </p:sp>
      <p:sp>
        <p:nvSpPr>
          <p:cNvPr id="31" name="TextBox 30"/>
          <p:cNvSpPr txBox="1"/>
          <p:nvPr/>
        </p:nvSpPr>
        <p:spPr>
          <a:xfrm>
            <a:off x="9018727" y="3108960"/>
            <a:ext cx="2331720" cy="201168"/>
          </a:xfrm>
          <a:prstGeom prst="rect">
            <a:avLst/>
          </a:prstGeom>
          <a:noFill/>
        </p:spPr>
        <p:txBody>
          <a:bodyPr wrap="square" anchor="t" lIns="0" rIns="0" tIns="0" bIns="0">
            <a:spAutoFit/>
          </a:bodyPr>
          <a:lstStyle/>
          <a:p>
            <a:pPr algn="r">
              <a:spcBef>
                <a:spcPts val="0"/>
              </a:spcBef>
              <a:spcAft>
                <a:spcPts val="0"/>
              </a:spcAft>
            </a:pPr>
            <a:r>
              <a:rPr sz="750" b="1" i="0" spc="60">
                <a:solidFill>
                  <a:srgbClr val="6B7280"/>
                </a:solidFill>
                <a:latin typeface="Bahnschrift"/>
              </a:rPr>
              <a:t>WAVE 1</a:t>
            </a:r>
          </a:p>
        </p:txBody>
      </p:sp>
      <p:sp>
        <p:nvSpPr>
          <p:cNvPr id="32" name="TextBox 31">
            <a:hlinkClick action="ppaction://hlinksldjump" r:id="rId3"/>
          </p:cNvPr>
          <p:cNvSpPr txBox="1"/>
          <p:nvPr/>
        </p:nvSpPr>
        <p:spPr>
          <a:xfrm>
            <a:off x="804672" y="3182112"/>
            <a:ext cx="566928" cy="182880"/>
          </a:xfrm>
          <a:prstGeom prst="rect">
            <a:avLst/>
          </a:prstGeom>
          <a:noFill/>
        </p:spPr>
        <p:txBody>
          <a:bodyPr wrap="none" anchor="t" lIns="0" rIns="0" tIns="0" bIns="0">
            <a:spAutoFit/>
          </a:bodyPr>
          <a:lstStyle/>
          <a:p>
            <a:pPr algn="ctr">
              <a:spcBef>
                <a:spcPts val="0"/>
              </a:spcBef>
              <a:spcAft>
                <a:spcPts val="0"/>
              </a:spcAft>
            </a:pPr>
            <a:r>
              <a:rPr sz="800" b="1" i="0">
                <a:solidFill>
                  <a:srgbClr val="8C95DE"/>
                </a:solidFill>
                <a:latin typeface="Bahnschrift"/>
              </a:rPr>
              <a:t>p.15</a:t>
            </a:r>
          </a:p>
        </p:txBody>
      </p:sp>
      <p:sp>
        <p:nvSpPr>
          <p:cNvPr id="33" name="Rectangle 32"/>
          <p:cNvSpPr/>
          <p:nvPr/>
        </p:nvSpPr>
        <p:spPr>
          <a:xfrm>
            <a:off x="841248" y="3383279"/>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1248" y="3474720"/>
            <a:ext cx="384048" cy="384048"/>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 y="3474720"/>
            <a:ext cx="384048" cy="384048"/>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Bahnschrift"/>
              </a:rPr>
              <a:t>2</a:t>
            </a:r>
          </a:p>
        </p:txBody>
      </p:sp>
      <p:sp>
        <p:nvSpPr>
          <p:cNvPr id="36" name="TextBox 35"/>
          <p:cNvSpPr txBox="1"/>
          <p:nvPr/>
        </p:nvSpPr>
        <p:spPr>
          <a:xfrm>
            <a:off x="1408176" y="3438144"/>
            <a:ext cx="7315200" cy="274320"/>
          </a:xfrm>
          <a:prstGeom prst="rect">
            <a:avLst/>
          </a:prstGeom>
          <a:noFill/>
        </p:spPr>
        <p:txBody>
          <a:bodyPr wrap="square" anchor="t" lIns="0" rIns="0" tIns="0" bIns="0">
            <a:spAutoFit/>
          </a:bodyPr>
          <a:lstStyle/>
          <a:p>
            <a:pPr algn="l">
              <a:spcBef>
                <a:spcPts val="0"/>
              </a:spcBef>
              <a:spcAft>
                <a:spcPts val="0"/>
              </a:spcAft>
            </a:pPr>
            <a:r>
              <a:rPr sz="1300" b="1" i="0">
                <a:solidFill>
                  <a:srgbClr val="16233B"/>
                </a:solidFill>
                <a:latin typeface="Bahnschrift"/>
              </a:rPr>
              <a:t>Trim concentration</a:t>
            </a:r>
          </a:p>
        </p:txBody>
      </p:sp>
      <p:sp>
        <p:nvSpPr>
          <p:cNvPr id="37" name="TextBox 36"/>
          <p:cNvSpPr txBox="1"/>
          <p:nvPr/>
        </p:nvSpPr>
        <p:spPr>
          <a:xfrm>
            <a:off x="1408176" y="3721607"/>
            <a:ext cx="7315200" cy="310896"/>
          </a:xfrm>
          <a:prstGeom prst="rect">
            <a:avLst/>
          </a:prstGeom>
          <a:noFill/>
        </p:spPr>
        <p:txBody>
          <a:bodyPr wrap="square" anchor="t" lIns="0" rIns="0" tIns="0" bIns="0">
            <a:spAutoFit/>
          </a:bodyPr>
          <a:lstStyle/>
          <a:p>
            <a:pPr algn="l">
              <a:lnSpc>
                <a:spcPct val="102000"/>
              </a:lnSpc>
              <a:spcBef>
                <a:spcPts val="0"/>
              </a:spcBef>
              <a:spcAft>
                <a:spcPts val="0"/>
              </a:spcAft>
            </a:pPr>
            <a:r>
              <a:rPr sz="950" b="0" i="1">
                <a:solidFill>
                  <a:srgbClr val="6B7280"/>
                </a:solidFill>
                <a:latin typeface="Georgia"/>
              </a:rPr>
              <a:t>Positions above the 8% single-name guideline eased or exited, into strength.</a:t>
            </a:r>
          </a:p>
        </p:txBody>
      </p:sp>
      <p:sp>
        <p:nvSpPr>
          <p:cNvPr id="38" name="TextBox 37"/>
          <p:cNvSpPr txBox="1"/>
          <p:nvPr/>
        </p:nvSpPr>
        <p:spPr>
          <a:xfrm>
            <a:off x="9018727" y="3456432"/>
            <a:ext cx="2331720" cy="274320"/>
          </a:xfrm>
          <a:prstGeom prst="rect">
            <a:avLst/>
          </a:prstGeom>
          <a:noFill/>
        </p:spPr>
        <p:txBody>
          <a:bodyPr wrap="square" anchor="t" lIns="0" rIns="0" tIns="0" bIns="0">
            <a:spAutoFit/>
          </a:bodyPr>
          <a:lstStyle/>
          <a:p>
            <a:pPr algn="r">
              <a:spcBef>
                <a:spcPts val="0"/>
              </a:spcBef>
              <a:spcAft>
                <a:spcPts val="0"/>
              </a:spcAft>
            </a:pPr>
            <a:r>
              <a:rPr sz="1500" b="1" i="0">
                <a:solidFill>
                  <a:srgbClr val="F2A93C"/>
                </a:solidFill>
                <a:latin typeface="Bahnschrift"/>
              </a:rPr>
              <a:t>Rs 5.4 L</a:t>
            </a:r>
          </a:p>
        </p:txBody>
      </p:sp>
      <p:sp>
        <p:nvSpPr>
          <p:cNvPr id="39" name="TextBox 38"/>
          <p:cNvSpPr txBox="1"/>
          <p:nvPr/>
        </p:nvSpPr>
        <p:spPr>
          <a:xfrm>
            <a:off x="9018727" y="3822191"/>
            <a:ext cx="2331720" cy="201168"/>
          </a:xfrm>
          <a:prstGeom prst="rect">
            <a:avLst/>
          </a:prstGeom>
          <a:noFill/>
        </p:spPr>
        <p:txBody>
          <a:bodyPr wrap="square" anchor="t" lIns="0" rIns="0" tIns="0" bIns="0">
            <a:spAutoFit/>
          </a:bodyPr>
          <a:lstStyle/>
          <a:p>
            <a:pPr algn="r">
              <a:spcBef>
                <a:spcPts val="0"/>
              </a:spcBef>
              <a:spcAft>
                <a:spcPts val="0"/>
              </a:spcAft>
            </a:pPr>
            <a:r>
              <a:rPr sz="750" b="1" i="0" spc="60">
                <a:solidFill>
                  <a:srgbClr val="6B7280"/>
                </a:solidFill>
                <a:latin typeface="Bahnschrift"/>
              </a:rPr>
              <a:t>THIS CYCLE</a:t>
            </a:r>
          </a:p>
        </p:txBody>
      </p:sp>
      <p:sp>
        <p:nvSpPr>
          <p:cNvPr id="40" name="TextBox 39">
            <a:hlinkClick action="ppaction://hlinksldjump" r:id="rId4"/>
          </p:cNvPr>
          <p:cNvSpPr txBox="1"/>
          <p:nvPr/>
        </p:nvSpPr>
        <p:spPr>
          <a:xfrm>
            <a:off x="804672" y="3895344"/>
            <a:ext cx="566928" cy="182880"/>
          </a:xfrm>
          <a:prstGeom prst="rect">
            <a:avLst/>
          </a:prstGeom>
          <a:noFill/>
        </p:spPr>
        <p:txBody>
          <a:bodyPr wrap="none" anchor="t" lIns="0" rIns="0" tIns="0" bIns="0">
            <a:spAutoFit/>
          </a:bodyPr>
          <a:lstStyle/>
          <a:p>
            <a:pPr algn="ctr">
              <a:spcBef>
                <a:spcPts val="0"/>
              </a:spcBef>
              <a:spcAft>
                <a:spcPts val="0"/>
              </a:spcAft>
            </a:pPr>
            <a:r>
              <a:rPr sz="800" b="1" i="0">
                <a:solidFill>
                  <a:srgbClr val="8C95DE"/>
                </a:solidFill>
                <a:latin typeface="Bahnschrift"/>
              </a:rPr>
              <a:t>p.08</a:t>
            </a:r>
          </a:p>
        </p:txBody>
      </p:sp>
      <p:sp>
        <p:nvSpPr>
          <p:cNvPr id="41" name="Rectangle 40"/>
          <p:cNvSpPr/>
          <p:nvPr/>
        </p:nvSpPr>
        <p:spPr>
          <a:xfrm>
            <a:off x="841248" y="409651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41248" y="4187952"/>
            <a:ext cx="384048" cy="384048"/>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1248" y="4187952"/>
            <a:ext cx="384048" cy="384048"/>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Bahnschrift"/>
              </a:rPr>
              <a:t>3</a:t>
            </a:r>
          </a:p>
        </p:txBody>
      </p:sp>
      <p:sp>
        <p:nvSpPr>
          <p:cNvPr id="44" name="TextBox 43"/>
          <p:cNvSpPr txBox="1"/>
          <p:nvPr/>
        </p:nvSpPr>
        <p:spPr>
          <a:xfrm>
            <a:off x="1408176" y="4151376"/>
            <a:ext cx="7315200" cy="274320"/>
          </a:xfrm>
          <a:prstGeom prst="rect">
            <a:avLst/>
          </a:prstGeom>
          <a:noFill/>
        </p:spPr>
        <p:txBody>
          <a:bodyPr wrap="square" anchor="t" lIns="0" rIns="0" tIns="0" bIns="0">
            <a:spAutoFit/>
          </a:bodyPr>
          <a:lstStyle/>
          <a:p>
            <a:pPr algn="l">
              <a:spcBef>
                <a:spcPts val="0"/>
              </a:spcBef>
              <a:spcAft>
                <a:spcPts val="0"/>
              </a:spcAft>
            </a:pPr>
            <a:r>
              <a:rPr sz="1300" b="1" i="0">
                <a:solidFill>
                  <a:srgbClr val="16233B"/>
                </a:solidFill>
                <a:latin typeface="Bahnschrift"/>
              </a:rPr>
              <a:t>Fund actions</a:t>
            </a:r>
          </a:p>
        </p:txBody>
      </p:sp>
      <p:sp>
        <p:nvSpPr>
          <p:cNvPr id="45" name="TextBox 44"/>
          <p:cNvSpPr txBox="1"/>
          <p:nvPr/>
        </p:nvSpPr>
        <p:spPr>
          <a:xfrm>
            <a:off x="1408176" y="4434840"/>
            <a:ext cx="7315200" cy="310896"/>
          </a:xfrm>
          <a:prstGeom prst="rect">
            <a:avLst/>
          </a:prstGeom>
          <a:noFill/>
        </p:spPr>
        <p:txBody>
          <a:bodyPr wrap="square" anchor="t" lIns="0" rIns="0" tIns="0" bIns="0">
            <a:spAutoFit/>
          </a:bodyPr>
          <a:lstStyle/>
          <a:p>
            <a:pPr algn="l">
              <a:lnSpc>
                <a:spcPct val="102000"/>
              </a:lnSpc>
              <a:spcBef>
                <a:spcPts val="0"/>
              </a:spcBef>
              <a:spcAft>
                <a:spcPts val="0"/>
              </a:spcAft>
            </a:pPr>
            <a:r>
              <a:rPr sz="950" b="0" i="1">
                <a:solidFill>
                  <a:srgbClr val="6B7280"/>
                </a:solidFill>
                <a:latin typeface="Georgia"/>
              </a:rPr>
              <a:t>7 exits; every destination is a Direct-plan or passive vehicle.</a:t>
            </a:r>
          </a:p>
        </p:txBody>
      </p:sp>
      <p:sp>
        <p:nvSpPr>
          <p:cNvPr id="46" name="TextBox 45"/>
          <p:cNvSpPr txBox="1"/>
          <p:nvPr/>
        </p:nvSpPr>
        <p:spPr>
          <a:xfrm>
            <a:off x="9018727" y="4169663"/>
            <a:ext cx="2331720" cy="274320"/>
          </a:xfrm>
          <a:prstGeom prst="rect">
            <a:avLst/>
          </a:prstGeom>
          <a:noFill/>
        </p:spPr>
        <p:txBody>
          <a:bodyPr wrap="square" anchor="t" lIns="0" rIns="0" tIns="0" bIns="0">
            <a:spAutoFit/>
          </a:bodyPr>
          <a:lstStyle/>
          <a:p>
            <a:pPr algn="r">
              <a:spcBef>
                <a:spcPts val="0"/>
              </a:spcBef>
              <a:spcAft>
                <a:spcPts val="0"/>
              </a:spcAft>
            </a:pPr>
            <a:r>
              <a:rPr sz="1500" b="1" i="0">
                <a:solidFill>
                  <a:srgbClr val="F2A93C"/>
                </a:solidFill>
                <a:latin typeface="Bahnschrift"/>
              </a:rPr>
              <a:t>Rs 18.8 L</a:t>
            </a:r>
          </a:p>
        </p:txBody>
      </p:sp>
      <p:sp>
        <p:nvSpPr>
          <p:cNvPr id="47" name="TextBox 46"/>
          <p:cNvSpPr txBox="1"/>
          <p:nvPr/>
        </p:nvSpPr>
        <p:spPr>
          <a:xfrm>
            <a:off x="9018727" y="4535424"/>
            <a:ext cx="2331720" cy="201168"/>
          </a:xfrm>
          <a:prstGeom prst="rect">
            <a:avLst/>
          </a:prstGeom>
          <a:noFill/>
        </p:spPr>
        <p:txBody>
          <a:bodyPr wrap="square" anchor="t" lIns="0" rIns="0" tIns="0" bIns="0">
            <a:spAutoFit/>
          </a:bodyPr>
          <a:lstStyle/>
          <a:p>
            <a:pPr algn="r">
              <a:spcBef>
                <a:spcPts val="0"/>
              </a:spcBef>
              <a:spcAft>
                <a:spcPts val="0"/>
              </a:spcAft>
            </a:pPr>
            <a:r>
              <a:rPr sz="750" b="1" i="0" spc="60">
                <a:solidFill>
                  <a:srgbClr val="6B7280"/>
                </a:solidFill>
                <a:latin typeface="Bahnschrift"/>
              </a:rPr>
              <a:t>T+2–T+3</a:t>
            </a:r>
          </a:p>
        </p:txBody>
      </p:sp>
      <p:sp>
        <p:nvSpPr>
          <p:cNvPr id="48" name="TextBox 47">
            <a:hlinkClick action="ppaction://hlinksldjump" r:id="rId5"/>
          </p:cNvPr>
          <p:cNvSpPr txBox="1"/>
          <p:nvPr/>
        </p:nvSpPr>
        <p:spPr>
          <a:xfrm>
            <a:off x="804672" y="4608576"/>
            <a:ext cx="566928" cy="182880"/>
          </a:xfrm>
          <a:prstGeom prst="rect">
            <a:avLst/>
          </a:prstGeom>
          <a:noFill/>
        </p:spPr>
        <p:txBody>
          <a:bodyPr wrap="none" anchor="t" lIns="0" rIns="0" tIns="0" bIns="0">
            <a:spAutoFit/>
          </a:bodyPr>
          <a:lstStyle/>
          <a:p>
            <a:pPr algn="ctr">
              <a:spcBef>
                <a:spcPts val="0"/>
              </a:spcBef>
              <a:spcAft>
                <a:spcPts val="0"/>
              </a:spcAft>
            </a:pPr>
            <a:r>
              <a:rPr sz="800" b="1" i="0">
                <a:solidFill>
                  <a:srgbClr val="8C95DE"/>
                </a:solidFill>
                <a:latin typeface="Bahnschrift"/>
              </a:rPr>
              <a:t>p.26</a:t>
            </a:r>
          </a:p>
        </p:txBody>
      </p:sp>
      <p:sp>
        <p:nvSpPr>
          <p:cNvPr id="49" name="Rectangle 48"/>
          <p:cNvSpPr/>
          <p:nvPr/>
        </p:nvSpPr>
        <p:spPr>
          <a:xfrm>
            <a:off x="841248" y="480974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41248" y="4901184"/>
            <a:ext cx="384048" cy="384048"/>
          </a:xfrm>
          <a:prstGeom prst="ellipse">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1248" y="4901184"/>
            <a:ext cx="384048" cy="384048"/>
          </a:xfrm>
          <a:prstGeom prst="rect">
            <a:avLst/>
          </a:prstGeom>
          <a:noFill/>
        </p:spPr>
        <p:txBody>
          <a:bodyPr wrap="square" anchor="ctr" lIns="0" rIns="0" tIns="0" bIns="0">
            <a:spAutoFit/>
          </a:bodyPr>
          <a:lstStyle/>
          <a:p>
            <a:pPr algn="ctr">
              <a:spcBef>
                <a:spcPts val="0"/>
              </a:spcBef>
              <a:spcAft>
                <a:spcPts val="0"/>
              </a:spcAft>
            </a:pPr>
            <a:r>
              <a:rPr sz="1400" b="1" i="0">
                <a:solidFill>
                  <a:srgbClr val="FFFFFF"/>
                </a:solidFill>
                <a:latin typeface="Bahnschrift"/>
              </a:rPr>
              <a:t>4</a:t>
            </a:r>
          </a:p>
        </p:txBody>
      </p:sp>
      <p:sp>
        <p:nvSpPr>
          <p:cNvPr id="52" name="TextBox 51"/>
          <p:cNvSpPr txBox="1"/>
          <p:nvPr/>
        </p:nvSpPr>
        <p:spPr>
          <a:xfrm>
            <a:off x="1408176" y="4864608"/>
            <a:ext cx="7315200" cy="274320"/>
          </a:xfrm>
          <a:prstGeom prst="rect">
            <a:avLst/>
          </a:prstGeom>
          <a:noFill/>
        </p:spPr>
        <p:txBody>
          <a:bodyPr wrap="square" anchor="t" lIns="0" rIns="0" tIns="0" bIns="0">
            <a:spAutoFit/>
          </a:bodyPr>
          <a:lstStyle/>
          <a:p>
            <a:pPr algn="l">
              <a:spcBef>
                <a:spcPts val="0"/>
              </a:spcBef>
              <a:spcAft>
                <a:spcPts val="0"/>
              </a:spcAft>
            </a:pPr>
            <a:r>
              <a:rPr sz="1300" b="1" i="0">
                <a:solidFill>
                  <a:srgbClr val="16233B"/>
                </a:solidFill>
                <a:latin typeface="Bahnschrift"/>
              </a:rPr>
              <a:t>Park net proceeds</a:t>
            </a:r>
          </a:p>
        </p:txBody>
      </p:sp>
      <p:sp>
        <p:nvSpPr>
          <p:cNvPr id="53" name="TextBox 52"/>
          <p:cNvSpPr txBox="1"/>
          <p:nvPr/>
        </p:nvSpPr>
        <p:spPr>
          <a:xfrm>
            <a:off x="1408176" y="5148072"/>
            <a:ext cx="7315200" cy="310896"/>
          </a:xfrm>
          <a:prstGeom prst="rect">
            <a:avLst/>
          </a:prstGeom>
          <a:noFill/>
        </p:spPr>
        <p:txBody>
          <a:bodyPr wrap="square" anchor="t" lIns="0" rIns="0" tIns="0" bIns="0">
            <a:spAutoFit/>
          </a:bodyPr>
          <a:lstStyle/>
          <a:p>
            <a:pPr algn="l">
              <a:lnSpc>
                <a:spcPct val="102000"/>
              </a:lnSpc>
              <a:spcBef>
                <a:spcPts val="0"/>
              </a:spcBef>
              <a:spcAft>
                <a:spcPts val="0"/>
              </a:spcAft>
            </a:pPr>
            <a:r>
              <a:rPr sz="950" b="0" i="1">
                <a:solidFill>
                  <a:srgbClr val="6B7280"/>
                </a:solidFill>
                <a:latin typeface="Georgia"/>
              </a:rPr>
              <a:t>Held in liquid / overnight funds pending your goals and IPS discussion; no redeployment is assumed or recommended here.</a:t>
            </a:r>
          </a:p>
        </p:txBody>
      </p:sp>
      <p:sp>
        <p:nvSpPr>
          <p:cNvPr id="54" name="TextBox 53"/>
          <p:cNvSpPr txBox="1"/>
          <p:nvPr/>
        </p:nvSpPr>
        <p:spPr>
          <a:xfrm>
            <a:off x="9018727" y="4882896"/>
            <a:ext cx="2331720" cy="274320"/>
          </a:xfrm>
          <a:prstGeom prst="rect">
            <a:avLst/>
          </a:prstGeom>
          <a:noFill/>
        </p:spPr>
        <p:txBody>
          <a:bodyPr wrap="square" anchor="t" lIns="0" rIns="0" tIns="0" bIns="0">
            <a:spAutoFit/>
          </a:bodyPr>
          <a:lstStyle/>
          <a:p>
            <a:pPr algn="r">
              <a:spcBef>
                <a:spcPts val="0"/>
              </a:spcBef>
              <a:spcAft>
                <a:spcPts val="0"/>
              </a:spcAft>
            </a:pPr>
            <a:r>
              <a:rPr sz="1500" b="1" i="0">
                <a:solidFill>
                  <a:srgbClr val="F2A93C"/>
                </a:solidFill>
                <a:latin typeface="Bahnschrift"/>
              </a:rPr>
              <a:t>Rs 57.5 L</a:t>
            </a:r>
          </a:p>
        </p:txBody>
      </p:sp>
      <p:sp>
        <p:nvSpPr>
          <p:cNvPr id="55" name="TextBox 54"/>
          <p:cNvSpPr txBox="1"/>
          <p:nvPr/>
        </p:nvSpPr>
        <p:spPr>
          <a:xfrm>
            <a:off x="9018727" y="5248656"/>
            <a:ext cx="2331720" cy="201168"/>
          </a:xfrm>
          <a:prstGeom prst="rect">
            <a:avLst/>
          </a:prstGeom>
          <a:noFill/>
        </p:spPr>
        <p:txBody>
          <a:bodyPr wrap="square" anchor="t" lIns="0" rIns="0" tIns="0" bIns="0">
            <a:spAutoFit/>
          </a:bodyPr>
          <a:lstStyle/>
          <a:p>
            <a:pPr algn="r">
              <a:spcBef>
                <a:spcPts val="0"/>
              </a:spcBef>
              <a:spcAft>
                <a:spcPts val="0"/>
              </a:spcAft>
            </a:pPr>
            <a:r>
              <a:rPr sz="750" b="1" i="0" spc="60">
                <a:solidFill>
                  <a:srgbClr val="6B7280"/>
                </a:solidFill>
                <a:latin typeface="Bahnschrift"/>
              </a:rPr>
              <a:t>ON AUTHORISATION</a:t>
            </a:r>
          </a:p>
        </p:txBody>
      </p:sp>
      <p:sp>
        <p:nvSpPr>
          <p:cNvPr id="56" name="TextBox 55"/>
          <p:cNvSpPr txBox="1"/>
          <p:nvPr/>
        </p:nvSpPr>
        <p:spPr>
          <a:xfrm>
            <a:off x="804672" y="5321808"/>
            <a:ext cx="566928" cy="182880"/>
          </a:xfrm>
          <a:prstGeom prst="rect">
            <a:avLst/>
          </a:prstGeom>
          <a:noFill/>
        </p:spPr>
        <p:txBody>
          <a:bodyPr wrap="none" anchor="t" lIns="0" rIns="0" tIns="0" bIns="0">
            <a:spAutoFit/>
          </a:bodyPr>
          <a:lstStyle/>
          <a:p>
            <a:pPr algn="ctr">
              <a:spcBef>
                <a:spcPts val="0"/>
              </a:spcBef>
              <a:spcAft>
                <a:spcPts val="0"/>
              </a:spcAft>
            </a:pPr>
            <a:r>
              <a:rPr sz="800" b="1" i="0">
                <a:solidFill>
                  <a:srgbClr val="8C95DE"/>
                </a:solidFill>
                <a:latin typeface="Bahnschrift"/>
              </a:rPr>
              <a:t/>
            </a:r>
          </a:p>
        </p:txBody>
      </p:sp>
      <p:sp>
        <p:nvSpPr>
          <p:cNvPr id="57" name="Rectangle 56"/>
          <p:cNvSpPr/>
          <p:nvPr/>
        </p:nvSpPr>
        <p:spPr>
          <a:xfrm>
            <a:off x="841248" y="552297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41248" y="5577840"/>
            <a:ext cx="6897319" cy="420624"/>
          </a:xfrm>
          <a:prstGeom prst="roundRect">
            <a:avLst>
              <a:gd name="adj" fmla="val 6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41248" y="5577840"/>
            <a:ext cx="54864" cy="42062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42416" y="5577840"/>
            <a:ext cx="6531559" cy="420624"/>
          </a:xfrm>
          <a:prstGeom prst="rect">
            <a:avLst/>
          </a:prstGeom>
          <a:noFill/>
        </p:spPr>
        <p:txBody>
          <a:bodyPr wrap="square" anchor="ctr" lIns="0" rIns="0" tIns="0" bIns="0">
            <a:spAutoFit/>
          </a:bodyPr>
          <a:lstStyle/>
          <a:p>
            <a:pPr algn="l">
              <a:lnSpc>
                <a:spcPct val="100000"/>
              </a:lnSpc>
              <a:spcBef>
                <a:spcPts val="0"/>
              </a:spcBef>
              <a:spcAft>
                <a:spcPts val="0"/>
              </a:spcAft>
            </a:pPr>
            <a:r>
              <a:rPr sz="850" b="1" i="0" spc="60">
                <a:solidFill>
                  <a:srgbClr val="92400E"/>
                </a:solidFill>
                <a:latin typeface="Bahnschrift"/>
              </a:rPr>
              <a:t>AUTHORISATION   </a:t>
            </a:r>
            <a:r>
              <a:rPr sz="950" b="0" i="0">
                <a:solidFill>
                  <a:srgbClr val="16233B"/>
                </a:solidFill>
                <a:latin typeface="Georgia"/>
              </a:rPr>
              <a:t>Nothing executes until you authorise it, this is a Non-Discretionary (NDPMS) mandate.</a:t>
            </a:r>
          </a:p>
        </p:txBody>
      </p:sp>
      <p:sp>
        <p:nvSpPr>
          <p:cNvPr id="61" name="TextBox 60"/>
          <p:cNvSpPr txBox="1"/>
          <p:nvPr/>
        </p:nvSpPr>
        <p:spPr>
          <a:xfrm>
            <a:off x="7921447" y="5577840"/>
            <a:ext cx="3429000" cy="420624"/>
          </a:xfrm>
          <a:prstGeom prst="rect">
            <a:avLst/>
          </a:prstGeom>
          <a:noFill/>
        </p:spPr>
        <p:txBody>
          <a:bodyPr wrap="square" anchor="ctr" lIns="0" rIns="0" tIns="0" bIns="0">
            <a:spAutoFit/>
          </a:bodyPr>
          <a:lstStyle/>
          <a:p>
            <a:pPr algn="r">
              <a:spcBef>
                <a:spcPts val="0"/>
              </a:spcBef>
              <a:spcAft>
                <a:spcPts val="0"/>
              </a:spcAft>
            </a:pPr>
            <a:r>
              <a:rPr sz="800" b="0" i="0">
                <a:solidFill>
                  <a:srgbClr val="6B7280"/>
                </a:solidFill>
                <a:latin typeface="Bahnschrift"/>
              </a:rPr>
              <a:t>Reviewed with client on  ____________________</a:t>
            </a:r>
          </a:p>
        </p:txBody>
      </p:sp>
      <p:sp>
        <p:nvSpPr>
          <p:cNvPr id="62" name="TextBox 6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Net figures after estimated tax · as of 2026-07-27.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Growth projection</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An illustrative path for the portfolio over the horizon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31</a:t>
            </a:r>
          </a:p>
        </p:txBody>
      </p:sp>
      <p:pic>
        <p:nvPicPr>
          <p:cNvPr id="15" name="Picture 14" descr="annex_cone.png"/>
          <p:cNvPicPr>
            <a:picLocks noChangeAspect="1"/>
          </p:cNvPicPr>
          <p:nvPr/>
        </p:nvPicPr>
        <p:blipFill>
          <a:blip r:embed="rId3"/>
          <a:stretch>
            <a:fillRect/>
          </a:stretch>
        </p:blipFill>
        <p:spPr>
          <a:xfrm>
            <a:off x="841248" y="1691640"/>
            <a:ext cx="7245613" cy="4206240"/>
          </a:xfrm>
          <a:prstGeom prst="rect">
            <a:avLst/>
          </a:prstGeom>
        </p:spPr>
      </p:pic>
      <p:sp>
        <p:nvSpPr>
          <p:cNvPr id="16" name="Rounded Rectangle 15"/>
          <p:cNvSpPr/>
          <p:nvPr/>
        </p:nvSpPr>
        <p:spPr>
          <a:xfrm>
            <a:off x="8293608" y="1783080"/>
            <a:ext cx="3056839" cy="19659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93608" y="1783080"/>
            <a:ext cx="54864" cy="19659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94776" y="1911095"/>
            <a:ext cx="26910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ASSUMPTIONS</a:t>
            </a:r>
          </a:p>
        </p:txBody>
      </p:sp>
      <p:sp>
        <p:nvSpPr>
          <p:cNvPr id="19" name="TextBox 18"/>
          <p:cNvSpPr txBox="1"/>
          <p:nvPr/>
        </p:nvSpPr>
        <p:spPr>
          <a:xfrm>
            <a:off x="8494776" y="2185416"/>
            <a:ext cx="2691079" cy="15087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Median path from ₹1.61 Cr at 13.6% p.a. and 11.0% volatility over 7 years, derived from this book's own holdings-weighted growth and fund track record, not a fixed assumption. The dashed line is an illustrative wealth goal.</a:t>
            </a:r>
          </a:p>
        </p:txBody>
      </p:sp>
      <p:sp>
        <p:nvSpPr>
          <p:cNvPr id="20" name="Rounded Rectangle 19"/>
          <p:cNvSpPr/>
          <p:nvPr/>
        </p:nvSpPr>
        <p:spPr>
          <a:xfrm>
            <a:off x="8293608" y="3886200"/>
            <a:ext cx="3056839" cy="1874519"/>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93608" y="3886200"/>
            <a:ext cx="54864" cy="1874519"/>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94776" y="4014215"/>
            <a:ext cx="26910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READ THE BAND</a:t>
            </a:r>
          </a:p>
        </p:txBody>
      </p:sp>
      <p:sp>
        <p:nvSpPr>
          <p:cNvPr id="23" name="TextBox 22"/>
          <p:cNvSpPr txBox="1"/>
          <p:nvPr/>
        </p:nvSpPr>
        <p:spPr>
          <a:xfrm>
            <a:off x="8494776" y="4288536"/>
            <a:ext cx="2691079" cy="14173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Read the band, not the line: the shaded area is the 10th-to-90th-percentile range. Outcomes compound path-dependently and will differ from any single number.</a:t>
            </a:r>
          </a:p>
        </p:txBody>
      </p:sp>
      <p:sp>
        <p:nvSpPr>
          <p:cNvPr id="24" name="TextBox 2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projection on assumed return/volatility; not a forecast, guarantee, or indication of future returns. Actual outcomes will differ.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Data &amp; coverage notes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this review could not score as a normal Sell/Hold call</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32</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These positions sit outside the normal scored tables, folding them in would distort every comparison.</a:t>
            </a:r>
          </a:p>
        </p:txBody>
      </p:sp>
      <p:sp>
        <p:nvSpPr>
          <p:cNvPr id="17" name="TextBox 16"/>
          <p:cNvSpPr txBox="1"/>
          <p:nvPr/>
        </p:nvSpPr>
        <p:spPr>
          <a:xfrm>
            <a:off x="841248" y="1828800"/>
            <a:ext cx="10509199" cy="201168"/>
          </a:xfrm>
          <a:prstGeom prst="rect">
            <a:avLst/>
          </a:prstGeom>
          <a:noFill/>
        </p:spPr>
        <p:txBody>
          <a:bodyPr wrap="square" anchor="t" lIns="0" rIns="0" tIns="0" bIns="0">
            <a:spAutoFit/>
          </a:bodyPr>
          <a:lstStyle/>
          <a:p>
            <a:pPr algn="l">
              <a:spcBef>
                <a:spcPts val="0"/>
              </a:spcBef>
              <a:spcAft>
                <a:spcPts val="0"/>
              </a:spcAft>
            </a:pPr>
            <a:r>
              <a:rPr sz="900" b="1" i="0" spc="60">
                <a:solidFill>
                  <a:srgbClr val="E0402F"/>
                </a:solidFill>
                <a:latin typeface="Bahnschrift"/>
              </a:rPr>
              <a:t>LEGACY HOLDINGS, SUSPENDED OR UNDER INSOLVENCY</a:t>
            </a:r>
          </a:p>
        </p:txBody>
      </p:sp>
      <p:sp>
        <p:nvSpPr>
          <p:cNvPr id="18" name="TextBox 17"/>
          <p:cNvSpPr txBox="1"/>
          <p:nvPr/>
        </p:nvSpPr>
        <p:spPr>
          <a:xfrm>
            <a:off x="914400" y="2103120"/>
            <a:ext cx="2375903"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19" name="TextBox 18"/>
          <p:cNvSpPr txBox="1"/>
          <p:nvPr/>
        </p:nvSpPr>
        <p:spPr>
          <a:xfrm>
            <a:off x="3436607" y="2103120"/>
            <a:ext cx="19555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STATUS</a:t>
            </a:r>
          </a:p>
        </p:txBody>
      </p:sp>
      <p:sp>
        <p:nvSpPr>
          <p:cNvPr id="20" name="TextBox 19"/>
          <p:cNvSpPr txBox="1"/>
          <p:nvPr/>
        </p:nvSpPr>
        <p:spPr>
          <a:xfrm>
            <a:off x="5538447" y="2103120"/>
            <a:ext cx="1535167"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STATEMENT VALUE</a:t>
            </a:r>
          </a:p>
        </p:txBody>
      </p:sp>
      <p:sp>
        <p:nvSpPr>
          <p:cNvPr id="21" name="TextBox 20"/>
          <p:cNvSpPr txBox="1"/>
          <p:nvPr/>
        </p:nvSpPr>
        <p:spPr>
          <a:xfrm>
            <a:off x="7219919" y="2103120"/>
            <a:ext cx="405737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WHAT WE'D DO</a:t>
            </a:r>
          </a:p>
        </p:txBody>
      </p:sp>
      <p:sp>
        <p:nvSpPr>
          <p:cNvPr id="22" name="Rectangle 21"/>
          <p:cNvSpPr/>
          <p:nvPr/>
        </p:nvSpPr>
        <p:spPr>
          <a:xfrm>
            <a:off x="841248" y="235915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2404872"/>
            <a:ext cx="2375903" cy="47548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Parekh Aluminex Ltd.</a:t>
            </a:r>
          </a:p>
        </p:txBody>
      </p:sp>
      <p:sp>
        <p:nvSpPr>
          <p:cNvPr id="24" name="TextBox 23"/>
          <p:cNvSpPr txBox="1"/>
          <p:nvPr/>
        </p:nvSpPr>
        <p:spPr>
          <a:xfrm>
            <a:off x="3436607" y="2404872"/>
            <a:ext cx="1955535" cy="47548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Liquidated (NCLT, since 2020)</a:t>
            </a:r>
          </a:p>
        </p:txBody>
      </p:sp>
      <p:sp>
        <p:nvSpPr>
          <p:cNvPr id="25" name="TextBox 24"/>
          <p:cNvSpPr txBox="1"/>
          <p:nvPr/>
        </p:nvSpPr>
        <p:spPr>
          <a:xfrm>
            <a:off x="5538447" y="2404872"/>
            <a:ext cx="1535167" cy="475488"/>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Rs 36,825 (not realisable)</a:t>
            </a:r>
          </a:p>
        </p:txBody>
      </p:sp>
      <p:sp>
        <p:nvSpPr>
          <p:cNvPr id="26" name="TextBox 25"/>
          <p:cNvSpPr txBox="1"/>
          <p:nvPr/>
        </p:nvSpPr>
        <p:spPr>
          <a:xfrm>
            <a:off x="7219919" y="2404872"/>
            <a:ext cx="4057375" cy="47548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Write off. NSE compulsorily delisted 27-Jul-2018 after CIRP admission (20-Dec-2017); IBBI liquidation order 07-Oct-2020, still in liquidation as of Mar-2025.</a:t>
            </a:r>
          </a:p>
        </p:txBody>
      </p:sp>
      <p:sp>
        <p:nvSpPr>
          <p:cNvPr id="27" name="Rectangle 26"/>
          <p:cNvSpPr/>
          <p:nvPr/>
        </p:nvSpPr>
        <p:spPr>
          <a:xfrm>
            <a:off x="841248" y="28620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2880360"/>
            <a:ext cx="2375903" cy="47548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Balasore Alloys Ltd.</a:t>
            </a:r>
          </a:p>
        </p:txBody>
      </p:sp>
      <p:sp>
        <p:nvSpPr>
          <p:cNvPr id="29" name="TextBox 28"/>
          <p:cNvSpPr txBox="1"/>
          <p:nvPr/>
        </p:nvSpPr>
        <p:spPr>
          <a:xfrm>
            <a:off x="3436607" y="2880360"/>
            <a:ext cx="1955535" cy="47548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Suspended / under insolvency</a:t>
            </a:r>
          </a:p>
        </p:txBody>
      </p:sp>
      <p:sp>
        <p:nvSpPr>
          <p:cNvPr id="30" name="TextBox 29"/>
          <p:cNvSpPr txBox="1"/>
          <p:nvPr/>
        </p:nvSpPr>
        <p:spPr>
          <a:xfrm>
            <a:off x="5538447" y="2880360"/>
            <a:ext cx="1535167" cy="475488"/>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Rs 528 (not realisable)</a:t>
            </a:r>
          </a:p>
        </p:txBody>
      </p:sp>
      <p:sp>
        <p:nvSpPr>
          <p:cNvPr id="31" name="TextBox 30"/>
          <p:cNvSpPr txBox="1"/>
          <p:nvPr/>
        </p:nvSpPr>
        <p:spPr>
          <a:xfrm>
            <a:off x="7219919" y="2880360"/>
            <a:ext cx="4057375" cy="47548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Write off, pending RM/client communication. Trading suspended on BSE since 13-Dec-2021 (non-payment of listing fees); fresh insolvency case admitted by NCLT 12-Jun-2025.</a:t>
            </a:r>
          </a:p>
        </p:txBody>
      </p:sp>
      <p:sp>
        <p:nvSpPr>
          <p:cNvPr id="32" name="Rectangle 31"/>
          <p:cNvSpPr/>
          <p:nvPr/>
        </p:nvSpPr>
        <p:spPr>
          <a:xfrm>
            <a:off x="841248" y="33375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3355848"/>
            <a:ext cx="2375903" cy="47548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Value Industries Ltd.</a:t>
            </a:r>
          </a:p>
        </p:txBody>
      </p:sp>
      <p:sp>
        <p:nvSpPr>
          <p:cNvPr id="34" name="TextBox 33"/>
          <p:cNvSpPr txBox="1"/>
          <p:nvPr/>
        </p:nvSpPr>
        <p:spPr>
          <a:xfrm>
            <a:off x="3436607" y="3355848"/>
            <a:ext cx="1955535" cy="47548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Suspended / under insolvency</a:t>
            </a:r>
          </a:p>
        </p:txBody>
      </p:sp>
      <p:sp>
        <p:nvSpPr>
          <p:cNvPr id="35" name="TextBox 34"/>
          <p:cNvSpPr txBox="1"/>
          <p:nvPr/>
        </p:nvSpPr>
        <p:spPr>
          <a:xfrm>
            <a:off x="5538447" y="3355848"/>
            <a:ext cx="1535167" cy="475488"/>
          </a:xfrm>
          <a:prstGeom prst="rect">
            <a:avLst/>
          </a:prstGeom>
          <a:noFill/>
        </p:spPr>
        <p:txBody>
          <a:bodyPr wrap="square" anchor="ctr" lIns="0" rIns="0" tIns="0" bIns="0">
            <a:spAutoFit/>
          </a:bodyPr>
          <a:lstStyle/>
          <a:p>
            <a:pPr algn="r">
              <a:spcBef>
                <a:spcPts val="0"/>
              </a:spcBef>
              <a:spcAft>
                <a:spcPts val="0"/>
              </a:spcAft>
            </a:pPr>
            <a:r>
              <a:rPr sz="900" b="0" i="0">
                <a:solidFill>
                  <a:srgbClr val="16233B"/>
                </a:solidFill>
                <a:latin typeface="Georgia"/>
              </a:rPr>
              <a:t>Rs 760 (not realisable)</a:t>
            </a:r>
          </a:p>
        </p:txBody>
      </p:sp>
      <p:sp>
        <p:nvSpPr>
          <p:cNvPr id="36" name="TextBox 35"/>
          <p:cNvSpPr txBox="1"/>
          <p:nvPr/>
        </p:nvSpPr>
        <p:spPr>
          <a:xfrm>
            <a:off x="7219919" y="3355848"/>
            <a:ext cx="4057375" cy="47548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Write off, pending RM/client communication. Former Videocon Appliances entity; consolidated CIRP since Sep-2018, still unresolved as of May-2026 NCLAT order.</a:t>
            </a:r>
          </a:p>
        </p:txBody>
      </p:sp>
      <p:sp>
        <p:nvSpPr>
          <p:cNvPr id="37" name="Rectangle 36"/>
          <p:cNvSpPr/>
          <p:nvPr/>
        </p:nvSpPr>
        <p:spPr>
          <a:xfrm>
            <a:off x="841248" y="381304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248" y="4032503"/>
            <a:ext cx="10509199" cy="201168"/>
          </a:xfrm>
          <a:prstGeom prst="rect">
            <a:avLst/>
          </a:prstGeom>
          <a:noFill/>
        </p:spPr>
        <p:txBody>
          <a:bodyPr wrap="square" anchor="t" lIns="0" rIns="0" tIns="0" bIns="0">
            <a:spAutoFit/>
          </a:bodyPr>
          <a:lstStyle/>
          <a:p>
            <a:pPr algn="l">
              <a:spcBef>
                <a:spcPts val="0"/>
              </a:spcBef>
              <a:spcAft>
                <a:spcPts val="0"/>
              </a:spcAft>
            </a:pPr>
            <a:r>
              <a:rPr sz="900" b="1" i="0" spc="60">
                <a:solidFill>
                  <a:srgbClr val="92400E"/>
                </a:solidFill>
                <a:latin typeface="Bahnschrift"/>
              </a:rPr>
              <a:t>FUNDS BELOW OUR MINIMUM TRACK RECORD, "NO VIEW"</a:t>
            </a:r>
          </a:p>
        </p:txBody>
      </p:sp>
      <p:sp>
        <p:nvSpPr>
          <p:cNvPr id="39" name="TextBox 38"/>
          <p:cNvSpPr txBox="1"/>
          <p:nvPr/>
        </p:nvSpPr>
        <p:spPr>
          <a:xfrm>
            <a:off x="914400" y="4306823"/>
            <a:ext cx="300645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HOLDING</a:t>
            </a:r>
          </a:p>
        </p:txBody>
      </p:sp>
      <p:sp>
        <p:nvSpPr>
          <p:cNvPr id="40" name="TextBox 39"/>
          <p:cNvSpPr txBox="1"/>
          <p:nvPr/>
        </p:nvSpPr>
        <p:spPr>
          <a:xfrm>
            <a:off x="4067159" y="4306823"/>
            <a:ext cx="195553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CATEGORY</a:t>
            </a:r>
          </a:p>
        </p:txBody>
      </p:sp>
      <p:sp>
        <p:nvSpPr>
          <p:cNvPr id="41" name="TextBox 40"/>
          <p:cNvSpPr txBox="1"/>
          <p:nvPr/>
        </p:nvSpPr>
        <p:spPr>
          <a:xfrm>
            <a:off x="6168999" y="4306823"/>
            <a:ext cx="5108295"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WHY NO VIEW</a:t>
            </a:r>
          </a:p>
        </p:txBody>
      </p:sp>
      <p:sp>
        <p:nvSpPr>
          <p:cNvPr id="42" name="Rectangle 41"/>
          <p:cNvSpPr/>
          <p:nvPr/>
        </p:nvSpPr>
        <p:spPr>
          <a:xfrm>
            <a:off x="841248" y="4562855"/>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4608575"/>
            <a:ext cx="3006455" cy="47548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JioBlackRock Flexi Cap Fund - Direct Plan</a:t>
            </a:r>
          </a:p>
        </p:txBody>
      </p:sp>
      <p:sp>
        <p:nvSpPr>
          <p:cNvPr id="44" name="TextBox 43"/>
          <p:cNvSpPr txBox="1"/>
          <p:nvPr/>
        </p:nvSpPr>
        <p:spPr>
          <a:xfrm>
            <a:off x="4067159" y="4608575"/>
            <a:ext cx="1955535" cy="47548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Flexi Cap</a:t>
            </a:r>
          </a:p>
        </p:txBody>
      </p:sp>
      <p:sp>
        <p:nvSpPr>
          <p:cNvPr id="45" name="TextBox 44"/>
          <p:cNvSpPr txBox="1"/>
          <p:nvPr/>
        </p:nvSpPr>
        <p:spPr>
          <a:xfrm>
            <a:off x="6168999" y="4608575"/>
            <a:ext cx="5108295" cy="475488"/>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Georgia"/>
              </a:rPr>
              <a:t>Brand-new fund (JioBlackRock JV), under our house minimum of 7 months' live track record before any fund gets a Sell/Hold view. No performance view given yet; re-review once it crosses 7 months live.</a:t>
            </a:r>
          </a:p>
        </p:txBody>
      </p:sp>
      <p:sp>
        <p:nvSpPr>
          <p:cNvPr id="46" name="Rectangle 45"/>
          <p:cNvSpPr/>
          <p:nvPr/>
        </p:nvSpPr>
        <p:spPr>
          <a:xfrm>
            <a:off x="841248" y="5065775"/>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Suspended/insolvent status and fund launch dates verified against public listing/exchange records at the time of this review; re-confirm before any client communication that depends on them.</a:t>
            </a:r>
          </a:p>
        </p:txBody>
      </p:sp>
      <p:sp>
        <p:nvSpPr>
          <p:cNvPr id="48" name="TextBox 47"/>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04 · RECOMMENDATIONS</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Data &amp; coverage notes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Other data-quality flags from this statement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33</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Flagged rather than silently resolved, each needs RM or client confirmation.</a:t>
            </a:r>
          </a:p>
        </p:txBody>
      </p:sp>
      <p:sp>
        <p:nvSpPr>
          <p:cNvPr id="17" name="Rounded Rectangle 16"/>
          <p:cNvSpPr/>
          <p:nvPr/>
        </p:nvSpPr>
        <p:spPr>
          <a:xfrm>
            <a:off x="841248" y="1828800"/>
            <a:ext cx="10509199" cy="10515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1248" y="1828800"/>
            <a:ext cx="54864" cy="10515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2416" y="1956816"/>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FLAG 1</a:t>
            </a:r>
          </a:p>
        </p:txBody>
      </p:sp>
      <p:sp>
        <p:nvSpPr>
          <p:cNvPr id="20" name="TextBox 19"/>
          <p:cNvSpPr txBox="1"/>
          <p:nvPr/>
        </p:nvSpPr>
        <p:spPr>
          <a:xfrm>
            <a:off x="1042416" y="2231136"/>
            <a:ext cx="10143439" cy="59435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MF header carries Rs 8,61,415.04, per RM, a total-of-funds figure, but it doesn't match the real fund sum (Rs 94.2L); excluded as an unexplained outlier. HDFC Overnight Fund's value is blank on the statement, shown as Sell at Rs0 pending confirmation.</a:t>
            </a:r>
          </a:p>
        </p:txBody>
      </p:sp>
      <p:sp>
        <p:nvSpPr>
          <p:cNvPr id="21" name="Rounded Rectangle 20"/>
          <p:cNvSpPr/>
          <p:nvPr/>
        </p:nvSpPr>
        <p:spPr>
          <a:xfrm>
            <a:off x="841248" y="3008376"/>
            <a:ext cx="10509199" cy="10515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 y="3008376"/>
            <a:ext cx="54864" cy="10515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6" y="3136392"/>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FLAG 2</a:t>
            </a:r>
          </a:p>
        </p:txBody>
      </p:sp>
      <p:sp>
        <p:nvSpPr>
          <p:cNvPr id="24" name="TextBox 23"/>
          <p:cNvSpPr txBox="1"/>
          <p:nvPr/>
        </p:nvSpPr>
        <p:spPr>
          <a:xfrm>
            <a:off x="1042416" y="3410712"/>
            <a:ext cx="10143439" cy="59435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Per the Principal's 2026-07-29 client-specific instruction, all liquid/debt/arbitrage and debt-dominant conservative-hybrid holdings are exited to cash: SBI Gilt, HDFC Gilt, HDFC Overnight, Aditya Birla Regular Savings, HDFC Hybrid Debt, plus the pre-existing HDFC NIFTY 50 Index and HDFC Floating…</a:t>
            </a:r>
          </a:p>
        </p:txBody>
      </p:sp>
      <p:sp>
        <p:nvSpPr>
          <p:cNvPr id="25" name="Rounded Rectangle 24"/>
          <p:cNvSpPr/>
          <p:nvPr/>
        </p:nvSpPr>
        <p:spPr>
          <a:xfrm>
            <a:off x="841248" y="4187952"/>
            <a:ext cx="10509199" cy="10515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41248" y="4187952"/>
            <a:ext cx="54864" cy="10515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2416" y="4315968"/>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FLAG 3</a:t>
            </a:r>
          </a:p>
        </p:txBody>
      </p:sp>
      <p:sp>
        <p:nvSpPr>
          <p:cNvPr id="28" name="TextBox 27"/>
          <p:cNvSpPr txBox="1"/>
          <p:nvPr/>
        </p:nvSpPr>
        <p:spPr>
          <a:xfrm>
            <a:off x="1042416" y="4590288"/>
            <a:ext cx="10143439" cy="59435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Equity gain/loss uses real Invested Value from the statement, a real loss, zero tax. The 7 fund exits have no cost-basis data at all; LTCG is assumed per house convention (not computed), confirm with your tax adviser.</a:t>
            </a:r>
          </a:p>
        </p:txBody>
      </p:sp>
      <p:sp>
        <p:nvSpPr>
          <p:cNvPr id="29" name="TextBox 28"/>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Confirm each item with the RM/client before it affects any execution decision.</a:t>
            </a:r>
          </a:p>
        </p:txBody>
      </p:sp>
      <p:sp>
        <p:nvSpPr>
          <p:cNvPr id="30" name="TextBox 29"/>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9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iv_art_5.png"/>
          <p:cNvPicPr>
            <a:picLocks noChangeAspect="1"/>
          </p:cNvPicPr>
          <p:nvPr/>
        </p:nvPicPr>
        <p:blipFill>
          <a:blip r:embed="rId2"/>
          <a:stretch>
            <a:fillRect/>
          </a:stretch>
        </p:blipFill>
        <p:spPr>
          <a:xfrm>
            <a:off x="6339535" y="0"/>
            <a:ext cx="5852160" cy="6858000"/>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8C95DE"/>
                </a:solidFill>
                <a:latin typeface="Bahnschrift"/>
              </a:rPr>
              <a:t>Private &amp; Confidential</a:t>
            </a:r>
          </a:p>
        </p:txBody>
      </p:sp>
      <p:sp>
        <p:nvSpPr>
          <p:cNvPr id="5" name="TextBox 4"/>
          <p:cNvSpPr txBox="1"/>
          <p:nvPr/>
        </p:nvSpPr>
        <p:spPr>
          <a:xfrm>
            <a:off x="6766560" y="868680"/>
            <a:ext cx="4583887" cy="2377440"/>
          </a:xfrm>
          <a:prstGeom prst="rect">
            <a:avLst/>
          </a:prstGeom>
          <a:noFill/>
        </p:spPr>
        <p:txBody>
          <a:bodyPr wrap="square" anchor="t" lIns="0" rIns="0" tIns="0" bIns="0">
            <a:spAutoFit/>
          </a:bodyPr>
          <a:lstStyle/>
          <a:p>
            <a:pPr algn="r">
              <a:spcBef>
                <a:spcPts val="0"/>
              </a:spcBef>
              <a:spcAft>
                <a:spcPts val="0"/>
              </a:spcAft>
            </a:pPr>
            <a:r>
              <a:rPr sz="17000" b="1" i="0">
                <a:solidFill>
                  <a:srgbClr val="242F8E"/>
                </a:solidFill>
                <a:latin typeface="Georgia"/>
              </a:rPr>
              <a:t>05</a:t>
            </a:r>
          </a:p>
        </p:txBody>
      </p:sp>
      <p:sp>
        <p:nvSpPr>
          <p:cNvPr id="6" name="TextBox 5"/>
          <p:cNvSpPr txBox="1"/>
          <p:nvPr/>
        </p:nvSpPr>
        <p:spPr>
          <a:xfrm>
            <a:off x="841248" y="2359152"/>
            <a:ext cx="5943600" cy="274320"/>
          </a:xfrm>
          <a:prstGeom prst="rect">
            <a:avLst/>
          </a:prstGeom>
          <a:noFill/>
        </p:spPr>
        <p:txBody>
          <a:bodyPr wrap="square" anchor="t" lIns="0" rIns="0" tIns="0" bIns="0">
            <a:spAutoFit/>
          </a:bodyPr>
          <a:lstStyle/>
          <a:p>
            <a:pPr algn="l">
              <a:spcBef>
                <a:spcPts val="0"/>
              </a:spcBef>
              <a:spcAft>
                <a:spcPts val="0"/>
              </a:spcAft>
            </a:pPr>
            <a:r>
              <a:rPr sz="1000" b="1" i="0" spc="250">
                <a:solidFill>
                  <a:srgbClr val="F2A93C"/>
                </a:solidFill>
                <a:latin typeface="Bahnschrift"/>
              </a:rPr>
              <a:t>SECTION 05</a:t>
            </a:r>
          </a:p>
        </p:txBody>
      </p:sp>
      <p:sp>
        <p:nvSpPr>
          <p:cNvPr id="7" name="TextBox 6"/>
          <p:cNvSpPr txBox="1"/>
          <p:nvPr/>
        </p:nvSpPr>
        <p:spPr>
          <a:xfrm>
            <a:off x="841248" y="2706624"/>
            <a:ext cx="7863840" cy="685800"/>
          </a:xfrm>
          <a:prstGeom prst="rect">
            <a:avLst/>
          </a:prstGeom>
          <a:noFill/>
        </p:spPr>
        <p:txBody>
          <a:bodyPr wrap="square" anchor="t" lIns="0" rIns="0" tIns="0" bIns="0">
            <a:spAutoFit/>
          </a:bodyPr>
          <a:lstStyle/>
          <a:p>
            <a:pPr algn="l">
              <a:spcBef>
                <a:spcPts val="0"/>
              </a:spcBef>
              <a:spcAft>
                <a:spcPts val="0"/>
              </a:spcAft>
            </a:pPr>
            <a:r>
              <a:rPr sz="3000" b="1" i="0">
                <a:solidFill>
                  <a:srgbClr val="FFFFFF"/>
                </a:solidFill>
                <a:latin typeface="Georgia"/>
              </a:rPr>
              <a:t>Annexure</a:t>
            </a:r>
          </a:p>
        </p:txBody>
      </p:sp>
      <p:sp>
        <p:nvSpPr>
          <p:cNvPr id="8" name="Rectangle 7"/>
          <p:cNvSpPr/>
          <p:nvPr/>
        </p:nvSpPr>
        <p:spPr>
          <a:xfrm>
            <a:off x="841248" y="3419856"/>
            <a:ext cx="2011680" cy="25603"/>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639312"/>
            <a:ext cx="7863840" cy="548640"/>
          </a:xfrm>
          <a:prstGeom prst="rect">
            <a:avLst/>
          </a:prstGeom>
          <a:noFill/>
        </p:spPr>
        <p:txBody>
          <a:bodyPr wrap="square" anchor="t" lIns="0" rIns="0" tIns="0" bIns="0">
            <a:spAutoFit/>
          </a:bodyPr>
          <a:lstStyle/>
          <a:p>
            <a:pPr algn="l">
              <a:spcBef>
                <a:spcPts val="0"/>
              </a:spcBef>
              <a:spcAft>
                <a:spcPts val="0"/>
              </a:spcAft>
            </a:pPr>
            <a:r>
              <a:rPr sz="1300" b="0" i="1">
                <a:solidFill>
                  <a:srgbClr val="C9CEF0"/>
                </a:solidFill>
                <a:latin typeface="Georgia"/>
              </a:rPr>
              <a:t>Detail and frameworks, on request</a:t>
            </a:r>
          </a:p>
        </p:txBody>
      </p:sp>
      <p:sp>
        <p:nvSpPr>
          <p:cNvPr id="10" name="TextBox 9"/>
          <p:cNvSpPr txBox="1"/>
          <p:nvPr/>
        </p:nvSpPr>
        <p:spPr>
          <a:xfrm>
            <a:off x="841248" y="498348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Before and after</a:t>
            </a:r>
          </a:p>
        </p:txBody>
      </p:sp>
      <p:sp>
        <p:nvSpPr>
          <p:cNvPr id="11" name="TextBox 10"/>
          <p:cNvSpPr txBox="1"/>
          <p:nvPr/>
        </p:nvSpPr>
        <p:spPr>
          <a:xfrm>
            <a:off x="841248" y="525780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Holding spotlights</a:t>
            </a:r>
          </a:p>
        </p:txBody>
      </p:sp>
      <p:sp>
        <p:nvSpPr>
          <p:cNvPr id="12" name="TextBox 11"/>
          <p:cNvSpPr txBox="1"/>
          <p:nvPr/>
        </p:nvSpPr>
        <p:spPr>
          <a:xfrm>
            <a:off x="841248" y="553212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All holdings, scored</a:t>
            </a:r>
          </a:p>
        </p:txBody>
      </p:sp>
      <p:sp>
        <p:nvSpPr>
          <p:cNvPr id="13" name="TextBox 12"/>
          <p:cNvSpPr txBox="1"/>
          <p:nvPr/>
        </p:nvSpPr>
        <p:spPr>
          <a:xfrm>
            <a:off x="841248" y="5806440"/>
            <a:ext cx="7315200" cy="219456"/>
          </a:xfrm>
          <a:prstGeom prst="rect">
            <a:avLst/>
          </a:prstGeom>
          <a:noFill/>
        </p:spPr>
        <p:txBody>
          <a:bodyPr wrap="square" anchor="t" lIns="0" rIns="0" tIns="0" bIns="0">
            <a:spAutoFit/>
          </a:bodyPr>
          <a:lstStyle/>
          <a:p>
            <a:pPr algn="l">
              <a:spcBef>
                <a:spcPts val="0"/>
              </a:spcBef>
              <a:spcAft>
                <a:spcPts val="0"/>
              </a:spcAft>
            </a:pPr>
            <a:r>
              <a:rPr sz="950" b="0" i="0" spc="40">
                <a:solidFill>
                  <a:srgbClr val="C9CEF0"/>
                </a:solidFill>
                <a:latin typeface="Bahnschrift"/>
              </a:rPr>
              <a:t>Sell rationale cards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Before and after</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500" b="1" i="0">
                <a:solidFill>
                  <a:srgbClr val="F2A93C"/>
                </a:solidFill>
                <a:latin typeface="Bahnschrift"/>
              </a:rPr>
              <a:t>What the book looks like once the sells and trims settle · cash freed, not redeployed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35</a:t>
            </a:r>
          </a:p>
        </p:txBody>
      </p:sp>
      <p:sp>
        <p:nvSpPr>
          <p:cNvPr id="15" name="TextBox 14"/>
          <p:cNvSpPr txBox="1"/>
          <p:nvPr/>
        </p:nvSpPr>
        <p:spPr>
          <a:xfrm>
            <a:off x="841248" y="1609344"/>
            <a:ext cx="3200400" cy="219456"/>
          </a:xfrm>
          <a:prstGeom prst="rect">
            <a:avLst/>
          </a:prstGeom>
          <a:noFill/>
        </p:spPr>
        <p:txBody>
          <a:bodyPr wrap="square" anchor="t" lIns="0" rIns="0" tIns="0" bIns="0">
            <a:spAutoFit/>
          </a:bodyPr>
          <a:lstStyle/>
          <a:p>
            <a:pPr algn="ctr">
              <a:spcBef>
                <a:spcPts val="0"/>
              </a:spcBef>
              <a:spcAft>
                <a:spcPts val="0"/>
              </a:spcAft>
            </a:pPr>
            <a:r>
              <a:rPr sz="850" b="1" i="0" spc="80">
                <a:solidFill>
                  <a:srgbClr val="6B7280"/>
                </a:solidFill>
                <a:latin typeface="Bahnschrift"/>
              </a:rPr>
              <a:t>ASSET MIX, TODAY</a:t>
            </a:r>
          </a:p>
        </p:txBody>
      </p:sp>
      <p:pic>
        <p:nvPicPr>
          <p:cNvPr id="16" name="Picture 15" descr="azby_ba_before.png"/>
          <p:cNvPicPr>
            <a:picLocks noChangeAspect="1"/>
          </p:cNvPicPr>
          <p:nvPr/>
        </p:nvPicPr>
        <p:blipFill>
          <a:blip r:embed="rId3"/>
          <a:stretch>
            <a:fillRect/>
          </a:stretch>
        </p:blipFill>
        <p:spPr>
          <a:xfrm>
            <a:off x="1028594" y="1847088"/>
            <a:ext cx="2825706" cy="2606040"/>
          </a:xfrm>
          <a:prstGeom prst="rect">
            <a:avLst/>
          </a:prstGeom>
        </p:spPr>
      </p:pic>
      <p:sp>
        <p:nvSpPr>
          <p:cNvPr id="17" name="TextBox 16"/>
          <p:cNvSpPr txBox="1"/>
          <p:nvPr/>
        </p:nvSpPr>
        <p:spPr>
          <a:xfrm>
            <a:off x="4407408" y="1609344"/>
            <a:ext cx="3200400" cy="219456"/>
          </a:xfrm>
          <a:prstGeom prst="rect">
            <a:avLst/>
          </a:prstGeom>
          <a:noFill/>
        </p:spPr>
        <p:txBody>
          <a:bodyPr wrap="square" anchor="t" lIns="0" rIns="0" tIns="0" bIns="0">
            <a:spAutoFit/>
          </a:bodyPr>
          <a:lstStyle/>
          <a:p>
            <a:pPr algn="ctr">
              <a:spcBef>
                <a:spcPts val="0"/>
              </a:spcBef>
              <a:spcAft>
                <a:spcPts val="0"/>
              </a:spcAft>
            </a:pPr>
            <a:r>
              <a:rPr sz="850" b="1" i="0" spc="80">
                <a:solidFill>
                  <a:srgbClr val="6B7280"/>
                </a:solidFill>
                <a:latin typeface="Bahnschrift"/>
              </a:rPr>
              <a:t>AFTER SELLS (PRE-DEPLOY)</a:t>
            </a:r>
          </a:p>
        </p:txBody>
      </p:sp>
      <p:pic>
        <p:nvPicPr>
          <p:cNvPr id="18" name="Picture 17" descr="azby_ba_after.png"/>
          <p:cNvPicPr>
            <a:picLocks noChangeAspect="1"/>
          </p:cNvPicPr>
          <p:nvPr/>
        </p:nvPicPr>
        <p:blipFill>
          <a:blip r:embed="rId4"/>
          <a:stretch>
            <a:fillRect/>
          </a:stretch>
        </p:blipFill>
        <p:spPr>
          <a:xfrm>
            <a:off x="4614724" y="1847088"/>
            <a:ext cx="2785766" cy="2606040"/>
          </a:xfrm>
          <a:prstGeom prst="rect">
            <a:avLst/>
          </a:prstGeom>
        </p:spPr>
      </p:pic>
      <p:sp>
        <p:nvSpPr>
          <p:cNvPr id="19" name="TextBox 18"/>
          <p:cNvSpPr txBox="1"/>
          <p:nvPr/>
        </p:nvSpPr>
        <p:spPr>
          <a:xfrm>
            <a:off x="7973568" y="1609344"/>
            <a:ext cx="3200400" cy="219456"/>
          </a:xfrm>
          <a:prstGeom prst="rect">
            <a:avLst/>
          </a:prstGeom>
          <a:noFill/>
        </p:spPr>
        <p:txBody>
          <a:bodyPr wrap="square" anchor="t" lIns="0" rIns="0" tIns="0" bIns="0">
            <a:spAutoFit/>
          </a:bodyPr>
          <a:lstStyle/>
          <a:p>
            <a:pPr algn="ctr">
              <a:spcBef>
                <a:spcPts val="0"/>
              </a:spcBef>
              <a:spcAft>
                <a:spcPts val="0"/>
              </a:spcAft>
            </a:pPr>
            <a:r>
              <a:rPr sz="850" b="1" i="0" spc="80">
                <a:solidFill>
                  <a:srgbClr val="6B7280"/>
                </a:solidFill>
                <a:latin typeface="Bahnschrift"/>
              </a:rPr>
              <a:t>PROCEEDS to CASH</a:t>
            </a:r>
          </a:p>
        </p:txBody>
      </p:sp>
      <p:pic>
        <p:nvPicPr>
          <p:cNvPr id="20" name="Picture 19" descr="azby_ba_cash.png"/>
          <p:cNvPicPr>
            <a:picLocks noChangeAspect="1"/>
          </p:cNvPicPr>
          <p:nvPr/>
        </p:nvPicPr>
        <p:blipFill>
          <a:blip r:embed="rId5"/>
          <a:stretch>
            <a:fillRect/>
          </a:stretch>
        </p:blipFill>
        <p:spPr>
          <a:xfrm>
            <a:off x="7973568" y="1908327"/>
            <a:ext cx="3200400" cy="2483561"/>
          </a:xfrm>
          <a:prstGeom prst="rect">
            <a:avLst/>
          </a:prstGeom>
        </p:spPr>
      </p:pic>
      <p:sp>
        <p:nvSpPr>
          <p:cNvPr id="21" name="Rounded Rectangle 20"/>
          <p:cNvSpPr/>
          <p:nvPr/>
        </p:nvSpPr>
        <p:spPr>
          <a:xfrm>
            <a:off x="841248" y="4617720"/>
            <a:ext cx="10509199" cy="896112"/>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 y="4617720"/>
            <a:ext cx="54864" cy="8961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6" y="4745736"/>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FREED CASH</a:t>
            </a:r>
          </a:p>
        </p:txBody>
      </p:sp>
      <p:sp>
        <p:nvSpPr>
          <p:cNvPr id="24" name="TextBox 23"/>
          <p:cNvSpPr txBox="1"/>
          <p:nvPr/>
        </p:nvSpPr>
        <p:spPr>
          <a:xfrm>
            <a:off x="1042416" y="5020056"/>
            <a:ext cx="10143439" cy="4389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Rs 57.5 L is freed to cash after execution and stays in cash until deployment is agreed separately, never auto-invested; the staging framework sits on the previous page.</a:t>
            </a:r>
          </a:p>
        </p:txBody>
      </p:sp>
      <p:sp>
        <p:nvSpPr>
          <p:cNvPr id="25" name="TextBox 24"/>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Fund switches are like-for-like within the fund sleeve, so the mix above moves only with equity sells and the trim. Direct-equity only for the sell/trim step; as of 2026-07-27.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Quality vs price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Every holding on quality against valuation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36</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2026-07-27</a:t>
            </a:r>
          </a:p>
        </p:txBody>
      </p:sp>
      <p:pic>
        <p:nvPicPr>
          <p:cNvPr id="17" name="Picture 16" descr="annex_valuemap.png"/>
          <p:cNvPicPr>
            <a:picLocks noChangeAspect="1"/>
          </p:cNvPicPr>
          <p:nvPr/>
        </p:nvPicPr>
        <p:blipFill>
          <a:blip r:embed="rId3"/>
          <a:stretch>
            <a:fillRect/>
          </a:stretch>
        </p:blipFill>
        <p:spPr>
          <a:xfrm>
            <a:off x="841248" y="1783080"/>
            <a:ext cx="6074548" cy="3977639"/>
          </a:xfrm>
          <a:prstGeom prst="rect">
            <a:avLst/>
          </a:prstGeom>
        </p:spPr>
      </p:pic>
      <p:sp>
        <p:nvSpPr>
          <p:cNvPr id="18" name="Rounded Rectangle 17"/>
          <p:cNvSpPr/>
          <p:nvPr/>
        </p:nvSpPr>
        <p:spPr>
          <a:xfrm>
            <a:off x="8019288" y="1874519"/>
            <a:ext cx="3331159" cy="17830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19288" y="1874519"/>
            <a:ext cx="54864" cy="17830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0456" y="2002536"/>
            <a:ext cx="29653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TO READ IT</a:t>
            </a:r>
          </a:p>
        </p:txBody>
      </p:sp>
      <p:sp>
        <p:nvSpPr>
          <p:cNvPr id="21" name="TextBox 20"/>
          <p:cNvSpPr txBox="1"/>
          <p:nvPr/>
        </p:nvSpPr>
        <p:spPr>
          <a:xfrm>
            <a:off x="8220456" y="2276856"/>
            <a:ext cx="296539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Right = pricier (higher P/E). Up = higher quality (higher ROE). Bubble size = position size in the book. The sweet spot is top-left · quality you are not overpaying for.</a:t>
            </a:r>
          </a:p>
        </p:txBody>
      </p:sp>
      <p:sp>
        <p:nvSpPr>
          <p:cNvPr id="22" name="TextBox 21"/>
          <p:cNvSpPr txBox="1"/>
          <p:nvPr/>
        </p:nvSpPr>
        <p:spPr>
          <a:xfrm>
            <a:off x="8019288" y="3630168"/>
            <a:ext cx="3331159" cy="201168"/>
          </a:xfrm>
          <a:prstGeom prst="rect">
            <a:avLst/>
          </a:prstGeom>
          <a:noFill/>
        </p:spPr>
        <p:txBody>
          <a:bodyPr wrap="square" anchor="t" lIns="0" rIns="0" tIns="0" bIns="0">
            <a:spAutoFit/>
          </a:bodyPr>
          <a:lstStyle/>
          <a:p>
            <a:pPr algn="l">
              <a:spcBef>
                <a:spcPts val="0"/>
              </a:spcBef>
              <a:spcAft>
                <a:spcPts val="0"/>
              </a:spcAft>
            </a:pPr>
            <a:r>
              <a:rPr sz="800" b="1" i="0" spc="120">
                <a:solidFill>
                  <a:srgbClr val="6B7280"/>
                </a:solidFill>
                <a:latin typeface="Bahnschrift"/>
              </a:rPr>
              <a:t>THE CALL</a:t>
            </a:r>
          </a:p>
        </p:txBody>
      </p:sp>
      <p:sp>
        <p:nvSpPr>
          <p:cNvPr id="23" name="Oval 22"/>
          <p:cNvSpPr/>
          <p:nvPr/>
        </p:nvSpPr>
        <p:spPr>
          <a:xfrm>
            <a:off x="8019288" y="3886200"/>
            <a:ext cx="155448" cy="155448"/>
          </a:xfrm>
          <a:prstGeom prst="ellipse">
            <a:avLst/>
          </a:prstGeom>
          <a:solidFill>
            <a:srgbClr val="1E9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19" y="3858768"/>
            <a:ext cx="3056839" cy="219456"/>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Bahnschrift"/>
              </a:rPr>
              <a:t>Hold</a:t>
            </a:r>
          </a:p>
        </p:txBody>
      </p:sp>
      <p:sp>
        <p:nvSpPr>
          <p:cNvPr id="25" name="Oval 24"/>
          <p:cNvSpPr/>
          <p:nvPr/>
        </p:nvSpPr>
        <p:spPr>
          <a:xfrm>
            <a:off x="8019288" y="4197096"/>
            <a:ext cx="155448" cy="155448"/>
          </a:xfrm>
          <a:prstGeom prst="ellipse">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19" y="4169663"/>
            <a:ext cx="3056839" cy="219456"/>
          </a:xfrm>
          <a:prstGeom prst="rect">
            <a:avLst/>
          </a:prstGeom>
          <a:noFill/>
        </p:spPr>
        <p:txBody>
          <a:bodyPr wrap="square" anchor="ctr" lIns="0" rIns="0" tIns="0" bIns="0">
            <a:spAutoFit/>
          </a:bodyPr>
          <a:lstStyle/>
          <a:p>
            <a:pPr algn="l">
              <a:spcBef>
                <a:spcPts val="0"/>
              </a:spcBef>
              <a:spcAft>
                <a:spcPts val="0"/>
              </a:spcAft>
            </a:pPr>
            <a:r>
              <a:rPr sz="1050" b="0" i="0">
                <a:solidFill>
                  <a:srgbClr val="16233B"/>
                </a:solidFill>
                <a:latin typeface="Bahnschrift"/>
              </a:rPr>
              <a:t>Sell</a:t>
            </a:r>
          </a:p>
        </p:txBody>
      </p:sp>
      <p:sp>
        <p:nvSpPr>
          <p:cNvPr id="27" name="TextBox 2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19 of 27 holdings shown (names with a reported P/E and ROE). Bubble colour = current call; the largest positions and every Sell are named; dashed lines = book medians.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Spotlight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00" b="1" i="0">
                <a:solidFill>
                  <a:srgbClr val="F2A93C"/>
                </a:solidFill>
                <a:latin typeface="Bahnschrift"/>
              </a:rPr>
              <a:t>Reliance Industries Ltd.  ·  Oil Gas &amp; Consumable Fuels  ·  17.9% of the book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37</a:t>
            </a:r>
          </a:p>
        </p:txBody>
      </p:sp>
      <p:sp>
        <p:nvSpPr>
          <p:cNvPr id="15" name="Rounded Rectangle 14"/>
          <p:cNvSpPr/>
          <p:nvPr/>
        </p:nvSpPr>
        <p:spPr>
          <a:xfrm>
            <a:off x="841248" y="1783080"/>
            <a:ext cx="3200400" cy="3383280"/>
          </a:xfrm>
          <a:prstGeom prst="roundRect">
            <a:avLst>
              <a:gd name="adj" fmla="val 3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1984248"/>
            <a:ext cx="2743200" cy="201168"/>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7" name="TextBox 16"/>
          <p:cNvSpPr txBox="1"/>
          <p:nvPr/>
        </p:nvSpPr>
        <p:spPr>
          <a:xfrm>
            <a:off x="1042416" y="2185416"/>
            <a:ext cx="2743200" cy="731520"/>
          </a:xfrm>
          <a:prstGeom prst="rect">
            <a:avLst/>
          </a:prstGeom>
          <a:noFill/>
        </p:spPr>
        <p:txBody>
          <a:bodyPr wrap="square" anchor="t" lIns="0" rIns="0" tIns="0" bIns="0">
            <a:spAutoFit/>
          </a:bodyPr>
          <a:lstStyle/>
          <a:p>
            <a:pPr algn="l">
              <a:spcBef>
                <a:spcPts val="0"/>
              </a:spcBef>
              <a:spcAft>
                <a:spcPts val="0"/>
              </a:spcAft>
            </a:pPr>
            <a:r>
              <a:rPr sz="5200" b="0" i="0">
                <a:solidFill>
                  <a:srgbClr val="16233B"/>
                </a:solidFill>
                <a:latin typeface="Bahnschrift"/>
              </a:rPr>
              <a:t>27</a:t>
            </a:r>
          </a:p>
        </p:txBody>
      </p:sp>
      <p:sp>
        <p:nvSpPr>
          <p:cNvPr id="18" name="Rectangle 17"/>
          <p:cNvSpPr/>
          <p:nvPr/>
        </p:nvSpPr>
        <p:spPr>
          <a:xfrm>
            <a:off x="1097280" y="3081528"/>
            <a:ext cx="210312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97280" y="3081528"/>
            <a:ext cx="57415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38528" y="30540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64408" y="300380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27</a:t>
            </a:r>
          </a:p>
        </p:txBody>
      </p:sp>
      <p:sp>
        <p:nvSpPr>
          <p:cNvPr id="22" name="TextBox 21"/>
          <p:cNvSpPr txBox="1"/>
          <p:nvPr/>
        </p:nvSpPr>
        <p:spPr>
          <a:xfrm>
            <a:off x="1069848" y="3355848"/>
            <a:ext cx="2743200" cy="201168"/>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27   ·   1Y 32</a:t>
            </a:r>
          </a:p>
        </p:txBody>
      </p:sp>
      <p:sp>
        <p:nvSpPr>
          <p:cNvPr id="23" name="Rounded Rectangle 22"/>
          <p:cNvSpPr/>
          <p:nvPr/>
        </p:nvSpPr>
        <p:spPr>
          <a:xfrm>
            <a:off x="1069848" y="3749039"/>
            <a:ext cx="118872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 y="3743553"/>
            <a:ext cx="11887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5" name="TextBox 24"/>
          <p:cNvSpPr txBox="1"/>
          <p:nvPr/>
        </p:nvSpPr>
        <p:spPr>
          <a:xfrm>
            <a:off x="1069848" y="4160520"/>
            <a:ext cx="2743200" cy="640080"/>
          </a:xfrm>
          <a:prstGeom prst="rect">
            <a:avLst/>
          </a:prstGeom>
          <a:noFill/>
        </p:spPr>
        <p:txBody>
          <a:bodyPr wrap="square" anchor="t" lIns="0" rIns="0" tIns="0" bIns="0">
            <a:spAutoFit/>
          </a:bodyPr>
          <a:lstStyle/>
          <a:p>
            <a:pPr algn="l">
              <a:spcBef>
                <a:spcPts val="0"/>
              </a:spcBef>
              <a:spcAft>
                <a:spcPts val="0"/>
              </a:spcAft>
            </a:pPr>
            <a:r>
              <a:rPr sz="950" b="0" i="0">
                <a:solidFill>
                  <a:srgbClr val="6B7280"/>
                </a:solidFill>
                <a:latin typeface="Bahnschrift"/>
              </a:rPr>
              <a:t>Large-cap   ·   Exit</a:t>
            </a:r>
          </a:p>
        </p:txBody>
      </p:sp>
      <p:sp>
        <p:nvSpPr>
          <p:cNvPr id="26" name="Rounded Rectangle 25"/>
          <p:cNvSpPr/>
          <p:nvPr/>
        </p:nvSpPr>
        <p:spPr>
          <a:xfrm>
            <a:off x="4270248" y="1783080"/>
            <a:ext cx="7080199" cy="223113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70248" y="1783080"/>
            <a:ext cx="54864" cy="223113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71416" y="1911095"/>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29" name="TextBox 28"/>
          <p:cNvSpPr txBox="1"/>
          <p:nvPr/>
        </p:nvSpPr>
        <p:spPr>
          <a:xfrm>
            <a:off x="4471416" y="2185416"/>
            <a:ext cx="6714439" cy="177393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Bottom-quartile on quality and value versus large-cap peers; momentum has turned negative even as segment EBITDA hit a record.</a:t>
            </a:r>
          </a:p>
        </p:txBody>
      </p:sp>
      <p:sp>
        <p:nvSpPr>
          <p:cNvPr id="30" name="Rounded Rectangle 29"/>
          <p:cNvSpPr/>
          <p:nvPr/>
        </p:nvSpPr>
        <p:spPr>
          <a:xfrm>
            <a:off x="4270248" y="4160520"/>
            <a:ext cx="7080199" cy="10058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70248" y="4160520"/>
            <a:ext cx="54864" cy="10058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71416" y="4288536"/>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CALL, SELL</a:t>
            </a:r>
          </a:p>
        </p:txBody>
      </p:sp>
      <p:sp>
        <p:nvSpPr>
          <p:cNvPr id="33" name="TextBox 32"/>
          <p:cNvSpPr txBox="1"/>
          <p:nvPr/>
        </p:nvSpPr>
        <p:spPr>
          <a:xfrm>
            <a:off x="4471416" y="4562856"/>
            <a:ext cx="6714439" cy="5486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Exit, the forward risk/reward no longer justifies the position. Driver: Quality below peers.</a:t>
            </a:r>
          </a:p>
        </p:txBody>
      </p:sp>
      <p:sp>
        <p:nvSpPr>
          <p:cNvPr id="34" name="TextBox 33">
            <a:hlinkClick action="ppaction://hlinksldjump" r:id="rId3"/>
          </p:cNvPr>
          <p:cNvSpPr txBox="1"/>
          <p:nvPr/>
        </p:nvSpPr>
        <p:spPr>
          <a:xfrm>
            <a:off x="9155887" y="5870448"/>
            <a:ext cx="219456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BOOK  ·  </a:t>
            </a:r>
            <a:r>
              <a:rPr sz="800" b="1" i="0">
                <a:solidFill>
                  <a:srgbClr val="8C95DE"/>
                </a:solidFill>
                <a:latin typeface="Bahnschrift"/>
              </a:rPr>
              <a:t>p.13</a:t>
            </a:r>
          </a:p>
        </p:txBody>
      </p:sp>
      <p:sp>
        <p:nvSpPr>
          <p:cNvPr id="35" name="TextBox 3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
        <p:nvSpPr>
          <p:cNvPr id="36" name="TextBox 3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Score is a quantitative input; the Portfolio Review team confirms every call. Point-in-time as of 2026-07-21.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Spotlight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HDFC Bank Ltd.  ·  Financial Services  ·  10.6% of the book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38</a:t>
            </a:r>
          </a:p>
        </p:txBody>
      </p:sp>
      <p:sp>
        <p:nvSpPr>
          <p:cNvPr id="15" name="Rounded Rectangle 14"/>
          <p:cNvSpPr/>
          <p:nvPr/>
        </p:nvSpPr>
        <p:spPr>
          <a:xfrm>
            <a:off x="841248" y="1783080"/>
            <a:ext cx="3200400" cy="3383280"/>
          </a:xfrm>
          <a:prstGeom prst="roundRect">
            <a:avLst>
              <a:gd name="adj" fmla="val 3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1984248"/>
            <a:ext cx="2743200" cy="201168"/>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7" name="TextBox 16"/>
          <p:cNvSpPr txBox="1"/>
          <p:nvPr/>
        </p:nvSpPr>
        <p:spPr>
          <a:xfrm>
            <a:off x="1042416" y="2185416"/>
            <a:ext cx="2743200" cy="731520"/>
          </a:xfrm>
          <a:prstGeom prst="rect">
            <a:avLst/>
          </a:prstGeom>
          <a:noFill/>
        </p:spPr>
        <p:txBody>
          <a:bodyPr wrap="square" anchor="t" lIns="0" rIns="0" tIns="0" bIns="0">
            <a:spAutoFit/>
          </a:bodyPr>
          <a:lstStyle/>
          <a:p>
            <a:pPr algn="l">
              <a:spcBef>
                <a:spcPts val="0"/>
              </a:spcBef>
              <a:spcAft>
                <a:spcPts val="0"/>
              </a:spcAft>
            </a:pPr>
            <a:r>
              <a:rPr sz="5200" b="0" i="0">
                <a:solidFill>
                  <a:srgbClr val="16233B"/>
                </a:solidFill>
                <a:latin typeface="Bahnschrift"/>
              </a:rPr>
              <a:t>53</a:t>
            </a:r>
          </a:p>
        </p:txBody>
      </p:sp>
      <p:sp>
        <p:nvSpPr>
          <p:cNvPr id="18" name="Rectangle 17"/>
          <p:cNvSpPr/>
          <p:nvPr/>
        </p:nvSpPr>
        <p:spPr>
          <a:xfrm>
            <a:off x="1097280" y="3081528"/>
            <a:ext cx="210312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97280" y="3081528"/>
            <a:ext cx="111465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38528" y="30540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64408" y="300380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53</a:t>
            </a:r>
          </a:p>
        </p:txBody>
      </p:sp>
      <p:sp>
        <p:nvSpPr>
          <p:cNvPr id="22" name="TextBox 21"/>
          <p:cNvSpPr txBox="1"/>
          <p:nvPr/>
        </p:nvSpPr>
        <p:spPr>
          <a:xfrm>
            <a:off x="1069848" y="3355848"/>
            <a:ext cx="2743200" cy="201168"/>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53   ·   1Y 50</a:t>
            </a:r>
          </a:p>
        </p:txBody>
      </p:sp>
      <p:sp>
        <p:nvSpPr>
          <p:cNvPr id="23" name="Rounded Rectangle 22"/>
          <p:cNvSpPr/>
          <p:nvPr/>
        </p:nvSpPr>
        <p:spPr>
          <a:xfrm>
            <a:off x="1069848" y="3749039"/>
            <a:ext cx="118872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 y="3743553"/>
            <a:ext cx="11887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5" name="TextBox 24"/>
          <p:cNvSpPr txBox="1"/>
          <p:nvPr/>
        </p:nvSpPr>
        <p:spPr>
          <a:xfrm>
            <a:off x="1069848" y="4160520"/>
            <a:ext cx="2743200" cy="640080"/>
          </a:xfrm>
          <a:prstGeom prst="rect">
            <a:avLst/>
          </a:prstGeom>
          <a:noFill/>
        </p:spPr>
        <p:txBody>
          <a:bodyPr wrap="square" anchor="t" lIns="0" rIns="0" tIns="0" bIns="0">
            <a:spAutoFit/>
          </a:bodyPr>
          <a:lstStyle/>
          <a:p>
            <a:pPr algn="l">
              <a:spcBef>
                <a:spcPts val="0"/>
              </a:spcBef>
              <a:spcAft>
                <a:spcPts val="0"/>
              </a:spcAft>
            </a:pPr>
            <a:r>
              <a:rPr sz="950" b="0" i="0">
                <a:solidFill>
                  <a:srgbClr val="6B7280"/>
                </a:solidFill>
                <a:latin typeface="Bahnschrift"/>
              </a:rPr>
              <a:t>Large-cap   ·   Watch</a:t>
            </a:r>
          </a:p>
        </p:txBody>
      </p:sp>
      <p:sp>
        <p:nvSpPr>
          <p:cNvPr id="26" name="Rounded Rectangle 25"/>
          <p:cNvSpPr/>
          <p:nvPr/>
        </p:nvSpPr>
        <p:spPr>
          <a:xfrm>
            <a:off x="4270248" y="1783080"/>
            <a:ext cx="7080199" cy="223113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70248" y="1783080"/>
            <a:ext cx="54864" cy="223113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71416" y="1911095"/>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29" name="TextBox 28"/>
          <p:cNvSpPr txBox="1"/>
          <p:nvPr/>
        </p:nvSpPr>
        <p:spPr>
          <a:xfrm>
            <a:off x="4471416" y="2185416"/>
            <a:ext cx="6714439" cy="177393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Scores 53/100 on our quality/value/momentum framework, comfortably within our Hold range; no changes recommended this review.</a:t>
            </a:r>
          </a:p>
        </p:txBody>
      </p:sp>
      <p:sp>
        <p:nvSpPr>
          <p:cNvPr id="30" name="Rounded Rectangle 29"/>
          <p:cNvSpPr/>
          <p:nvPr/>
        </p:nvSpPr>
        <p:spPr>
          <a:xfrm>
            <a:off x="4270248" y="4160520"/>
            <a:ext cx="7080199" cy="10058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70248" y="4160520"/>
            <a:ext cx="54864" cy="10058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71416" y="4288536"/>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CALL, HOLD</a:t>
            </a:r>
          </a:p>
        </p:txBody>
      </p:sp>
      <p:sp>
        <p:nvSpPr>
          <p:cNvPr id="33" name="TextBox 32"/>
          <p:cNvSpPr txBox="1"/>
          <p:nvPr/>
        </p:nvSpPr>
        <p:spPr>
          <a:xfrm>
            <a:off x="4471416" y="4562856"/>
            <a:ext cx="6714439" cy="5486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Keep the position (Watch conviction). </a:t>
            </a:r>
          </a:p>
        </p:txBody>
      </p:sp>
      <p:sp>
        <p:nvSpPr>
          <p:cNvPr id="34" name="TextBox 33">
            <a:hlinkClick action="ppaction://hlinksldjump" r:id="rId3"/>
          </p:cNvPr>
          <p:cNvSpPr txBox="1"/>
          <p:nvPr/>
        </p:nvSpPr>
        <p:spPr>
          <a:xfrm>
            <a:off x="9155887" y="5870448"/>
            <a:ext cx="219456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BOOK  ·  </a:t>
            </a:r>
            <a:r>
              <a:rPr sz="800" b="1" i="0">
                <a:solidFill>
                  <a:srgbClr val="8C95DE"/>
                </a:solidFill>
                <a:latin typeface="Bahnschrift"/>
              </a:rPr>
              <a:t>p.13</a:t>
            </a:r>
          </a:p>
        </p:txBody>
      </p:sp>
      <p:sp>
        <p:nvSpPr>
          <p:cNvPr id="35" name="TextBox 3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
        <p:nvSpPr>
          <p:cNvPr id="36" name="TextBox 3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Score is a quantitative input; the Portfolio Review team confirms every call. Point-in-time as of 2026-07-21.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Spotlight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00" b="1" i="0">
                <a:solidFill>
                  <a:srgbClr val="F2A93C"/>
                </a:solidFill>
                <a:latin typeface="Bahnschrift"/>
              </a:rPr>
              <a:t>Tata Consultancy Services Ltd.  ·  Information Technology  ·  8.7% of the book</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39</a:t>
            </a:r>
          </a:p>
        </p:txBody>
      </p:sp>
      <p:sp>
        <p:nvSpPr>
          <p:cNvPr id="15" name="Rounded Rectangle 14"/>
          <p:cNvSpPr/>
          <p:nvPr/>
        </p:nvSpPr>
        <p:spPr>
          <a:xfrm>
            <a:off x="841248" y="1783080"/>
            <a:ext cx="3200400" cy="3383280"/>
          </a:xfrm>
          <a:prstGeom prst="roundRect">
            <a:avLst>
              <a:gd name="adj" fmla="val 3000"/>
            </a:avLst>
          </a:prstGeom>
          <a:solidFill>
            <a:srgbClr val="F5F6FC"/>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69848" y="1984248"/>
            <a:ext cx="2743200" cy="201168"/>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7" name="TextBox 16"/>
          <p:cNvSpPr txBox="1"/>
          <p:nvPr/>
        </p:nvSpPr>
        <p:spPr>
          <a:xfrm>
            <a:off x="1042416" y="2185416"/>
            <a:ext cx="2743200" cy="731520"/>
          </a:xfrm>
          <a:prstGeom prst="rect">
            <a:avLst/>
          </a:prstGeom>
          <a:noFill/>
        </p:spPr>
        <p:txBody>
          <a:bodyPr wrap="square" anchor="t" lIns="0" rIns="0" tIns="0" bIns="0">
            <a:spAutoFit/>
          </a:bodyPr>
          <a:lstStyle/>
          <a:p>
            <a:pPr algn="l">
              <a:spcBef>
                <a:spcPts val="0"/>
              </a:spcBef>
              <a:spcAft>
                <a:spcPts val="0"/>
              </a:spcAft>
            </a:pPr>
            <a:r>
              <a:rPr sz="5200" b="0" i="0">
                <a:solidFill>
                  <a:srgbClr val="16233B"/>
                </a:solidFill>
                <a:latin typeface="Bahnschrift"/>
              </a:rPr>
              <a:t>51</a:t>
            </a:r>
          </a:p>
        </p:txBody>
      </p:sp>
      <p:sp>
        <p:nvSpPr>
          <p:cNvPr id="18" name="Rectangle 17"/>
          <p:cNvSpPr/>
          <p:nvPr/>
        </p:nvSpPr>
        <p:spPr>
          <a:xfrm>
            <a:off x="1097280" y="3081528"/>
            <a:ext cx="210312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97280" y="3081528"/>
            <a:ext cx="106417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38528" y="30540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64408" y="300380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51</a:t>
            </a:r>
          </a:p>
        </p:txBody>
      </p:sp>
      <p:sp>
        <p:nvSpPr>
          <p:cNvPr id="22" name="TextBox 21"/>
          <p:cNvSpPr txBox="1"/>
          <p:nvPr/>
        </p:nvSpPr>
        <p:spPr>
          <a:xfrm>
            <a:off x="1069848" y="3355848"/>
            <a:ext cx="2743200" cy="201168"/>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51   ·   1Y 49</a:t>
            </a:r>
          </a:p>
        </p:txBody>
      </p:sp>
      <p:sp>
        <p:nvSpPr>
          <p:cNvPr id="23" name="Rounded Rectangle 22"/>
          <p:cNvSpPr/>
          <p:nvPr/>
        </p:nvSpPr>
        <p:spPr>
          <a:xfrm>
            <a:off x="1069848" y="3749039"/>
            <a:ext cx="118872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9848" y="3743553"/>
            <a:ext cx="118872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5" name="TextBox 24"/>
          <p:cNvSpPr txBox="1"/>
          <p:nvPr/>
        </p:nvSpPr>
        <p:spPr>
          <a:xfrm>
            <a:off x="1069848" y="4160520"/>
            <a:ext cx="2743200" cy="640080"/>
          </a:xfrm>
          <a:prstGeom prst="rect">
            <a:avLst/>
          </a:prstGeom>
          <a:noFill/>
        </p:spPr>
        <p:txBody>
          <a:bodyPr wrap="square" anchor="t" lIns="0" rIns="0" tIns="0" bIns="0">
            <a:spAutoFit/>
          </a:bodyPr>
          <a:lstStyle/>
          <a:p>
            <a:pPr algn="l">
              <a:spcBef>
                <a:spcPts val="0"/>
              </a:spcBef>
              <a:spcAft>
                <a:spcPts val="0"/>
              </a:spcAft>
            </a:pPr>
            <a:r>
              <a:rPr sz="950" b="0" i="0">
                <a:solidFill>
                  <a:srgbClr val="6B7280"/>
                </a:solidFill>
                <a:latin typeface="Bahnschrift"/>
              </a:rPr>
              <a:t>Large-cap   ·   Watch</a:t>
            </a:r>
          </a:p>
        </p:txBody>
      </p:sp>
      <p:sp>
        <p:nvSpPr>
          <p:cNvPr id="26" name="Rounded Rectangle 25"/>
          <p:cNvSpPr/>
          <p:nvPr/>
        </p:nvSpPr>
        <p:spPr>
          <a:xfrm>
            <a:off x="4270248" y="1783080"/>
            <a:ext cx="7080199" cy="223113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70248" y="1783080"/>
            <a:ext cx="54864" cy="223113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71416" y="1911095"/>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29" name="TextBox 28"/>
          <p:cNvSpPr txBox="1"/>
          <p:nvPr/>
        </p:nvSpPr>
        <p:spPr>
          <a:xfrm>
            <a:off x="4471416" y="2185416"/>
            <a:ext cx="6714439" cy="177393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Scores 51/100 on our quality/value/momentum framework, comfortably within our Hold range; no changes recommended this review.</a:t>
            </a:r>
          </a:p>
        </p:txBody>
      </p:sp>
      <p:sp>
        <p:nvSpPr>
          <p:cNvPr id="30" name="Rounded Rectangle 29"/>
          <p:cNvSpPr/>
          <p:nvPr/>
        </p:nvSpPr>
        <p:spPr>
          <a:xfrm>
            <a:off x="4270248" y="4160520"/>
            <a:ext cx="7080199" cy="10058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70248" y="4160520"/>
            <a:ext cx="54864" cy="10058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71416" y="4288536"/>
            <a:ext cx="6714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THE CALL, HOLD</a:t>
            </a:r>
          </a:p>
        </p:txBody>
      </p:sp>
      <p:sp>
        <p:nvSpPr>
          <p:cNvPr id="33" name="TextBox 32"/>
          <p:cNvSpPr txBox="1"/>
          <p:nvPr/>
        </p:nvSpPr>
        <p:spPr>
          <a:xfrm>
            <a:off x="4471416" y="4562856"/>
            <a:ext cx="6714439" cy="5486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Keep the position (Watch conviction). </a:t>
            </a:r>
          </a:p>
        </p:txBody>
      </p:sp>
      <p:sp>
        <p:nvSpPr>
          <p:cNvPr id="34" name="TextBox 33">
            <a:hlinkClick action="ppaction://hlinksldjump" r:id="rId3"/>
          </p:cNvPr>
          <p:cNvSpPr txBox="1"/>
          <p:nvPr/>
        </p:nvSpPr>
        <p:spPr>
          <a:xfrm>
            <a:off x="9155887" y="5870448"/>
            <a:ext cx="219456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BOOK  ·  </a:t>
            </a:r>
            <a:r>
              <a:rPr sz="800" b="1" i="0">
                <a:solidFill>
                  <a:srgbClr val="8C95DE"/>
                </a:solidFill>
                <a:latin typeface="Bahnschrift"/>
              </a:rPr>
              <a:t>p.13</a:t>
            </a:r>
          </a:p>
        </p:txBody>
      </p:sp>
      <p:sp>
        <p:nvSpPr>
          <p:cNvPr id="35" name="TextBox 34"/>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
        <p:nvSpPr>
          <p:cNvPr id="36" name="TextBox 3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Score is a quantitative input; the Portfolio Review team confirms every call. Point-in-time as of 2026-07-21.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All holdings,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whole book, scored  (page 1 of 2)</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40</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2026-07-27</a:t>
            </a:r>
          </a:p>
        </p:txBody>
      </p:sp>
      <p:sp>
        <p:nvSpPr>
          <p:cNvPr id="17" name="TextBox 16"/>
          <p:cNvSpPr txBox="1"/>
          <p:nvPr/>
        </p:nvSpPr>
        <p:spPr>
          <a:xfrm>
            <a:off x="914400" y="1783080"/>
            <a:ext cx="195553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HOLDING</a:t>
            </a:r>
          </a:p>
        </p:txBody>
      </p:sp>
      <p:sp>
        <p:nvSpPr>
          <p:cNvPr id="18" name="TextBox 17"/>
          <p:cNvSpPr txBox="1"/>
          <p:nvPr/>
        </p:nvSpPr>
        <p:spPr>
          <a:xfrm>
            <a:off x="3016239" y="1783080"/>
            <a:ext cx="2165719"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SECTOR</a:t>
            </a:r>
          </a:p>
        </p:txBody>
      </p:sp>
      <p:sp>
        <p:nvSpPr>
          <p:cNvPr id="19" name="TextBox 18"/>
          <p:cNvSpPr txBox="1"/>
          <p:nvPr/>
        </p:nvSpPr>
        <p:spPr>
          <a:xfrm>
            <a:off x="5328263" y="1783080"/>
            <a:ext cx="904615"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WT %</a:t>
            </a:r>
          </a:p>
        </p:txBody>
      </p:sp>
      <p:sp>
        <p:nvSpPr>
          <p:cNvPr id="20" name="TextBox 19"/>
          <p:cNvSpPr txBox="1"/>
          <p:nvPr/>
        </p:nvSpPr>
        <p:spPr>
          <a:xfrm>
            <a:off x="6379183" y="1783080"/>
            <a:ext cx="143007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IONIC</a:t>
            </a:r>
          </a:p>
        </p:txBody>
      </p:sp>
      <p:sp>
        <p:nvSpPr>
          <p:cNvPr id="21" name="TextBox 20"/>
          <p:cNvSpPr txBox="1"/>
          <p:nvPr/>
        </p:nvSpPr>
        <p:spPr>
          <a:xfrm>
            <a:off x="7955563"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3Y</a:t>
            </a:r>
          </a:p>
        </p:txBody>
      </p:sp>
      <p:sp>
        <p:nvSpPr>
          <p:cNvPr id="22" name="TextBox 21"/>
          <p:cNvSpPr txBox="1"/>
          <p:nvPr/>
        </p:nvSpPr>
        <p:spPr>
          <a:xfrm>
            <a:off x="8901391"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1Y</a:t>
            </a:r>
          </a:p>
        </p:txBody>
      </p:sp>
      <p:sp>
        <p:nvSpPr>
          <p:cNvPr id="23" name="TextBox 22"/>
          <p:cNvSpPr txBox="1"/>
          <p:nvPr/>
        </p:nvSpPr>
        <p:spPr>
          <a:xfrm>
            <a:off x="9847219" y="1783080"/>
            <a:ext cx="1430075"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CALL</a:t>
            </a:r>
          </a:p>
        </p:txBody>
      </p:sp>
      <p:sp>
        <p:nvSpPr>
          <p:cNvPr id="24" name="Rectangle 23"/>
          <p:cNvSpPr/>
          <p:nvPr/>
        </p:nvSpPr>
        <p:spPr>
          <a:xfrm>
            <a:off x="841248" y="203911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084831"/>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RELIANCE</a:t>
            </a:r>
          </a:p>
        </p:txBody>
      </p:sp>
      <p:sp>
        <p:nvSpPr>
          <p:cNvPr id="26" name="TextBox 25"/>
          <p:cNvSpPr txBox="1"/>
          <p:nvPr/>
        </p:nvSpPr>
        <p:spPr>
          <a:xfrm>
            <a:off x="3016239" y="2084831"/>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Oil &amp; Gas</a:t>
            </a:r>
          </a:p>
        </p:txBody>
      </p:sp>
      <p:sp>
        <p:nvSpPr>
          <p:cNvPr id="27" name="TextBox 26"/>
          <p:cNvSpPr txBox="1"/>
          <p:nvPr/>
        </p:nvSpPr>
        <p:spPr>
          <a:xfrm>
            <a:off x="5328263" y="2084831"/>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17.95</a:t>
            </a:r>
          </a:p>
        </p:txBody>
      </p:sp>
      <p:sp>
        <p:nvSpPr>
          <p:cNvPr id="28" name="Rectangle 27"/>
          <p:cNvSpPr/>
          <p:nvPr/>
        </p:nvSpPr>
        <p:spPr>
          <a:xfrm>
            <a:off x="6379183" y="217627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79183" y="2176272"/>
            <a:ext cx="17474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35215" y="214884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83271" y="209854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27</a:t>
            </a:r>
          </a:p>
        </p:txBody>
      </p:sp>
      <p:sp>
        <p:nvSpPr>
          <p:cNvPr id="32" name="TextBox 31"/>
          <p:cNvSpPr txBox="1"/>
          <p:nvPr/>
        </p:nvSpPr>
        <p:spPr>
          <a:xfrm>
            <a:off x="7955563"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27</a:t>
            </a:r>
          </a:p>
        </p:txBody>
      </p:sp>
      <p:sp>
        <p:nvSpPr>
          <p:cNvPr id="33" name="TextBox 32"/>
          <p:cNvSpPr txBox="1"/>
          <p:nvPr/>
        </p:nvSpPr>
        <p:spPr>
          <a:xfrm>
            <a:off x="8901391"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32</a:t>
            </a:r>
          </a:p>
        </p:txBody>
      </p:sp>
      <p:sp>
        <p:nvSpPr>
          <p:cNvPr id="34" name="Rounded Rectangle 33"/>
          <p:cNvSpPr/>
          <p:nvPr/>
        </p:nvSpPr>
        <p:spPr>
          <a:xfrm>
            <a:off x="9847219" y="207568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47219" y="207020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6" name="Rectangle 35"/>
          <p:cNvSpPr/>
          <p:nvPr/>
        </p:nvSpPr>
        <p:spPr>
          <a:xfrm>
            <a:off x="841248" y="2285999"/>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304287"/>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HDFCBANK</a:t>
            </a:r>
          </a:p>
        </p:txBody>
      </p:sp>
      <p:sp>
        <p:nvSpPr>
          <p:cNvPr id="38" name="TextBox 37"/>
          <p:cNvSpPr txBox="1"/>
          <p:nvPr/>
        </p:nvSpPr>
        <p:spPr>
          <a:xfrm>
            <a:off x="3016239" y="2304287"/>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39" name="TextBox 38"/>
          <p:cNvSpPr txBox="1"/>
          <p:nvPr/>
        </p:nvSpPr>
        <p:spPr>
          <a:xfrm>
            <a:off x="5328263" y="2304287"/>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10.59</a:t>
            </a:r>
          </a:p>
        </p:txBody>
      </p:sp>
      <p:sp>
        <p:nvSpPr>
          <p:cNvPr id="40" name="Rectangle 39"/>
          <p:cNvSpPr/>
          <p:nvPr/>
        </p:nvSpPr>
        <p:spPr>
          <a:xfrm>
            <a:off x="6379183" y="2395727"/>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79183" y="2395727"/>
            <a:ext cx="33924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35215" y="23682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83271" y="2318003"/>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53</a:t>
            </a:r>
          </a:p>
        </p:txBody>
      </p:sp>
      <p:sp>
        <p:nvSpPr>
          <p:cNvPr id="44" name="TextBox 43"/>
          <p:cNvSpPr txBox="1"/>
          <p:nvPr/>
        </p:nvSpPr>
        <p:spPr>
          <a:xfrm>
            <a:off x="7955563"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53</a:t>
            </a:r>
          </a:p>
        </p:txBody>
      </p:sp>
      <p:sp>
        <p:nvSpPr>
          <p:cNvPr id="45" name="TextBox 44"/>
          <p:cNvSpPr txBox="1"/>
          <p:nvPr/>
        </p:nvSpPr>
        <p:spPr>
          <a:xfrm>
            <a:off x="8901391"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46" name="Rounded Rectangle 45"/>
          <p:cNvSpPr/>
          <p:nvPr/>
        </p:nvSpPr>
        <p:spPr>
          <a:xfrm>
            <a:off x="9847219" y="229514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47219" y="228965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8" name="Rectangle 47"/>
          <p:cNvSpPr/>
          <p:nvPr/>
        </p:nvSpPr>
        <p:spPr>
          <a:xfrm>
            <a:off x="841248" y="250545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252374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TCS</a:t>
            </a:r>
          </a:p>
        </p:txBody>
      </p:sp>
      <p:sp>
        <p:nvSpPr>
          <p:cNvPr id="50" name="TextBox 49"/>
          <p:cNvSpPr txBox="1"/>
          <p:nvPr/>
        </p:nvSpPr>
        <p:spPr>
          <a:xfrm>
            <a:off x="3016239" y="252374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IT</a:t>
            </a:r>
          </a:p>
        </p:txBody>
      </p:sp>
      <p:sp>
        <p:nvSpPr>
          <p:cNvPr id="51" name="TextBox 50"/>
          <p:cNvSpPr txBox="1"/>
          <p:nvPr/>
        </p:nvSpPr>
        <p:spPr>
          <a:xfrm>
            <a:off x="5328263" y="252374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8.74</a:t>
            </a:r>
          </a:p>
        </p:txBody>
      </p:sp>
      <p:sp>
        <p:nvSpPr>
          <p:cNvPr id="52" name="Rectangle 51"/>
          <p:cNvSpPr/>
          <p:nvPr/>
        </p:nvSpPr>
        <p:spPr>
          <a:xfrm>
            <a:off x="6379183" y="26151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79183" y="2615184"/>
            <a:ext cx="32388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635215" y="25877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83271" y="25374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51</a:t>
            </a:r>
          </a:p>
        </p:txBody>
      </p:sp>
      <p:sp>
        <p:nvSpPr>
          <p:cNvPr id="56" name="TextBox 55"/>
          <p:cNvSpPr txBox="1"/>
          <p:nvPr/>
        </p:nvSpPr>
        <p:spPr>
          <a:xfrm>
            <a:off x="7955563"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57" name="TextBox 56"/>
          <p:cNvSpPr txBox="1"/>
          <p:nvPr/>
        </p:nvSpPr>
        <p:spPr>
          <a:xfrm>
            <a:off x="8901391"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49</a:t>
            </a:r>
          </a:p>
        </p:txBody>
      </p:sp>
      <p:sp>
        <p:nvSpPr>
          <p:cNvPr id="58" name="Rounded Rectangle 57"/>
          <p:cNvSpPr/>
          <p:nvPr/>
        </p:nvSpPr>
        <p:spPr>
          <a:xfrm>
            <a:off x="9847219" y="251460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47219" y="250911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60" name="Rectangle 59"/>
          <p:cNvSpPr/>
          <p:nvPr/>
        </p:nvSpPr>
        <p:spPr>
          <a:xfrm>
            <a:off x="841248" y="272491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274320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JIOFIN</a:t>
            </a:r>
          </a:p>
        </p:txBody>
      </p:sp>
      <p:sp>
        <p:nvSpPr>
          <p:cNvPr id="62" name="TextBox 61"/>
          <p:cNvSpPr txBox="1"/>
          <p:nvPr/>
        </p:nvSpPr>
        <p:spPr>
          <a:xfrm>
            <a:off x="3016239" y="274320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63" name="TextBox 62"/>
          <p:cNvSpPr txBox="1"/>
          <p:nvPr/>
        </p:nvSpPr>
        <p:spPr>
          <a:xfrm>
            <a:off x="5328263" y="274320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1.75</a:t>
            </a:r>
          </a:p>
        </p:txBody>
      </p:sp>
      <p:sp>
        <p:nvSpPr>
          <p:cNvPr id="64" name="Rectangle 63"/>
          <p:cNvSpPr/>
          <p:nvPr/>
        </p:nvSpPr>
        <p:spPr>
          <a:xfrm>
            <a:off x="6379183" y="283464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79183" y="2834640"/>
            <a:ext cx="24259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635215" y="280720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83271" y="275691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38</a:t>
            </a:r>
          </a:p>
        </p:txBody>
      </p:sp>
      <p:sp>
        <p:nvSpPr>
          <p:cNvPr id="68" name="TextBox 67"/>
          <p:cNvSpPr txBox="1"/>
          <p:nvPr/>
        </p:nvSpPr>
        <p:spPr>
          <a:xfrm>
            <a:off x="7955563"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38</a:t>
            </a:r>
          </a:p>
        </p:txBody>
      </p:sp>
      <p:sp>
        <p:nvSpPr>
          <p:cNvPr id="69" name="TextBox 68"/>
          <p:cNvSpPr txBox="1"/>
          <p:nvPr/>
        </p:nvSpPr>
        <p:spPr>
          <a:xfrm>
            <a:off x="8901391"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38</a:t>
            </a:r>
          </a:p>
        </p:txBody>
      </p:sp>
      <p:sp>
        <p:nvSpPr>
          <p:cNvPr id="70" name="Rounded Rectangle 69"/>
          <p:cNvSpPr/>
          <p:nvPr/>
        </p:nvSpPr>
        <p:spPr>
          <a:xfrm>
            <a:off x="9847219" y="2734056"/>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847219" y="272856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72" name="Rectangle 71"/>
          <p:cNvSpPr/>
          <p:nvPr/>
        </p:nvSpPr>
        <p:spPr>
          <a:xfrm>
            <a:off x="841248" y="294436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4400" y="296265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ICICIBANK</a:t>
            </a:r>
          </a:p>
        </p:txBody>
      </p:sp>
      <p:sp>
        <p:nvSpPr>
          <p:cNvPr id="74" name="TextBox 73"/>
          <p:cNvSpPr txBox="1"/>
          <p:nvPr/>
        </p:nvSpPr>
        <p:spPr>
          <a:xfrm>
            <a:off x="3016239" y="296265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75" name="TextBox 74"/>
          <p:cNvSpPr txBox="1"/>
          <p:nvPr/>
        </p:nvSpPr>
        <p:spPr>
          <a:xfrm>
            <a:off x="5328263" y="296265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0.49</a:t>
            </a:r>
          </a:p>
        </p:txBody>
      </p:sp>
      <p:sp>
        <p:nvSpPr>
          <p:cNvPr id="76" name="Rectangle 75"/>
          <p:cNvSpPr/>
          <p:nvPr/>
        </p:nvSpPr>
        <p:spPr>
          <a:xfrm>
            <a:off x="6379183" y="30540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379183" y="3054096"/>
            <a:ext cx="37636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635215" y="30266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083271" y="29763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59</a:t>
            </a:r>
          </a:p>
        </p:txBody>
      </p:sp>
      <p:sp>
        <p:nvSpPr>
          <p:cNvPr id="80" name="TextBox 79"/>
          <p:cNvSpPr txBox="1"/>
          <p:nvPr/>
        </p:nvSpPr>
        <p:spPr>
          <a:xfrm>
            <a:off x="7955563"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59</a:t>
            </a:r>
          </a:p>
        </p:txBody>
      </p:sp>
      <p:sp>
        <p:nvSpPr>
          <p:cNvPr id="81" name="TextBox 80"/>
          <p:cNvSpPr txBox="1"/>
          <p:nvPr/>
        </p:nvSpPr>
        <p:spPr>
          <a:xfrm>
            <a:off x="8901391"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54</a:t>
            </a:r>
          </a:p>
        </p:txBody>
      </p:sp>
      <p:sp>
        <p:nvSpPr>
          <p:cNvPr id="82" name="Rounded Rectangle 81"/>
          <p:cNvSpPr/>
          <p:nvPr/>
        </p:nvSpPr>
        <p:spPr>
          <a:xfrm>
            <a:off x="9847219" y="295351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847219" y="294802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84" name="Rectangle 83"/>
          <p:cNvSpPr/>
          <p:nvPr/>
        </p:nvSpPr>
        <p:spPr>
          <a:xfrm>
            <a:off x="841248" y="31638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4400" y="318211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SBIN</a:t>
            </a:r>
          </a:p>
        </p:txBody>
      </p:sp>
      <p:sp>
        <p:nvSpPr>
          <p:cNvPr id="86" name="TextBox 85"/>
          <p:cNvSpPr txBox="1"/>
          <p:nvPr/>
        </p:nvSpPr>
        <p:spPr>
          <a:xfrm>
            <a:off x="3016239" y="318211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87" name="TextBox 86"/>
          <p:cNvSpPr txBox="1"/>
          <p:nvPr/>
        </p:nvSpPr>
        <p:spPr>
          <a:xfrm>
            <a:off x="5328263" y="318211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0.32</a:t>
            </a:r>
          </a:p>
        </p:txBody>
      </p:sp>
      <p:sp>
        <p:nvSpPr>
          <p:cNvPr id="88" name="Rectangle 87"/>
          <p:cNvSpPr/>
          <p:nvPr/>
        </p:nvSpPr>
        <p:spPr>
          <a:xfrm>
            <a:off x="6379183" y="32735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79183" y="3273552"/>
            <a:ext cx="44741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635215" y="32461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83271" y="31958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70</a:t>
            </a:r>
          </a:p>
        </p:txBody>
      </p:sp>
      <p:sp>
        <p:nvSpPr>
          <p:cNvPr id="92" name="TextBox 91"/>
          <p:cNvSpPr txBox="1"/>
          <p:nvPr/>
        </p:nvSpPr>
        <p:spPr>
          <a:xfrm>
            <a:off x="7955563"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70</a:t>
            </a:r>
          </a:p>
        </p:txBody>
      </p:sp>
      <p:sp>
        <p:nvSpPr>
          <p:cNvPr id="93" name="TextBox 92"/>
          <p:cNvSpPr txBox="1"/>
          <p:nvPr/>
        </p:nvSpPr>
        <p:spPr>
          <a:xfrm>
            <a:off x="8901391"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94" name="Rounded Rectangle 93"/>
          <p:cNvSpPr/>
          <p:nvPr/>
        </p:nvSpPr>
        <p:spPr>
          <a:xfrm>
            <a:off x="9847219" y="317296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847219" y="316748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96" name="Rectangle 95"/>
          <p:cNvSpPr/>
          <p:nvPr/>
        </p:nvSpPr>
        <p:spPr>
          <a:xfrm>
            <a:off x="841248" y="338328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14400" y="340156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SBFC</a:t>
            </a:r>
          </a:p>
        </p:txBody>
      </p:sp>
      <p:sp>
        <p:nvSpPr>
          <p:cNvPr id="98" name="TextBox 97"/>
          <p:cNvSpPr txBox="1"/>
          <p:nvPr/>
        </p:nvSpPr>
        <p:spPr>
          <a:xfrm>
            <a:off x="3016239" y="340156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99" name="TextBox 98"/>
          <p:cNvSpPr txBox="1"/>
          <p:nvPr/>
        </p:nvSpPr>
        <p:spPr>
          <a:xfrm>
            <a:off x="5328263" y="340156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0.29</a:t>
            </a:r>
          </a:p>
        </p:txBody>
      </p:sp>
      <p:sp>
        <p:nvSpPr>
          <p:cNvPr id="100" name="Rectangle 99"/>
          <p:cNvSpPr/>
          <p:nvPr/>
        </p:nvSpPr>
        <p:spPr>
          <a:xfrm>
            <a:off x="6379183" y="34930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6379183" y="3493008"/>
            <a:ext cx="16322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635215" y="34655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083271" y="34152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26</a:t>
            </a:r>
          </a:p>
        </p:txBody>
      </p:sp>
      <p:sp>
        <p:nvSpPr>
          <p:cNvPr id="104" name="TextBox 103"/>
          <p:cNvSpPr txBox="1"/>
          <p:nvPr/>
        </p:nvSpPr>
        <p:spPr>
          <a:xfrm>
            <a:off x="7955563"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26</a:t>
            </a:r>
          </a:p>
        </p:txBody>
      </p:sp>
      <p:sp>
        <p:nvSpPr>
          <p:cNvPr id="105" name="TextBox 104"/>
          <p:cNvSpPr txBox="1"/>
          <p:nvPr/>
        </p:nvSpPr>
        <p:spPr>
          <a:xfrm>
            <a:off x="8901391"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41</a:t>
            </a:r>
          </a:p>
        </p:txBody>
      </p:sp>
      <p:sp>
        <p:nvSpPr>
          <p:cNvPr id="106" name="Rounded Rectangle 105"/>
          <p:cNvSpPr/>
          <p:nvPr/>
        </p:nvSpPr>
        <p:spPr>
          <a:xfrm>
            <a:off x="9847219" y="3392424"/>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47219" y="338693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08" name="Rectangle 107"/>
          <p:cNvSpPr/>
          <p:nvPr/>
        </p:nvSpPr>
        <p:spPr>
          <a:xfrm>
            <a:off x="841248" y="360273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14400" y="362102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IDFCFIRSTB</a:t>
            </a:r>
          </a:p>
        </p:txBody>
      </p:sp>
      <p:sp>
        <p:nvSpPr>
          <p:cNvPr id="110" name="TextBox 109"/>
          <p:cNvSpPr txBox="1"/>
          <p:nvPr/>
        </p:nvSpPr>
        <p:spPr>
          <a:xfrm>
            <a:off x="3016239" y="362102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111" name="TextBox 110"/>
          <p:cNvSpPr txBox="1"/>
          <p:nvPr/>
        </p:nvSpPr>
        <p:spPr>
          <a:xfrm>
            <a:off x="5328263" y="362102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0.25</a:t>
            </a:r>
          </a:p>
        </p:txBody>
      </p:sp>
      <p:sp>
        <p:nvSpPr>
          <p:cNvPr id="112" name="Rectangle 111"/>
          <p:cNvSpPr/>
          <p:nvPr/>
        </p:nvSpPr>
        <p:spPr>
          <a:xfrm>
            <a:off x="6379183" y="37124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6379183" y="3712464"/>
            <a:ext cx="31811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6635215" y="36850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083271" y="36347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50</a:t>
            </a:r>
          </a:p>
        </p:txBody>
      </p:sp>
      <p:sp>
        <p:nvSpPr>
          <p:cNvPr id="116" name="TextBox 115"/>
          <p:cNvSpPr txBox="1"/>
          <p:nvPr/>
        </p:nvSpPr>
        <p:spPr>
          <a:xfrm>
            <a:off x="7955563"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50</a:t>
            </a:r>
          </a:p>
        </p:txBody>
      </p:sp>
      <p:sp>
        <p:nvSpPr>
          <p:cNvPr id="117" name="TextBox 116"/>
          <p:cNvSpPr txBox="1"/>
          <p:nvPr/>
        </p:nvSpPr>
        <p:spPr>
          <a:xfrm>
            <a:off x="8901391"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48</a:t>
            </a:r>
          </a:p>
        </p:txBody>
      </p:sp>
      <p:sp>
        <p:nvSpPr>
          <p:cNvPr id="118" name="Rounded Rectangle 117"/>
          <p:cNvSpPr/>
          <p:nvPr/>
        </p:nvSpPr>
        <p:spPr>
          <a:xfrm>
            <a:off x="9847219" y="361188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847219" y="360639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20" name="Rectangle 119"/>
          <p:cNvSpPr/>
          <p:nvPr/>
        </p:nvSpPr>
        <p:spPr>
          <a:xfrm>
            <a:off x="841248" y="382219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14400" y="384048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RITAFIN</a:t>
            </a:r>
          </a:p>
        </p:txBody>
      </p:sp>
      <p:sp>
        <p:nvSpPr>
          <p:cNvPr id="122" name="TextBox 121"/>
          <p:cNvSpPr txBox="1"/>
          <p:nvPr/>
        </p:nvSpPr>
        <p:spPr>
          <a:xfrm>
            <a:off x="3016239" y="384048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 Services</a:t>
            </a:r>
          </a:p>
        </p:txBody>
      </p:sp>
      <p:sp>
        <p:nvSpPr>
          <p:cNvPr id="123" name="TextBox 122"/>
          <p:cNvSpPr txBox="1"/>
          <p:nvPr/>
        </p:nvSpPr>
        <p:spPr>
          <a:xfrm>
            <a:off x="5328263" y="384048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0.21</a:t>
            </a:r>
          </a:p>
        </p:txBody>
      </p:sp>
      <p:sp>
        <p:nvSpPr>
          <p:cNvPr id="124" name="Rectangle 123"/>
          <p:cNvSpPr/>
          <p:nvPr/>
        </p:nvSpPr>
        <p:spPr>
          <a:xfrm>
            <a:off x="6379183" y="393192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379183" y="3931920"/>
            <a:ext cx="9601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635215" y="390448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083271" y="38541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15</a:t>
            </a:r>
          </a:p>
        </p:txBody>
      </p:sp>
      <p:sp>
        <p:nvSpPr>
          <p:cNvPr id="128" name="TextBox 127"/>
          <p:cNvSpPr txBox="1"/>
          <p:nvPr/>
        </p:nvSpPr>
        <p:spPr>
          <a:xfrm>
            <a:off x="7955563"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15</a:t>
            </a:r>
          </a:p>
        </p:txBody>
      </p:sp>
      <p:sp>
        <p:nvSpPr>
          <p:cNvPr id="129" name="TextBox 128"/>
          <p:cNvSpPr txBox="1"/>
          <p:nvPr/>
        </p:nvSpPr>
        <p:spPr>
          <a:xfrm>
            <a:off x="8901391"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15</a:t>
            </a:r>
          </a:p>
        </p:txBody>
      </p:sp>
      <p:sp>
        <p:nvSpPr>
          <p:cNvPr id="130" name="Rounded Rectangle 129"/>
          <p:cNvSpPr/>
          <p:nvPr/>
        </p:nvSpPr>
        <p:spPr>
          <a:xfrm>
            <a:off x="9847219" y="3831336"/>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847219" y="382584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32" name="Rectangle 131"/>
          <p:cNvSpPr/>
          <p:nvPr/>
        </p:nvSpPr>
        <p:spPr>
          <a:xfrm>
            <a:off x="841248" y="404164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14400" y="405993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TATASTEEL</a:t>
            </a:r>
          </a:p>
        </p:txBody>
      </p:sp>
      <p:sp>
        <p:nvSpPr>
          <p:cNvPr id="134" name="TextBox 133"/>
          <p:cNvSpPr txBox="1"/>
          <p:nvPr/>
        </p:nvSpPr>
        <p:spPr>
          <a:xfrm>
            <a:off x="3016239" y="405993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Metals &amp; Mining</a:t>
            </a:r>
          </a:p>
        </p:txBody>
      </p:sp>
      <p:sp>
        <p:nvSpPr>
          <p:cNvPr id="135" name="TextBox 134"/>
          <p:cNvSpPr txBox="1"/>
          <p:nvPr/>
        </p:nvSpPr>
        <p:spPr>
          <a:xfrm>
            <a:off x="5328263" y="405993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0.17</a:t>
            </a:r>
          </a:p>
        </p:txBody>
      </p:sp>
      <p:sp>
        <p:nvSpPr>
          <p:cNvPr id="136" name="Rectangle 135"/>
          <p:cNvSpPr/>
          <p:nvPr/>
        </p:nvSpPr>
        <p:spPr>
          <a:xfrm>
            <a:off x="6379183" y="415137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379183" y="4151376"/>
            <a:ext cx="32836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6635215" y="412394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7083271" y="407365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51</a:t>
            </a:r>
          </a:p>
        </p:txBody>
      </p:sp>
      <p:sp>
        <p:nvSpPr>
          <p:cNvPr id="140" name="TextBox 139"/>
          <p:cNvSpPr txBox="1"/>
          <p:nvPr/>
        </p:nvSpPr>
        <p:spPr>
          <a:xfrm>
            <a:off x="7955563"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51</a:t>
            </a:r>
          </a:p>
        </p:txBody>
      </p:sp>
      <p:sp>
        <p:nvSpPr>
          <p:cNvPr id="141" name="TextBox 140"/>
          <p:cNvSpPr txBox="1"/>
          <p:nvPr/>
        </p:nvSpPr>
        <p:spPr>
          <a:xfrm>
            <a:off x="8901391" y="405993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32</a:t>
            </a:r>
          </a:p>
        </p:txBody>
      </p:sp>
      <p:sp>
        <p:nvSpPr>
          <p:cNvPr id="142" name="Rounded Rectangle 141"/>
          <p:cNvSpPr/>
          <p:nvPr/>
        </p:nvSpPr>
        <p:spPr>
          <a:xfrm>
            <a:off x="9847219" y="4050792"/>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847219" y="404530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44" name="Rectangle 143"/>
          <p:cNvSpPr/>
          <p:nvPr/>
        </p:nvSpPr>
        <p:spPr>
          <a:xfrm>
            <a:off x="841248" y="426110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914400" y="427939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MANAPPURAM</a:t>
            </a:r>
          </a:p>
        </p:txBody>
      </p:sp>
      <p:sp>
        <p:nvSpPr>
          <p:cNvPr id="146" name="TextBox 145"/>
          <p:cNvSpPr txBox="1"/>
          <p:nvPr/>
        </p:nvSpPr>
        <p:spPr>
          <a:xfrm>
            <a:off x="3016239" y="427939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147" name="TextBox 146"/>
          <p:cNvSpPr txBox="1"/>
          <p:nvPr/>
        </p:nvSpPr>
        <p:spPr>
          <a:xfrm>
            <a:off x="5328263" y="427939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0.11</a:t>
            </a:r>
          </a:p>
        </p:txBody>
      </p:sp>
      <p:sp>
        <p:nvSpPr>
          <p:cNvPr id="148" name="Rectangle 147"/>
          <p:cNvSpPr/>
          <p:nvPr/>
        </p:nvSpPr>
        <p:spPr>
          <a:xfrm>
            <a:off x="6379183" y="437083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6379183" y="4370832"/>
            <a:ext cx="29059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6635215" y="434340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083271" y="429310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45</a:t>
            </a:r>
          </a:p>
        </p:txBody>
      </p:sp>
      <p:sp>
        <p:nvSpPr>
          <p:cNvPr id="152" name="TextBox 151"/>
          <p:cNvSpPr txBox="1"/>
          <p:nvPr/>
        </p:nvSpPr>
        <p:spPr>
          <a:xfrm>
            <a:off x="7955563"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45</a:t>
            </a:r>
          </a:p>
        </p:txBody>
      </p:sp>
      <p:sp>
        <p:nvSpPr>
          <p:cNvPr id="153" name="TextBox 152"/>
          <p:cNvSpPr txBox="1"/>
          <p:nvPr/>
        </p:nvSpPr>
        <p:spPr>
          <a:xfrm>
            <a:off x="8901391" y="427939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39</a:t>
            </a:r>
          </a:p>
        </p:txBody>
      </p:sp>
      <p:sp>
        <p:nvSpPr>
          <p:cNvPr id="154" name="Rounded Rectangle 153"/>
          <p:cNvSpPr/>
          <p:nvPr/>
        </p:nvSpPr>
        <p:spPr>
          <a:xfrm>
            <a:off x="9847219" y="427024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9847219" y="426476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56" name="Rectangle 155"/>
          <p:cNvSpPr/>
          <p:nvPr/>
        </p:nvSpPr>
        <p:spPr>
          <a:xfrm>
            <a:off x="841248" y="448056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914400" y="449884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NTPC</a:t>
            </a:r>
          </a:p>
        </p:txBody>
      </p:sp>
      <p:sp>
        <p:nvSpPr>
          <p:cNvPr id="158" name="TextBox 157"/>
          <p:cNvSpPr txBox="1"/>
          <p:nvPr/>
        </p:nvSpPr>
        <p:spPr>
          <a:xfrm>
            <a:off x="3016239" y="449884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Power</a:t>
            </a:r>
          </a:p>
        </p:txBody>
      </p:sp>
      <p:sp>
        <p:nvSpPr>
          <p:cNvPr id="159" name="TextBox 158"/>
          <p:cNvSpPr txBox="1"/>
          <p:nvPr/>
        </p:nvSpPr>
        <p:spPr>
          <a:xfrm>
            <a:off x="5328263" y="449884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0.11</a:t>
            </a:r>
          </a:p>
        </p:txBody>
      </p:sp>
      <p:sp>
        <p:nvSpPr>
          <p:cNvPr id="160" name="Rectangle 159"/>
          <p:cNvSpPr/>
          <p:nvPr/>
        </p:nvSpPr>
        <p:spPr>
          <a:xfrm>
            <a:off x="6379183" y="459028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6379183" y="4590288"/>
            <a:ext cx="28931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6635215" y="456285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7083271" y="451256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45</a:t>
            </a:r>
          </a:p>
        </p:txBody>
      </p:sp>
      <p:sp>
        <p:nvSpPr>
          <p:cNvPr id="164" name="TextBox 163"/>
          <p:cNvSpPr txBox="1"/>
          <p:nvPr/>
        </p:nvSpPr>
        <p:spPr>
          <a:xfrm>
            <a:off x="7955563" y="449884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45</a:t>
            </a:r>
          </a:p>
        </p:txBody>
      </p:sp>
      <p:sp>
        <p:nvSpPr>
          <p:cNvPr id="165" name="TextBox 164"/>
          <p:cNvSpPr txBox="1"/>
          <p:nvPr/>
        </p:nvSpPr>
        <p:spPr>
          <a:xfrm>
            <a:off x="8901391" y="449884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33</a:t>
            </a:r>
          </a:p>
        </p:txBody>
      </p:sp>
      <p:sp>
        <p:nvSpPr>
          <p:cNvPr id="166" name="Rounded Rectangle 165"/>
          <p:cNvSpPr/>
          <p:nvPr/>
        </p:nvSpPr>
        <p:spPr>
          <a:xfrm>
            <a:off x="9847219" y="448970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9847219" y="448421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68" name="Rectangle 167"/>
          <p:cNvSpPr/>
          <p:nvPr/>
        </p:nvSpPr>
        <p:spPr>
          <a:xfrm>
            <a:off x="841248" y="470001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914400" y="471830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MAHABANK</a:t>
            </a:r>
          </a:p>
        </p:txBody>
      </p:sp>
      <p:sp>
        <p:nvSpPr>
          <p:cNvPr id="170" name="TextBox 169"/>
          <p:cNvSpPr txBox="1"/>
          <p:nvPr/>
        </p:nvSpPr>
        <p:spPr>
          <a:xfrm>
            <a:off x="3016239" y="471830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171" name="TextBox 170"/>
          <p:cNvSpPr txBox="1"/>
          <p:nvPr/>
        </p:nvSpPr>
        <p:spPr>
          <a:xfrm>
            <a:off x="5328263" y="471830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0.10</a:t>
            </a:r>
          </a:p>
        </p:txBody>
      </p:sp>
      <p:sp>
        <p:nvSpPr>
          <p:cNvPr id="172" name="Rectangle 171"/>
          <p:cNvSpPr/>
          <p:nvPr/>
        </p:nvSpPr>
        <p:spPr>
          <a:xfrm>
            <a:off x="6379183" y="480974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6379183" y="4809744"/>
            <a:ext cx="50310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6635215" y="478231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7083271" y="473202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79</a:t>
            </a:r>
          </a:p>
        </p:txBody>
      </p:sp>
      <p:sp>
        <p:nvSpPr>
          <p:cNvPr id="176" name="TextBox 175"/>
          <p:cNvSpPr txBox="1"/>
          <p:nvPr/>
        </p:nvSpPr>
        <p:spPr>
          <a:xfrm>
            <a:off x="7955563" y="471830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79</a:t>
            </a:r>
          </a:p>
        </p:txBody>
      </p:sp>
      <p:sp>
        <p:nvSpPr>
          <p:cNvPr id="177" name="TextBox 176"/>
          <p:cNvSpPr txBox="1"/>
          <p:nvPr/>
        </p:nvSpPr>
        <p:spPr>
          <a:xfrm>
            <a:off x="8901391" y="471830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63</a:t>
            </a:r>
          </a:p>
        </p:txBody>
      </p:sp>
      <p:sp>
        <p:nvSpPr>
          <p:cNvPr id="178" name="Rounded Rectangle 177"/>
          <p:cNvSpPr/>
          <p:nvPr/>
        </p:nvSpPr>
        <p:spPr>
          <a:xfrm>
            <a:off x="9847219" y="470916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9847219" y="47036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80" name="Rectangle 179"/>
          <p:cNvSpPr/>
          <p:nvPr/>
        </p:nvSpPr>
        <p:spPr>
          <a:xfrm>
            <a:off x="841248" y="491947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914400" y="493776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LANCORHOL</a:t>
            </a:r>
          </a:p>
        </p:txBody>
      </p:sp>
      <p:sp>
        <p:nvSpPr>
          <p:cNvPr id="182" name="TextBox 181"/>
          <p:cNvSpPr txBox="1"/>
          <p:nvPr/>
        </p:nvSpPr>
        <p:spPr>
          <a:xfrm>
            <a:off x="3016239" y="493776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Realty</a:t>
            </a:r>
          </a:p>
        </p:txBody>
      </p:sp>
      <p:sp>
        <p:nvSpPr>
          <p:cNvPr id="183" name="TextBox 182"/>
          <p:cNvSpPr txBox="1"/>
          <p:nvPr/>
        </p:nvSpPr>
        <p:spPr>
          <a:xfrm>
            <a:off x="5328263" y="493776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0.08</a:t>
            </a:r>
          </a:p>
        </p:txBody>
      </p:sp>
      <p:sp>
        <p:nvSpPr>
          <p:cNvPr id="184" name="Rectangle 183"/>
          <p:cNvSpPr/>
          <p:nvPr/>
        </p:nvSpPr>
        <p:spPr>
          <a:xfrm>
            <a:off x="6379183" y="502920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6379183" y="5029200"/>
            <a:ext cx="17922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6635215" y="500176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7083271" y="495147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28</a:t>
            </a:r>
          </a:p>
        </p:txBody>
      </p:sp>
      <p:sp>
        <p:nvSpPr>
          <p:cNvPr id="188" name="TextBox 187"/>
          <p:cNvSpPr txBox="1"/>
          <p:nvPr/>
        </p:nvSpPr>
        <p:spPr>
          <a:xfrm>
            <a:off x="7955563" y="493776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28</a:t>
            </a:r>
          </a:p>
        </p:txBody>
      </p:sp>
      <p:sp>
        <p:nvSpPr>
          <p:cNvPr id="189" name="TextBox 188"/>
          <p:cNvSpPr txBox="1"/>
          <p:nvPr/>
        </p:nvSpPr>
        <p:spPr>
          <a:xfrm>
            <a:off x="8901391" y="493776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28</a:t>
            </a:r>
          </a:p>
        </p:txBody>
      </p:sp>
      <p:sp>
        <p:nvSpPr>
          <p:cNvPr id="190" name="Rounded Rectangle 189"/>
          <p:cNvSpPr/>
          <p:nvPr/>
        </p:nvSpPr>
        <p:spPr>
          <a:xfrm>
            <a:off x="9847219" y="4928616"/>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9847219" y="492312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92" name="Rectangle 191"/>
          <p:cNvSpPr/>
          <p:nvPr/>
        </p:nvSpPr>
        <p:spPr>
          <a:xfrm>
            <a:off x="841248" y="513892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914400" y="515721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SUMMITSEC</a:t>
            </a:r>
          </a:p>
        </p:txBody>
      </p:sp>
      <p:sp>
        <p:nvSpPr>
          <p:cNvPr id="194" name="TextBox 193"/>
          <p:cNvSpPr txBox="1"/>
          <p:nvPr/>
        </p:nvSpPr>
        <p:spPr>
          <a:xfrm>
            <a:off x="3016239" y="515721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 Services</a:t>
            </a:r>
          </a:p>
        </p:txBody>
      </p:sp>
      <p:sp>
        <p:nvSpPr>
          <p:cNvPr id="195" name="TextBox 194"/>
          <p:cNvSpPr txBox="1"/>
          <p:nvPr/>
        </p:nvSpPr>
        <p:spPr>
          <a:xfrm>
            <a:off x="5328263" y="515721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0.07</a:t>
            </a:r>
          </a:p>
        </p:txBody>
      </p:sp>
      <p:sp>
        <p:nvSpPr>
          <p:cNvPr id="196" name="Rectangle 195"/>
          <p:cNvSpPr/>
          <p:nvPr/>
        </p:nvSpPr>
        <p:spPr>
          <a:xfrm>
            <a:off x="6379183" y="524865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6379183" y="5248656"/>
            <a:ext cx="19202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6635215" y="522122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7083271" y="517093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30</a:t>
            </a:r>
          </a:p>
        </p:txBody>
      </p:sp>
      <p:sp>
        <p:nvSpPr>
          <p:cNvPr id="200" name="TextBox 199"/>
          <p:cNvSpPr txBox="1"/>
          <p:nvPr/>
        </p:nvSpPr>
        <p:spPr>
          <a:xfrm>
            <a:off x="7955563" y="515721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30</a:t>
            </a:r>
          </a:p>
        </p:txBody>
      </p:sp>
      <p:sp>
        <p:nvSpPr>
          <p:cNvPr id="201" name="TextBox 200"/>
          <p:cNvSpPr txBox="1"/>
          <p:nvPr/>
        </p:nvSpPr>
        <p:spPr>
          <a:xfrm>
            <a:off x="8901391" y="515721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30</a:t>
            </a:r>
          </a:p>
        </p:txBody>
      </p:sp>
      <p:sp>
        <p:nvSpPr>
          <p:cNvPr id="202" name="Rounded Rectangle 201"/>
          <p:cNvSpPr/>
          <p:nvPr/>
        </p:nvSpPr>
        <p:spPr>
          <a:xfrm>
            <a:off x="9847219" y="5148072"/>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9847219" y="514258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04" name="Rectangle 203"/>
          <p:cNvSpPr/>
          <p:nvPr/>
        </p:nvSpPr>
        <p:spPr>
          <a:xfrm>
            <a:off x="841248" y="535838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914400" y="537667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BEL</a:t>
            </a:r>
          </a:p>
        </p:txBody>
      </p:sp>
      <p:sp>
        <p:nvSpPr>
          <p:cNvPr id="206" name="TextBox 205"/>
          <p:cNvSpPr txBox="1"/>
          <p:nvPr/>
        </p:nvSpPr>
        <p:spPr>
          <a:xfrm>
            <a:off x="3016239" y="537667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Industrials</a:t>
            </a:r>
          </a:p>
        </p:txBody>
      </p:sp>
      <p:sp>
        <p:nvSpPr>
          <p:cNvPr id="207" name="TextBox 206"/>
          <p:cNvSpPr txBox="1"/>
          <p:nvPr/>
        </p:nvSpPr>
        <p:spPr>
          <a:xfrm>
            <a:off x="5328263" y="537667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0.07</a:t>
            </a:r>
          </a:p>
        </p:txBody>
      </p:sp>
      <p:sp>
        <p:nvSpPr>
          <p:cNvPr id="208" name="Rectangle 207"/>
          <p:cNvSpPr/>
          <p:nvPr/>
        </p:nvSpPr>
        <p:spPr>
          <a:xfrm>
            <a:off x="6379183" y="546811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6379183" y="5468112"/>
            <a:ext cx="37060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6635215" y="544068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7083271" y="539038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58</a:t>
            </a:r>
          </a:p>
        </p:txBody>
      </p:sp>
      <p:sp>
        <p:nvSpPr>
          <p:cNvPr id="212" name="TextBox 211"/>
          <p:cNvSpPr txBox="1"/>
          <p:nvPr/>
        </p:nvSpPr>
        <p:spPr>
          <a:xfrm>
            <a:off x="7955563" y="537667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58</a:t>
            </a:r>
          </a:p>
        </p:txBody>
      </p:sp>
      <p:sp>
        <p:nvSpPr>
          <p:cNvPr id="213" name="TextBox 212"/>
          <p:cNvSpPr txBox="1"/>
          <p:nvPr/>
        </p:nvSpPr>
        <p:spPr>
          <a:xfrm>
            <a:off x="8901391" y="537667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47</a:t>
            </a:r>
          </a:p>
        </p:txBody>
      </p:sp>
      <p:sp>
        <p:nvSpPr>
          <p:cNvPr id="214" name="Rounded Rectangle 213"/>
          <p:cNvSpPr/>
          <p:nvPr/>
        </p:nvSpPr>
        <p:spPr>
          <a:xfrm>
            <a:off x="9847219" y="536752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9847219" y="536204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16" name="Rectangle 215"/>
          <p:cNvSpPr/>
          <p:nvPr/>
        </p:nvSpPr>
        <p:spPr>
          <a:xfrm>
            <a:off x="841248" y="557784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914400" y="559612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IDBI</a:t>
            </a:r>
          </a:p>
        </p:txBody>
      </p:sp>
      <p:sp>
        <p:nvSpPr>
          <p:cNvPr id="218" name="TextBox 217"/>
          <p:cNvSpPr txBox="1"/>
          <p:nvPr/>
        </p:nvSpPr>
        <p:spPr>
          <a:xfrm>
            <a:off x="3016239" y="559612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219" name="TextBox 218"/>
          <p:cNvSpPr txBox="1"/>
          <p:nvPr/>
        </p:nvSpPr>
        <p:spPr>
          <a:xfrm>
            <a:off x="5328263" y="559612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0.05</a:t>
            </a:r>
          </a:p>
        </p:txBody>
      </p:sp>
      <p:sp>
        <p:nvSpPr>
          <p:cNvPr id="220" name="Rectangle 219"/>
          <p:cNvSpPr/>
          <p:nvPr/>
        </p:nvSpPr>
        <p:spPr>
          <a:xfrm>
            <a:off x="6379183" y="568756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6379183" y="5687568"/>
            <a:ext cx="33412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6635215" y="566013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7083271" y="560984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52</a:t>
            </a:r>
          </a:p>
        </p:txBody>
      </p:sp>
      <p:sp>
        <p:nvSpPr>
          <p:cNvPr id="224" name="TextBox 223"/>
          <p:cNvSpPr txBox="1"/>
          <p:nvPr/>
        </p:nvSpPr>
        <p:spPr>
          <a:xfrm>
            <a:off x="7955563" y="559612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52</a:t>
            </a:r>
          </a:p>
        </p:txBody>
      </p:sp>
      <p:sp>
        <p:nvSpPr>
          <p:cNvPr id="225" name="TextBox 224"/>
          <p:cNvSpPr txBox="1"/>
          <p:nvPr/>
        </p:nvSpPr>
        <p:spPr>
          <a:xfrm>
            <a:off x="8901391" y="559612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47</a:t>
            </a:r>
          </a:p>
        </p:txBody>
      </p:sp>
      <p:sp>
        <p:nvSpPr>
          <p:cNvPr id="226" name="Rounded Rectangle 225"/>
          <p:cNvSpPr/>
          <p:nvPr/>
        </p:nvSpPr>
        <p:spPr>
          <a:xfrm>
            <a:off x="9847219" y="558698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9847219" y="558149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28" name="Rectangle 227"/>
          <p:cNvSpPr/>
          <p:nvPr/>
        </p:nvSpPr>
        <p:spPr>
          <a:xfrm>
            <a:off x="841248" y="579729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914400" y="581558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NETWORK18</a:t>
            </a:r>
          </a:p>
        </p:txBody>
      </p:sp>
      <p:sp>
        <p:nvSpPr>
          <p:cNvPr id="230" name="TextBox 229"/>
          <p:cNvSpPr txBox="1"/>
          <p:nvPr/>
        </p:nvSpPr>
        <p:spPr>
          <a:xfrm>
            <a:off x="3016239" y="581558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Media</a:t>
            </a:r>
          </a:p>
        </p:txBody>
      </p:sp>
      <p:sp>
        <p:nvSpPr>
          <p:cNvPr id="231" name="TextBox 230"/>
          <p:cNvSpPr txBox="1"/>
          <p:nvPr/>
        </p:nvSpPr>
        <p:spPr>
          <a:xfrm>
            <a:off x="5328263" y="581558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0.05</a:t>
            </a:r>
          </a:p>
        </p:txBody>
      </p:sp>
      <p:sp>
        <p:nvSpPr>
          <p:cNvPr id="232" name="Rectangle 231"/>
          <p:cNvSpPr/>
          <p:nvPr/>
        </p:nvSpPr>
        <p:spPr>
          <a:xfrm>
            <a:off x="6379183" y="590702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6379183" y="5907024"/>
            <a:ext cx="14081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6635215" y="587959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7083271" y="582930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22</a:t>
            </a:r>
          </a:p>
        </p:txBody>
      </p:sp>
      <p:sp>
        <p:nvSpPr>
          <p:cNvPr id="236" name="TextBox 235"/>
          <p:cNvSpPr txBox="1"/>
          <p:nvPr/>
        </p:nvSpPr>
        <p:spPr>
          <a:xfrm>
            <a:off x="7955563" y="581558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22</a:t>
            </a:r>
          </a:p>
        </p:txBody>
      </p:sp>
      <p:sp>
        <p:nvSpPr>
          <p:cNvPr id="237" name="TextBox 236"/>
          <p:cNvSpPr txBox="1"/>
          <p:nvPr/>
        </p:nvSpPr>
        <p:spPr>
          <a:xfrm>
            <a:off x="8901391" y="581558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22</a:t>
            </a:r>
          </a:p>
        </p:txBody>
      </p:sp>
      <p:sp>
        <p:nvSpPr>
          <p:cNvPr id="238" name="Rounded Rectangle 237"/>
          <p:cNvSpPr/>
          <p:nvPr/>
        </p:nvSpPr>
        <p:spPr>
          <a:xfrm>
            <a:off x="9847219" y="580644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9847219" y="580095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0" name="Rectangle 239"/>
          <p:cNvSpPr/>
          <p:nvPr/>
        </p:nvSpPr>
        <p:spPr>
          <a:xfrm>
            <a:off x="841248" y="601675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a:hlinkClick action="ppaction://hlinksldjump" r:id="rId3"/>
          </p:cNvPr>
          <p:cNvSpPr/>
          <p:nvPr/>
        </p:nvSpPr>
        <p:spPr>
          <a:xfrm>
            <a:off x="841248" y="2066543"/>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a:hlinkClick action="ppaction://hlinksldjump" r:id="rId4"/>
          </p:cNvPr>
          <p:cNvSpPr/>
          <p:nvPr/>
        </p:nvSpPr>
        <p:spPr>
          <a:xfrm>
            <a:off x="841248" y="2285999"/>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a:hlinkClick action="ppaction://hlinksldjump" r:id="rId5"/>
          </p:cNvPr>
          <p:cNvSpPr/>
          <p:nvPr/>
        </p:nvSpPr>
        <p:spPr>
          <a:xfrm>
            <a:off x="841248" y="250545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a:hlinkClick action="ppaction://hlinksldjump" r:id="rId6"/>
          </p:cNvPr>
          <p:cNvSpPr/>
          <p:nvPr/>
        </p:nvSpPr>
        <p:spPr>
          <a:xfrm>
            <a:off x="841248" y="272491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841248" y="294436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41248" y="316382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a:hlinkClick action="ppaction://hlinksldjump" r:id="rId7"/>
          </p:cNvPr>
          <p:cNvSpPr/>
          <p:nvPr/>
        </p:nvSpPr>
        <p:spPr>
          <a:xfrm>
            <a:off x="841248" y="338328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841248" y="360273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a:hlinkClick action="ppaction://hlinksldjump" r:id="rId8"/>
          </p:cNvPr>
          <p:cNvSpPr/>
          <p:nvPr/>
        </p:nvSpPr>
        <p:spPr>
          <a:xfrm>
            <a:off x="841248" y="382219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841248" y="404164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a:hlinkClick action="ppaction://hlinksldjump" r:id="rId9"/>
          </p:cNvPr>
          <p:cNvSpPr/>
          <p:nvPr/>
        </p:nvSpPr>
        <p:spPr>
          <a:xfrm>
            <a:off x="841248" y="426110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841248" y="448056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841248" y="470001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a:hlinkClick action="ppaction://hlinksldjump" r:id="rId10"/>
          </p:cNvPr>
          <p:cNvSpPr/>
          <p:nvPr/>
        </p:nvSpPr>
        <p:spPr>
          <a:xfrm>
            <a:off x="841248" y="491947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a:hlinkClick action="ppaction://hlinksldjump" r:id="rId11"/>
          </p:cNvPr>
          <p:cNvSpPr/>
          <p:nvPr/>
        </p:nvSpPr>
        <p:spPr>
          <a:xfrm>
            <a:off x="841248" y="513892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841248" y="535838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841248" y="557784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a:hlinkClick action="ppaction://hlinksldjump" r:id="rId12"/>
          </p:cNvPr>
          <p:cNvSpPr/>
          <p:nvPr/>
        </p:nvSpPr>
        <p:spPr>
          <a:xfrm>
            <a:off x="841248" y="579729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All holdings, scored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whole book, scored  (page 2 of 2)</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41</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only · as of 2026-07-27</a:t>
            </a:r>
          </a:p>
        </p:txBody>
      </p:sp>
      <p:sp>
        <p:nvSpPr>
          <p:cNvPr id="17" name="TextBox 16"/>
          <p:cNvSpPr txBox="1"/>
          <p:nvPr/>
        </p:nvSpPr>
        <p:spPr>
          <a:xfrm>
            <a:off x="914400" y="1783080"/>
            <a:ext cx="195553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HOLDING</a:t>
            </a:r>
          </a:p>
        </p:txBody>
      </p:sp>
      <p:sp>
        <p:nvSpPr>
          <p:cNvPr id="18" name="TextBox 17"/>
          <p:cNvSpPr txBox="1"/>
          <p:nvPr/>
        </p:nvSpPr>
        <p:spPr>
          <a:xfrm>
            <a:off x="3016239" y="1783080"/>
            <a:ext cx="2165719"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SECTOR</a:t>
            </a:r>
          </a:p>
        </p:txBody>
      </p:sp>
      <p:sp>
        <p:nvSpPr>
          <p:cNvPr id="19" name="TextBox 18"/>
          <p:cNvSpPr txBox="1"/>
          <p:nvPr/>
        </p:nvSpPr>
        <p:spPr>
          <a:xfrm>
            <a:off x="5328263" y="1783080"/>
            <a:ext cx="904615"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WT %</a:t>
            </a:r>
          </a:p>
        </p:txBody>
      </p:sp>
      <p:sp>
        <p:nvSpPr>
          <p:cNvPr id="20" name="TextBox 19"/>
          <p:cNvSpPr txBox="1"/>
          <p:nvPr/>
        </p:nvSpPr>
        <p:spPr>
          <a:xfrm>
            <a:off x="6379183" y="1783080"/>
            <a:ext cx="1430075" cy="219456"/>
          </a:xfrm>
          <a:prstGeom prst="rect">
            <a:avLst/>
          </a:prstGeom>
          <a:noFill/>
        </p:spPr>
        <p:txBody>
          <a:bodyPr wrap="square" anchor="ctr" lIns="0" rIns="0" tIns="0" bIns="0">
            <a:spAutoFit/>
          </a:bodyPr>
          <a:lstStyle/>
          <a:p>
            <a:pPr algn="l">
              <a:spcBef>
                <a:spcPts val="0"/>
              </a:spcBef>
              <a:spcAft>
                <a:spcPts val="0"/>
              </a:spcAft>
            </a:pPr>
            <a:r>
              <a:rPr sz="750" b="1" i="0" spc="200">
                <a:solidFill>
                  <a:srgbClr val="6B7280"/>
                </a:solidFill>
                <a:latin typeface="Bahnschrift"/>
              </a:rPr>
              <a:t>IONIC</a:t>
            </a:r>
          </a:p>
        </p:txBody>
      </p:sp>
      <p:sp>
        <p:nvSpPr>
          <p:cNvPr id="21" name="TextBox 20"/>
          <p:cNvSpPr txBox="1"/>
          <p:nvPr/>
        </p:nvSpPr>
        <p:spPr>
          <a:xfrm>
            <a:off x="7955563"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3Y</a:t>
            </a:r>
          </a:p>
        </p:txBody>
      </p:sp>
      <p:sp>
        <p:nvSpPr>
          <p:cNvPr id="22" name="TextBox 21"/>
          <p:cNvSpPr txBox="1"/>
          <p:nvPr/>
        </p:nvSpPr>
        <p:spPr>
          <a:xfrm>
            <a:off x="8901391" y="1783080"/>
            <a:ext cx="799523" cy="219456"/>
          </a:xfrm>
          <a:prstGeom prst="rect">
            <a:avLst/>
          </a:prstGeom>
          <a:noFill/>
        </p:spPr>
        <p:txBody>
          <a:bodyPr wrap="square" anchor="ctr" lIns="0" rIns="0" tIns="0" bIns="0">
            <a:spAutoFit/>
          </a:bodyPr>
          <a:lstStyle/>
          <a:p>
            <a:pPr algn="r">
              <a:spcBef>
                <a:spcPts val="0"/>
              </a:spcBef>
              <a:spcAft>
                <a:spcPts val="0"/>
              </a:spcAft>
            </a:pPr>
            <a:r>
              <a:rPr sz="750" b="1" i="0" spc="200">
                <a:solidFill>
                  <a:srgbClr val="6B7280"/>
                </a:solidFill>
                <a:latin typeface="Bahnschrift"/>
              </a:rPr>
              <a:t>1Y</a:t>
            </a:r>
          </a:p>
        </p:txBody>
      </p:sp>
      <p:sp>
        <p:nvSpPr>
          <p:cNvPr id="23" name="TextBox 22"/>
          <p:cNvSpPr txBox="1"/>
          <p:nvPr/>
        </p:nvSpPr>
        <p:spPr>
          <a:xfrm>
            <a:off x="9847219" y="1783080"/>
            <a:ext cx="1430075" cy="219456"/>
          </a:xfrm>
          <a:prstGeom prst="rect">
            <a:avLst/>
          </a:prstGeom>
          <a:noFill/>
        </p:spPr>
        <p:txBody>
          <a:bodyPr wrap="square" anchor="ctr" lIns="0" rIns="0" tIns="0" bIns="0">
            <a:spAutoFit/>
          </a:bodyPr>
          <a:lstStyle/>
          <a:p>
            <a:pPr algn="ctr">
              <a:spcBef>
                <a:spcPts val="0"/>
              </a:spcBef>
              <a:spcAft>
                <a:spcPts val="0"/>
              </a:spcAft>
            </a:pPr>
            <a:r>
              <a:rPr sz="750" b="1" i="0" spc="200">
                <a:solidFill>
                  <a:srgbClr val="6B7280"/>
                </a:solidFill>
                <a:latin typeface="Bahnschrift"/>
              </a:rPr>
              <a:t>CALL</a:t>
            </a:r>
          </a:p>
        </p:txBody>
      </p:sp>
      <p:sp>
        <p:nvSpPr>
          <p:cNvPr id="24" name="Rectangle 23"/>
          <p:cNvSpPr/>
          <p:nvPr/>
        </p:nvSpPr>
        <p:spPr>
          <a:xfrm>
            <a:off x="841248" y="2039112"/>
            <a:ext cx="10509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2084831"/>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MOSCHIP</a:t>
            </a:r>
          </a:p>
        </p:txBody>
      </p:sp>
      <p:sp>
        <p:nvSpPr>
          <p:cNvPr id="26" name="TextBox 25"/>
          <p:cNvSpPr txBox="1"/>
          <p:nvPr/>
        </p:nvSpPr>
        <p:spPr>
          <a:xfrm>
            <a:off x="3016239" y="2084831"/>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IT</a:t>
            </a:r>
          </a:p>
        </p:txBody>
      </p:sp>
      <p:sp>
        <p:nvSpPr>
          <p:cNvPr id="27" name="TextBox 26"/>
          <p:cNvSpPr txBox="1"/>
          <p:nvPr/>
        </p:nvSpPr>
        <p:spPr>
          <a:xfrm>
            <a:off x="5328263" y="2084831"/>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0.04</a:t>
            </a:r>
          </a:p>
        </p:txBody>
      </p:sp>
      <p:sp>
        <p:nvSpPr>
          <p:cNvPr id="28" name="Rectangle 27"/>
          <p:cNvSpPr/>
          <p:nvPr/>
        </p:nvSpPr>
        <p:spPr>
          <a:xfrm>
            <a:off x="6379183" y="217627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79183" y="2176272"/>
            <a:ext cx="11521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35215" y="214884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83271" y="209854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18</a:t>
            </a:r>
          </a:p>
        </p:txBody>
      </p:sp>
      <p:sp>
        <p:nvSpPr>
          <p:cNvPr id="32" name="TextBox 31"/>
          <p:cNvSpPr txBox="1"/>
          <p:nvPr/>
        </p:nvSpPr>
        <p:spPr>
          <a:xfrm>
            <a:off x="7955563"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18</a:t>
            </a:r>
          </a:p>
        </p:txBody>
      </p:sp>
      <p:sp>
        <p:nvSpPr>
          <p:cNvPr id="33" name="TextBox 32"/>
          <p:cNvSpPr txBox="1"/>
          <p:nvPr/>
        </p:nvSpPr>
        <p:spPr>
          <a:xfrm>
            <a:off x="8901391" y="2084831"/>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18</a:t>
            </a:r>
          </a:p>
        </p:txBody>
      </p:sp>
      <p:sp>
        <p:nvSpPr>
          <p:cNvPr id="34" name="Rounded Rectangle 33"/>
          <p:cNvSpPr/>
          <p:nvPr/>
        </p:nvSpPr>
        <p:spPr>
          <a:xfrm>
            <a:off x="9847219" y="2075688"/>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847219" y="207020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6" name="Rectangle 35"/>
          <p:cNvSpPr/>
          <p:nvPr/>
        </p:nvSpPr>
        <p:spPr>
          <a:xfrm>
            <a:off x="841248" y="2285999"/>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4400" y="2304287"/>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MOVALUE</a:t>
            </a:r>
          </a:p>
        </p:txBody>
      </p:sp>
      <p:sp>
        <p:nvSpPr>
          <p:cNvPr id="38" name="TextBox 37"/>
          <p:cNvSpPr txBox="1"/>
          <p:nvPr/>
        </p:nvSpPr>
        <p:spPr>
          <a:xfrm>
            <a:off x="3016239" y="2304287"/>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Passive/Factor ETF</a:t>
            </a:r>
          </a:p>
        </p:txBody>
      </p:sp>
      <p:sp>
        <p:nvSpPr>
          <p:cNvPr id="39" name="TextBox 38"/>
          <p:cNvSpPr txBox="1"/>
          <p:nvPr/>
        </p:nvSpPr>
        <p:spPr>
          <a:xfrm>
            <a:off x="5328263" y="2304287"/>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0.04</a:t>
            </a:r>
          </a:p>
        </p:txBody>
      </p:sp>
      <p:sp>
        <p:nvSpPr>
          <p:cNvPr id="40" name="Rectangle 39"/>
          <p:cNvSpPr/>
          <p:nvPr/>
        </p:nvSpPr>
        <p:spPr>
          <a:xfrm>
            <a:off x="6379183" y="2395727"/>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79183" y="2395727"/>
            <a:ext cx="22402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635215" y="236829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83271" y="2318003"/>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35</a:t>
            </a:r>
          </a:p>
        </p:txBody>
      </p:sp>
      <p:sp>
        <p:nvSpPr>
          <p:cNvPr id="44" name="TextBox 43"/>
          <p:cNvSpPr txBox="1"/>
          <p:nvPr/>
        </p:nvSpPr>
        <p:spPr>
          <a:xfrm>
            <a:off x="7955563"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35</a:t>
            </a:r>
          </a:p>
        </p:txBody>
      </p:sp>
      <p:sp>
        <p:nvSpPr>
          <p:cNvPr id="45" name="TextBox 44"/>
          <p:cNvSpPr txBox="1"/>
          <p:nvPr/>
        </p:nvSpPr>
        <p:spPr>
          <a:xfrm>
            <a:off x="8901391" y="2304287"/>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35</a:t>
            </a:r>
          </a:p>
        </p:txBody>
      </p:sp>
      <p:sp>
        <p:nvSpPr>
          <p:cNvPr id="46" name="Rounded Rectangle 45"/>
          <p:cNvSpPr/>
          <p:nvPr/>
        </p:nvSpPr>
        <p:spPr>
          <a:xfrm>
            <a:off x="9847219" y="2295144"/>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47219" y="228965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48" name="Rectangle 47"/>
          <p:cNvSpPr/>
          <p:nvPr/>
        </p:nvSpPr>
        <p:spPr>
          <a:xfrm>
            <a:off x="841248" y="250545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252374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SJVN</a:t>
            </a:r>
          </a:p>
        </p:txBody>
      </p:sp>
      <p:sp>
        <p:nvSpPr>
          <p:cNvPr id="50" name="TextBox 49"/>
          <p:cNvSpPr txBox="1"/>
          <p:nvPr/>
        </p:nvSpPr>
        <p:spPr>
          <a:xfrm>
            <a:off x="3016239" y="252374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Power</a:t>
            </a:r>
          </a:p>
        </p:txBody>
      </p:sp>
      <p:sp>
        <p:nvSpPr>
          <p:cNvPr id="51" name="TextBox 50"/>
          <p:cNvSpPr txBox="1"/>
          <p:nvPr/>
        </p:nvSpPr>
        <p:spPr>
          <a:xfrm>
            <a:off x="5328263" y="252374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0.03</a:t>
            </a:r>
          </a:p>
        </p:txBody>
      </p:sp>
      <p:sp>
        <p:nvSpPr>
          <p:cNvPr id="52" name="Rectangle 51"/>
          <p:cNvSpPr/>
          <p:nvPr/>
        </p:nvSpPr>
        <p:spPr>
          <a:xfrm>
            <a:off x="6379183" y="261518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79183" y="2615184"/>
            <a:ext cx="200985"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635215" y="258775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083271" y="253746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31</a:t>
            </a:r>
          </a:p>
        </p:txBody>
      </p:sp>
      <p:sp>
        <p:nvSpPr>
          <p:cNvPr id="56" name="TextBox 55"/>
          <p:cNvSpPr txBox="1"/>
          <p:nvPr/>
        </p:nvSpPr>
        <p:spPr>
          <a:xfrm>
            <a:off x="7955563"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31</a:t>
            </a:r>
          </a:p>
        </p:txBody>
      </p:sp>
      <p:sp>
        <p:nvSpPr>
          <p:cNvPr id="57" name="TextBox 56"/>
          <p:cNvSpPr txBox="1"/>
          <p:nvPr/>
        </p:nvSpPr>
        <p:spPr>
          <a:xfrm>
            <a:off x="8901391" y="252374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29</a:t>
            </a:r>
          </a:p>
        </p:txBody>
      </p:sp>
      <p:sp>
        <p:nvSpPr>
          <p:cNvPr id="58" name="Rounded Rectangle 57"/>
          <p:cNvSpPr/>
          <p:nvPr/>
        </p:nvSpPr>
        <p:spPr>
          <a:xfrm>
            <a:off x="9847219" y="251460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847219" y="250911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60" name="Rectangle 59"/>
          <p:cNvSpPr/>
          <p:nvPr/>
        </p:nvSpPr>
        <p:spPr>
          <a:xfrm>
            <a:off x="841248" y="272491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274320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MUFIN</a:t>
            </a:r>
          </a:p>
        </p:txBody>
      </p:sp>
      <p:sp>
        <p:nvSpPr>
          <p:cNvPr id="62" name="TextBox 61"/>
          <p:cNvSpPr txBox="1"/>
          <p:nvPr/>
        </p:nvSpPr>
        <p:spPr>
          <a:xfrm>
            <a:off x="3016239" y="274320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63" name="TextBox 62"/>
          <p:cNvSpPr txBox="1"/>
          <p:nvPr/>
        </p:nvSpPr>
        <p:spPr>
          <a:xfrm>
            <a:off x="5328263" y="274320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0.02</a:t>
            </a:r>
          </a:p>
        </p:txBody>
      </p:sp>
      <p:sp>
        <p:nvSpPr>
          <p:cNvPr id="64" name="Rectangle 63"/>
          <p:cNvSpPr/>
          <p:nvPr/>
        </p:nvSpPr>
        <p:spPr>
          <a:xfrm>
            <a:off x="6379183" y="283464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79183" y="2834640"/>
            <a:ext cx="12801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635215" y="280720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83271" y="275691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20</a:t>
            </a:r>
          </a:p>
        </p:txBody>
      </p:sp>
      <p:sp>
        <p:nvSpPr>
          <p:cNvPr id="68" name="TextBox 67"/>
          <p:cNvSpPr txBox="1"/>
          <p:nvPr/>
        </p:nvSpPr>
        <p:spPr>
          <a:xfrm>
            <a:off x="7955563"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20</a:t>
            </a:r>
          </a:p>
        </p:txBody>
      </p:sp>
      <p:sp>
        <p:nvSpPr>
          <p:cNvPr id="69" name="TextBox 68"/>
          <p:cNvSpPr txBox="1"/>
          <p:nvPr/>
        </p:nvSpPr>
        <p:spPr>
          <a:xfrm>
            <a:off x="8901391" y="274320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20</a:t>
            </a:r>
          </a:p>
        </p:txBody>
      </p:sp>
      <p:sp>
        <p:nvSpPr>
          <p:cNvPr id="70" name="Rounded Rectangle 69"/>
          <p:cNvSpPr/>
          <p:nvPr/>
        </p:nvSpPr>
        <p:spPr>
          <a:xfrm>
            <a:off x="9847219" y="2734056"/>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847219" y="272856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72" name="Rectangle 71"/>
          <p:cNvSpPr/>
          <p:nvPr/>
        </p:nvSpPr>
        <p:spPr>
          <a:xfrm>
            <a:off x="841248" y="294436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14400" y="2962656"/>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MOM30IETF</a:t>
            </a:r>
          </a:p>
        </p:txBody>
      </p:sp>
      <p:sp>
        <p:nvSpPr>
          <p:cNvPr id="74" name="TextBox 73"/>
          <p:cNvSpPr txBox="1"/>
          <p:nvPr/>
        </p:nvSpPr>
        <p:spPr>
          <a:xfrm>
            <a:off x="3016239" y="2962656"/>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Passive/Factor ETF</a:t>
            </a:r>
          </a:p>
        </p:txBody>
      </p:sp>
      <p:sp>
        <p:nvSpPr>
          <p:cNvPr id="75" name="TextBox 74"/>
          <p:cNvSpPr txBox="1"/>
          <p:nvPr/>
        </p:nvSpPr>
        <p:spPr>
          <a:xfrm>
            <a:off x="5328263" y="2962656"/>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0.02</a:t>
            </a:r>
          </a:p>
        </p:txBody>
      </p:sp>
      <p:sp>
        <p:nvSpPr>
          <p:cNvPr id="76" name="Rectangle 75"/>
          <p:cNvSpPr/>
          <p:nvPr/>
        </p:nvSpPr>
        <p:spPr>
          <a:xfrm>
            <a:off x="6379183" y="3054096"/>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379183" y="3054096"/>
            <a:ext cx="22402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635215" y="3026664"/>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083271" y="2976372"/>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35</a:t>
            </a:r>
          </a:p>
        </p:txBody>
      </p:sp>
      <p:sp>
        <p:nvSpPr>
          <p:cNvPr id="80" name="TextBox 79"/>
          <p:cNvSpPr txBox="1"/>
          <p:nvPr/>
        </p:nvSpPr>
        <p:spPr>
          <a:xfrm>
            <a:off x="7955563"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35</a:t>
            </a:r>
          </a:p>
        </p:txBody>
      </p:sp>
      <p:sp>
        <p:nvSpPr>
          <p:cNvPr id="81" name="TextBox 80"/>
          <p:cNvSpPr txBox="1"/>
          <p:nvPr/>
        </p:nvSpPr>
        <p:spPr>
          <a:xfrm>
            <a:off x="8901391" y="2962656"/>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35</a:t>
            </a:r>
          </a:p>
        </p:txBody>
      </p:sp>
      <p:sp>
        <p:nvSpPr>
          <p:cNvPr id="82" name="Rounded Rectangle 81"/>
          <p:cNvSpPr/>
          <p:nvPr/>
        </p:nvSpPr>
        <p:spPr>
          <a:xfrm>
            <a:off x="9847219" y="2953512"/>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847219" y="2948025"/>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84" name="Rectangle 83"/>
          <p:cNvSpPr/>
          <p:nvPr/>
        </p:nvSpPr>
        <p:spPr>
          <a:xfrm>
            <a:off x="841248" y="3163824"/>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4400" y="3182112"/>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UCOBANK</a:t>
            </a:r>
          </a:p>
        </p:txBody>
      </p:sp>
      <p:sp>
        <p:nvSpPr>
          <p:cNvPr id="86" name="TextBox 85"/>
          <p:cNvSpPr txBox="1"/>
          <p:nvPr/>
        </p:nvSpPr>
        <p:spPr>
          <a:xfrm>
            <a:off x="3016239" y="3182112"/>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Financials</a:t>
            </a:r>
          </a:p>
        </p:txBody>
      </p:sp>
      <p:sp>
        <p:nvSpPr>
          <p:cNvPr id="87" name="TextBox 86"/>
          <p:cNvSpPr txBox="1"/>
          <p:nvPr/>
        </p:nvSpPr>
        <p:spPr>
          <a:xfrm>
            <a:off x="5328263" y="3182112"/>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0.02</a:t>
            </a:r>
          </a:p>
        </p:txBody>
      </p:sp>
      <p:sp>
        <p:nvSpPr>
          <p:cNvPr id="88" name="Rectangle 87"/>
          <p:cNvSpPr/>
          <p:nvPr/>
        </p:nvSpPr>
        <p:spPr>
          <a:xfrm>
            <a:off x="6379183" y="3273552"/>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379183" y="3273552"/>
            <a:ext cx="27459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635215" y="3246120"/>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083271" y="3195828"/>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43</a:t>
            </a:r>
          </a:p>
        </p:txBody>
      </p:sp>
      <p:sp>
        <p:nvSpPr>
          <p:cNvPr id="92" name="TextBox 91"/>
          <p:cNvSpPr txBox="1"/>
          <p:nvPr/>
        </p:nvSpPr>
        <p:spPr>
          <a:xfrm>
            <a:off x="7955563"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43</a:t>
            </a:r>
          </a:p>
        </p:txBody>
      </p:sp>
      <p:sp>
        <p:nvSpPr>
          <p:cNvPr id="93" name="TextBox 92"/>
          <p:cNvSpPr txBox="1"/>
          <p:nvPr/>
        </p:nvSpPr>
        <p:spPr>
          <a:xfrm>
            <a:off x="8901391" y="3182112"/>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44</a:t>
            </a:r>
          </a:p>
        </p:txBody>
      </p:sp>
      <p:sp>
        <p:nvSpPr>
          <p:cNvPr id="94" name="Rounded Rectangle 93"/>
          <p:cNvSpPr/>
          <p:nvPr/>
        </p:nvSpPr>
        <p:spPr>
          <a:xfrm>
            <a:off x="9847219" y="3172968"/>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847219" y="3167481"/>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96" name="Rectangle 95"/>
          <p:cNvSpPr/>
          <p:nvPr/>
        </p:nvSpPr>
        <p:spPr>
          <a:xfrm>
            <a:off x="841248" y="3383280"/>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14400" y="3401568"/>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PRAGBOSIMI</a:t>
            </a:r>
          </a:p>
        </p:txBody>
      </p:sp>
      <p:sp>
        <p:nvSpPr>
          <p:cNvPr id="98" name="TextBox 97"/>
          <p:cNvSpPr txBox="1"/>
          <p:nvPr/>
        </p:nvSpPr>
        <p:spPr>
          <a:xfrm>
            <a:off x="3016239" y="3401568"/>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Textiles/Chemicals</a:t>
            </a:r>
          </a:p>
        </p:txBody>
      </p:sp>
      <p:sp>
        <p:nvSpPr>
          <p:cNvPr id="99" name="TextBox 98"/>
          <p:cNvSpPr txBox="1"/>
          <p:nvPr/>
        </p:nvSpPr>
        <p:spPr>
          <a:xfrm>
            <a:off x="5328263" y="3401568"/>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0.01</a:t>
            </a:r>
          </a:p>
        </p:txBody>
      </p:sp>
      <p:sp>
        <p:nvSpPr>
          <p:cNvPr id="100" name="Rectangle 99"/>
          <p:cNvSpPr/>
          <p:nvPr/>
        </p:nvSpPr>
        <p:spPr>
          <a:xfrm>
            <a:off x="6379183" y="3493008"/>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6379183" y="3493008"/>
            <a:ext cx="3200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635215" y="3465576"/>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083271" y="3415284"/>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a:t>
            </a:r>
          </a:p>
        </p:txBody>
      </p:sp>
      <p:sp>
        <p:nvSpPr>
          <p:cNvPr id="104" name="TextBox 103"/>
          <p:cNvSpPr txBox="1"/>
          <p:nvPr/>
        </p:nvSpPr>
        <p:spPr>
          <a:xfrm>
            <a:off x="7955563"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a:t>
            </a:r>
          </a:p>
        </p:txBody>
      </p:sp>
      <p:sp>
        <p:nvSpPr>
          <p:cNvPr id="105" name="TextBox 104"/>
          <p:cNvSpPr txBox="1"/>
          <p:nvPr/>
        </p:nvSpPr>
        <p:spPr>
          <a:xfrm>
            <a:off x="8901391" y="3401568"/>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5</a:t>
            </a:r>
          </a:p>
        </p:txBody>
      </p:sp>
      <p:sp>
        <p:nvSpPr>
          <p:cNvPr id="106" name="Rounded Rectangle 105"/>
          <p:cNvSpPr/>
          <p:nvPr/>
        </p:nvSpPr>
        <p:spPr>
          <a:xfrm>
            <a:off x="9847219" y="3392424"/>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847219" y="3386937"/>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08" name="Rectangle 107"/>
          <p:cNvSpPr/>
          <p:nvPr/>
        </p:nvSpPr>
        <p:spPr>
          <a:xfrm>
            <a:off x="841248" y="3602736"/>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14400" y="3621024"/>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ITC</a:t>
            </a:r>
          </a:p>
        </p:txBody>
      </p:sp>
      <p:sp>
        <p:nvSpPr>
          <p:cNvPr id="110" name="TextBox 109"/>
          <p:cNvSpPr txBox="1"/>
          <p:nvPr/>
        </p:nvSpPr>
        <p:spPr>
          <a:xfrm>
            <a:off x="3016239" y="3621024"/>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FMCG</a:t>
            </a:r>
          </a:p>
        </p:txBody>
      </p:sp>
      <p:sp>
        <p:nvSpPr>
          <p:cNvPr id="111" name="TextBox 110"/>
          <p:cNvSpPr txBox="1"/>
          <p:nvPr/>
        </p:nvSpPr>
        <p:spPr>
          <a:xfrm>
            <a:off x="5328263" y="3621024"/>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0.01</a:t>
            </a:r>
          </a:p>
        </p:txBody>
      </p:sp>
      <p:sp>
        <p:nvSpPr>
          <p:cNvPr id="112" name="Rectangle 111"/>
          <p:cNvSpPr/>
          <p:nvPr/>
        </p:nvSpPr>
        <p:spPr>
          <a:xfrm>
            <a:off x="6379183" y="3712464"/>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6379183" y="3712464"/>
            <a:ext cx="38212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6635215" y="36850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083271" y="36347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60</a:t>
            </a:r>
          </a:p>
        </p:txBody>
      </p:sp>
      <p:sp>
        <p:nvSpPr>
          <p:cNvPr id="116" name="TextBox 115"/>
          <p:cNvSpPr txBox="1"/>
          <p:nvPr/>
        </p:nvSpPr>
        <p:spPr>
          <a:xfrm>
            <a:off x="7955563"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60</a:t>
            </a:r>
          </a:p>
        </p:txBody>
      </p:sp>
      <p:sp>
        <p:nvSpPr>
          <p:cNvPr id="117" name="TextBox 116"/>
          <p:cNvSpPr txBox="1"/>
          <p:nvPr/>
        </p:nvSpPr>
        <p:spPr>
          <a:xfrm>
            <a:off x="8901391" y="3621024"/>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45</a:t>
            </a:r>
          </a:p>
        </p:txBody>
      </p:sp>
      <p:sp>
        <p:nvSpPr>
          <p:cNvPr id="118" name="Rounded Rectangle 117"/>
          <p:cNvSpPr/>
          <p:nvPr/>
        </p:nvSpPr>
        <p:spPr>
          <a:xfrm>
            <a:off x="9847219" y="3611880"/>
            <a:ext cx="1280160"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847219" y="360639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120" name="Rectangle 119"/>
          <p:cNvSpPr/>
          <p:nvPr/>
        </p:nvSpPr>
        <p:spPr>
          <a:xfrm>
            <a:off x="841248" y="3822192"/>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14400" y="3840480"/>
            <a:ext cx="1955535" cy="219456"/>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RPOWER</a:t>
            </a:r>
          </a:p>
        </p:txBody>
      </p:sp>
      <p:sp>
        <p:nvSpPr>
          <p:cNvPr id="122" name="TextBox 121"/>
          <p:cNvSpPr txBox="1"/>
          <p:nvPr/>
        </p:nvSpPr>
        <p:spPr>
          <a:xfrm>
            <a:off x="3016239" y="3840480"/>
            <a:ext cx="2165719" cy="219456"/>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Power</a:t>
            </a:r>
          </a:p>
        </p:txBody>
      </p:sp>
      <p:sp>
        <p:nvSpPr>
          <p:cNvPr id="123" name="TextBox 122"/>
          <p:cNvSpPr txBox="1"/>
          <p:nvPr/>
        </p:nvSpPr>
        <p:spPr>
          <a:xfrm>
            <a:off x="5328263" y="3840480"/>
            <a:ext cx="904615"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0.00</a:t>
            </a:r>
          </a:p>
        </p:txBody>
      </p:sp>
      <p:sp>
        <p:nvSpPr>
          <p:cNvPr id="124" name="Rectangle 123"/>
          <p:cNvSpPr/>
          <p:nvPr/>
        </p:nvSpPr>
        <p:spPr>
          <a:xfrm>
            <a:off x="6379183" y="3931920"/>
            <a:ext cx="64008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6379183" y="3931920"/>
            <a:ext cx="24515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6635215" y="3904488"/>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083271" y="3854196"/>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38</a:t>
            </a:r>
          </a:p>
        </p:txBody>
      </p:sp>
      <p:sp>
        <p:nvSpPr>
          <p:cNvPr id="128" name="TextBox 127"/>
          <p:cNvSpPr txBox="1"/>
          <p:nvPr/>
        </p:nvSpPr>
        <p:spPr>
          <a:xfrm>
            <a:off x="7955563"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38</a:t>
            </a:r>
          </a:p>
        </p:txBody>
      </p:sp>
      <p:sp>
        <p:nvSpPr>
          <p:cNvPr id="129" name="TextBox 128"/>
          <p:cNvSpPr txBox="1"/>
          <p:nvPr/>
        </p:nvSpPr>
        <p:spPr>
          <a:xfrm>
            <a:off x="8901391" y="3840480"/>
            <a:ext cx="799523" cy="219456"/>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31</a:t>
            </a:r>
          </a:p>
        </p:txBody>
      </p:sp>
      <p:sp>
        <p:nvSpPr>
          <p:cNvPr id="130" name="Rounded Rectangle 129"/>
          <p:cNvSpPr/>
          <p:nvPr/>
        </p:nvSpPr>
        <p:spPr>
          <a:xfrm>
            <a:off x="9847219" y="3831336"/>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9847219" y="3825849"/>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32" name="Rectangle 131"/>
          <p:cNvSpPr/>
          <p:nvPr/>
        </p:nvSpPr>
        <p:spPr>
          <a:xfrm>
            <a:off x="841248" y="4041648"/>
            <a:ext cx="10509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a:hlinkClick action="ppaction://hlinksldjump" r:id="rId3"/>
          </p:cNvPr>
          <p:cNvSpPr/>
          <p:nvPr/>
        </p:nvSpPr>
        <p:spPr>
          <a:xfrm>
            <a:off x="841248" y="2066543"/>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41248" y="2285999"/>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a:hlinkClick action="ppaction://hlinksldjump" r:id="rId4"/>
          </p:cNvPr>
          <p:cNvSpPr/>
          <p:nvPr/>
        </p:nvSpPr>
        <p:spPr>
          <a:xfrm>
            <a:off x="841248" y="250545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a:hlinkClick action="ppaction://hlinksldjump" r:id="rId5"/>
          </p:cNvPr>
          <p:cNvSpPr/>
          <p:nvPr/>
        </p:nvSpPr>
        <p:spPr>
          <a:xfrm>
            <a:off x="841248" y="272491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a:hlinkClick action="ppaction://hlinksldjump" r:id="rId6"/>
          </p:cNvPr>
          <p:cNvSpPr/>
          <p:nvPr/>
        </p:nvSpPr>
        <p:spPr>
          <a:xfrm>
            <a:off x="841248" y="2944368"/>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841248" y="3163824"/>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a:hlinkClick action="ppaction://hlinksldjump" r:id="rId7"/>
          </p:cNvPr>
          <p:cNvSpPr/>
          <p:nvPr/>
        </p:nvSpPr>
        <p:spPr>
          <a:xfrm>
            <a:off x="841248" y="3383280"/>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841248" y="3602736"/>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a:hlinkClick action="ppaction://hlinksldjump" r:id="rId8"/>
          </p:cNvPr>
          <p:cNvSpPr/>
          <p:nvPr/>
        </p:nvSpPr>
        <p:spPr>
          <a:xfrm>
            <a:off x="841248" y="3822192"/>
            <a:ext cx="10509199" cy="219456"/>
          </a:xfrm>
          <a:prstGeom prst="rect">
            <a:avLst/>
          </a:prstGeom>
          <a:solidFill>
            <a:srgbClr val="FFFFFF">
              <a:alpha val="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Reliance Industries Ltd.  ·  Quality below peers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42</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27</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47429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27</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27  ·  1Y 32  ·  17.95%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Bottom-quartile on quality and value versus large-cap peers; momentum has turned negative even as segment EBITDA hit a record.</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durable step-up in ROE / margins back to peer level, sustained over several quarters.</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Jio Financial Services Ltd.  ·  Rich valuation, thin margin of safety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43</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38</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5845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38</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38  ·  1Y 38  ·  1.75%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Priced at ~1.1x book for a ~14% normalised return on equity the business is currently earning only 1-2% of, leaving little margin of safety.</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valuation reset (through time or price) that restores a real margin of safety at our reverse-DCF hurdle.</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SBFC Finance Ltd.  ·  Rich valuation, thin margin of safety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44</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26</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44302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26</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26  ·  1Y 41  ·  0.29%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Fundamentals are intact, profit up ~29% YoY, asset quality stable, but at ~29x earnings the stock isn't cheap enough to justify holding through the recent price fall.</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valuation reset (through time or price) that restores a real margin of safety at our reverse-DCF hurdle.</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Manappuram Finance Ltd.  ·  Rich valuation, thin margin of safety</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45</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45</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78876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45</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45  ·  1Y 39  ·  0.11%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Real tailwinds (a large institutional stake approval, easier gold-loan rules) are already more than priced in at ~29x earnings against revenue that is still falling.</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valuation reset (through time or price) that restores a real margin of safety at our reverse-DCF hurdle.</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SJVN Ltd.  ·  Balance-sheet strain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46</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31</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545531"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31</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31  ·  1Y 29  ·  0.03%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large expansion programme (over 5,000MW under construction against ~3,100MW already live) is funded at a stretched debt-to-equity of ~2.3x, while the stock trades near 43x earnings, priced for flawless execution.</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Genuine deleveraging · interest cover back above our comfort level and net-debt/EBITDA normalising toward peers.</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Reliance Power Ltd.  ·  Weaker forward risk-reward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47</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38</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6540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38</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38  ·  1Y 31  ·  0.00%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weakest quality score of the names reviewed, negative earnings, three years of flat revenue and a 62% price decline over the past year; balance-sheet risk flagged.</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better forward risk/reward · a cheaper entry or a clear fundamental inflection.</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Rita Finance and Leasing Ltd.  ·  Governance concern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48</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15</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260603"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15</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15  ·  1Y 15  ·  0.21%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very small listed entity (~Rs13cr market cap on ~Rs1.3cr of sales) with the large majority of promoter holding pledged and an exchange query on unusual price movement. Exit on limit orders, not market orders.</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clean forensic re-audit · related-party / pledge / governance concerns resolved and two consecutive clean reporting cycles.</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Lancor Holdings Ltd.  ·  Weaker forward risk-reward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49</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28</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486460"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28</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28  ·  1Y 28  ·  0.08%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Reported profit is being carried almost entirely by a one-off litigation recovery, not the underlying business, core operating margin has collapsed and working-capital days have blown out.</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better forward risk/reward · a cheaper entry or a clear fundamental inflection.</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Summit Securities Ltd.  ·  Weaker forward risk-reward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50</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30</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521207"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30</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30  ·  1Y 30  ·  0.07%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holding company trading at a steep discount to its investment book with no debt, but no catalyst to close that discount and no dividend history, too small a position to justify the wait.</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better forward risk/reward · a cheaper entry or a clear fundamental inflection.</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2026-07-27.</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Network18 Media &amp; Investments Ltd.  ·  Weaker forward risk-reward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51</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22</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382219"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22</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22  ·  1Y 22  ·  0.05%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Still loss-making over the last two quarters with negative return on equity; the bull case rests on an unlisted media stake with no public valuation, a story, not yet a thesis.</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better forward risk/reward · a cheaper entry or a clear fundamental inflection.</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MosChip Technologies Ltd.  ·  Weaker forward risk-reward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52</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18</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312724"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18</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18  ·  1Y 18  ·  0.04%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Trading at a rich ~129x earnings against an 11% return on equity, with promoter holding diluted through repeated share issuances and both revenue and profit declining quarter-on-quarter.</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better forward risk/reward · a cheaper entry or a clear fundamental inflection.</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Ionic Score flags candidates; the Portfolio Review team confirms every call.</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Mufin Green Finance Ltd.  ·  Weaker forward risk-reward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53</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20</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347472"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20</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20  ·  1Y 20  ·  0.02%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steep mismatch between price (~88x earnings) and quality (under 7% return on equity), with negative operating cash flow despite a reported accounting profit.</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better forward risk/reward · a cheaper entry or a clear fundamental inflection.</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Scores flag, people decide: each call here carries a named reviewer's sign-off.</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Prag Bosimi Synthetics Ltd.  ·  Weaker forward risk-reward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54</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5</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86868"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5</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5  ·  1Y 5  ·  0.01%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Negative net worth and negative return on capital, and the company's own auditors have flagged material doubt over its ability to continue as a going concern.</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better forward risk/reward · a cheaper entry or a clear fundamental inflection.</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Sell rationale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ICICI Prudential Nifty 200 Momentum 30 ETF  ·  Weaker forward risk-reward</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55</a:t>
            </a:r>
          </a:p>
        </p:txBody>
      </p:sp>
      <p:sp>
        <p:nvSpPr>
          <p:cNvPr id="15" name="TextBox 14"/>
          <p:cNvSpPr txBox="1"/>
          <p:nvPr/>
        </p:nvSpPr>
        <p:spPr>
          <a:xfrm>
            <a:off x="841248" y="1591056"/>
            <a:ext cx="1828800" cy="182880"/>
          </a:xfrm>
          <a:prstGeom prst="rect">
            <a:avLst/>
          </a:prstGeom>
          <a:noFill/>
        </p:spPr>
        <p:txBody>
          <a:bodyPr wrap="square" anchor="t" lIns="0" rIns="0" tIns="0" bIns="0">
            <a:spAutoFit/>
          </a:bodyPr>
          <a:lstStyle/>
          <a:p>
            <a:pPr algn="l">
              <a:spcBef>
                <a:spcPts val="0"/>
              </a:spcBef>
              <a:spcAft>
                <a:spcPts val="0"/>
              </a:spcAft>
            </a:pPr>
            <a:r>
              <a:rPr sz="850" b="1" i="0" spc="140">
                <a:solidFill>
                  <a:srgbClr val="6B7280"/>
                </a:solidFill>
                <a:latin typeface="Bahnschrift"/>
              </a:rPr>
              <a:t>IONIC SCORE</a:t>
            </a:r>
          </a:p>
        </p:txBody>
      </p:sp>
      <p:sp>
        <p:nvSpPr>
          <p:cNvPr id="16" name="TextBox 15"/>
          <p:cNvSpPr txBox="1"/>
          <p:nvPr/>
        </p:nvSpPr>
        <p:spPr>
          <a:xfrm>
            <a:off x="841248" y="1783080"/>
            <a:ext cx="1188720" cy="365760"/>
          </a:xfrm>
          <a:prstGeom prst="rect">
            <a:avLst/>
          </a:prstGeom>
          <a:noFill/>
        </p:spPr>
        <p:txBody>
          <a:bodyPr wrap="square" anchor="t" lIns="0" rIns="0" tIns="0" bIns="0">
            <a:spAutoFit/>
          </a:bodyPr>
          <a:lstStyle/>
          <a:p>
            <a:pPr algn="l">
              <a:spcBef>
                <a:spcPts val="0"/>
              </a:spcBef>
              <a:spcAft>
                <a:spcPts val="0"/>
              </a:spcAft>
            </a:pPr>
            <a:r>
              <a:rPr sz="2400" b="0" i="0">
                <a:solidFill>
                  <a:srgbClr val="16233B"/>
                </a:solidFill>
                <a:latin typeface="Bahnschrift"/>
              </a:rPr>
              <a:t>35</a:t>
            </a:r>
          </a:p>
        </p:txBody>
      </p:sp>
      <p:sp>
        <p:nvSpPr>
          <p:cNvPr id="17" name="Rectangle 16"/>
          <p:cNvSpPr/>
          <p:nvPr/>
        </p:nvSpPr>
        <p:spPr>
          <a:xfrm>
            <a:off x="2075688" y="1883664"/>
            <a:ext cx="1737360" cy="64008"/>
          </a:xfrm>
          <a:prstGeom prst="rect">
            <a:avLst/>
          </a:prstGeom>
          <a:solidFill>
            <a:srgbClr val="EE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075688" y="1883664"/>
            <a:ext cx="608076" cy="64008"/>
          </a:xfrm>
          <a:prstGeom prst="rect">
            <a:avLst/>
          </a:prstGeom>
          <a:solidFill>
            <a:srgbClr val="4A5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70632" y="1856232"/>
            <a:ext cx="10972" cy="118872"/>
          </a:xfrm>
          <a:prstGeom prst="rect">
            <a:avLst/>
          </a:prstGeom>
          <a:solidFill>
            <a:srgbClr val="162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77056" y="1805940"/>
            <a:ext cx="411480" cy="219456"/>
          </a:xfrm>
          <a:prstGeom prst="rect">
            <a:avLst/>
          </a:prstGeom>
          <a:noFill/>
        </p:spPr>
        <p:txBody>
          <a:bodyPr wrap="square" anchor="ctr" lIns="0" rIns="0" tIns="0" bIns="0">
            <a:spAutoFit/>
          </a:bodyPr>
          <a:lstStyle/>
          <a:p>
            <a:pPr algn="l">
              <a:spcBef>
                <a:spcPts val="0"/>
              </a:spcBef>
              <a:spcAft>
                <a:spcPts val="0"/>
              </a:spcAft>
            </a:pPr>
            <a:r>
              <a:rPr sz="900" b="0" i="0">
                <a:solidFill>
                  <a:srgbClr val="16233B"/>
                </a:solidFill>
                <a:latin typeface="Bahnschrift"/>
              </a:rPr>
              <a:t>35</a:t>
            </a:r>
          </a:p>
        </p:txBody>
      </p:sp>
      <p:sp>
        <p:nvSpPr>
          <p:cNvPr id="21" name="TextBox 20"/>
          <p:cNvSpPr txBox="1"/>
          <p:nvPr/>
        </p:nvSpPr>
        <p:spPr>
          <a:xfrm>
            <a:off x="4224528" y="1783080"/>
            <a:ext cx="2743200" cy="274320"/>
          </a:xfrm>
          <a:prstGeom prst="rect">
            <a:avLst/>
          </a:prstGeom>
          <a:noFill/>
        </p:spPr>
        <p:txBody>
          <a:bodyPr wrap="square" anchor="t" lIns="0" rIns="0" tIns="0" bIns="0">
            <a:spAutoFit/>
          </a:bodyPr>
          <a:lstStyle/>
          <a:p>
            <a:pPr algn="l">
              <a:spcBef>
                <a:spcPts val="0"/>
              </a:spcBef>
              <a:spcAft>
                <a:spcPts val="0"/>
              </a:spcAft>
            </a:pPr>
            <a:r>
              <a:rPr sz="1000" b="0" i="0">
                <a:solidFill>
                  <a:srgbClr val="6B7280"/>
                </a:solidFill>
                <a:latin typeface="Bahnschrift"/>
              </a:rPr>
              <a:t>3Y 35  ·  1Y 35  ·  0.02% of book</a:t>
            </a:r>
          </a:p>
        </p:txBody>
      </p:sp>
      <p:sp>
        <p:nvSpPr>
          <p:cNvPr id="22" name="Rounded Rectangle 21"/>
          <p:cNvSpPr/>
          <p:nvPr/>
        </p:nvSpPr>
        <p:spPr>
          <a:xfrm>
            <a:off x="10070287" y="1737360"/>
            <a:ext cx="128016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70287" y="1731873"/>
            <a:ext cx="128016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24" name="Rounded Rectangle 23"/>
          <p:cNvSpPr/>
          <p:nvPr/>
        </p:nvSpPr>
        <p:spPr>
          <a:xfrm>
            <a:off x="841248" y="2286000"/>
            <a:ext cx="5117439" cy="1737360"/>
          </a:xfrm>
          <a:prstGeom prst="roundRect">
            <a:avLst>
              <a:gd name="adj" fmla="val 4000"/>
            </a:avLst>
          </a:prstGeom>
          <a:solidFill>
            <a:srgbClr val="FB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41248" y="2286000"/>
            <a:ext cx="54864" cy="1737360"/>
          </a:xfrm>
          <a:prstGeom prst="rect">
            <a:avLst/>
          </a:prstGeom>
          <a:solidFill>
            <a:srgbClr val="E04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2416"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E0402F"/>
                </a:solidFill>
                <a:latin typeface="Bahnschrift"/>
              </a:rPr>
              <a:t>WHY IT'S ON THE SELL LIST</a:t>
            </a:r>
          </a:p>
        </p:txBody>
      </p:sp>
      <p:sp>
        <p:nvSpPr>
          <p:cNvPr id="27" name="TextBox 26"/>
          <p:cNvSpPr txBox="1"/>
          <p:nvPr/>
        </p:nvSpPr>
        <p:spPr>
          <a:xfrm>
            <a:off x="1042416"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liquid, well-tracked momentum ETF; momentum factors carry a regime-dependent risk our house view treats as a standing exception, so this one stays a Sell while other factor funds in this account are Held.</a:t>
            </a:r>
          </a:p>
        </p:txBody>
      </p:sp>
      <p:sp>
        <p:nvSpPr>
          <p:cNvPr id="28" name="Rounded Rectangle 27"/>
          <p:cNvSpPr/>
          <p:nvPr/>
        </p:nvSpPr>
        <p:spPr>
          <a:xfrm>
            <a:off x="6233007" y="22860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3007" y="22860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4175" y="24140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THE BULL WE REJECTED</a:t>
            </a:r>
          </a:p>
        </p:txBody>
      </p:sp>
      <p:sp>
        <p:nvSpPr>
          <p:cNvPr id="31" name="TextBox 30"/>
          <p:cNvSpPr txBox="1"/>
          <p:nvPr/>
        </p:nvSpPr>
        <p:spPr>
          <a:xfrm>
            <a:off x="6434175" y="26883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2" name="Rounded Rectangle 31"/>
          <p:cNvSpPr/>
          <p:nvPr/>
        </p:nvSpPr>
        <p:spPr>
          <a:xfrm>
            <a:off x="841248" y="4114800"/>
            <a:ext cx="5117439" cy="17373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41248" y="4114800"/>
            <a:ext cx="54864" cy="17373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REVERSE-DCF: MARGIN OF SAFETY</a:t>
            </a:r>
          </a:p>
        </p:txBody>
      </p:sp>
      <p:sp>
        <p:nvSpPr>
          <p:cNvPr id="35" name="TextBox 34"/>
          <p:cNvSpPr txBox="1"/>
          <p:nvPr/>
        </p:nvSpPr>
        <p:spPr>
          <a:xfrm>
            <a:off x="1042416"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On file with the analyst desk.</a:t>
            </a:r>
          </a:p>
        </p:txBody>
      </p:sp>
      <p:sp>
        <p:nvSpPr>
          <p:cNvPr id="36" name="Rounded Rectangle 35"/>
          <p:cNvSpPr/>
          <p:nvPr/>
        </p:nvSpPr>
        <p:spPr>
          <a:xfrm>
            <a:off x="6233007" y="4114800"/>
            <a:ext cx="5117439" cy="17373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33007" y="4114800"/>
            <a:ext cx="54864" cy="17373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34175" y="4242816"/>
            <a:ext cx="4751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WOULD CHANGE OUR MIND</a:t>
            </a:r>
          </a:p>
        </p:txBody>
      </p:sp>
      <p:sp>
        <p:nvSpPr>
          <p:cNvPr id="39" name="TextBox 38"/>
          <p:cNvSpPr txBox="1"/>
          <p:nvPr/>
        </p:nvSpPr>
        <p:spPr>
          <a:xfrm>
            <a:off x="6434175" y="4517136"/>
            <a:ext cx="4751679" cy="12801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better forward risk/reward · a cheaper entry or a clear fundamental inflection.</a:t>
            </a:r>
          </a:p>
        </p:txBody>
      </p:sp>
      <p:sp>
        <p:nvSpPr>
          <p:cNvPr id="40" name="TextBox 39">
            <a:hlinkClick action="ppaction://hlinksldjump" r:id="rId3"/>
          </p:cNvPr>
          <p:cNvSpPr txBox="1"/>
          <p:nvPr/>
        </p:nvSpPr>
        <p:spPr>
          <a:xfrm>
            <a:off x="8881567" y="5870448"/>
            <a:ext cx="2468880" cy="182880"/>
          </a:xfrm>
          <a:prstGeom prst="rect">
            <a:avLst/>
          </a:prstGeom>
          <a:noFill/>
        </p:spPr>
        <p:txBody>
          <a:bodyPr wrap="none" anchor="t" lIns="0" rIns="0" tIns="0" bIns="0">
            <a:spAutoFit/>
          </a:bodyPr>
          <a:lstStyle/>
          <a:p>
            <a:pPr algn="r">
              <a:spcBef>
                <a:spcPts val="0"/>
              </a:spcBef>
              <a:spcAft>
                <a:spcPts val="0"/>
              </a:spcAft>
            </a:pPr>
            <a:r>
              <a:rPr sz="750" b="1" i="0" spc="60">
                <a:solidFill>
                  <a:srgbClr val="6B7280"/>
                </a:solidFill>
                <a:latin typeface="Bahnschrift"/>
              </a:rPr>
              <a:t>BACK TO THE SELL LIST  ·  </a:t>
            </a:r>
            <a:r>
              <a:rPr sz="800" b="1" i="0">
                <a:solidFill>
                  <a:srgbClr val="8C95DE"/>
                </a:solidFill>
                <a:latin typeface="Bahnschrift"/>
              </a:rPr>
              <a:t>p.15</a:t>
            </a:r>
          </a:p>
        </p:txBody>
      </p:sp>
      <p:sp>
        <p:nvSpPr>
          <p:cNvPr id="41" name="TextBox 40"/>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Numbers shortlist, judgment decides: every call passed a human review.</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Analyst-confirmed Sell. Point-in-time as of 2026-07-27.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HDFC Hybrid Equity Fund - Direct Plan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56</a:t>
            </a:r>
          </a:p>
        </p:txBody>
      </p:sp>
      <p:sp>
        <p:nvSpPr>
          <p:cNvPr id="15" name="Rounded Rectangle 14"/>
          <p:cNvSpPr/>
          <p:nvPr/>
        </p:nvSpPr>
        <p:spPr>
          <a:xfrm>
            <a:off x="9795967" y="1572768"/>
            <a:ext cx="1554480" cy="219456"/>
          </a:xfrm>
          <a:prstGeom prst="roundRect">
            <a:avLst>
              <a:gd name="adj" fmla="val 50000"/>
            </a:avLst>
          </a:prstGeom>
          <a:solidFill>
            <a:srgbClr val="F5F6FC"/>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6B7280"/>
                </a:solidFill>
                <a:latin typeface="Bahnschrift"/>
              </a:rPr>
              <a:t>WATCH</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33</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D</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-3.6%</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n/a      ·      Info ratio  n/a      ·      Max DD (3y)  -12.6%      ·      Worst 1-yr  -7.8%      ·      Sortino  1.01      ·      Calmar  0.55      ·      TER  0.55%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NIFTY 50 Hybrid Composite Debt 65:35 · all risk stats on the common 3-year window</a:t>
            </a:r>
          </a:p>
        </p:txBody>
      </p:sp>
      <p:sp>
        <p:nvSpPr>
          <p:cNvPr id="36" name="Rounded Rectangle 35"/>
          <p:cNvSpPr/>
          <p:nvPr/>
        </p:nvSpPr>
        <p:spPr>
          <a:xfrm>
            <a:off x="841248" y="3566160"/>
            <a:ext cx="4892040" cy="11887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 y="3566160"/>
            <a:ext cx="54864" cy="11887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WE ACT</a:t>
            </a:r>
          </a:p>
        </p:txBody>
      </p:sp>
      <p:sp>
        <p:nvSpPr>
          <p:cNvPr id="39" name="TextBox 38"/>
          <p:cNvSpPr txBox="1"/>
          <p:nvPr/>
        </p:nvSpPr>
        <p:spPr>
          <a:xfrm>
            <a:off x="1042416" y="3968496"/>
            <a:ext cx="4526279" cy="7315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Behind 3.6pp/3y and 5.7pp/1y, the clearest laggard in the book.</a:t>
            </a:r>
          </a:p>
        </p:txBody>
      </p:sp>
      <p:sp>
        <p:nvSpPr>
          <p:cNvPr id="40" name="Rounded Rectangle 39"/>
          <p:cNvSpPr/>
          <p:nvPr/>
        </p:nvSpPr>
        <p:spPr>
          <a:xfrm>
            <a:off x="5916168" y="3566160"/>
            <a:ext cx="5434279" cy="118872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16168" y="3566160"/>
            <a:ext cx="54864" cy="118872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3" name="TextBox 42"/>
          <p:cNvSpPr txBox="1"/>
          <p:nvPr/>
        </p:nvSpPr>
        <p:spPr>
          <a:xfrm>
            <a:off x="6117336" y="3968496"/>
            <a:ext cx="5068519" cy="7315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Watch. Net alpha -3.6% p.a., down-capture n/a%, worst year -7.8%. Max drawdown on record: -12.6%.</a:t>
            </a:r>
          </a:p>
        </p:txBody>
      </p:sp>
      <p:sp>
        <p:nvSpPr>
          <p:cNvPr id="44" name="TextBox 4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Aditya Birla Sun Life Regular Savings Fund - Direct Plan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57</a:t>
            </a:r>
          </a:p>
        </p:txBody>
      </p:sp>
      <p:sp>
        <p:nvSpPr>
          <p:cNvPr id="15" name="Rounded Rectangle 14"/>
          <p:cNvSpPr/>
          <p:nvPr/>
        </p:nvSpPr>
        <p:spPr>
          <a:xfrm>
            <a:off x="9795967" y="1572768"/>
            <a:ext cx="155448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61</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B</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+2.4%</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n/a      ·      Info ratio  n/a      ·      Max DD (3y)  -3.0%      ·      Worst 1-yr  4.1%      ·      Sortino  4.17      ·      Calmar  3.05      ·      TER  0.55%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NIFTY 50 Hybrid Composite Debt 15:85 · all risk stats on the common 3-year window</a:t>
            </a:r>
          </a:p>
        </p:txBody>
      </p:sp>
      <p:sp>
        <p:nvSpPr>
          <p:cNvPr id="36" name="Rounded Rectangle 35"/>
          <p:cNvSpPr/>
          <p:nvPr/>
        </p:nvSpPr>
        <p:spPr>
          <a:xfrm>
            <a:off x="841248" y="3566160"/>
            <a:ext cx="4892040" cy="1581912"/>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 y="3566160"/>
            <a:ext cx="54864" cy="15819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WE ACT</a:t>
            </a:r>
          </a:p>
        </p:txBody>
      </p:sp>
      <p:sp>
        <p:nvSpPr>
          <p:cNvPr id="39" name="TextBox 38"/>
          <p:cNvSpPr txBox="1"/>
          <p:nvPr/>
        </p:nvSpPr>
        <p:spPr>
          <a:xfrm>
            <a:off x="1042416" y="3968496"/>
            <a:ext cx="4526279" cy="11247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Ahead ~2.4pp/3y, ~3.5pp/1y on performance. Sell reflects the Principal's 2026-07-29 client-specific instruction to exit all liquid/debt/arbitrage and debt-dominant conservative-hybrid holdings to cash, not a quality concern with the scheme.</a:t>
            </a:r>
          </a:p>
        </p:txBody>
      </p:sp>
      <p:sp>
        <p:nvSpPr>
          <p:cNvPr id="40" name="Rounded Rectangle 39"/>
          <p:cNvSpPr/>
          <p:nvPr/>
        </p:nvSpPr>
        <p:spPr>
          <a:xfrm>
            <a:off x="5916168" y="3566160"/>
            <a:ext cx="5434279" cy="1581912"/>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16168" y="3566160"/>
            <a:ext cx="54864" cy="1581912"/>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3" name="TextBox 42"/>
          <p:cNvSpPr txBox="1"/>
          <p:nvPr/>
        </p:nvSpPr>
        <p:spPr>
          <a:xfrm>
            <a:off x="6117336" y="3968496"/>
            <a:ext cx="5068519" cy="11247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Sell. Net alpha +2.4% p.a., down-capture n/a%, worst year +4.1%. Max drawdown on record: -3.0%.</a:t>
            </a:r>
          </a:p>
        </p:txBody>
      </p:sp>
      <p:sp>
        <p:nvSpPr>
          <p:cNvPr id="44" name="TextBox 4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HDFC Hybrid Debt Fund - Direct Plan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58</a:t>
            </a:r>
          </a:p>
        </p:txBody>
      </p:sp>
      <p:sp>
        <p:nvSpPr>
          <p:cNvPr id="15" name="Rounded Rectangle 14"/>
          <p:cNvSpPr/>
          <p:nvPr/>
        </p:nvSpPr>
        <p:spPr>
          <a:xfrm>
            <a:off x="9795967" y="1572768"/>
            <a:ext cx="155448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56</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B</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+1.7%</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n/a      ·      Info ratio  n/a      ·      Max DD (3y)  -3.6%      ·      Worst 1-yr  -0.2%      ·      Sortino  3.19      ·      Calmar  2.24      ·      TER  0.55%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NIFTY 50 Hybrid Composite Debt 15:85 · all risk stats on the common 3-year window</a:t>
            </a:r>
          </a:p>
        </p:txBody>
      </p:sp>
      <p:sp>
        <p:nvSpPr>
          <p:cNvPr id="36" name="Rounded Rectangle 35"/>
          <p:cNvSpPr/>
          <p:nvPr/>
        </p:nvSpPr>
        <p:spPr>
          <a:xfrm>
            <a:off x="841248" y="3566160"/>
            <a:ext cx="4892040" cy="1581912"/>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 y="3566160"/>
            <a:ext cx="54864" cy="1581912"/>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WE ACT</a:t>
            </a:r>
          </a:p>
        </p:txBody>
      </p:sp>
      <p:sp>
        <p:nvSpPr>
          <p:cNvPr id="39" name="TextBox 38"/>
          <p:cNvSpPr txBox="1"/>
          <p:nvPr/>
        </p:nvSpPr>
        <p:spPr>
          <a:xfrm>
            <a:off x="1042416" y="3968496"/>
            <a:ext cx="4526279" cy="11247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Ahead ~1.75pp/3y vs its own stated benchmark on performance. Sell reflects the Principal's 2026-07-29 client-specific instruction to exit all liquid/debt/arbitrage and debt-dominant conservative-hybrid holdings to cash, not a quality concern with the scheme.</a:t>
            </a:r>
          </a:p>
        </p:txBody>
      </p:sp>
      <p:sp>
        <p:nvSpPr>
          <p:cNvPr id="40" name="Rounded Rectangle 39"/>
          <p:cNvSpPr/>
          <p:nvPr/>
        </p:nvSpPr>
        <p:spPr>
          <a:xfrm>
            <a:off x="5916168" y="3566160"/>
            <a:ext cx="5434279" cy="1581912"/>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16168" y="3566160"/>
            <a:ext cx="54864" cy="1581912"/>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3" name="TextBox 42"/>
          <p:cNvSpPr txBox="1"/>
          <p:nvPr/>
        </p:nvSpPr>
        <p:spPr>
          <a:xfrm>
            <a:off x="6117336" y="3968496"/>
            <a:ext cx="5068519" cy="1124712"/>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Sell. Net alpha +1.7% p.a., down-capture n/a%, worst year -0.2%. Max drawdown on record: -3.6%.</a:t>
            </a:r>
          </a:p>
        </p:txBody>
      </p:sp>
      <p:sp>
        <p:nvSpPr>
          <p:cNvPr id="44" name="TextBox 4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SBI Gilt Fund - Direct Plan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59</a:t>
            </a:r>
          </a:p>
        </p:txBody>
      </p:sp>
      <p:sp>
        <p:nvSpPr>
          <p:cNvPr id="15" name="Rounded Rectangle 14"/>
          <p:cNvSpPr/>
          <p:nvPr/>
        </p:nvSpPr>
        <p:spPr>
          <a:xfrm>
            <a:off x="9795967" y="1572768"/>
            <a:ext cx="155448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50</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C</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+0.0%</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n/a      ·      Info ratio  n/a      ·      Max DD (3y)  -3.2%      ·      Worst 1-yr  0.0%      ·      Sortino  4.04      ·      Calmar  2.14      ·      TER  0.55%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Gilt category median · all risk stats on the common 3-year window</a:t>
            </a:r>
          </a:p>
        </p:txBody>
      </p:sp>
      <p:sp>
        <p:nvSpPr>
          <p:cNvPr id="36" name="Rounded Rectangle 35"/>
          <p:cNvSpPr/>
          <p:nvPr/>
        </p:nvSpPr>
        <p:spPr>
          <a:xfrm>
            <a:off x="841248" y="3566160"/>
            <a:ext cx="4892040" cy="19202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 y="3566160"/>
            <a:ext cx="54864" cy="19202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WE ACT</a:t>
            </a:r>
          </a:p>
        </p:txBody>
      </p:sp>
      <p:sp>
        <p:nvSpPr>
          <p:cNvPr id="39" name="TextBox 38"/>
          <p:cNvSpPr txBox="1"/>
          <p:nvPr/>
        </p:nvSpPr>
        <p:spPr>
          <a:xfrm>
            <a:off x="1042416" y="3968496"/>
            <a:ext cx="4526279"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Sitting exactly on the category median on performance (CRISIL Dynamic Gilt index return unpublished; category median of 22 direct-growth gilt schemes substituted, disclosed). Sell reflects the Principal's 2026-07-29 client-specific instruction to exit all liquid/debt/arbitrage holdings to cash, not a quality concern with the scheme.</a:t>
            </a:r>
          </a:p>
        </p:txBody>
      </p:sp>
      <p:sp>
        <p:nvSpPr>
          <p:cNvPr id="40" name="Rounded Rectangle 39"/>
          <p:cNvSpPr/>
          <p:nvPr/>
        </p:nvSpPr>
        <p:spPr>
          <a:xfrm>
            <a:off x="5916168" y="3566160"/>
            <a:ext cx="5434279" cy="19202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16168" y="3566160"/>
            <a:ext cx="54864" cy="19202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3" name="TextBox 42"/>
          <p:cNvSpPr txBox="1"/>
          <p:nvPr/>
        </p:nvSpPr>
        <p:spPr>
          <a:xfrm>
            <a:off x="6117336" y="3968496"/>
            <a:ext cx="5068519"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Sell. Net alpha +0.0% p.a., down-capture n/a%, worst year +0.0%. Max drawdown on record: -3.2%.</a:t>
            </a:r>
          </a:p>
        </p:txBody>
      </p:sp>
      <p:sp>
        <p:nvSpPr>
          <p:cNvPr id="44" name="TextBox 4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HDFC Gilt Fund - Direct Plan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60</a:t>
            </a:r>
          </a:p>
        </p:txBody>
      </p:sp>
      <p:sp>
        <p:nvSpPr>
          <p:cNvPr id="15" name="Rounded Rectangle 14"/>
          <p:cNvSpPr/>
          <p:nvPr/>
        </p:nvSpPr>
        <p:spPr>
          <a:xfrm>
            <a:off x="9795967" y="1572768"/>
            <a:ext cx="155448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50</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C</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+0.1%</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n/a      ·      Info ratio  n/a      ·      Max DD (3y)  -3.0%      ·      Worst 1-yr  -0.8%      ·      Sortino  4.00      ·      Calmar  2.32      ·      TER  0.55%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Gilt category median · all risk stats on the common 3-year window</a:t>
            </a:r>
          </a:p>
        </p:txBody>
      </p:sp>
      <p:sp>
        <p:nvSpPr>
          <p:cNvPr id="36" name="Rounded Rectangle 35"/>
          <p:cNvSpPr/>
          <p:nvPr/>
        </p:nvSpPr>
        <p:spPr>
          <a:xfrm>
            <a:off x="841248" y="3566160"/>
            <a:ext cx="4892040" cy="1751076"/>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 y="3566160"/>
            <a:ext cx="54864" cy="1751076"/>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WE ACT</a:t>
            </a:r>
          </a:p>
        </p:txBody>
      </p:sp>
      <p:sp>
        <p:nvSpPr>
          <p:cNvPr id="39" name="TextBox 38"/>
          <p:cNvSpPr txBox="1"/>
          <p:nvPr/>
        </p:nvSpPr>
        <p:spPr>
          <a:xfrm>
            <a:off x="1042416" y="3968496"/>
            <a:ext cx="4526279" cy="129387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whisker above category median both windows on performance, held alongside SBI Gilt Fund, same category, same single risk factor (sovereign duration). Sell reflects the Principal's 2026-07-29 client-specific instruction to exit all liquid/debt/arbitrage holdings to cash, not a quality concern with either scheme.</a:t>
            </a:r>
          </a:p>
        </p:txBody>
      </p:sp>
      <p:sp>
        <p:nvSpPr>
          <p:cNvPr id="40" name="Rounded Rectangle 39"/>
          <p:cNvSpPr/>
          <p:nvPr/>
        </p:nvSpPr>
        <p:spPr>
          <a:xfrm>
            <a:off x="5916168" y="3566160"/>
            <a:ext cx="5434279" cy="1751076"/>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16168" y="3566160"/>
            <a:ext cx="54864" cy="175107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3" name="TextBox 42"/>
          <p:cNvSpPr txBox="1"/>
          <p:nvPr/>
        </p:nvSpPr>
        <p:spPr>
          <a:xfrm>
            <a:off x="6117336" y="3968496"/>
            <a:ext cx="5068519" cy="1293876"/>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Sell. Net alpha +0.1% p.a., down-capture n/a%, worst year -0.8%. Max drawdown on record: -3.0%.</a:t>
            </a:r>
          </a:p>
        </p:txBody>
      </p:sp>
      <p:sp>
        <p:nvSpPr>
          <p:cNvPr id="44" name="TextBox 4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UTI Flexi Cap Fund - Direct Plan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61</a:t>
            </a:r>
          </a:p>
        </p:txBody>
      </p:sp>
      <p:sp>
        <p:nvSpPr>
          <p:cNvPr id="15" name="Rounded Rectangle 14"/>
          <p:cNvSpPr/>
          <p:nvPr/>
        </p:nvSpPr>
        <p:spPr>
          <a:xfrm>
            <a:off x="9795967" y="1572768"/>
            <a:ext cx="1554480" cy="219456"/>
          </a:xfrm>
          <a:prstGeom prst="roundRect">
            <a:avLst>
              <a:gd name="adj" fmla="val 50000"/>
            </a:avLst>
          </a:prstGeom>
          <a:solidFill>
            <a:srgbClr val="F5F6FC"/>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6B7280"/>
                </a:solidFill>
                <a:latin typeface="Bahnschrift"/>
              </a:rPr>
              <a:t>WATCH</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37</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D</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-3.3%</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n/a      ·      Info ratio  n/a      ·      Max DD (3y)  -20.1%      ·      Worst 1-yr  -10.2%      ·      Sortino  1.03      ·      Calmar  0.46      ·      TER  0.55%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NIFTY 500 TRI · all risk stats on the common 3-year window</a:t>
            </a:r>
          </a:p>
        </p:txBody>
      </p:sp>
      <p:sp>
        <p:nvSpPr>
          <p:cNvPr id="36" name="Rounded Rectangle 35"/>
          <p:cNvSpPr/>
          <p:nvPr/>
        </p:nvSpPr>
        <p:spPr>
          <a:xfrm>
            <a:off x="841248" y="3566160"/>
            <a:ext cx="4892040" cy="11887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 y="3566160"/>
            <a:ext cx="54864" cy="11887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WE ACT</a:t>
            </a:r>
          </a:p>
        </p:txBody>
      </p:sp>
      <p:sp>
        <p:nvSpPr>
          <p:cNvPr id="39" name="TextBox 38"/>
          <p:cNvSpPr txBox="1"/>
          <p:nvPr/>
        </p:nvSpPr>
        <p:spPr>
          <a:xfrm>
            <a:off x="1042416" y="3968496"/>
            <a:ext cx="4526279" cy="7315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Behind ~3.3pp/3y and ~3.1pp/1y; lags the flexi-cap category average (16.0%/3y) harder than it lags the index.</a:t>
            </a:r>
          </a:p>
        </p:txBody>
      </p:sp>
      <p:sp>
        <p:nvSpPr>
          <p:cNvPr id="40" name="Rounded Rectangle 39"/>
          <p:cNvSpPr/>
          <p:nvPr/>
        </p:nvSpPr>
        <p:spPr>
          <a:xfrm>
            <a:off x="5916168" y="3566160"/>
            <a:ext cx="5434279" cy="118872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16168" y="3566160"/>
            <a:ext cx="54864" cy="118872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3" name="TextBox 42"/>
          <p:cNvSpPr txBox="1"/>
          <p:nvPr/>
        </p:nvSpPr>
        <p:spPr>
          <a:xfrm>
            <a:off x="6117336" y="3968496"/>
            <a:ext cx="5068519" cy="7315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Watch. Net alpha -3.3% p.a., down-capture n/a%, worst year -10.2%. Max drawdown on record: -20.1%.</a:t>
            </a:r>
          </a:p>
        </p:txBody>
      </p:sp>
      <p:sp>
        <p:nvSpPr>
          <p:cNvPr id="44" name="TextBox 4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UTI Mid Cap Fund - Direct Plan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62</a:t>
            </a:r>
          </a:p>
        </p:txBody>
      </p:sp>
      <p:sp>
        <p:nvSpPr>
          <p:cNvPr id="15" name="Rounded Rectangle 14"/>
          <p:cNvSpPr/>
          <p:nvPr/>
        </p:nvSpPr>
        <p:spPr>
          <a:xfrm>
            <a:off x="9795967" y="1572768"/>
            <a:ext cx="1554480" cy="219456"/>
          </a:xfrm>
          <a:prstGeom prst="roundRect">
            <a:avLst>
              <a:gd name="adj" fmla="val 50000"/>
            </a:avLst>
          </a:prstGeom>
          <a:solidFill>
            <a:srgbClr val="F5F6FC"/>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6B7280"/>
                </a:solidFill>
                <a:latin typeface="Bahnschrift"/>
              </a:rPr>
              <a:t>WATCH</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30</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D</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-5.3%</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n/a      ·      Info ratio  n/a      ·      Max DD (3y)  -22.7%      ·      Worst 1-yr  -8.5%      ·      Sortino  1.22      ·      Calmar  0.60      ·      TER  0.55%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NIFTY Midcap 150 TRI · all risk stats on the common 3-year window</a:t>
            </a:r>
          </a:p>
        </p:txBody>
      </p:sp>
      <p:sp>
        <p:nvSpPr>
          <p:cNvPr id="36" name="Rounded Rectangle 35"/>
          <p:cNvSpPr/>
          <p:nvPr/>
        </p:nvSpPr>
        <p:spPr>
          <a:xfrm>
            <a:off x="841248" y="3566160"/>
            <a:ext cx="4892040" cy="11887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 y="3566160"/>
            <a:ext cx="54864" cy="11887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WE ACT</a:t>
            </a:r>
          </a:p>
        </p:txBody>
      </p:sp>
      <p:sp>
        <p:nvSpPr>
          <p:cNvPr id="39" name="TextBox 38"/>
          <p:cNvSpPr txBox="1"/>
          <p:nvPr/>
        </p:nvSpPr>
        <p:spPr>
          <a:xfrm>
            <a:off x="1042416" y="3968496"/>
            <a:ext cx="4526279" cy="7315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Behind ~5.3pp/3y and ~3.7pp/1y; ranked 34th in category on 3y, the widest sustained gap in the equity sleeve.</a:t>
            </a:r>
          </a:p>
        </p:txBody>
      </p:sp>
      <p:sp>
        <p:nvSpPr>
          <p:cNvPr id="40" name="Rounded Rectangle 39"/>
          <p:cNvSpPr/>
          <p:nvPr/>
        </p:nvSpPr>
        <p:spPr>
          <a:xfrm>
            <a:off x="5916168" y="3566160"/>
            <a:ext cx="5434279" cy="118872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16168" y="3566160"/>
            <a:ext cx="54864" cy="118872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3" name="TextBox 42"/>
          <p:cNvSpPr txBox="1"/>
          <p:nvPr/>
        </p:nvSpPr>
        <p:spPr>
          <a:xfrm>
            <a:off x="6117336" y="3968496"/>
            <a:ext cx="5068519" cy="7315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Watch. Net alpha -5.3% p.a., down-capture n/a%, worst year -8.5%. Max drawdown on record: -22.7%.</a:t>
            </a:r>
          </a:p>
        </p:txBody>
      </p:sp>
      <p:sp>
        <p:nvSpPr>
          <p:cNvPr id="44" name="TextBox 4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Aditya Birla Sun Life MNC Fund - Direct Plan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63</a:t>
            </a:r>
          </a:p>
        </p:txBody>
      </p:sp>
      <p:sp>
        <p:nvSpPr>
          <p:cNvPr id="15" name="Rounded Rectangle 14"/>
          <p:cNvSpPr/>
          <p:nvPr/>
        </p:nvSpPr>
        <p:spPr>
          <a:xfrm>
            <a:off x="9795967" y="1572768"/>
            <a:ext cx="1554480" cy="219456"/>
          </a:xfrm>
          <a:prstGeom prst="roundRect">
            <a:avLst>
              <a:gd name="adj" fmla="val 50000"/>
            </a:avLst>
          </a:prstGeom>
          <a:solidFill>
            <a:srgbClr val="F5F6FC"/>
          </a:solidFill>
          <a:ln w="9525">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6B7280"/>
                </a:solidFill>
                <a:latin typeface="Bahnschrift"/>
              </a:rPr>
              <a:t>WATCH</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25</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D</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-6.0%</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n/a      ·      Info ratio  n/a      ·      Max DD (3y)  -22.2%      ·      Worst 1-yr  -8.1%      ·      Sortino  0.99      ·      Calmar  0.41      ·      TER  0.55%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Nifty MNC TRI · all risk stats on the common 3-year window</a:t>
            </a:r>
          </a:p>
        </p:txBody>
      </p:sp>
      <p:sp>
        <p:nvSpPr>
          <p:cNvPr id="36" name="Rounded Rectangle 35"/>
          <p:cNvSpPr/>
          <p:nvPr/>
        </p:nvSpPr>
        <p:spPr>
          <a:xfrm>
            <a:off x="841248" y="3566160"/>
            <a:ext cx="4892040" cy="11887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 y="3566160"/>
            <a:ext cx="54864" cy="11887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WE ACT</a:t>
            </a:r>
          </a:p>
        </p:txBody>
      </p:sp>
      <p:sp>
        <p:nvSpPr>
          <p:cNvPr id="39" name="TextBox 38"/>
          <p:cNvSpPr txBox="1"/>
          <p:nvPr/>
        </p:nvSpPr>
        <p:spPr>
          <a:xfrm>
            <a:off x="1042416" y="3968496"/>
            <a:ext cx="4526279" cy="7315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Behind its own theme index by ~6pp on both windows, the shortfall is stock selection inside the theme, not the theme itself.</a:t>
            </a:r>
          </a:p>
        </p:txBody>
      </p:sp>
      <p:sp>
        <p:nvSpPr>
          <p:cNvPr id="40" name="Rounded Rectangle 39"/>
          <p:cNvSpPr/>
          <p:nvPr/>
        </p:nvSpPr>
        <p:spPr>
          <a:xfrm>
            <a:off x="5916168" y="3566160"/>
            <a:ext cx="5434279" cy="118872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16168" y="3566160"/>
            <a:ext cx="54864" cy="118872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3" name="TextBox 42"/>
          <p:cNvSpPr txBox="1"/>
          <p:nvPr/>
        </p:nvSpPr>
        <p:spPr>
          <a:xfrm>
            <a:off x="6117336" y="3968496"/>
            <a:ext cx="5068519" cy="7315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Watch. Net alpha -6.0% p.a., down-capture n/a%, worst year -8.1%. Max drawdown on record: -22.2%.</a:t>
            </a:r>
          </a:p>
        </p:txBody>
      </p:sp>
      <p:sp>
        <p:nvSpPr>
          <p:cNvPr id="44" name="TextBox 4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HDFC Floating Rate Debt Fund - Direct Plan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64</a:t>
            </a:r>
          </a:p>
        </p:txBody>
      </p:sp>
      <p:sp>
        <p:nvSpPr>
          <p:cNvPr id="15" name="Rounded Rectangle 14"/>
          <p:cNvSpPr/>
          <p:nvPr/>
        </p:nvSpPr>
        <p:spPr>
          <a:xfrm>
            <a:off x="9795967" y="1572768"/>
            <a:ext cx="155448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50</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C</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TER  0.55%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CRISIL Liquid Fund Index · full risk-stat battery not yet available for this scheme</a:t>
            </a:r>
          </a:p>
        </p:txBody>
      </p:sp>
      <p:sp>
        <p:nvSpPr>
          <p:cNvPr id="36" name="Rounded Rectangle 35"/>
          <p:cNvSpPr/>
          <p:nvPr/>
        </p:nvSpPr>
        <p:spPr>
          <a:xfrm>
            <a:off x="841248" y="3566160"/>
            <a:ext cx="4892040" cy="1412748"/>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 y="3566160"/>
            <a:ext cx="54864" cy="1412748"/>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WE ACT</a:t>
            </a:r>
          </a:p>
        </p:txBody>
      </p:sp>
      <p:sp>
        <p:nvSpPr>
          <p:cNvPr id="39" name="TextBox 38"/>
          <p:cNvSpPr txBox="1"/>
          <p:nvPr/>
        </p:nvSpPr>
        <p:spPr>
          <a:xfrm>
            <a:off x="1042416" y="3968496"/>
            <a:ext cx="452627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Sell reflects the Principal's 2026-07-29 client-specific instruction to exit all liquid/debt/arbitrage holdings to cash; not a concern with the scheme's mandate or management.</a:t>
            </a:r>
          </a:p>
        </p:txBody>
      </p:sp>
      <p:sp>
        <p:nvSpPr>
          <p:cNvPr id="40" name="Rounded Rectangle 39"/>
          <p:cNvSpPr/>
          <p:nvPr/>
        </p:nvSpPr>
        <p:spPr>
          <a:xfrm>
            <a:off x="5916168" y="3566160"/>
            <a:ext cx="5434279" cy="1412748"/>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16168" y="3566160"/>
            <a:ext cx="54864" cy="1412748"/>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3" name="TextBox 42"/>
          <p:cNvSpPr txBox="1"/>
          <p:nvPr/>
        </p:nvSpPr>
        <p:spPr>
          <a:xfrm>
            <a:off x="6117336" y="3968496"/>
            <a:ext cx="5068519" cy="955547"/>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Sell, on portfolio construction rather than a performance call. Sell reflects the Principal's 2026-07-29 client-specific instruction to exit all liquid/debt/arbitrage holdings to cash; not a concern with the scheme's mandate or management.</a:t>
            </a:r>
          </a:p>
        </p:txBody>
      </p:sp>
      <p:sp>
        <p:nvSpPr>
          <p:cNvPr id="44" name="TextBox 4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Scheme scorecard</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HDFC Overnight Fund - Direct Plan</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65</a:t>
            </a:r>
          </a:p>
        </p:txBody>
      </p:sp>
      <p:sp>
        <p:nvSpPr>
          <p:cNvPr id="15" name="Rounded Rectangle 14"/>
          <p:cNvSpPr/>
          <p:nvPr/>
        </p:nvSpPr>
        <p:spPr>
          <a:xfrm>
            <a:off x="9795967" y="1572768"/>
            <a:ext cx="1554480"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95967" y="1567281"/>
            <a:ext cx="1554480"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17" name="TextBox 16"/>
          <p:cNvSpPr txBox="1"/>
          <p:nvPr/>
        </p:nvSpPr>
        <p:spPr>
          <a:xfrm>
            <a:off x="841248"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49</a:t>
            </a:r>
          </a:p>
        </p:txBody>
      </p:sp>
      <p:sp>
        <p:nvSpPr>
          <p:cNvPr id="18" name="TextBox 17"/>
          <p:cNvSpPr txBox="1"/>
          <p:nvPr/>
        </p:nvSpPr>
        <p:spPr>
          <a:xfrm>
            <a:off x="841248"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FUND SCORE / 100</a:t>
            </a:r>
          </a:p>
        </p:txBody>
      </p:sp>
      <p:sp>
        <p:nvSpPr>
          <p:cNvPr id="19" name="TextBox 18"/>
          <p:cNvSpPr txBox="1"/>
          <p:nvPr/>
        </p:nvSpPr>
        <p:spPr>
          <a:xfrm>
            <a:off x="2592781"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C</a:t>
            </a:r>
          </a:p>
        </p:txBody>
      </p:sp>
      <p:sp>
        <p:nvSpPr>
          <p:cNvPr id="20" name="TextBox 19"/>
          <p:cNvSpPr txBox="1"/>
          <p:nvPr/>
        </p:nvSpPr>
        <p:spPr>
          <a:xfrm>
            <a:off x="2592781"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GRADE</a:t>
            </a:r>
          </a:p>
        </p:txBody>
      </p:sp>
      <p:sp>
        <p:nvSpPr>
          <p:cNvPr id="21" name="Rectangle 20"/>
          <p:cNvSpPr/>
          <p:nvPr/>
        </p:nvSpPr>
        <p:spPr>
          <a:xfrm>
            <a:off x="2537917"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43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3" name="TextBox 22"/>
          <p:cNvSpPr txBox="1"/>
          <p:nvPr/>
        </p:nvSpPr>
        <p:spPr>
          <a:xfrm>
            <a:off x="43443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UP-CAPTURE</a:t>
            </a:r>
          </a:p>
        </p:txBody>
      </p:sp>
      <p:sp>
        <p:nvSpPr>
          <p:cNvPr id="24" name="Rectangle 23"/>
          <p:cNvSpPr/>
          <p:nvPr/>
        </p:nvSpPr>
        <p:spPr>
          <a:xfrm>
            <a:off x="42894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95847"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6" name="TextBox 25"/>
          <p:cNvSpPr txBox="1"/>
          <p:nvPr/>
        </p:nvSpPr>
        <p:spPr>
          <a:xfrm>
            <a:off x="6095847"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DOWN-CAPTURE</a:t>
            </a:r>
          </a:p>
        </p:txBody>
      </p:sp>
      <p:sp>
        <p:nvSpPr>
          <p:cNvPr id="27" name="Rectangle 26"/>
          <p:cNvSpPr/>
          <p:nvPr/>
        </p:nvSpPr>
        <p:spPr>
          <a:xfrm>
            <a:off x="6040983"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47380"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n/a</a:t>
            </a:r>
          </a:p>
        </p:txBody>
      </p:sp>
      <p:sp>
        <p:nvSpPr>
          <p:cNvPr id="29" name="TextBox 28"/>
          <p:cNvSpPr txBox="1"/>
          <p:nvPr/>
        </p:nvSpPr>
        <p:spPr>
          <a:xfrm>
            <a:off x="7847380"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3Y HIT-RATE</a:t>
            </a:r>
          </a:p>
        </p:txBody>
      </p:sp>
      <p:sp>
        <p:nvSpPr>
          <p:cNvPr id="30" name="Rectangle 29"/>
          <p:cNvSpPr/>
          <p:nvPr/>
        </p:nvSpPr>
        <p:spPr>
          <a:xfrm>
            <a:off x="7792516"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8914" y="1783080"/>
            <a:ext cx="161437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-0.2%</a:t>
            </a:r>
          </a:p>
        </p:txBody>
      </p:sp>
      <p:sp>
        <p:nvSpPr>
          <p:cNvPr id="32" name="TextBox 31"/>
          <p:cNvSpPr txBox="1"/>
          <p:nvPr/>
        </p:nvSpPr>
        <p:spPr>
          <a:xfrm>
            <a:off x="9598914" y="2258568"/>
            <a:ext cx="161437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NET ALPHA P.A.</a:t>
            </a:r>
          </a:p>
        </p:txBody>
      </p:sp>
      <p:sp>
        <p:nvSpPr>
          <p:cNvPr id="33" name="Rectangle 32"/>
          <p:cNvSpPr/>
          <p:nvPr/>
        </p:nvSpPr>
        <p:spPr>
          <a:xfrm>
            <a:off x="9544050"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2761488"/>
            <a:ext cx="10509199" cy="219456"/>
          </a:xfrm>
          <a:prstGeom prst="rect">
            <a:avLst/>
          </a:prstGeom>
          <a:noFill/>
        </p:spPr>
        <p:txBody>
          <a:bodyPr wrap="square" anchor="t" lIns="0" rIns="0" tIns="0" bIns="0">
            <a:spAutoFit/>
          </a:bodyPr>
          <a:lstStyle/>
          <a:p>
            <a:pPr algn="l">
              <a:spcBef>
                <a:spcPts val="0"/>
              </a:spcBef>
              <a:spcAft>
                <a:spcPts val="0"/>
              </a:spcAft>
            </a:pPr>
            <a:r>
              <a:rPr sz="900" b="0" i="0">
                <a:solidFill>
                  <a:srgbClr val="16233B"/>
                </a:solidFill>
                <a:latin typeface="Bahnschrift"/>
              </a:rPr>
              <a:t>r²  n/a      ·      Info ratio  n/a      ·      Max DD (3y)  0.0%      ·      Worst 1-yr  5.2%      ·      Sortino  n/a      ·      Calmar  n/a      ·      TER  0.55%</a:t>
            </a:r>
          </a:p>
        </p:txBody>
      </p:sp>
      <p:sp>
        <p:nvSpPr>
          <p:cNvPr id="35" name="TextBox 34"/>
          <p:cNvSpPr txBox="1"/>
          <p:nvPr/>
        </p:nvSpPr>
        <p:spPr>
          <a:xfrm>
            <a:off x="841248" y="3054096"/>
            <a:ext cx="10509199" cy="146304"/>
          </a:xfrm>
          <a:prstGeom prst="rect">
            <a:avLst/>
          </a:prstGeom>
          <a:noFill/>
        </p:spPr>
        <p:txBody>
          <a:bodyPr wrap="square" anchor="t" lIns="0" rIns="0" tIns="0" bIns="0">
            <a:spAutoFit/>
          </a:bodyPr>
          <a:lstStyle/>
          <a:p>
            <a:pPr algn="l">
              <a:spcBef>
                <a:spcPts val="0"/>
              </a:spcBef>
              <a:spcAft>
                <a:spcPts val="0"/>
              </a:spcAft>
            </a:pPr>
            <a:r>
              <a:rPr sz="750" b="0" i="1">
                <a:solidFill>
                  <a:srgbClr val="6B7280"/>
                </a:solidFill>
                <a:latin typeface="Bahnschrift"/>
              </a:rPr>
              <a:t>Measured against Overnight category avg. · all risk stats on the common 3-year window</a:t>
            </a:r>
          </a:p>
        </p:txBody>
      </p:sp>
      <p:sp>
        <p:nvSpPr>
          <p:cNvPr id="36" name="Rounded Rectangle 35"/>
          <p:cNvSpPr/>
          <p:nvPr/>
        </p:nvSpPr>
        <p:spPr>
          <a:xfrm>
            <a:off x="841248" y="3566160"/>
            <a:ext cx="4892040" cy="2089404"/>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1248" y="3566160"/>
            <a:ext cx="54864" cy="208940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416" y="3694176"/>
            <a:ext cx="45262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WHY WE ACT</a:t>
            </a:r>
          </a:p>
        </p:txBody>
      </p:sp>
      <p:sp>
        <p:nvSpPr>
          <p:cNvPr id="39" name="TextBox 38"/>
          <p:cNvSpPr txBox="1"/>
          <p:nvPr/>
        </p:nvSpPr>
        <p:spPr>
          <a:xfrm>
            <a:off x="1042416" y="3968496"/>
            <a:ext cx="4526279" cy="1632204"/>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Tracking the overnight category within the expected ~0.1-0.6pp drag at 0.11% TER on performance, cash parking was doing its job. Sell reflects the Principal's 2026-07-29 client-specific instruction to exit all liquid/debt/arbitrage holdings to cash, not a performance concern. NOTE: the value of this holding is MISSING from the client's statement, see DATA_GAPS.</a:t>
            </a:r>
          </a:p>
        </p:txBody>
      </p:sp>
      <p:sp>
        <p:nvSpPr>
          <p:cNvPr id="40" name="Rounded Rectangle 39"/>
          <p:cNvSpPr/>
          <p:nvPr/>
        </p:nvSpPr>
        <p:spPr>
          <a:xfrm>
            <a:off x="5916168" y="3566160"/>
            <a:ext cx="5434279" cy="2089404"/>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16168" y="3566160"/>
            <a:ext cx="54864" cy="2089404"/>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17336" y="3694176"/>
            <a:ext cx="506851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OUR READ</a:t>
            </a:r>
          </a:p>
        </p:txBody>
      </p:sp>
      <p:sp>
        <p:nvSpPr>
          <p:cNvPr id="43" name="TextBox 42"/>
          <p:cNvSpPr txBox="1"/>
          <p:nvPr/>
        </p:nvSpPr>
        <p:spPr>
          <a:xfrm>
            <a:off x="6117336" y="3968496"/>
            <a:ext cx="5068519" cy="1632204"/>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Our read is Sell. Net alpha -0.2% p.a., down-capture n/a%, worst year +5.2%. Max drawdown on record: -0.0%.</a:t>
            </a:r>
          </a:p>
        </p:txBody>
      </p:sp>
      <p:sp>
        <p:nvSpPr>
          <p:cNvPr id="44" name="TextBox 4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Direct-plan NAV vs the scheme's own SEBI category benchmark (TRI), point-in-time · risk stats on the common 3y window · Ionic fund-quality framework.</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Score vs final call</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Where the human moved the machine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66</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All 27 direct equity holdings · quant score vs final analyst call · as of 2026-07-27</a:t>
            </a:r>
          </a:p>
        </p:txBody>
      </p:sp>
      <p:pic>
        <p:nvPicPr>
          <p:cNvPr id="17" name="Picture 16" descr="annexb_svc.png"/>
          <p:cNvPicPr>
            <a:picLocks noChangeAspect="1"/>
          </p:cNvPicPr>
          <p:nvPr/>
        </p:nvPicPr>
        <p:blipFill>
          <a:blip r:embed="rId3"/>
          <a:stretch>
            <a:fillRect/>
          </a:stretch>
        </p:blipFill>
        <p:spPr>
          <a:xfrm>
            <a:off x="841248" y="1783080"/>
            <a:ext cx="6537960" cy="3732479"/>
          </a:xfrm>
          <a:prstGeom prst="rect">
            <a:avLst/>
          </a:prstGeom>
        </p:spPr>
      </p:pic>
      <p:sp>
        <p:nvSpPr>
          <p:cNvPr id="18" name="TextBox 17"/>
          <p:cNvSpPr txBox="1"/>
          <p:nvPr/>
        </p:nvSpPr>
        <p:spPr>
          <a:xfrm>
            <a:off x="841248" y="5779008"/>
            <a:ext cx="6537960" cy="182880"/>
          </a:xfrm>
          <a:prstGeom prst="rect">
            <a:avLst/>
          </a:prstGeom>
          <a:noFill/>
        </p:spPr>
        <p:txBody>
          <a:bodyPr wrap="square" anchor="t" lIns="0" rIns="0" tIns="0" bIns="0">
            <a:spAutoFit/>
          </a:bodyPr>
          <a:lstStyle/>
          <a:p>
            <a:pPr algn="l">
              <a:spcBef>
                <a:spcPts val="0"/>
              </a:spcBef>
              <a:spcAft>
                <a:spcPts val="0"/>
              </a:spcAft>
            </a:pPr>
            <a:r>
              <a:rPr sz="800" b="0" i="1">
                <a:solidFill>
                  <a:srgbClr val="6B7280"/>
                </a:solidFill>
                <a:latin typeface="Georgia"/>
              </a:rPr>
              <a:t>Bubble = position value · gold ring = the analyst moved away from the quant read</a:t>
            </a:r>
          </a:p>
        </p:txBody>
      </p:sp>
      <p:sp>
        <p:nvSpPr>
          <p:cNvPr id="19" name="TextBox 18"/>
          <p:cNvSpPr txBox="1"/>
          <p:nvPr/>
        </p:nvSpPr>
        <p:spPr>
          <a:xfrm>
            <a:off x="7562088" y="1700784"/>
            <a:ext cx="3788359" cy="201168"/>
          </a:xfrm>
          <a:prstGeom prst="rect">
            <a:avLst/>
          </a:prstGeom>
          <a:noFill/>
        </p:spPr>
        <p:txBody>
          <a:bodyPr wrap="square" anchor="t" lIns="0" rIns="0" tIns="0" bIns="0">
            <a:spAutoFit/>
          </a:bodyPr>
          <a:lstStyle/>
          <a:p>
            <a:pPr algn="l">
              <a:spcBef>
                <a:spcPts val="0"/>
              </a:spcBef>
              <a:spcAft>
                <a:spcPts val="0"/>
              </a:spcAft>
            </a:pPr>
            <a:r>
              <a:rPr sz="900" b="1" i="0" spc="80">
                <a:solidFill>
                  <a:srgbClr val="92400E"/>
                </a:solidFill>
                <a:latin typeface="Bahnschrift"/>
              </a:rPr>
              <a:t>WHERE ANALYSTS OVERRULED THE MODEL</a:t>
            </a:r>
          </a:p>
        </p:txBody>
      </p:sp>
      <p:sp>
        <p:nvSpPr>
          <p:cNvPr id="20" name="TextBox 19"/>
          <p:cNvSpPr txBox="1"/>
          <p:nvPr/>
        </p:nvSpPr>
        <p:spPr>
          <a:xfrm>
            <a:off x="7635240" y="1956816"/>
            <a:ext cx="1141738" cy="219456"/>
          </a:xfrm>
          <a:prstGeom prst="rect">
            <a:avLst/>
          </a:prstGeom>
          <a:noFill/>
        </p:spPr>
        <p:txBody>
          <a:bodyPr wrap="square" anchor="ctr" lIns="0" rIns="0" tIns="0" bIns="0">
            <a:spAutoFit/>
          </a:bodyPr>
          <a:lstStyle/>
          <a:p>
            <a:pPr algn="l">
              <a:spcBef>
                <a:spcPts val="0"/>
              </a:spcBef>
              <a:spcAft>
                <a:spcPts val="0"/>
              </a:spcAft>
            </a:pPr>
            <a:r>
              <a:rPr sz="700" b="1" i="0" spc="200">
                <a:solidFill>
                  <a:srgbClr val="6B7280"/>
                </a:solidFill>
                <a:latin typeface="Bahnschrift"/>
              </a:rPr>
              <a:t>STOCK</a:t>
            </a:r>
          </a:p>
        </p:txBody>
      </p:sp>
      <p:sp>
        <p:nvSpPr>
          <p:cNvPr id="21" name="TextBox 20"/>
          <p:cNvSpPr txBox="1"/>
          <p:nvPr/>
        </p:nvSpPr>
        <p:spPr>
          <a:xfrm>
            <a:off x="8923282" y="1956816"/>
            <a:ext cx="535600" cy="219456"/>
          </a:xfrm>
          <a:prstGeom prst="rect">
            <a:avLst/>
          </a:prstGeom>
          <a:noFill/>
        </p:spPr>
        <p:txBody>
          <a:bodyPr wrap="square" anchor="ctr" lIns="0" rIns="0" tIns="0" bIns="0">
            <a:spAutoFit/>
          </a:bodyPr>
          <a:lstStyle/>
          <a:p>
            <a:pPr algn="r">
              <a:spcBef>
                <a:spcPts val="0"/>
              </a:spcBef>
              <a:spcAft>
                <a:spcPts val="0"/>
              </a:spcAft>
            </a:pPr>
            <a:r>
              <a:rPr sz="700" b="1" i="0" spc="200">
                <a:solidFill>
                  <a:srgbClr val="6B7280"/>
                </a:solidFill>
                <a:latin typeface="Bahnschrift"/>
              </a:rPr>
              <a:t>SCORE</a:t>
            </a:r>
          </a:p>
        </p:txBody>
      </p:sp>
      <p:sp>
        <p:nvSpPr>
          <p:cNvPr id="22" name="TextBox 21"/>
          <p:cNvSpPr txBox="1"/>
          <p:nvPr/>
        </p:nvSpPr>
        <p:spPr>
          <a:xfrm>
            <a:off x="9605186" y="1956816"/>
            <a:ext cx="838669" cy="219456"/>
          </a:xfrm>
          <a:prstGeom prst="rect">
            <a:avLst/>
          </a:prstGeom>
          <a:noFill/>
        </p:spPr>
        <p:txBody>
          <a:bodyPr wrap="square" anchor="ctr" lIns="0" rIns="0" tIns="0" bIns="0">
            <a:spAutoFit/>
          </a:bodyPr>
          <a:lstStyle/>
          <a:p>
            <a:pPr algn="ctr">
              <a:spcBef>
                <a:spcPts val="0"/>
              </a:spcBef>
              <a:spcAft>
                <a:spcPts val="0"/>
              </a:spcAft>
            </a:pPr>
            <a:r>
              <a:rPr sz="700" b="1" i="0" spc="200">
                <a:solidFill>
                  <a:srgbClr val="6B7280"/>
                </a:solidFill>
                <a:latin typeface="Bahnschrift"/>
              </a:rPr>
              <a:t>CALL</a:t>
            </a:r>
          </a:p>
        </p:txBody>
      </p:sp>
      <p:sp>
        <p:nvSpPr>
          <p:cNvPr id="23" name="TextBox 22"/>
          <p:cNvSpPr txBox="1"/>
          <p:nvPr/>
        </p:nvSpPr>
        <p:spPr>
          <a:xfrm>
            <a:off x="10590160" y="1956816"/>
            <a:ext cx="687135" cy="219456"/>
          </a:xfrm>
          <a:prstGeom prst="rect">
            <a:avLst/>
          </a:prstGeom>
          <a:noFill/>
        </p:spPr>
        <p:txBody>
          <a:bodyPr wrap="square" anchor="ctr" lIns="0" rIns="0" tIns="0" bIns="0">
            <a:spAutoFit/>
          </a:bodyPr>
          <a:lstStyle/>
          <a:p>
            <a:pPr algn="ctr">
              <a:spcBef>
                <a:spcPts val="0"/>
              </a:spcBef>
              <a:spcAft>
                <a:spcPts val="0"/>
              </a:spcAft>
            </a:pPr>
            <a:r>
              <a:rPr sz="700" b="1" i="0" spc="200">
                <a:solidFill>
                  <a:srgbClr val="6B7280"/>
                </a:solidFill>
                <a:latin typeface="Bahnschrift"/>
              </a:rPr>
              <a:t>QUANT SAID</a:t>
            </a:r>
          </a:p>
        </p:txBody>
      </p:sp>
      <p:sp>
        <p:nvSpPr>
          <p:cNvPr id="24" name="Rectangle 23"/>
          <p:cNvSpPr/>
          <p:nvPr/>
        </p:nvSpPr>
        <p:spPr>
          <a:xfrm>
            <a:off x="7562088" y="2212848"/>
            <a:ext cx="378835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35240" y="2258568"/>
            <a:ext cx="114173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MOVALUE</a:t>
            </a:r>
          </a:p>
        </p:txBody>
      </p:sp>
      <p:sp>
        <p:nvSpPr>
          <p:cNvPr id="26" name="TextBox 25"/>
          <p:cNvSpPr txBox="1"/>
          <p:nvPr/>
        </p:nvSpPr>
        <p:spPr>
          <a:xfrm>
            <a:off x="8923282" y="2258568"/>
            <a:ext cx="535600"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35</a:t>
            </a:r>
          </a:p>
        </p:txBody>
      </p:sp>
      <p:sp>
        <p:nvSpPr>
          <p:cNvPr id="27" name="Rounded Rectangle 26"/>
          <p:cNvSpPr/>
          <p:nvPr/>
        </p:nvSpPr>
        <p:spPr>
          <a:xfrm>
            <a:off x="9605186" y="2258568"/>
            <a:ext cx="838669"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5186" y="2253081"/>
            <a:ext cx="83866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9" name="TextBox 28"/>
          <p:cNvSpPr txBox="1"/>
          <p:nvPr/>
        </p:nvSpPr>
        <p:spPr>
          <a:xfrm>
            <a:off x="10590160" y="2258568"/>
            <a:ext cx="687135" cy="237744"/>
          </a:xfrm>
          <a:prstGeom prst="rect">
            <a:avLst/>
          </a:prstGeom>
          <a:noFill/>
        </p:spPr>
        <p:txBody>
          <a:bodyPr wrap="square" anchor="ctr" lIns="0" rIns="0" tIns="0" bIns="0">
            <a:spAutoFit/>
          </a:bodyPr>
          <a:lstStyle/>
          <a:p>
            <a:pPr algn="ctr">
              <a:spcBef>
                <a:spcPts val="0"/>
              </a:spcBef>
              <a:spcAft>
                <a:spcPts val="0"/>
              </a:spcAft>
            </a:pPr>
            <a:r>
              <a:rPr sz="850" b="0" i="0">
                <a:solidFill>
                  <a:srgbClr val="E0402F"/>
                </a:solidFill>
                <a:latin typeface="Bahnschrift"/>
              </a:rPr>
              <a:t>Sell zone</a:t>
            </a:r>
          </a:p>
        </p:txBody>
      </p:sp>
      <p:sp>
        <p:nvSpPr>
          <p:cNvPr id="30" name="Rectangle 29"/>
          <p:cNvSpPr/>
          <p:nvPr/>
        </p:nvSpPr>
        <p:spPr>
          <a:xfrm>
            <a:off x="7562088" y="2478024"/>
            <a:ext cx="37883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35240" y="2496312"/>
            <a:ext cx="114173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MANAPPURAM</a:t>
            </a:r>
          </a:p>
        </p:txBody>
      </p:sp>
      <p:sp>
        <p:nvSpPr>
          <p:cNvPr id="32" name="TextBox 31"/>
          <p:cNvSpPr txBox="1"/>
          <p:nvPr/>
        </p:nvSpPr>
        <p:spPr>
          <a:xfrm>
            <a:off x="8923282" y="2496312"/>
            <a:ext cx="535600"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45</a:t>
            </a:r>
          </a:p>
        </p:txBody>
      </p:sp>
      <p:sp>
        <p:nvSpPr>
          <p:cNvPr id="33" name="Rounded Rectangle 32"/>
          <p:cNvSpPr/>
          <p:nvPr/>
        </p:nvSpPr>
        <p:spPr>
          <a:xfrm>
            <a:off x="9605186" y="2496312"/>
            <a:ext cx="838669" cy="219456"/>
          </a:xfrm>
          <a:prstGeom prst="roundRect">
            <a:avLst>
              <a:gd name="adj" fmla="val 50000"/>
            </a:avLst>
          </a:prstGeom>
          <a:solidFill>
            <a:srgbClr val="FBE3E0"/>
          </a:solidFill>
          <a:ln w="9525">
            <a:solidFill>
              <a:srgbClr val="E040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5186" y="2490825"/>
            <a:ext cx="838669"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E0402F"/>
                </a:solidFill>
                <a:latin typeface="Bahnschrift"/>
              </a:rPr>
              <a:t>SELL</a:t>
            </a:r>
          </a:p>
        </p:txBody>
      </p:sp>
      <p:sp>
        <p:nvSpPr>
          <p:cNvPr id="35" name="TextBox 34"/>
          <p:cNvSpPr txBox="1"/>
          <p:nvPr/>
        </p:nvSpPr>
        <p:spPr>
          <a:xfrm>
            <a:off x="10590160" y="2496312"/>
            <a:ext cx="687135" cy="237744"/>
          </a:xfrm>
          <a:prstGeom prst="rect">
            <a:avLst/>
          </a:prstGeom>
          <a:noFill/>
        </p:spPr>
        <p:txBody>
          <a:bodyPr wrap="square" anchor="ctr" lIns="0" rIns="0" tIns="0" bIns="0">
            <a:spAutoFit/>
          </a:bodyPr>
          <a:lstStyle/>
          <a:p>
            <a:pPr algn="ctr">
              <a:spcBef>
                <a:spcPts val="0"/>
              </a:spcBef>
              <a:spcAft>
                <a:spcPts val="0"/>
              </a:spcAft>
            </a:pPr>
            <a:r>
              <a:rPr sz="850" b="0" i="0">
                <a:solidFill>
                  <a:srgbClr val="1E9E6A"/>
                </a:solidFill>
                <a:latin typeface="Bahnschrift"/>
              </a:rPr>
              <a:t>Pass</a:t>
            </a:r>
          </a:p>
        </p:txBody>
      </p:sp>
      <p:sp>
        <p:nvSpPr>
          <p:cNvPr id="36" name="Rectangle 35"/>
          <p:cNvSpPr/>
          <p:nvPr/>
        </p:nvSpPr>
        <p:spPr>
          <a:xfrm>
            <a:off x="7562088" y="2715768"/>
            <a:ext cx="37883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562088" y="2862072"/>
            <a:ext cx="3788359" cy="160020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562088" y="2862072"/>
            <a:ext cx="54864" cy="160020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63256" y="2990088"/>
            <a:ext cx="3422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2 CALLS MOVED, EACH DOCUMENTED</a:t>
            </a:r>
          </a:p>
        </p:txBody>
      </p:sp>
      <p:sp>
        <p:nvSpPr>
          <p:cNvPr id="40" name="TextBox 39"/>
          <p:cNvSpPr txBox="1"/>
          <p:nvPr/>
        </p:nvSpPr>
        <p:spPr>
          <a:xfrm>
            <a:off x="7763256" y="3264408"/>
            <a:ext cx="3422599" cy="11430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quant score is a screen; a verdict needs a person. On 1 names the analyst holds a low scorer for reasons the model cannot see; on 1 the call is Sell despite a passing score. Every override carries a written rationale, on the record.</a:t>
            </a:r>
          </a:p>
        </p:txBody>
      </p:sp>
      <p:sp>
        <p:nvSpPr>
          <p:cNvPr id="41" name="TextBox 4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Ionic quant score (0-100, PIT 2026-07-21) vs final Portfolio Review call per holding; escalated Holds shown as Under review; overrides ringed in gold.</a:t>
            </a:r>
          </a:p>
        </p:txBody>
      </p:sp>
      <p:sp>
        <p:nvSpPr>
          <p:cNvPr id="42" name="TextBox 41"/>
          <p:cNvSpPr txBox="1"/>
          <p:nvPr/>
        </p:nvSpPr>
        <p:spPr>
          <a:xfrm>
            <a:off x="841248" y="6309360"/>
            <a:ext cx="10509199" cy="164592"/>
          </a:xfrm>
          <a:prstGeom prst="rect">
            <a:avLst/>
          </a:prstGeom>
          <a:noFill/>
        </p:spPr>
        <p:txBody>
          <a:bodyPr wrap="square" anchor="t" lIns="0" rIns="0" tIns="0" bIns="0">
            <a:spAutoFit/>
          </a:bodyPr>
          <a:lstStyle/>
          <a:p>
            <a:pPr algn="l">
              <a:spcBef>
                <a:spcPts val="0"/>
              </a:spcBef>
              <a:spcAft>
                <a:spcPts val="0"/>
              </a:spcAft>
            </a:pPr>
            <a:r>
              <a:rPr sz="850" b="0" i="1">
                <a:solidFill>
                  <a:srgbClr val="6B7280"/>
                </a:solidFill>
                <a:latin typeface="Georgia"/>
              </a:rPr>
              <a:t>The score is the starting point; the final word on every name belongs to the desk.</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Valuation check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The book's P/E against its own 10-year range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67</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book · weighted trailing P/E on 41% of book weight (usable multiples below 150x) · band [ILLUSTRATIVE]</a:t>
            </a:r>
          </a:p>
        </p:txBody>
      </p:sp>
      <p:pic>
        <p:nvPicPr>
          <p:cNvPr id="17" name="Picture 16" descr="annexb_valband.png"/>
          <p:cNvPicPr>
            <a:picLocks noChangeAspect="1"/>
          </p:cNvPicPr>
          <p:nvPr/>
        </p:nvPicPr>
        <p:blipFill>
          <a:blip r:embed="rId3"/>
          <a:stretch>
            <a:fillRect/>
          </a:stretch>
        </p:blipFill>
        <p:spPr>
          <a:xfrm>
            <a:off x="841248" y="1783080"/>
            <a:ext cx="6537960" cy="3350174"/>
          </a:xfrm>
          <a:prstGeom prst="rect">
            <a:avLst/>
          </a:prstGeom>
        </p:spPr>
      </p:pic>
      <p:sp>
        <p:nvSpPr>
          <p:cNvPr id="18" name="Rounded Rectangle 17"/>
          <p:cNvSpPr/>
          <p:nvPr/>
        </p:nvSpPr>
        <p:spPr>
          <a:xfrm>
            <a:off x="7562088" y="1783080"/>
            <a:ext cx="3788359" cy="19659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62088" y="1783080"/>
            <a:ext cx="54864" cy="19659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63256" y="1911095"/>
            <a:ext cx="3422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WHAT THIS SAYS</a:t>
            </a:r>
          </a:p>
        </p:txBody>
      </p:sp>
      <p:sp>
        <p:nvSpPr>
          <p:cNvPr id="21" name="TextBox 20"/>
          <p:cNvSpPr txBox="1"/>
          <p:nvPr/>
        </p:nvSpPr>
        <p:spPr>
          <a:xfrm>
            <a:off x="7763256" y="2185416"/>
            <a:ext cx="3422599" cy="15087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weighted trailing P/E of the direct book is 22.0x, around the 10th percentile of the illustrative 10-year band for this sector blend. The starting multiple is the one return driver already known today, and it sits high.</a:t>
            </a:r>
          </a:p>
        </p:txBody>
      </p:sp>
      <p:sp>
        <p:nvSpPr>
          <p:cNvPr id="22" name="Rounded Rectangle 21"/>
          <p:cNvSpPr/>
          <p:nvPr/>
        </p:nvSpPr>
        <p:spPr>
          <a:xfrm>
            <a:off x="7562088" y="3886200"/>
            <a:ext cx="3788359" cy="196596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62088" y="3886200"/>
            <a:ext cx="54864" cy="196596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63256" y="4014215"/>
            <a:ext cx="34225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WHAT IT DOES NOT SAY</a:t>
            </a:r>
          </a:p>
        </p:txBody>
      </p:sp>
      <p:sp>
        <p:nvSpPr>
          <p:cNvPr id="25" name="TextBox 24"/>
          <p:cNvSpPr txBox="1"/>
          <p:nvPr/>
        </p:nvSpPr>
        <p:spPr>
          <a:xfrm>
            <a:off x="7763256" y="4288536"/>
            <a:ext cx="3422599" cy="150876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A high percentile is not a timing signal: expensive books can stay expensive for years. What it does change is the margin of safety, so the bar for adding rises, the case for trimming the weakest scores strengthens, and staged deployment of new money matters more.</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Weighted trailing P/E over the 41% of book weight with usable multiples (extremes above 150x excluded); 10-year percentile band is synthetic [ILLUSTRATIVE] pending index-blend history.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What the top eight actually share</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Pairwise correlation of the largest direct-equity holdings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68</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Top-8 direct-equity holdings by weight · synthetic pairwise correlations · as of 2026-07-27</a:t>
            </a:r>
          </a:p>
        </p:txBody>
      </p:sp>
      <p:pic>
        <p:nvPicPr>
          <p:cNvPr id="17" name="Picture 16" descr="axa_corr.png"/>
          <p:cNvPicPr>
            <a:picLocks noChangeAspect="1"/>
          </p:cNvPicPr>
          <p:nvPr/>
        </p:nvPicPr>
        <p:blipFill>
          <a:blip r:embed="rId3"/>
          <a:stretch>
            <a:fillRect/>
          </a:stretch>
        </p:blipFill>
        <p:spPr>
          <a:xfrm>
            <a:off x="1195296" y="1691640"/>
            <a:ext cx="5235503" cy="4297680"/>
          </a:xfrm>
          <a:prstGeom prst="rect">
            <a:avLst/>
          </a:prstGeom>
        </p:spPr>
      </p:pic>
      <p:sp>
        <p:nvSpPr>
          <p:cNvPr id="18" name="Rounded Rectangle 17"/>
          <p:cNvSpPr/>
          <p:nvPr/>
        </p:nvSpPr>
        <p:spPr>
          <a:xfrm>
            <a:off x="6922008" y="1783080"/>
            <a:ext cx="4428439" cy="178308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22008" y="1783080"/>
            <a:ext cx="54864" cy="178308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23176" y="1911095"/>
            <a:ext cx="4062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DIVERSIFICATION ACTUALLY HELD</a:t>
            </a:r>
          </a:p>
        </p:txBody>
      </p:sp>
      <p:sp>
        <p:nvSpPr>
          <p:cNvPr id="21" name="TextBox 20"/>
          <p:cNvSpPr txBox="1"/>
          <p:nvPr/>
        </p:nvSpPr>
        <p:spPr>
          <a:xfrm>
            <a:off x="7123176" y="2185416"/>
            <a:ext cx="4062679" cy="132588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4 financial names move as a block: JIOFIN and HDFCBANK top the grid at 0.78. ICICIBANK against TCS is the most independent pair at 0.39. Average pairwise correlation is 0.51, so these eight tickers diversify like a smaller handful.</a:t>
            </a:r>
          </a:p>
        </p:txBody>
      </p:sp>
      <p:sp>
        <p:nvSpPr>
          <p:cNvPr id="22" name="Rounded Rectangle 21"/>
          <p:cNvSpPr/>
          <p:nvPr/>
        </p:nvSpPr>
        <p:spPr>
          <a:xfrm>
            <a:off x="6922008" y="3749039"/>
            <a:ext cx="4428439" cy="16916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22008" y="3749039"/>
            <a:ext cx="54864" cy="16916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3176" y="3877055"/>
            <a:ext cx="406267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WHEN TO USE THIS VIEW</a:t>
            </a:r>
          </a:p>
        </p:txBody>
      </p:sp>
      <p:sp>
        <p:nvSpPr>
          <p:cNvPr id="25" name="TextBox 24"/>
          <p:cNvSpPr txBox="1"/>
          <p:nvPr/>
        </p:nvSpPr>
        <p:spPr>
          <a:xfrm>
            <a:off x="7123176" y="4151376"/>
            <a:ext cx="4062679" cy="12344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Bring this page out when the number of holdings is offered as diversification. Portfolio risk is set by how much the names respond to the same forces (rates, credit, the consumer); a ninth name from the same cluster adds little.</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Synthetic correlation estimates for illustration, patterned on typical 3-year weekly-return relationships; not measured from market data. [ILLUSTRATIVE]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Capital weight is not risk weight</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Estimated risk contribution vs capital weight · top 10 names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69</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Direct-equity book · as of 2026-07-27</a:t>
            </a:r>
          </a:p>
        </p:txBody>
      </p:sp>
      <p:pic>
        <p:nvPicPr>
          <p:cNvPr id="17" name="Picture 16" descr="axa_riskw.png"/>
          <p:cNvPicPr>
            <a:picLocks noChangeAspect="1"/>
          </p:cNvPicPr>
          <p:nvPr/>
        </p:nvPicPr>
        <p:blipFill>
          <a:blip r:embed="rId3"/>
          <a:stretch>
            <a:fillRect/>
          </a:stretch>
        </p:blipFill>
        <p:spPr>
          <a:xfrm>
            <a:off x="841248" y="1691640"/>
            <a:ext cx="6309360" cy="3777604"/>
          </a:xfrm>
          <a:prstGeom prst="rect">
            <a:avLst/>
          </a:prstGeom>
        </p:spPr>
      </p:pic>
      <p:sp>
        <p:nvSpPr>
          <p:cNvPr id="18" name="Rounded Rectangle 17"/>
          <p:cNvSpPr/>
          <p:nvPr/>
        </p:nvSpPr>
        <p:spPr>
          <a:xfrm>
            <a:off x="7315200" y="1783080"/>
            <a:ext cx="4035247" cy="19202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0" y="1783080"/>
            <a:ext cx="54864" cy="19202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16368" y="1911095"/>
            <a:ext cx="366948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CAPITAL WEIGHT IS NOT RISK WEIGHT</a:t>
            </a:r>
          </a:p>
        </p:txBody>
      </p:sp>
      <p:sp>
        <p:nvSpPr>
          <p:cNvPr id="21" name="TextBox 20"/>
          <p:cNvSpPr txBox="1"/>
          <p:nvPr/>
        </p:nvSpPr>
        <p:spPr>
          <a:xfrm>
            <a:off x="7516368" y="2185416"/>
            <a:ext cx="3669487"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ten largest risk contributors hold 98% of equity capital but an estimated 97% of its risk. RELIANCE leads both lists on sheer size, while higher-volatility names such as JIOFIN and SBFC carry clearly more risk than their capital weight (gold figures).</a:t>
            </a:r>
          </a:p>
        </p:txBody>
      </p:sp>
      <p:sp>
        <p:nvSpPr>
          <p:cNvPr id="22" name="Rounded Rectangle 21"/>
          <p:cNvSpPr/>
          <p:nvPr/>
        </p:nvSpPr>
        <p:spPr>
          <a:xfrm>
            <a:off x="7315200" y="3886200"/>
            <a:ext cx="4035247" cy="1874519"/>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0" y="3886200"/>
            <a:ext cx="54864" cy="1874519"/>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16368" y="4014215"/>
            <a:ext cx="366948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WHEN TO USE THIS VIEW</a:t>
            </a:r>
          </a:p>
        </p:txBody>
      </p:sp>
      <p:sp>
        <p:nvSpPr>
          <p:cNvPr id="25" name="TextBox 24"/>
          <p:cNvSpPr txBox="1"/>
          <p:nvPr/>
        </p:nvSpPr>
        <p:spPr>
          <a:xfrm>
            <a:off x="7516368" y="4288536"/>
            <a:ext cx="3669487" cy="14173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Use this page when a trim looks too small to matter in rupee terms. Risk is weight times volatility: a one-point trim of a high-volatility name removes more portfolio risk than the same point off a steady large cap, and the trim list is sequenced accordingly.</a:t>
            </a:r>
          </a:p>
        </p:txBody>
      </p:sp>
      <p:sp>
        <p:nvSpPr>
          <p:cNvPr id="26" name="TextBox 25"/>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Risk contribution estimated as capital weight times an assumed per-name volatility proxy (synthetic), normalised to 100%; a full covariance treatment would shift details, the ordering is the point. [ILLUSTRATIVE]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Volatility ladder</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Which holdings amplify the market, and by how much</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70</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 equity book · sector-keyed betas [ILLUSTRATIVE] pending regression on price history · as of 2026-07-27</a:t>
            </a:r>
          </a:p>
        </p:txBody>
      </p:sp>
      <p:pic>
        <p:nvPicPr>
          <p:cNvPr id="17" name="Picture 16" descr="annexb_beta.png"/>
          <p:cNvPicPr>
            <a:picLocks noChangeAspect="1"/>
          </p:cNvPicPr>
          <p:nvPr/>
        </p:nvPicPr>
        <p:blipFill>
          <a:blip r:embed="rId3"/>
          <a:stretch>
            <a:fillRect/>
          </a:stretch>
        </p:blipFill>
        <p:spPr>
          <a:xfrm>
            <a:off x="841248" y="1783080"/>
            <a:ext cx="6266749" cy="4114800"/>
          </a:xfrm>
          <a:prstGeom prst="rect">
            <a:avLst/>
          </a:prstGeom>
        </p:spPr>
      </p:pic>
      <p:sp>
        <p:nvSpPr>
          <p:cNvPr id="18" name="TextBox 17"/>
          <p:cNvSpPr txBox="1"/>
          <p:nvPr/>
        </p:nvSpPr>
        <p:spPr>
          <a:xfrm>
            <a:off x="7333488" y="1700784"/>
            <a:ext cx="4016959" cy="201168"/>
          </a:xfrm>
          <a:prstGeom prst="rect">
            <a:avLst/>
          </a:prstGeom>
          <a:noFill/>
        </p:spPr>
        <p:txBody>
          <a:bodyPr wrap="square" anchor="t" lIns="0" rIns="0" tIns="0" bIns="0">
            <a:spAutoFit/>
          </a:bodyPr>
          <a:lstStyle/>
          <a:p>
            <a:pPr algn="l">
              <a:spcBef>
                <a:spcPts val="0"/>
              </a:spcBef>
              <a:spcAft>
                <a:spcPts val="0"/>
              </a:spcAft>
            </a:pPr>
            <a:r>
              <a:rPr sz="900" b="1" i="0" spc="60">
                <a:solidFill>
                  <a:srgbClr val="E0402F"/>
                </a:solidFill>
                <a:latin typeface="Bahnschrift"/>
              </a:rPr>
              <a:t>THE HIGH-BETA TAIL · 0.2% OF BOOK</a:t>
            </a:r>
          </a:p>
        </p:txBody>
      </p:sp>
      <p:sp>
        <p:nvSpPr>
          <p:cNvPr id="19" name="TextBox 18"/>
          <p:cNvSpPr txBox="1"/>
          <p:nvPr/>
        </p:nvSpPr>
        <p:spPr>
          <a:xfrm>
            <a:off x="7406640" y="1956816"/>
            <a:ext cx="1540818" cy="219456"/>
          </a:xfrm>
          <a:prstGeom prst="rect">
            <a:avLst/>
          </a:prstGeom>
          <a:noFill/>
        </p:spPr>
        <p:txBody>
          <a:bodyPr wrap="square" anchor="ctr" lIns="0" rIns="0" tIns="0" bIns="0">
            <a:spAutoFit/>
          </a:bodyPr>
          <a:lstStyle/>
          <a:p>
            <a:pPr algn="l">
              <a:spcBef>
                <a:spcPts val="0"/>
              </a:spcBef>
              <a:spcAft>
                <a:spcPts val="0"/>
              </a:spcAft>
            </a:pPr>
            <a:r>
              <a:rPr sz="700" b="1" i="0" spc="200">
                <a:solidFill>
                  <a:srgbClr val="6B7280"/>
                </a:solidFill>
                <a:latin typeface="Bahnschrift"/>
              </a:rPr>
              <a:t>HIGH-BETA NAME</a:t>
            </a:r>
          </a:p>
        </p:txBody>
      </p:sp>
      <p:sp>
        <p:nvSpPr>
          <p:cNvPr id="20" name="TextBox 19"/>
          <p:cNvSpPr txBox="1"/>
          <p:nvPr/>
        </p:nvSpPr>
        <p:spPr>
          <a:xfrm>
            <a:off x="9093762" y="1956816"/>
            <a:ext cx="576748" cy="219456"/>
          </a:xfrm>
          <a:prstGeom prst="rect">
            <a:avLst/>
          </a:prstGeom>
          <a:noFill/>
        </p:spPr>
        <p:txBody>
          <a:bodyPr wrap="square" anchor="ctr" lIns="0" rIns="0" tIns="0" bIns="0">
            <a:spAutoFit/>
          </a:bodyPr>
          <a:lstStyle/>
          <a:p>
            <a:pPr algn="r">
              <a:spcBef>
                <a:spcPts val="0"/>
              </a:spcBef>
              <a:spcAft>
                <a:spcPts val="0"/>
              </a:spcAft>
            </a:pPr>
            <a:r>
              <a:rPr sz="700" b="1" i="0" spc="200">
                <a:solidFill>
                  <a:srgbClr val="6B7280"/>
                </a:solidFill>
                <a:latin typeface="Bahnschrift"/>
              </a:rPr>
              <a:t>BETA</a:t>
            </a:r>
          </a:p>
        </p:txBody>
      </p:sp>
      <p:sp>
        <p:nvSpPr>
          <p:cNvPr id="21" name="TextBox 20"/>
          <p:cNvSpPr txBox="1"/>
          <p:nvPr/>
        </p:nvSpPr>
        <p:spPr>
          <a:xfrm>
            <a:off x="9816815" y="1956816"/>
            <a:ext cx="657087" cy="219456"/>
          </a:xfrm>
          <a:prstGeom prst="rect">
            <a:avLst/>
          </a:prstGeom>
          <a:noFill/>
        </p:spPr>
        <p:txBody>
          <a:bodyPr wrap="square" anchor="ctr" lIns="0" rIns="0" tIns="0" bIns="0">
            <a:spAutoFit/>
          </a:bodyPr>
          <a:lstStyle/>
          <a:p>
            <a:pPr algn="r">
              <a:spcBef>
                <a:spcPts val="0"/>
              </a:spcBef>
              <a:spcAft>
                <a:spcPts val="0"/>
              </a:spcAft>
            </a:pPr>
            <a:r>
              <a:rPr sz="700" b="1" i="0" spc="200">
                <a:solidFill>
                  <a:srgbClr val="6B7280"/>
                </a:solidFill>
                <a:latin typeface="Bahnschrift"/>
              </a:rPr>
              <a:t>WEIGHT</a:t>
            </a:r>
          </a:p>
        </p:txBody>
      </p:sp>
      <p:sp>
        <p:nvSpPr>
          <p:cNvPr id="22" name="TextBox 21"/>
          <p:cNvSpPr txBox="1"/>
          <p:nvPr/>
        </p:nvSpPr>
        <p:spPr>
          <a:xfrm>
            <a:off x="10620207" y="1956816"/>
            <a:ext cx="657087" cy="219456"/>
          </a:xfrm>
          <a:prstGeom prst="rect">
            <a:avLst/>
          </a:prstGeom>
          <a:noFill/>
        </p:spPr>
        <p:txBody>
          <a:bodyPr wrap="square" anchor="ctr" lIns="0" rIns="0" tIns="0" bIns="0">
            <a:spAutoFit/>
          </a:bodyPr>
          <a:lstStyle/>
          <a:p>
            <a:pPr algn="ctr">
              <a:spcBef>
                <a:spcPts val="0"/>
              </a:spcBef>
              <a:spcAft>
                <a:spcPts val="0"/>
              </a:spcAft>
            </a:pPr>
            <a:r>
              <a:rPr sz="700" b="1" i="0" spc="200">
                <a:solidFill>
                  <a:srgbClr val="6B7280"/>
                </a:solidFill>
                <a:latin typeface="Bahnschrift"/>
              </a:rPr>
              <a:t>CALL</a:t>
            </a:r>
          </a:p>
        </p:txBody>
      </p:sp>
      <p:sp>
        <p:nvSpPr>
          <p:cNvPr id="23" name="Rectangle 22"/>
          <p:cNvSpPr/>
          <p:nvPr/>
        </p:nvSpPr>
        <p:spPr>
          <a:xfrm>
            <a:off x="7333488" y="2212848"/>
            <a:ext cx="401695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0" y="2258568"/>
            <a:ext cx="1540818" cy="23774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TATASTEEL</a:t>
            </a:r>
          </a:p>
        </p:txBody>
      </p:sp>
      <p:sp>
        <p:nvSpPr>
          <p:cNvPr id="25" name="TextBox 24"/>
          <p:cNvSpPr txBox="1"/>
          <p:nvPr/>
        </p:nvSpPr>
        <p:spPr>
          <a:xfrm>
            <a:off x="9093762" y="2258568"/>
            <a:ext cx="576748" cy="237744"/>
          </a:xfrm>
          <a:prstGeom prst="rect">
            <a:avLst/>
          </a:prstGeom>
          <a:noFill/>
        </p:spPr>
        <p:txBody>
          <a:bodyPr wrap="square" anchor="ctr" lIns="0" rIns="0" tIns="0" bIns="0">
            <a:spAutoFit/>
          </a:bodyPr>
          <a:lstStyle/>
          <a:p>
            <a:pPr algn="r">
              <a:spcBef>
                <a:spcPts val="0"/>
              </a:spcBef>
              <a:spcAft>
                <a:spcPts val="0"/>
              </a:spcAft>
            </a:pPr>
            <a:r>
              <a:rPr sz="850" b="1" i="0">
                <a:solidFill>
                  <a:srgbClr val="E0402F"/>
                </a:solidFill>
                <a:latin typeface="Bahnschrift"/>
              </a:rPr>
              <a:t>1.28</a:t>
            </a:r>
          </a:p>
        </p:txBody>
      </p:sp>
      <p:sp>
        <p:nvSpPr>
          <p:cNvPr id="26" name="TextBox 25"/>
          <p:cNvSpPr txBox="1"/>
          <p:nvPr/>
        </p:nvSpPr>
        <p:spPr>
          <a:xfrm>
            <a:off x="9816815" y="2258568"/>
            <a:ext cx="657087" cy="23774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0.2%</a:t>
            </a:r>
          </a:p>
        </p:txBody>
      </p:sp>
      <p:sp>
        <p:nvSpPr>
          <p:cNvPr id="27" name="Rounded Rectangle 26"/>
          <p:cNvSpPr/>
          <p:nvPr/>
        </p:nvSpPr>
        <p:spPr>
          <a:xfrm>
            <a:off x="10620207" y="2258568"/>
            <a:ext cx="657087" cy="219456"/>
          </a:xfrm>
          <a:prstGeom prst="roundRect">
            <a:avLst>
              <a:gd name="adj" fmla="val 50000"/>
            </a:avLst>
          </a:prstGeom>
          <a:solidFill>
            <a:srgbClr val="E0F2EA"/>
          </a:solidFill>
          <a:ln w="9525">
            <a:solidFill>
              <a:srgbClr val="1E9E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20207" y="2253081"/>
            <a:ext cx="657087" cy="228600"/>
          </a:xfrm>
          <a:prstGeom prst="rect">
            <a:avLst/>
          </a:prstGeom>
          <a:noFill/>
        </p:spPr>
        <p:txBody>
          <a:bodyPr wrap="square" anchor="ctr" lIns="0" rIns="0" tIns="0" bIns="0">
            <a:spAutoFit/>
          </a:bodyPr>
          <a:lstStyle/>
          <a:p>
            <a:pPr algn="ctr">
              <a:spcBef>
                <a:spcPts val="0"/>
              </a:spcBef>
              <a:spcAft>
                <a:spcPts val="0"/>
              </a:spcAft>
            </a:pPr>
            <a:r>
              <a:rPr sz="800" b="1" i="0" spc="60">
                <a:solidFill>
                  <a:srgbClr val="1E9E6A"/>
                </a:solidFill>
                <a:latin typeface="Bahnschrift"/>
              </a:rPr>
              <a:t>HOLD</a:t>
            </a:r>
          </a:p>
        </p:txBody>
      </p:sp>
      <p:sp>
        <p:nvSpPr>
          <p:cNvPr id="29" name="Rectangle 28"/>
          <p:cNvSpPr/>
          <p:nvPr/>
        </p:nvSpPr>
        <p:spPr>
          <a:xfrm>
            <a:off x="7333488" y="2478024"/>
            <a:ext cx="401695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33488" y="2624328"/>
            <a:ext cx="4016959" cy="205740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33488" y="2624328"/>
            <a:ext cx="54864" cy="20574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34656" y="2752344"/>
            <a:ext cx="365119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TO READ THE LADDER</a:t>
            </a:r>
          </a:p>
        </p:txBody>
      </p:sp>
      <p:sp>
        <p:nvSpPr>
          <p:cNvPr id="33" name="TextBox 32"/>
          <p:cNvSpPr txBox="1"/>
          <p:nvPr/>
        </p:nvSpPr>
        <p:spPr>
          <a:xfrm>
            <a:off x="7534656" y="3026664"/>
            <a:ext cx="3651199" cy="160020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Book-weighted beta is 1.06, close to the market. The tail above 1.2 (0.2% of the book) is where a drawdown bites hardest: these names fall further than the index and recover on their own cycle. Position sizes there should earn their volatility.</a:t>
            </a:r>
          </a:p>
        </p:txBody>
      </p:sp>
      <p:sp>
        <p:nvSpPr>
          <p:cNvPr id="34" name="TextBox 33"/>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Betas are sector-keyed illustrative estimates with a fixed per-name offset [ILLUSTRATIVE], not regression output; ladder shows the largest positions plus every flagged name.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How top-heavy is the equity book</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Cumulative weight curve vs an equal-weight reference line</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71</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Direct-equity sleeve only · 27 holdings · weights as share of the equity book · as of 2026-07-27</a:t>
            </a:r>
          </a:p>
        </p:txBody>
      </p:sp>
      <p:pic>
        <p:nvPicPr>
          <p:cNvPr id="17" name="Picture 16" descr="axa_conc.png"/>
          <p:cNvPicPr>
            <a:picLocks noChangeAspect="1"/>
          </p:cNvPicPr>
          <p:nvPr/>
        </p:nvPicPr>
        <p:blipFill>
          <a:blip r:embed="rId3"/>
          <a:stretch>
            <a:fillRect/>
          </a:stretch>
        </p:blipFill>
        <p:spPr>
          <a:xfrm>
            <a:off x="841248" y="1691640"/>
            <a:ext cx="6400800" cy="4126721"/>
          </a:xfrm>
          <a:prstGeom prst="rect">
            <a:avLst/>
          </a:prstGeom>
        </p:spPr>
      </p:pic>
      <p:sp>
        <p:nvSpPr>
          <p:cNvPr id="18" name="TextBox 17"/>
          <p:cNvSpPr txBox="1"/>
          <p:nvPr/>
        </p:nvSpPr>
        <p:spPr>
          <a:xfrm>
            <a:off x="7479792" y="1783080"/>
            <a:ext cx="1352342" cy="219456"/>
          </a:xfrm>
          <a:prstGeom prst="rect">
            <a:avLst/>
          </a:prstGeom>
          <a:noFill/>
        </p:spPr>
        <p:txBody>
          <a:bodyPr wrap="square" anchor="ctr" lIns="0" rIns="0" tIns="0" bIns="0">
            <a:spAutoFit/>
          </a:bodyPr>
          <a:lstStyle/>
          <a:p>
            <a:pPr algn="l">
              <a:spcBef>
                <a:spcPts val="0"/>
              </a:spcBef>
              <a:spcAft>
                <a:spcPts val="0"/>
              </a:spcAft>
            </a:pPr>
            <a:r>
              <a:rPr sz="800" b="1" i="0" spc="200">
                <a:solidFill>
                  <a:srgbClr val="6B7280"/>
                </a:solidFill>
                <a:latin typeface="Bahnschrift"/>
              </a:rPr>
              <a:t>BASKET</a:t>
            </a:r>
          </a:p>
        </p:txBody>
      </p:sp>
      <p:sp>
        <p:nvSpPr>
          <p:cNvPr id="19" name="TextBox 18"/>
          <p:cNvSpPr txBox="1"/>
          <p:nvPr/>
        </p:nvSpPr>
        <p:spPr>
          <a:xfrm>
            <a:off x="8978438" y="1783080"/>
            <a:ext cx="1115714"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THIS BOOK</a:t>
            </a:r>
          </a:p>
        </p:txBody>
      </p:sp>
      <p:sp>
        <p:nvSpPr>
          <p:cNvPr id="20" name="TextBox 19"/>
          <p:cNvSpPr txBox="1"/>
          <p:nvPr/>
        </p:nvSpPr>
        <p:spPr>
          <a:xfrm>
            <a:off x="10240457" y="1783080"/>
            <a:ext cx="1036838" cy="219456"/>
          </a:xfrm>
          <a:prstGeom prst="rect">
            <a:avLst/>
          </a:prstGeom>
          <a:noFill/>
        </p:spPr>
        <p:txBody>
          <a:bodyPr wrap="square" anchor="ctr" lIns="0" rIns="0" tIns="0" bIns="0">
            <a:spAutoFit/>
          </a:bodyPr>
          <a:lstStyle/>
          <a:p>
            <a:pPr algn="r">
              <a:spcBef>
                <a:spcPts val="0"/>
              </a:spcBef>
              <a:spcAft>
                <a:spcPts val="0"/>
              </a:spcAft>
            </a:pPr>
            <a:r>
              <a:rPr sz="800" b="1" i="0" spc="200">
                <a:solidFill>
                  <a:srgbClr val="6B7280"/>
                </a:solidFill>
                <a:latin typeface="Bahnschrift"/>
              </a:rPr>
              <a:t>EQUAL WEIGHT</a:t>
            </a:r>
          </a:p>
        </p:txBody>
      </p:sp>
      <p:sp>
        <p:nvSpPr>
          <p:cNvPr id="21" name="Rectangle 20"/>
          <p:cNvSpPr/>
          <p:nvPr/>
        </p:nvSpPr>
        <p:spPr>
          <a:xfrm>
            <a:off x="7406640" y="2039112"/>
            <a:ext cx="3943807"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79792" y="2084831"/>
            <a:ext cx="1352342" cy="32918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Top 5</a:t>
            </a:r>
          </a:p>
        </p:txBody>
      </p:sp>
      <p:sp>
        <p:nvSpPr>
          <p:cNvPr id="23" name="TextBox 22"/>
          <p:cNvSpPr txBox="1"/>
          <p:nvPr/>
        </p:nvSpPr>
        <p:spPr>
          <a:xfrm>
            <a:off x="8978438" y="2084831"/>
            <a:ext cx="1115714" cy="329184"/>
          </a:xfrm>
          <a:prstGeom prst="rect">
            <a:avLst/>
          </a:prstGeom>
          <a:noFill/>
        </p:spPr>
        <p:txBody>
          <a:bodyPr wrap="square" anchor="ctr" lIns="0" rIns="0" tIns="0" bIns="0">
            <a:spAutoFit/>
          </a:bodyPr>
          <a:lstStyle/>
          <a:p>
            <a:pPr algn="r">
              <a:spcBef>
                <a:spcPts val="0"/>
              </a:spcBef>
              <a:spcAft>
                <a:spcPts val="0"/>
              </a:spcAft>
            </a:pPr>
            <a:r>
              <a:rPr sz="1000" b="1" i="0">
                <a:solidFill>
                  <a:srgbClr val="16233B"/>
                </a:solidFill>
                <a:latin typeface="Bahnschrift"/>
              </a:rPr>
              <a:t>95%</a:t>
            </a:r>
          </a:p>
        </p:txBody>
      </p:sp>
      <p:sp>
        <p:nvSpPr>
          <p:cNvPr id="24" name="TextBox 23"/>
          <p:cNvSpPr txBox="1"/>
          <p:nvPr/>
        </p:nvSpPr>
        <p:spPr>
          <a:xfrm>
            <a:off x="10240457" y="2084831"/>
            <a:ext cx="1036838" cy="32918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19%</a:t>
            </a:r>
          </a:p>
        </p:txBody>
      </p:sp>
      <p:sp>
        <p:nvSpPr>
          <p:cNvPr id="25" name="Rectangle 24"/>
          <p:cNvSpPr/>
          <p:nvPr/>
        </p:nvSpPr>
        <p:spPr>
          <a:xfrm>
            <a:off x="7406640" y="2395727"/>
            <a:ext cx="394380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79792" y="2414015"/>
            <a:ext cx="1352342" cy="32918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Top 10</a:t>
            </a:r>
          </a:p>
        </p:txBody>
      </p:sp>
      <p:sp>
        <p:nvSpPr>
          <p:cNvPr id="27" name="TextBox 26"/>
          <p:cNvSpPr txBox="1"/>
          <p:nvPr/>
        </p:nvSpPr>
        <p:spPr>
          <a:xfrm>
            <a:off x="8978438" y="2414015"/>
            <a:ext cx="1115714" cy="329184"/>
          </a:xfrm>
          <a:prstGeom prst="rect">
            <a:avLst/>
          </a:prstGeom>
          <a:noFill/>
        </p:spPr>
        <p:txBody>
          <a:bodyPr wrap="square" anchor="ctr" lIns="0" rIns="0" tIns="0" bIns="0">
            <a:spAutoFit/>
          </a:bodyPr>
          <a:lstStyle/>
          <a:p>
            <a:pPr algn="r">
              <a:spcBef>
                <a:spcPts val="0"/>
              </a:spcBef>
              <a:spcAft>
                <a:spcPts val="0"/>
              </a:spcAft>
            </a:pPr>
            <a:r>
              <a:rPr sz="1000" b="1" i="0">
                <a:solidFill>
                  <a:srgbClr val="16233B"/>
                </a:solidFill>
                <a:latin typeface="Bahnschrift"/>
              </a:rPr>
              <a:t>98%</a:t>
            </a:r>
          </a:p>
        </p:txBody>
      </p:sp>
      <p:sp>
        <p:nvSpPr>
          <p:cNvPr id="28" name="TextBox 27"/>
          <p:cNvSpPr txBox="1"/>
          <p:nvPr/>
        </p:nvSpPr>
        <p:spPr>
          <a:xfrm>
            <a:off x="10240457" y="2414015"/>
            <a:ext cx="1036838" cy="32918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37%</a:t>
            </a:r>
          </a:p>
        </p:txBody>
      </p:sp>
      <p:sp>
        <p:nvSpPr>
          <p:cNvPr id="29" name="Rectangle 28"/>
          <p:cNvSpPr/>
          <p:nvPr/>
        </p:nvSpPr>
        <p:spPr>
          <a:xfrm>
            <a:off x="7406640" y="2724911"/>
            <a:ext cx="394380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2743199"/>
            <a:ext cx="1352342" cy="329184"/>
          </a:xfrm>
          <a:prstGeom prst="rect">
            <a:avLst/>
          </a:prstGeom>
          <a:noFill/>
        </p:spPr>
        <p:txBody>
          <a:bodyPr wrap="square" anchor="ctr" lIns="0" rIns="0" tIns="0" bIns="0">
            <a:spAutoFit/>
          </a:bodyPr>
          <a:lstStyle/>
          <a:p>
            <a:pPr algn="l">
              <a:spcBef>
                <a:spcPts val="0"/>
              </a:spcBef>
              <a:spcAft>
                <a:spcPts val="0"/>
              </a:spcAft>
            </a:pPr>
            <a:r>
              <a:rPr sz="1000" b="0" i="0">
                <a:solidFill>
                  <a:srgbClr val="16233B"/>
                </a:solidFill>
                <a:latin typeface="Georgia"/>
              </a:rPr>
              <a:t>Top 20</a:t>
            </a:r>
          </a:p>
        </p:txBody>
      </p:sp>
      <p:sp>
        <p:nvSpPr>
          <p:cNvPr id="31" name="TextBox 30"/>
          <p:cNvSpPr txBox="1"/>
          <p:nvPr/>
        </p:nvSpPr>
        <p:spPr>
          <a:xfrm>
            <a:off x="8978438" y="2743199"/>
            <a:ext cx="1115714" cy="329184"/>
          </a:xfrm>
          <a:prstGeom prst="rect">
            <a:avLst/>
          </a:prstGeom>
          <a:noFill/>
        </p:spPr>
        <p:txBody>
          <a:bodyPr wrap="square" anchor="ctr" lIns="0" rIns="0" tIns="0" bIns="0">
            <a:spAutoFit/>
          </a:bodyPr>
          <a:lstStyle/>
          <a:p>
            <a:pPr algn="r">
              <a:spcBef>
                <a:spcPts val="0"/>
              </a:spcBef>
              <a:spcAft>
                <a:spcPts val="0"/>
              </a:spcAft>
            </a:pPr>
            <a:r>
              <a:rPr sz="1000" b="1" i="0">
                <a:solidFill>
                  <a:srgbClr val="16233B"/>
                </a:solidFill>
                <a:latin typeface="Bahnschrift"/>
              </a:rPr>
              <a:t>100%</a:t>
            </a:r>
          </a:p>
        </p:txBody>
      </p:sp>
      <p:sp>
        <p:nvSpPr>
          <p:cNvPr id="32" name="TextBox 31"/>
          <p:cNvSpPr txBox="1"/>
          <p:nvPr/>
        </p:nvSpPr>
        <p:spPr>
          <a:xfrm>
            <a:off x="10240457" y="2743199"/>
            <a:ext cx="1036838" cy="329184"/>
          </a:xfrm>
          <a:prstGeom prst="rect">
            <a:avLst/>
          </a:prstGeom>
          <a:noFill/>
        </p:spPr>
        <p:txBody>
          <a:bodyPr wrap="square" anchor="ctr" lIns="0" rIns="0" tIns="0" bIns="0">
            <a:spAutoFit/>
          </a:bodyPr>
          <a:lstStyle/>
          <a:p>
            <a:pPr algn="r">
              <a:spcBef>
                <a:spcPts val="0"/>
              </a:spcBef>
              <a:spcAft>
                <a:spcPts val="0"/>
              </a:spcAft>
            </a:pPr>
            <a:r>
              <a:rPr sz="1000" b="0" i="0">
                <a:solidFill>
                  <a:srgbClr val="16233B"/>
                </a:solidFill>
                <a:latin typeface="Georgia"/>
              </a:rPr>
              <a:t>74%</a:t>
            </a:r>
          </a:p>
        </p:txBody>
      </p:sp>
      <p:sp>
        <p:nvSpPr>
          <p:cNvPr id="33" name="Rectangle 32"/>
          <p:cNvSpPr/>
          <p:nvPr/>
        </p:nvSpPr>
        <p:spPr>
          <a:xfrm>
            <a:off x="7406640" y="3054095"/>
            <a:ext cx="3943807"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406640" y="3291840"/>
            <a:ext cx="3943807" cy="128016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06640" y="3291840"/>
            <a:ext cx="54864" cy="128016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7808" y="3419856"/>
            <a:ext cx="357804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HOW TO READ THE CURVE</a:t>
            </a:r>
          </a:p>
        </p:txBody>
      </p:sp>
      <p:sp>
        <p:nvSpPr>
          <p:cNvPr id="37" name="TextBox 36"/>
          <p:cNvSpPr txBox="1"/>
          <p:nvPr/>
        </p:nvSpPr>
        <p:spPr>
          <a:xfrm>
            <a:off x="7607808" y="3694176"/>
            <a:ext cx="3578047" cy="82295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The faster the curve climbs, the more the book depends on its first few names. The dashed diagonal is a book of equal slices; the space between the two lines is the concentration, made visible.</a:t>
            </a:r>
          </a:p>
        </p:txBody>
      </p:sp>
      <p:sp>
        <p:nvSpPr>
          <p:cNvPr id="38" name="Rounded Rectangle 37"/>
          <p:cNvSpPr/>
          <p:nvPr/>
        </p:nvSpPr>
        <p:spPr>
          <a:xfrm>
            <a:off x="7406640" y="4709160"/>
            <a:ext cx="3943807" cy="123444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406640" y="4709160"/>
            <a:ext cx="54864" cy="123444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07808" y="4837176"/>
            <a:ext cx="357804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WHEN TO USE THIS VIEW</a:t>
            </a:r>
          </a:p>
        </p:txBody>
      </p:sp>
      <p:sp>
        <p:nvSpPr>
          <p:cNvPr id="41" name="TextBox 40"/>
          <p:cNvSpPr txBox="1"/>
          <p:nvPr/>
        </p:nvSpPr>
        <p:spPr>
          <a:xfrm>
            <a:off x="7607808" y="5111496"/>
            <a:ext cx="3578047" cy="7772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Use this page alongside the 8% single-name cap in the IPS: 3 name(s) sit above the cap today, and the planned trims pull the front of this curve down toward the diagonal.</a:t>
            </a:r>
          </a:p>
        </p:txBody>
      </p:sp>
      <p:sp>
        <p:nvSpPr>
          <p:cNvPr id="42" name="TextBox 41"/>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Cumulative weights of the 27 direct-equity holdings, largest first, as a share of the equity book; equal-weight line = 100/27 per name.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500" b="1" i="0">
                <a:solidFill>
                  <a:srgbClr val="1B27A3"/>
                </a:solidFill>
                <a:latin typeface="Bahnschrift"/>
              </a:rPr>
              <a:t>What the book pays while it compounds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Estimated annual dividend income by holding · Rs lakhs</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72</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[ILLUSTRATIVE] Direct-equity sleeve · position value x assumed dividend yield per name · as of 2026-07-27</a:t>
            </a:r>
          </a:p>
        </p:txBody>
      </p:sp>
      <p:pic>
        <p:nvPicPr>
          <p:cNvPr id="17" name="Picture 16" descr="axa_income.png"/>
          <p:cNvPicPr>
            <a:picLocks noChangeAspect="1"/>
          </p:cNvPicPr>
          <p:nvPr/>
        </p:nvPicPr>
        <p:blipFill>
          <a:blip r:embed="rId3"/>
          <a:stretch>
            <a:fillRect/>
          </a:stretch>
        </p:blipFill>
        <p:spPr>
          <a:xfrm>
            <a:off x="841248" y="1691640"/>
            <a:ext cx="6309360" cy="3731253"/>
          </a:xfrm>
          <a:prstGeom prst="rect">
            <a:avLst/>
          </a:prstGeom>
        </p:spPr>
      </p:pic>
      <p:sp>
        <p:nvSpPr>
          <p:cNvPr id="18" name="TextBox 17"/>
          <p:cNvSpPr txBox="1"/>
          <p:nvPr/>
        </p:nvSpPr>
        <p:spPr>
          <a:xfrm>
            <a:off x="7269480" y="1783080"/>
            <a:ext cx="190332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₹0.6 L</a:t>
            </a:r>
          </a:p>
        </p:txBody>
      </p:sp>
      <p:sp>
        <p:nvSpPr>
          <p:cNvPr id="19" name="TextBox 18"/>
          <p:cNvSpPr txBox="1"/>
          <p:nvPr/>
        </p:nvSpPr>
        <p:spPr>
          <a:xfrm>
            <a:off x="7269480" y="2258568"/>
            <a:ext cx="190332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EST. ANNUAL DIVIDENDS</a:t>
            </a:r>
          </a:p>
        </p:txBody>
      </p:sp>
      <p:sp>
        <p:nvSpPr>
          <p:cNvPr id="20" name="TextBox 19"/>
          <p:cNvSpPr txBox="1"/>
          <p:nvPr/>
        </p:nvSpPr>
        <p:spPr>
          <a:xfrm>
            <a:off x="9309963" y="1783080"/>
            <a:ext cx="1903323" cy="457200"/>
          </a:xfrm>
          <a:prstGeom prst="rect">
            <a:avLst/>
          </a:prstGeom>
          <a:noFill/>
        </p:spPr>
        <p:txBody>
          <a:bodyPr wrap="square" anchor="t" lIns="0" rIns="0" tIns="0" bIns="0">
            <a:spAutoFit/>
          </a:bodyPr>
          <a:lstStyle/>
          <a:p>
            <a:pPr algn="l">
              <a:spcBef>
                <a:spcPts val="0"/>
              </a:spcBef>
              <a:spcAft>
                <a:spcPts val="0"/>
              </a:spcAft>
            </a:pPr>
            <a:r>
              <a:rPr sz="2700" b="0" i="0">
                <a:solidFill>
                  <a:srgbClr val="16233B"/>
                </a:solidFill>
                <a:latin typeface="Bahnschrift"/>
              </a:rPr>
              <a:t>0.8%</a:t>
            </a:r>
          </a:p>
        </p:txBody>
      </p:sp>
      <p:sp>
        <p:nvSpPr>
          <p:cNvPr id="21" name="TextBox 20"/>
          <p:cNvSpPr txBox="1"/>
          <p:nvPr/>
        </p:nvSpPr>
        <p:spPr>
          <a:xfrm>
            <a:off x="9309963" y="2258568"/>
            <a:ext cx="1903323" cy="173736"/>
          </a:xfrm>
          <a:prstGeom prst="rect">
            <a:avLst/>
          </a:prstGeom>
          <a:noFill/>
        </p:spPr>
        <p:txBody>
          <a:bodyPr wrap="square" anchor="t" lIns="0" rIns="0" tIns="0" bIns="0">
            <a:spAutoFit/>
          </a:bodyPr>
          <a:lstStyle/>
          <a:p>
            <a:pPr algn="l">
              <a:lnSpc>
                <a:spcPct val="100000"/>
              </a:lnSpc>
              <a:spcBef>
                <a:spcPts val="0"/>
              </a:spcBef>
              <a:spcAft>
                <a:spcPts val="0"/>
              </a:spcAft>
            </a:pPr>
            <a:r>
              <a:rPr sz="800" b="1" i="0" spc="200">
                <a:solidFill>
                  <a:srgbClr val="6B7280"/>
                </a:solidFill>
                <a:latin typeface="Bahnschrift"/>
              </a:rPr>
              <a:t>BLENDED EQUITY YIELD</a:t>
            </a:r>
          </a:p>
        </p:txBody>
      </p:sp>
      <p:sp>
        <p:nvSpPr>
          <p:cNvPr id="22" name="Rectangle 21"/>
          <p:cNvSpPr/>
          <p:nvPr/>
        </p:nvSpPr>
        <p:spPr>
          <a:xfrm>
            <a:off x="9255099" y="1828800"/>
            <a:ext cx="7315" cy="566928"/>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69480" y="2926080"/>
            <a:ext cx="4080967" cy="14630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69480" y="2926080"/>
            <a:ext cx="54864" cy="14630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70648" y="3054096"/>
            <a:ext cx="371520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WHERE THE INCOME SITS</a:t>
            </a:r>
          </a:p>
        </p:txBody>
      </p:sp>
      <p:sp>
        <p:nvSpPr>
          <p:cNvPr id="26" name="TextBox 25"/>
          <p:cNvSpPr txBox="1"/>
          <p:nvPr/>
        </p:nvSpPr>
        <p:spPr>
          <a:xfrm>
            <a:off x="7470648" y="3328416"/>
            <a:ext cx="3715207" cy="10058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RELIANCE and HDFCBANK pay about 74% of the book's cash income; the growth names pay almost nothing by design. At 0.8% on the equity sleeve, dividends here are a byproduct of stock selection, never its purpose.</a:t>
            </a:r>
          </a:p>
        </p:txBody>
      </p:sp>
      <p:sp>
        <p:nvSpPr>
          <p:cNvPr id="27" name="Rounded Rectangle 26"/>
          <p:cNvSpPr/>
          <p:nvPr/>
        </p:nvSpPr>
        <p:spPr>
          <a:xfrm>
            <a:off x="7269480" y="4526280"/>
            <a:ext cx="4080967" cy="14173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69480" y="4526280"/>
            <a:ext cx="54864" cy="14173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0648" y="4654296"/>
            <a:ext cx="3715207"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WHEN TO USE THIS VIEW</a:t>
            </a:r>
          </a:p>
        </p:txBody>
      </p:sp>
      <p:sp>
        <p:nvSpPr>
          <p:cNvPr id="30" name="TextBox 29"/>
          <p:cNvSpPr txBox="1"/>
          <p:nvPr/>
        </p:nvSpPr>
        <p:spPr>
          <a:xfrm>
            <a:off x="7470648" y="4928616"/>
            <a:ext cx="3715207" cy="96012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When regular cash flow becomes a goal, this is the base it starts from. If income becomes a goal, it is funded through planned withdrawals or a dedicated income sleeve agreed in the IPS, rather than by tilting this growth book toward high-dividend names.</a:t>
            </a:r>
          </a:p>
        </p:txBody>
      </p:sp>
      <p:sp>
        <p:nvSpPr>
          <p:cNvPr id="31" name="TextBox 30"/>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Estimated dividends: position value times an assumed per-name dividend yield (synthetic, patterned on typical payout levels); no forecast of actual distributions. [ILLUSTRATIVE]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ANNEXURE</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Goal mapping</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What the corpus already covers, goal by goal</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73</a:t>
            </a:r>
          </a:p>
        </p:txBody>
      </p:sp>
      <p:sp>
        <p:nvSpPr>
          <p:cNvPr id="15" name="Rounded Rectangle 14"/>
          <p:cNvSpPr/>
          <p:nvPr/>
        </p:nvSpPr>
        <p:spPr>
          <a:xfrm>
            <a:off x="841248" y="1481328"/>
            <a:ext cx="128016" cy="128016"/>
          </a:xfrm>
          <a:prstGeom prst="roundRect">
            <a:avLst>
              <a:gd name="adj" fmla="val 30000"/>
            </a:avLst>
          </a:prstGeom>
          <a:solidFill>
            <a:srgbClr val="8C9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1453896"/>
            <a:ext cx="10189159" cy="201168"/>
          </a:xfrm>
          <a:prstGeom prst="rect">
            <a:avLst/>
          </a:prstGeom>
          <a:noFill/>
        </p:spPr>
        <p:txBody>
          <a:bodyPr wrap="none" anchor="t" lIns="0" rIns="0" tIns="0" bIns="0">
            <a:spAutoFit/>
          </a:bodyPr>
          <a:lstStyle/>
          <a:p>
            <a:pPr algn="l">
              <a:spcBef>
                <a:spcPts val="0"/>
              </a:spcBef>
              <a:spcAft>
                <a:spcPts val="0"/>
              </a:spcAft>
            </a:pPr>
            <a:r>
              <a:rPr sz="750" b="1" i="0" spc="80">
                <a:solidFill>
                  <a:srgbClr val="6B7280"/>
                </a:solidFill>
                <a:latin typeface="Bahnschrift"/>
              </a:rPr>
              <a:t>SCOPE  </a:t>
            </a:r>
            <a:r>
              <a:rPr sz="850" b="0" i="1">
                <a:solidFill>
                  <a:srgbClr val="16233B"/>
                </a:solidFill>
                <a:latin typeface="Georgia"/>
              </a:rPr>
              <a:t>Whole portfolio (Rs 1.6 Cr) vs illustrative goals [ILLUSTRATIVE, to be replaced by the family's confirmed goals] · as…</a:t>
            </a:r>
          </a:p>
        </p:txBody>
      </p:sp>
      <p:pic>
        <p:nvPicPr>
          <p:cNvPr id="17" name="Picture 16" descr="annexb_goalcone.png"/>
          <p:cNvPicPr>
            <a:picLocks noChangeAspect="1"/>
          </p:cNvPicPr>
          <p:nvPr/>
        </p:nvPicPr>
        <p:blipFill>
          <a:blip r:embed="rId3"/>
          <a:stretch>
            <a:fillRect/>
          </a:stretch>
        </p:blipFill>
        <p:spPr>
          <a:xfrm>
            <a:off x="841248" y="1737360"/>
            <a:ext cx="6542359" cy="3657600"/>
          </a:xfrm>
          <a:prstGeom prst="rect">
            <a:avLst/>
          </a:prstGeom>
        </p:spPr>
      </p:pic>
      <p:sp>
        <p:nvSpPr>
          <p:cNvPr id="18" name="TextBox 17"/>
          <p:cNvSpPr txBox="1"/>
          <p:nvPr/>
        </p:nvSpPr>
        <p:spPr>
          <a:xfrm>
            <a:off x="7772400" y="1783080"/>
            <a:ext cx="1022079" cy="219456"/>
          </a:xfrm>
          <a:prstGeom prst="rect">
            <a:avLst/>
          </a:prstGeom>
          <a:noFill/>
        </p:spPr>
        <p:txBody>
          <a:bodyPr wrap="square" anchor="ctr" lIns="0" rIns="0" tIns="0" bIns="0">
            <a:spAutoFit/>
          </a:bodyPr>
          <a:lstStyle/>
          <a:p>
            <a:pPr algn="l">
              <a:spcBef>
                <a:spcPts val="0"/>
              </a:spcBef>
              <a:spcAft>
                <a:spcPts val="0"/>
              </a:spcAft>
            </a:pPr>
            <a:r>
              <a:rPr sz="650" b="1" i="0" spc="200">
                <a:solidFill>
                  <a:srgbClr val="6B7280"/>
                </a:solidFill>
                <a:latin typeface="Bahnschrift"/>
              </a:rPr>
              <a:t>GOAL</a:t>
            </a:r>
          </a:p>
        </p:txBody>
      </p:sp>
      <p:sp>
        <p:nvSpPr>
          <p:cNvPr id="19" name="TextBox 18"/>
          <p:cNvSpPr txBox="1"/>
          <p:nvPr/>
        </p:nvSpPr>
        <p:spPr>
          <a:xfrm>
            <a:off x="8940783" y="1783080"/>
            <a:ext cx="693471" cy="219456"/>
          </a:xfrm>
          <a:prstGeom prst="rect">
            <a:avLst/>
          </a:prstGeom>
          <a:noFill/>
        </p:spPr>
        <p:txBody>
          <a:bodyPr wrap="square" anchor="ctr" lIns="0" rIns="0" tIns="0" bIns="0">
            <a:spAutoFit/>
          </a:bodyPr>
          <a:lstStyle/>
          <a:p>
            <a:pPr algn="r">
              <a:spcBef>
                <a:spcPts val="0"/>
              </a:spcBef>
              <a:spcAft>
                <a:spcPts val="0"/>
              </a:spcAft>
            </a:pPr>
            <a:r>
              <a:rPr sz="650" b="1" i="0" spc="200">
                <a:solidFill>
                  <a:srgbClr val="6B7280"/>
                </a:solidFill>
                <a:latin typeface="Bahnschrift"/>
              </a:rPr>
              <a:t>NEEDED THEN</a:t>
            </a:r>
          </a:p>
        </p:txBody>
      </p:sp>
      <p:sp>
        <p:nvSpPr>
          <p:cNvPr id="20" name="TextBox 19"/>
          <p:cNvSpPr txBox="1"/>
          <p:nvPr/>
        </p:nvSpPr>
        <p:spPr>
          <a:xfrm>
            <a:off x="9780559" y="1783080"/>
            <a:ext cx="766495" cy="219456"/>
          </a:xfrm>
          <a:prstGeom prst="rect">
            <a:avLst/>
          </a:prstGeom>
          <a:noFill/>
        </p:spPr>
        <p:txBody>
          <a:bodyPr wrap="square" anchor="ctr" lIns="0" rIns="0" tIns="0" bIns="0">
            <a:spAutoFit/>
          </a:bodyPr>
          <a:lstStyle/>
          <a:p>
            <a:pPr algn="r">
              <a:spcBef>
                <a:spcPts val="0"/>
              </a:spcBef>
              <a:spcAft>
                <a:spcPts val="0"/>
              </a:spcAft>
            </a:pPr>
            <a:r>
              <a:rPr sz="650" b="1" i="0" spc="200">
                <a:solidFill>
                  <a:srgbClr val="6B7280"/>
                </a:solidFill>
                <a:latin typeface="Bahnschrift"/>
              </a:rPr>
              <a:t>NEEDED TODAY AT 14%</a:t>
            </a:r>
          </a:p>
        </p:txBody>
      </p:sp>
      <p:sp>
        <p:nvSpPr>
          <p:cNvPr id="21" name="TextBox 20"/>
          <p:cNvSpPr txBox="1"/>
          <p:nvPr/>
        </p:nvSpPr>
        <p:spPr>
          <a:xfrm>
            <a:off x="10693359" y="1783080"/>
            <a:ext cx="583935" cy="219456"/>
          </a:xfrm>
          <a:prstGeom prst="rect">
            <a:avLst/>
          </a:prstGeom>
          <a:noFill/>
        </p:spPr>
        <p:txBody>
          <a:bodyPr wrap="square" anchor="ctr" lIns="0" rIns="0" tIns="0" bIns="0">
            <a:spAutoFit/>
          </a:bodyPr>
          <a:lstStyle/>
          <a:p>
            <a:pPr algn="ctr">
              <a:spcBef>
                <a:spcPts val="0"/>
              </a:spcBef>
              <a:spcAft>
                <a:spcPts val="0"/>
              </a:spcAft>
            </a:pPr>
            <a:r>
              <a:rPr sz="650" b="1" i="0" spc="200">
                <a:solidFill>
                  <a:srgbClr val="6B7280"/>
                </a:solidFill>
                <a:latin typeface="Bahnschrift"/>
              </a:rPr>
              <a:t>FUNDED TODAY</a:t>
            </a:r>
          </a:p>
        </p:txBody>
      </p:sp>
      <p:sp>
        <p:nvSpPr>
          <p:cNvPr id="22" name="Rectangle 21"/>
          <p:cNvSpPr/>
          <p:nvPr/>
        </p:nvSpPr>
        <p:spPr>
          <a:xfrm>
            <a:off x="7699248" y="2039112"/>
            <a:ext cx="3651199" cy="137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2084831"/>
            <a:ext cx="1022079" cy="32918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Education (2031)</a:t>
            </a:r>
          </a:p>
        </p:txBody>
      </p:sp>
      <p:sp>
        <p:nvSpPr>
          <p:cNvPr id="24" name="TextBox 23"/>
          <p:cNvSpPr txBox="1"/>
          <p:nvPr/>
        </p:nvSpPr>
        <p:spPr>
          <a:xfrm>
            <a:off x="8940783" y="2084831"/>
            <a:ext cx="693471"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1.5 Cr</a:t>
            </a:r>
          </a:p>
        </p:txBody>
      </p:sp>
      <p:sp>
        <p:nvSpPr>
          <p:cNvPr id="25" name="TextBox 24"/>
          <p:cNvSpPr txBox="1"/>
          <p:nvPr/>
        </p:nvSpPr>
        <p:spPr>
          <a:xfrm>
            <a:off x="9780559" y="2084831"/>
            <a:ext cx="766495"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0.79 Cr</a:t>
            </a:r>
          </a:p>
        </p:txBody>
      </p:sp>
      <p:sp>
        <p:nvSpPr>
          <p:cNvPr id="26" name="TextBox 25"/>
          <p:cNvSpPr txBox="1"/>
          <p:nvPr/>
        </p:nvSpPr>
        <p:spPr>
          <a:xfrm>
            <a:off x="10693359" y="2084831"/>
            <a:ext cx="583935" cy="329184"/>
          </a:xfrm>
          <a:prstGeom prst="rect">
            <a:avLst/>
          </a:prstGeom>
          <a:noFill/>
        </p:spPr>
        <p:txBody>
          <a:bodyPr wrap="square" anchor="ctr" lIns="0" rIns="0" tIns="0" bIns="0">
            <a:spAutoFit/>
          </a:bodyPr>
          <a:lstStyle/>
          <a:p>
            <a:pPr algn="ctr">
              <a:spcBef>
                <a:spcPts val="0"/>
              </a:spcBef>
              <a:spcAft>
                <a:spcPts val="0"/>
              </a:spcAft>
            </a:pPr>
            <a:r>
              <a:rPr sz="850" b="1" i="0">
                <a:solidFill>
                  <a:srgbClr val="1E9E6A"/>
                </a:solidFill>
                <a:latin typeface="Bahnschrift"/>
              </a:rPr>
              <a:t>100%</a:t>
            </a:r>
          </a:p>
        </p:txBody>
      </p:sp>
      <p:sp>
        <p:nvSpPr>
          <p:cNvPr id="27" name="Rectangle 26"/>
          <p:cNvSpPr/>
          <p:nvPr/>
        </p:nvSpPr>
        <p:spPr>
          <a:xfrm>
            <a:off x="7699248" y="2395727"/>
            <a:ext cx="3651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2414015"/>
            <a:ext cx="1022079" cy="32918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Second home (2034)</a:t>
            </a:r>
          </a:p>
        </p:txBody>
      </p:sp>
      <p:sp>
        <p:nvSpPr>
          <p:cNvPr id="29" name="TextBox 28"/>
          <p:cNvSpPr txBox="1"/>
          <p:nvPr/>
        </p:nvSpPr>
        <p:spPr>
          <a:xfrm>
            <a:off x="8940783" y="2414015"/>
            <a:ext cx="693471"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3.0 Cr</a:t>
            </a:r>
          </a:p>
        </p:txBody>
      </p:sp>
      <p:sp>
        <p:nvSpPr>
          <p:cNvPr id="30" name="TextBox 29"/>
          <p:cNvSpPr txBox="1"/>
          <p:nvPr/>
        </p:nvSpPr>
        <p:spPr>
          <a:xfrm>
            <a:off x="9780559" y="2414015"/>
            <a:ext cx="766495"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1.08 Cr</a:t>
            </a:r>
          </a:p>
        </p:txBody>
      </p:sp>
      <p:sp>
        <p:nvSpPr>
          <p:cNvPr id="31" name="TextBox 30"/>
          <p:cNvSpPr txBox="1"/>
          <p:nvPr/>
        </p:nvSpPr>
        <p:spPr>
          <a:xfrm>
            <a:off x="10693359" y="2414015"/>
            <a:ext cx="583935" cy="329184"/>
          </a:xfrm>
          <a:prstGeom prst="rect">
            <a:avLst/>
          </a:prstGeom>
          <a:noFill/>
        </p:spPr>
        <p:txBody>
          <a:bodyPr wrap="square" anchor="ctr" lIns="0" rIns="0" tIns="0" bIns="0">
            <a:spAutoFit/>
          </a:bodyPr>
          <a:lstStyle/>
          <a:p>
            <a:pPr algn="ctr">
              <a:spcBef>
                <a:spcPts val="0"/>
              </a:spcBef>
              <a:spcAft>
                <a:spcPts val="0"/>
              </a:spcAft>
            </a:pPr>
            <a:r>
              <a:rPr sz="850" b="1" i="0">
                <a:solidFill>
                  <a:srgbClr val="92400E"/>
                </a:solidFill>
                <a:latin typeface="Bahnschrift"/>
              </a:rPr>
              <a:t>76%</a:t>
            </a:r>
          </a:p>
        </p:txBody>
      </p:sp>
      <p:sp>
        <p:nvSpPr>
          <p:cNvPr id="32" name="Rectangle 31"/>
          <p:cNvSpPr/>
          <p:nvPr/>
        </p:nvSpPr>
        <p:spPr>
          <a:xfrm>
            <a:off x="7699248" y="2724911"/>
            <a:ext cx="3651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0" y="2743199"/>
            <a:ext cx="1022079" cy="329184"/>
          </a:xfrm>
          <a:prstGeom prst="rect">
            <a:avLst/>
          </a:prstGeom>
          <a:noFill/>
        </p:spPr>
        <p:txBody>
          <a:bodyPr wrap="square" anchor="ctr" lIns="0" rIns="0" tIns="0" bIns="0">
            <a:spAutoFit/>
          </a:bodyPr>
          <a:lstStyle/>
          <a:p>
            <a:pPr algn="l">
              <a:spcBef>
                <a:spcPts val="0"/>
              </a:spcBef>
              <a:spcAft>
                <a:spcPts val="0"/>
              </a:spcAft>
            </a:pPr>
            <a:r>
              <a:rPr sz="850" b="0" i="0">
                <a:solidFill>
                  <a:srgbClr val="16233B"/>
                </a:solidFill>
                <a:latin typeface="Georgia"/>
              </a:rPr>
              <a:t>Retirement (2041)</a:t>
            </a:r>
          </a:p>
        </p:txBody>
      </p:sp>
      <p:sp>
        <p:nvSpPr>
          <p:cNvPr id="34" name="TextBox 33"/>
          <p:cNvSpPr txBox="1"/>
          <p:nvPr/>
        </p:nvSpPr>
        <p:spPr>
          <a:xfrm>
            <a:off x="8940783" y="2743199"/>
            <a:ext cx="693471"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30.0 Cr</a:t>
            </a:r>
          </a:p>
        </p:txBody>
      </p:sp>
      <p:sp>
        <p:nvSpPr>
          <p:cNvPr id="35" name="TextBox 34"/>
          <p:cNvSpPr txBox="1"/>
          <p:nvPr/>
        </p:nvSpPr>
        <p:spPr>
          <a:xfrm>
            <a:off x="9780559" y="2743199"/>
            <a:ext cx="766495"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4.43 Cr</a:t>
            </a:r>
          </a:p>
        </p:txBody>
      </p:sp>
      <p:sp>
        <p:nvSpPr>
          <p:cNvPr id="36" name="TextBox 35"/>
          <p:cNvSpPr txBox="1"/>
          <p:nvPr/>
        </p:nvSpPr>
        <p:spPr>
          <a:xfrm>
            <a:off x="10693359" y="2743199"/>
            <a:ext cx="583935" cy="329184"/>
          </a:xfrm>
          <a:prstGeom prst="rect">
            <a:avLst/>
          </a:prstGeom>
          <a:noFill/>
        </p:spPr>
        <p:txBody>
          <a:bodyPr wrap="square" anchor="ctr" lIns="0" rIns="0" tIns="0" bIns="0">
            <a:spAutoFit/>
          </a:bodyPr>
          <a:lstStyle/>
          <a:p>
            <a:pPr algn="ctr">
              <a:spcBef>
                <a:spcPts val="0"/>
              </a:spcBef>
              <a:spcAft>
                <a:spcPts val="0"/>
              </a:spcAft>
            </a:pPr>
            <a:r>
              <a:rPr sz="850" b="1" i="0">
                <a:solidFill>
                  <a:srgbClr val="E0402F"/>
                </a:solidFill>
                <a:latin typeface="Bahnschrift"/>
              </a:rPr>
              <a:t>0%</a:t>
            </a:r>
          </a:p>
        </p:txBody>
      </p:sp>
      <p:sp>
        <p:nvSpPr>
          <p:cNvPr id="37" name="Rectangle 36"/>
          <p:cNvSpPr/>
          <p:nvPr/>
        </p:nvSpPr>
        <p:spPr>
          <a:xfrm>
            <a:off x="7699248" y="3054095"/>
            <a:ext cx="3651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0" y="3072383"/>
            <a:ext cx="1022079" cy="329184"/>
          </a:xfrm>
          <a:prstGeom prst="rect">
            <a:avLst/>
          </a:prstGeom>
          <a:noFill/>
        </p:spPr>
        <p:txBody>
          <a:bodyPr wrap="square" anchor="ctr" lIns="0" rIns="0" tIns="0" bIns="0">
            <a:spAutoFit/>
          </a:bodyPr>
          <a:lstStyle/>
          <a:p>
            <a:pPr algn="l">
              <a:spcBef>
                <a:spcPts val="0"/>
              </a:spcBef>
              <a:spcAft>
                <a:spcPts val="0"/>
              </a:spcAft>
            </a:pPr>
            <a:r>
              <a:rPr sz="850" b="1" i="0">
                <a:solidFill>
                  <a:srgbClr val="16233B"/>
                </a:solidFill>
                <a:latin typeface="Bahnschrift"/>
              </a:rPr>
              <a:t>All goals together</a:t>
            </a:r>
          </a:p>
        </p:txBody>
      </p:sp>
      <p:sp>
        <p:nvSpPr>
          <p:cNvPr id="39" name="TextBox 38"/>
          <p:cNvSpPr txBox="1"/>
          <p:nvPr/>
        </p:nvSpPr>
        <p:spPr>
          <a:xfrm>
            <a:off x="8940783" y="3072383"/>
            <a:ext cx="693471"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34.5 Cr</a:t>
            </a:r>
          </a:p>
        </p:txBody>
      </p:sp>
      <p:sp>
        <p:nvSpPr>
          <p:cNvPr id="40" name="TextBox 39"/>
          <p:cNvSpPr txBox="1"/>
          <p:nvPr/>
        </p:nvSpPr>
        <p:spPr>
          <a:xfrm>
            <a:off x="9780559" y="3072383"/>
            <a:ext cx="766495" cy="329184"/>
          </a:xfrm>
          <a:prstGeom prst="rect">
            <a:avLst/>
          </a:prstGeom>
          <a:noFill/>
        </p:spPr>
        <p:txBody>
          <a:bodyPr wrap="square" anchor="ctr" lIns="0" rIns="0" tIns="0" bIns="0">
            <a:spAutoFit/>
          </a:bodyPr>
          <a:lstStyle/>
          <a:p>
            <a:pPr algn="r">
              <a:spcBef>
                <a:spcPts val="0"/>
              </a:spcBef>
              <a:spcAft>
                <a:spcPts val="0"/>
              </a:spcAft>
            </a:pPr>
            <a:r>
              <a:rPr sz="850" b="0" i="0">
                <a:solidFill>
                  <a:srgbClr val="16233B"/>
                </a:solidFill>
                <a:latin typeface="Georgia"/>
              </a:rPr>
              <a:t>Rs 6.30 Cr</a:t>
            </a:r>
          </a:p>
        </p:txBody>
      </p:sp>
      <p:sp>
        <p:nvSpPr>
          <p:cNvPr id="41" name="TextBox 40"/>
          <p:cNvSpPr txBox="1"/>
          <p:nvPr/>
        </p:nvSpPr>
        <p:spPr>
          <a:xfrm>
            <a:off x="10693359" y="3072383"/>
            <a:ext cx="583935" cy="329184"/>
          </a:xfrm>
          <a:prstGeom prst="rect">
            <a:avLst/>
          </a:prstGeom>
          <a:noFill/>
        </p:spPr>
        <p:txBody>
          <a:bodyPr wrap="square" anchor="ctr" lIns="0" rIns="0" tIns="0" bIns="0">
            <a:spAutoFit/>
          </a:bodyPr>
          <a:lstStyle/>
          <a:p>
            <a:pPr algn="ctr">
              <a:spcBef>
                <a:spcPts val="0"/>
              </a:spcBef>
              <a:spcAft>
                <a:spcPts val="0"/>
              </a:spcAft>
            </a:pPr>
            <a:r>
              <a:rPr sz="850" b="1" i="0">
                <a:solidFill>
                  <a:srgbClr val="92400E"/>
                </a:solidFill>
                <a:latin typeface="Bahnschrift"/>
              </a:rPr>
              <a:t>26%</a:t>
            </a:r>
          </a:p>
        </p:txBody>
      </p:sp>
      <p:sp>
        <p:nvSpPr>
          <p:cNvPr id="42" name="Rectangle 41"/>
          <p:cNvSpPr/>
          <p:nvPr/>
        </p:nvSpPr>
        <p:spPr>
          <a:xfrm>
            <a:off x="7699248" y="3383279"/>
            <a:ext cx="3651199" cy="548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699248" y="3703320"/>
            <a:ext cx="3651199" cy="2103120"/>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699248" y="3703320"/>
            <a:ext cx="54864" cy="2103120"/>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00416" y="3831335"/>
            <a:ext cx="3285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HOW TO READ FUNDED-TODAY</a:t>
            </a:r>
          </a:p>
        </p:txBody>
      </p:sp>
      <p:sp>
        <p:nvSpPr>
          <p:cNvPr id="46" name="TextBox 45"/>
          <p:cNvSpPr txBox="1"/>
          <p:nvPr/>
        </p:nvSpPr>
        <p:spPr>
          <a:xfrm>
            <a:off x="7900416" y="4105656"/>
            <a:ext cx="3285439" cy="1645919"/>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Funded-today discounts each goal at the holdings-derived 14% return and fills goals nearest-first. The nearer goals are 100%, 76% funded respectively, today's corpus; retirement is ~0% funded, a gap that ongoing savings and the 15-year horizon can close. A goal short of 100% calls for contributions or time, never for stretching the risk profile.</a:t>
            </a:r>
          </a:p>
        </p:txBody>
      </p:sp>
      <p:sp>
        <p:nvSpPr>
          <p:cNvPr id="47" name="TextBox 4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Illustrative projection at 14% p.a. return, 11% volatility; goal amounts and dates are placeholders [ILLUSTRATIVE], not advice or a forecast; outcomes will differ.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lean.png"/>
          <p:cNvPicPr>
            <a:picLocks noChangeAspect="1"/>
          </p:cNvPicPr>
          <p:nvPr/>
        </p:nvPicPr>
        <p:blipFill>
          <a:blip r:embed="rId2"/>
          <a:stretch>
            <a:fillRect/>
          </a:stretch>
        </p:blipFill>
        <p:spPr>
          <a:xfrm>
            <a:off x="9674809" y="365760"/>
            <a:ext cx="1629918" cy="283464"/>
          </a:xfrm>
          <a:prstGeom prst="rect">
            <a:avLst/>
          </a:prstGeom>
        </p:spPr>
      </p:pic>
      <p:sp>
        <p:nvSpPr>
          <p:cNvPr id="4" name="TextBox 3"/>
          <p:cNvSpPr txBox="1"/>
          <p:nvPr/>
        </p:nvSpPr>
        <p:spPr>
          <a:xfrm>
            <a:off x="4541367" y="128016"/>
            <a:ext cx="3108960" cy="182880"/>
          </a:xfrm>
          <a:prstGeom prst="rect">
            <a:avLst/>
          </a:prstGeom>
          <a:noFill/>
        </p:spPr>
        <p:txBody>
          <a:bodyPr wrap="square" anchor="t" lIns="0" rIns="0" tIns="0" bIns="0">
            <a:spAutoFit/>
          </a:bodyPr>
          <a:lstStyle/>
          <a:p>
            <a:pPr algn="ctr">
              <a:spcBef>
                <a:spcPts val="0"/>
              </a:spcBef>
              <a:spcAft>
                <a:spcPts val="0"/>
              </a:spcAft>
            </a:pPr>
            <a:r>
              <a:rPr sz="750" b="0" i="0">
                <a:solidFill>
                  <a:srgbClr val="6B7280"/>
                </a:solidFill>
                <a:latin typeface="Bahnschrift"/>
              </a:rPr>
              <a:t>Private &amp; Confidential</a:t>
            </a:r>
          </a:p>
        </p:txBody>
      </p:sp>
      <p:sp>
        <p:nvSpPr>
          <p:cNvPr id="5" name="TextBox 4"/>
          <p:cNvSpPr txBox="1"/>
          <p:nvPr/>
        </p:nvSpPr>
        <p:spPr>
          <a:xfrm>
            <a:off x="7863840" y="274320"/>
            <a:ext cx="1749247" cy="201168"/>
          </a:xfrm>
          <a:prstGeom prst="rect">
            <a:avLst/>
          </a:prstGeom>
          <a:noFill/>
        </p:spPr>
        <p:txBody>
          <a:bodyPr wrap="square" anchor="t" lIns="0" rIns="0" tIns="0" bIns="0">
            <a:spAutoFit/>
          </a:bodyPr>
          <a:lstStyle/>
          <a:p>
            <a:pPr algn="r">
              <a:spcBef>
                <a:spcPts val="0"/>
              </a:spcBef>
              <a:spcAft>
                <a:spcPts val="0"/>
              </a:spcAft>
            </a:pPr>
            <a:r>
              <a:rPr sz="750" b="1" i="0" spc="120">
                <a:solidFill>
                  <a:srgbClr val="8C95DE"/>
                </a:solidFill>
                <a:latin typeface="Bahnschrift"/>
              </a:rPr>
              <a:t>05 · APPENDIX</a:t>
            </a:r>
          </a:p>
        </p:txBody>
      </p:sp>
      <p:sp>
        <p:nvSpPr>
          <p:cNvPr id="6" name="Rectangle 5"/>
          <p:cNvSpPr/>
          <p:nvPr/>
        </p:nvSpPr>
        <p:spPr>
          <a:xfrm>
            <a:off x="854964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32519"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098280" y="512064"/>
            <a:ext cx="137160"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512064"/>
            <a:ext cx="137160" cy="20116"/>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0624"/>
            <a:ext cx="6858000" cy="502920"/>
          </a:xfrm>
          <a:prstGeom prst="rect">
            <a:avLst/>
          </a:prstGeom>
          <a:noFill/>
        </p:spPr>
        <p:txBody>
          <a:bodyPr wrap="square" anchor="t" lIns="0" rIns="0" tIns="0" bIns="0">
            <a:spAutoFit/>
          </a:bodyPr>
          <a:lstStyle/>
          <a:p>
            <a:pPr algn="l">
              <a:spcBef>
                <a:spcPts val="0"/>
              </a:spcBef>
              <a:spcAft>
                <a:spcPts val="0"/>
              </a:spcAft>
            </a:pPr>
            <a:r>
              <a:rPr sz="2600" b="1" i="0">
                <a:solidFill>
                  <a:srgbClr val="1B27A3"/>
                </a:solidFill>
                <a:latin typeface="Bahnschrift"/>
              </a:rPr>
              <a:t>Methodology &amp; data sources</a:t>
            </a:r>
          </a:p>
        </p:txBody>
      </p:sp>
      <p:sp>
        <p:nvSpPr>
          <p:cNvPr id="12" name="TextBox 11"/>
          <p:cNvSpPr txBox="1"/>
          <p:nvPr/>
        </p:nvSpPr>
        <p:spPr>
          <a:xfrm>
            <a:off x="841248" y="950976"/>
            <a:ext cx="9692640" cy="411480"/>
          </a:xfrm>
          <a:prstGeom prst="rect">
            <a:avLst/>
          </a:prstGeom>
          <a:noFill/>
        </p:spPr>
        <p:txBody>
          <a:bodyPr wrap="square" anchor="t" lIns="0" rIns="0" tIns="0" bIns="0">
            <a:spAutoFit/>
          </a:bodyPr>
          <a:lstStyle/>
          <a:p>
            <a:pPr algn="l">
              <a:spcBef>
                <a:spcPts val="0"/>
              </a:spcBef>
              <a:spcAft>
                <a:spcPts val="0"/>
              </a:spcAft>
            </a:pPr>
            <a:r>
              <a:rPr sz="1750" b="1" i="0">
                <a:solidFill>
                  <a:srgbClr val="F2A93C"/>
                </a:solidFill>
                <a:latin typeface="Bahnschrift"/>
              </a:rPr>
              <a:t>How the numbers on these pages are built</a:t>
            </a:r>
          </a:p>
        </p:txBody>
      </p:sp>
      <p:sp>
        <p:nvSpPr>
          <p:cNvPr id="13" name="Rectangle 12"/>
          <p:cNvSpPr/>
          <p:nvPr/>
        </p:nvSpPr>
        <p:spPr>
          <a:xfrm>
            <a:off x="841248" y="1408176"/>
            <a:ext cx="10509199" cy="21945"/>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55887" y="6528816"/>
            <a:ext cx="2194560" cy="182880"/>
          </a:xfrm>
          <a:prstGeom prst="rect">
            <a:avLst/>
          </a:prstGeom>
          <a:noFill/>
        </p:spPr>
        <p:txBody>
          <a:bodyPr wrap="square" anchor="t" lIns="0" rIns="0" tIns="0" bIns="0">
            <a:spAutoFit/>
          </a:bodyPr>
          <a:lstStyle/>
          <a:p>
            <a:pPr algn="r">
              <a:spcBef>
                <a:spcPts val="0"/>
              </a:spcBef>
              <a:spcAft>
                <a:spcPts val="0"/>
              </a:spcAft>
            </a:pPr>
            <a:r>
              <a:rPr sz="750" b="0" i="0">
                <a:solidFill>
                  <a:srgbClr val="6B7280"/>
                </a:solidFill>
                <a:latin typeface="Bahnschrift"/>
              </a:rPr>
              <a:t>Portfolio Review  ·  74</a:t>
            </a:r>
          </a:p>
        </p:txBody>
      </p:sp>
      <p:sp>
        <p:nvSpPr>
          <p:cNvPr id="15" name="Rounded Rectangle 14"/>
          <p:cNvSpPr/>
          <p:nvPr/>
        </p:nvSpPr>
        <p:spPr>
          <a:xfrm>
            <a:off x="841248" y="1783080"/>
            <a:ext cx="5071719" cy="19202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1783080"/>
            <a:ext cx="54864" cy="19202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1911095"/>
            <a:ext cx="470595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SCORING EQUITIES</a:t>
            </a:r>
          </a:p>
        </p:txBody>
      </p:sp>
      <p:sp>
        <p:nvSpPr>
          <p:cNvPr id="18" name="TextBox 17"/>
          <p:cNvSpPr txBox="1"/>
          <p:nvPr/>
        </p:nvSpPr>
        <p:spPr>
          <a:xfrm>
            <a:off x="1042416" y="2185416"/>
            <a:ext cx="4705959"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Each stock earns a 0-100 Ionic Score from two horizons, a 3-year, fundamentals-tilted view and a 1-year, trend-tilted view, combined across pillars (Quality &amp; Growth, Value, Trend &amp; Flow). Forensic / balance-sheet gates cap the score at 40. Below 40 on either horizon = Sell; 40-50 is a watch zone (Trim only with a concentration or risk flag); 50+ = Hold.</a:t>
            </a:r>
          </a:p>
        </p:txBody>
      </p:sp>
      <p:sp>
        <p:nvSpPr>
          <p:cNvPr id="19" name="Rounded Rectangle 18"/>
          <p:cNvSpPr/>
          <p:nvPr/>
        </p:nvSpPr>
        <p:spPr>
          <a:xfrm>
            <a:off x="6278727" y="1783080"/>
            <a:ext cx="5071719" cy="1920240"/>
          </a:xfrm>
          <a:prstGeom prst="roundRect">
            <a:avLst>
              <a:gd name="adj" fmla="val 4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78727" y="1783080"/>
            <a:ext cx="54864" cy="192024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9895" y="1911095"/>
            <a:ext cx="470595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1B27A3"/>
                </a:solidFill>
                <a:latin typeface="Bahnschrift"/>
              </a:rPr>
              <a:t>EVALUATING FUNDS</a:t>
            </a:r>
          </a:p>
        </p:txBody>
      </p:sp>
      <p:sp>
        <p:nvSpPr>
          <p:cNvPr id="22" name="TextBox 21"/>
          <p:cNvSpPr txBox="1"/>
          <p:nvPr/>
        </p:nvSpPr>
        <p:spPr>
          <a:xfrm>
            <a:off x="6479895" y="2185416"/>
            <a:ext cx="4705959" cy="1463040"/>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Funds are scored 0-100 by the firm's fund-quality framework on Direct-plan NAV against total-return benchmarks, point-in-time. It rewards net-of-fee alpha, rolling-window consistency and downside cushioning, and penalises structural watch-outs. Verdicts: Hold / Trim / Switch / Exit.</a:t>
            </a:r>
          </a:p>
        </p:txBody>
      </p:sp>
      <p:sp>
        <p:nvSpPr>
          <p:cNvPr id="23" name="Rounded Rectangle 22"/>
          <p:cNvSpPr/>
          <p:nvPr/>
        </p:nvSpPr>
        <p:spPr>
          <a:xfrm>
            <a:off x="841248" y="3931920"/>
            <a:ext cx="10509199" cy="1243584"/>
          </a:xfrm>
          <a:prstGeom prst="roundRect">
            <a:avLst>
              <a:gd name="adj" fmla="val 4000"/>
            </a:avLst>
          </a:prstGeom>
          <a:solidFill>
            <a:srgbClr val="FB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1248" y="3931920"/>
            <a:ext cx="54864" cy="1243584"/>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416" y="4059935"/>
            <a:ext cx="10143439" cy="274320"/>
          </a:xfrm>
          <a:prstGeom prst="rect">
            <a:avLst/>
          </a:prstGeom>
          <a:noFill/>
        </p:spPr>
        <p:txBody>
          <a:bodyPr wrap="square" anchor="t" lIns="0" rIns="0" tIns="0" bIns="0">
            <a:spAutoFit/>
          </a:bodyPr>
          <a:lstStyle/>
          <a:p>
            <a:pPr algn="l">
              <a:spcBef>
                <a:spcPts val="0"/>
              </a:spcBef>
              <a:spcAft>
                <a:spcPts val="0"/>
              </a:spcAft>
            </a:pPr>
            <a:r>
              <a:rPr sz="950" b="1" i="0" spc="60">
                <a:solidFill>
                  <a:srgbClr val="92400E"/>
                </a:solidFill>
                <a:latin typeface="Bahnschrift"/>
              </a:rPr>
              <a:t>DATA SOURCES</a:t>
            </a:r>
          </a:p>
        </p:txBody>
      </p:sp>
      <p:sp>
        <p:nvSpPr>
          <p:cNvPr id="26" name="TextBox 25"/>
          <p:cNvSpPr txBox="1"/>
          <p:nvPr/>
        </p:nvSpPr>
        <p:spPr>
          <a:xfrm>
            <a:off x="1042416" y="4334256"/>
            <a:ext cx="10143439" cy="786383"/>
          </a:xfrm>
          <a:prstGeom prst="rect">
            <a:avLst/>
          </a:prstGeom>
          <a:noFill/>
        </p:spPr>
        <p:txBody>
          <a:bodyPr wrap="square" anchor="t" lIns="0" rIns="0" tIns="0" bIns="0">
            <a:spAutoFit/>
          </a:bodyPr>
          <a:lstStyle/>
          <a:p>
            <a:pPr algn="l">
              <a:lnSpc>
                <a:spcPct val="106000"/>
              </a:lnSpc>
              <a:spcBef>
                <a:spcPts val="0"/>
              </a:spcBef>
              <a:spcAft>
                <a:spcPts val="0"/>
              </a:spcAft>
            </a:pPr>
            <a:r>
              <a:rPr sz="1050" b="0" i="0">
                <a:solidFill>
                  <a:srgbClr val="16233B"/>
                </a:solidFill>
                <a:latin typeface="Georgia"/>
              </a:rPr>
              <a:t>Scored universe: the firm's stock-scoring engine + per-stock analyst files (point-in-time).  ·  Fund NAVs: Direct-plan, total-return-benchmark relative.  ·  SEBI market-cap cut-offs and category rules.  ·  House-view sector / allocation bands.  ·  Official statutory tax rates, updated each Budget.  ·  Client IPS and holdings as supplied by the advisory desk.</a:t>
            </a:r>
          </a:p>
        </p:txBody>
      </p:sp>
      <p:sp>
        <p:nvSpPr>
          <p:cNvPr id="27" name="TextBox 26"/>
          <p:cNvSpPr txBox="1"/>
          <p:nvPr/>
        </p:nvSpPr>
        <p:spPr>
          <a:xfrm>
            <a:off x="841248" y="6089904"/>
            <a:ext cx="10509199" cy="219456"/>
          </a:xfrm>
          <a:prstGeom prst="rect">
            <a:avLst/>
          </a:prstGeom>
          <a:noFill/>
        </p:spPr>
        <p:txBody>
          <a:bodyPr wrap="square" anchor="t" lIns="0" rIns="0" tIns="0" bIns="0">
            <a:spAutoFit/>
          </a:bodyPr>
          <a:lstStyle/>
          <a:p>
            <a:pPr algn="l">
              <a:spcBef>
                <a:spcPts val="0"/>
              </a:spcBef>
              <a:spcAft>
                <a:spcPts val="0"/>
              </a:spcAft>
            </a:pPr>
            <a:r>
              <a:rPr sz="700" b="0" i="0">
                <a:solidFill>
                  <a:srgbClr val="6B7280"/>
                </a:solidFill>
                <a:latin typeface="Bahnschrift"/>
              </a:rPr>
              <a:t>Data sources for this review.</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7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640080"/>
            <a:ext cx="10509199" cy="457200"/>
          </a:xfrm>
          <a:prstGeom prst="rect">
            <a:avLst/>
          </a:prstGeom>
          <a:noFill/>
        </p:spPr>
        <p:txBody>
          <a:bodyPr wrap="square" anchor="t" lIns="0" rIns="0" tIns="0" bIns="0">
            <a:spAutoFit/>
          </a:bodyPr>
          <a:lstStyle/>
          <a:p>
            <a:pPr algn="l">
              <a:spcBef>
                <a:spcPts val="0"/>
              </a:spcBef>
              <a:spcAft>
                <a:spcPts val="0"/>
              </a:spcAft>
            </a:pPr>
            <a:r>
              <a:rPr sz="2000" b="1" i="0">
                <a:solidFill>
                  <a:srgbClr val="FFFFFF"/>
                </a:solidFill>
                <a:latin typeface="Bahnschrift"/>
              </a:rPr>
              <a:t>Disclaimer &amp; basis of preparation</a:t>
            </a:r>
          </a:p>
        </p:txBody>
      </p:sp>
      <p:sp>
        <p:nvSpPr>
          <p:cNvPr id="4" name="Rectangle 3"/>
          <p:cNvSpPr/>
          <p:nvPr/>
        </p:nvSpPr>
        <p:spPr>
          <a:xfrm>
            <a:off x="841248" y="1143000"/>
            <a:ext cx="2743200" cy="182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554480"/>
            <a:ext cx="10509199" cy="2377440"/>
          </a:xfrm>
          <a:prstGeom prst="rect">
            <a:avLst/>
          </a:prstGeom>
          <a:noFill/>
        </p:spPr>
        <p:txBody>
          <a:bodyPr wrap="square" anchor="t" lIns="0" rIns="0" tIns="0" bIns="0">
            <a:spAutoFit/>
          </a:bodyPr>
          <a:lstStyle/>
          <a:p>
            <a:pPr algn="l">
              <a:lnSpc>
                <a:spcPct val="125000"/>
              </a:lnSpc>
              <a:spcBef>
                <a:spcPts val="0"/>
              </a:spcBef>
              <a:spcAft>
                <a:spcPts val="0"/>
              </a:spcAft>
            </a:pPr>
            <a:r>
              <a:rPr sz="1150" b="0" i="0">
                <a:solidFill>
                  <a:srgbClr val="C9CEF0"/>
                </a:solidFill>
                <a:latin typeface="Georgia"/>
              </a:rPr>
              <a:t>This document is a review of existing holdings prepared for the named client under a Non-Discretionary Portfolio Management mandate. Recommendations are Sell / Trim / Hold on current positions only and are not a solicitation or an offer to buy any security. Nothing is executed until the client authorises it. The Ionic Score is a quantitative input reviewed by the Portfolio Review team; it is not a guarantee of future performance. Tax characterisations are indicative · confirm with the client's tax adviser before dealing. Mutual-fund evaluation uses Direct-plan NAV against total-return benchmarks, point-in-time. Past performance is not indicative of future results. This review is prepared for the named client's actual holdings as supplied to the firm; where source data was incomplete or unverifiable, that is disclosed explicitly in the review rather than assumed.</a:t>
            </a:r>
          </a:p>
        </p:txBody>
      </p:sp>
      <p:sp>
        <p:nvSpPr>
          <p:cNvPr id="6" name="TextBox 5"/>
          <p:cNvSpPr txBox="1"/>
          <p:nvPr/>
        </p:nvSpPr>
        <p:spPr>
          <a:xfrm>
            <a:off x="841248" y="4526280"/>
            <a:ext cx="10509199" cy="457200"/>
          </a:xfrm>
          <a:prstGeom prst="rect">
            <a:avLst/>
          </a:prstGeom>
          <a:noFill/>
        </p:spPr>
        <p:txBody>
          <a:bodyPr wrap="square" anchor="t" lIns="0" rIns="0" tIns="0" bIns="0">
            <a:spAutoFit/>
          </a:bodyPr>
          <a:lstStyle/>
          <a:p>
            <a:pPr algn="ctr">
              <a:spcBef>
                <a:spcPts val="0"/>
              </a:spcBef>
              <a:spcAft>
                <a:spcPts val="0"/>
              </a:spcAft>
            </a:pPr>
            <a:r>
              <a:rPr sz="2400" b="1" i="0" spc="300">
                <a:solidFill>
                  <a:srgbClr val="FFFFFF"/>
                </a:solidFill>
                <a:latin typeface="Bahnschrift"/>
              </a:rPr>
              <a:t>IONIC WEALTH</a:t>
            </a:r>
          </a:p>
        </p:txBody>
      </p:sp>
      <p:sp>
        <p:nvSpPr>
          <p:cNvPr id="7" name="Rectangle 6"/>
          <p:cNvSpPr/>
          <p:nvPr/>
        </p:nvSpPr>
        <p:spPr>
          <a:xfrm>
            <a:off x="5592927" y="5102352"/>
            <a:ext cx="1005840" cy="18288"/>
          </a:xfrm>
          <a:prstGeom prst="rect">
            <a:avLst/>
          </a:prstGeom>
          <a:solidFill>
            <a:srgbClr val="F2A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5285232"/>
            <a:ext cx="10509199" cy="274320"/>
          </a:xfrm>
          <a:prstGeom prst="rect">
            <a:avLst/>
          </a:prstGeom>
          <a:noFill/>
        </p:spPr>
        <p:txBody>
          <a:bodyPr wrap="square" anchor="t" lIns="0" rIns="0" tIns="0" bIns="0">
            <a:spAutoFit/>
          </a:bodyPr>
          <a:lstStyle/>
          <a:p>
            <a:pPr algn="ctr">
              <a:spcBef>
                <a:spcPts val="0"/>
              </a:spcBef>
              <a:spcAft>
                <a:spcPts val="0"/>
              </a:spcAft>
            </a:pPr>
            <a:r>
              <a:rPr sz="950" b="0" i="0" spc="60">
                <a:solidFill>
                  <a:srgbClr val="C9CEF0"/>
                </a:solidFill>
                <a:latin typeface="Bahnschrift"/>
              </a:rPr>
              <a:t>Private &amp; Confidential  ·  Prepared exclusively for the named client</a:t>
            </a:r>
          </a:p>
        </p:txBody>
      </p:sp>
      <p:sp>
        <p:nvSpPr>
          <p:cNvPr id="9" name="TextBox 8"/>
          <p:cNvSpPr txBox="1"/>
          <p:nvPr/>
        </p:nvSpPr>
        <p:spPr>
          <a:xfrm>
            <a:off x="841248" y="6309360"/>
            <a:ext cx="10509199" cy="274320"/>
          </a:xfrm>
          <a:prstGeom prst="rect">
            <a:avLst/>
          </a:prstGeom>
          <a:noFill/>
        </p:spPr>
        <p:txBody>
          <a:bodyPr wrap="square" anchor="t" lIns="0" rIns="0" tIns="0" bIns="0">
            <a:spAutoFit/>
          </a:bodyPr>
          <a:lstStyle/>
          <a:p>
            <a:pPr algn="l">
              <a:spcBef>
                <a:spcPts val="0"/>
              </a:spcBef>
              <a:spcAft>
                <a:spcPts val="0"/>
              </a:spcAft>
            </a:pPr>
            <a:r>
              <a:rPr sz="800" b="0" i="0">
                <a:solidFill>
                  <a:srgbClr val="C9CEF0"/>
                </a:solidFill>
                <a:latin typeface="Bahnschrift"/>
              </a:rPr>
              <a:t>Ionic Wealth by Angel One  ·  Portfolio Review  ·  Private &amp;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